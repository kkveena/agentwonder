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764b83bf754af5" /><Relationship Type="http://schemas.openxmlformats.org/officeDocument/2006/relationships/extended-properties" Target="/docProps/app.xml" Id="R5421382a66444348" /><Relationship Type="http://schemas.openxmlformats.org/officeDocument/2006/relationships/officeDocument" Target="/ppt/presentation.xml" Id="R0f333d83899a40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b4938e73b47e2"/>
  </p:sldMasterIdLst>
  <p:notesMasterIdLst>
    <p:notesMasterId xmlns:r="http://schemas.openxmlformats.org/officeDocument/2006/relationships" r:id="R0e9c19abf1ea4c9d"/>
  </p:notesMasterIdLst>
  <p:sldIdLst>
    <p:sldId xmlns:r="http://schemas.openxmlformats.org/officeDocument/2006/relationships" id="256" r:id="Rdbec720779d7482c"/>
    <p:sldId xmlns:r="http://schemas.openxmlformats.org/officeDocument/2006/relationships" id="257" r:id="Rc6acaf11144d44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90e58277454d70" /><Relationship Type="http://schemas.openxmlformats.org/officeDocument/2006/relationships/slideMaster" Target="/ppt/slideMasters/slideMaster1.xml" Id="R2bdb4938e73b47e2" /><Relationship Type="http://schemas.openxmlformats.org/officeDocument/2006/relationships/notesMaster" Target="/ppt/notesMasters/notesMaster1.xml" Id="R0e9c19abf1ea4c9d" /><Relationship Type="http://schemas.openxmlformats.org/officeDocument/2006/relationships/presProps" Target="/ppt/presProps.xml" Id="R71057a37b26d4c33" /><Relationship Type="http://schemas.openxmlformats.org/officeDocument/2006/relationships/tableStyles" Target="/ppt/tableStyles.xml" Id="Rde353a6d2a684066" /><Relationship Type="http://schemas.openxmlformats.org/officeDocument/2006/relationships/slide" Target="/ppt/slides/slide1.xml" Id="Rdbec720779d7482c" /><Relationship Type="http://schemas.openxmlformats.org/officeDocument/2006/relationships/slide" Target="/ppt/slides/slide2.xml" Id="Rc6acaf11144d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1d503ac002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1f13f8bc81417d" /><Relationship Type="http://schemas.openxmlformats.org/officeDocument/2006/relationships/notesMaster" Target="/ppt/notesMasters/notesMaster1.xml" Id="Rb79de347a81e4f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12187c34384c2c" /><Relationship Type="http://schemas.openxmlformats.org/officeDocument/2006/relationships/notesMaster" Target="/ppt/notesMasters/notesMaster1.xml" Id="R233ba1861b3042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a786179df4f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b816809504f0c" /><Relationship Type="http://schemas.openxmlformats.org/officeDocument/2006/relationships/slideLayout" Target="/ppt/slideLayouts/slideLayout1.xml" Id="R39e8ca5b91bb43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e8ca5b91bb43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92cbeac6543c8" /><Relationship Type="http://schemas.openxmlformats.org/officeDocument/2006/relationships/notesSlide" Target="/ppt/notesSlides/notesSlide1.xml" Id="R40b7ddb767a4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a84c1d6e443dc" /><Relationship Type="http://schemas.openxmlformats.org/officeDocument/2006/relationships/notesSlide" Target="/ppt/notesSlides/notesSlide2.xml" Id="R27adbf59680142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E9B6D-86A5-4046-A24F-D378A497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6DAE"/>
                </a:solidFill>
              </a:defRPr>
            </a:pPr>
            <a:r>
              <a:rPr sz="825" b="1">
                <a:solidFill>
                  <a:srgbClr val="056DAE"/>
                </a:solidFill>
              </a:rPr>
              <a:t>EXECUTIVE DECISION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1C0B5-C419-48FB-B008-993796FD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3B70"/>
                </a:solidFill>
              </a:defRPr>
            </a:pPr>
            <a:r>
              <a:rPr sz="2400" b="1">
                <a:solidFill>
                  <a:srgbClr val="003B70"/>
                </a:solidFill>
              </a:rPr>
              <a:t>Three AI approaches — one governed capability spectrum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DF531-18A4-4171-BBA3-67B2025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786"/>
                </a:solidFill>
              </a:defRPr>
            </a:pPr>
            <a:r>
              <a:rPr sz="1200" b="0">
                <a:solidFill>
                  <a:srgbClr val="637786"/>
                </a:solidFill>
              </a:rPr>
              <a:t>Select the simplest approach that meets the workflow need; autonomy and governance increase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FF37A-95C6-48F9-B664-9E7280CE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786"/>
                </a:solidFill>
              </a:defRPr>
            </a:pPr>
            <a:r>
              <a:rPr sz="750" b="1">
                <a:solidFill>
                  <a:srgbClr val="637786"/>
                </a:solidFill>
              </a:rPr>
              <a:t>CITI  | 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EED57-7D5C-45B5-88C5-61A03CB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7786"/>
                </a:solidFill>
              </a:defRPr>
            </a:pPr>
            <a:r>
              <a:rPr sz="750" b="1">
                <a:solidFill>
                  <a:srgbClr val="63778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3D75B-4C48-489F-81B5-7633286F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12BD5-495B-4F02-8DF2-304EDDA5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786"/>
                </a:solidFill>
              </a:defRPr>
            </a:pPr>
            <a:r>
              <a:rPr sz="750" b="1">
                <a:solidFill>
                  <a:srgbClr val="637786"/>
                </a:solidFill>
              </a:rPr>
              <a:t>LOW AUTONOMY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F2C72-D191-4F60-BD02-CA50995D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4573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7786"/>
                </a:solidFill>
              </a:defRPr>
            </a:pPr>
            <a:r>
              <a:rPr sz="750" b="1">
                <a:solidFill>
                  <a:srgbClr val="637786"/>
                </a:solidFill>
              </a:rPr>
              <a:t>HIGH AUTONOMY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A4CAE-7BE1-4973-8289-30724394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33525"/>
            <a:ext cx="853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D84A2-0A44-47DB-AF07-1F4B806D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573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0">
            <a:solidFill>
              <a:srgbClr val="00A6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2CB0D-7472-4E64-AAEE-694E1961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90900" cy="4029075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04490-1D50-4D0B-B743-DEDD8C3F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90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6DAE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65916-3325-47EA-B338-748474C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EAF3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18894-9B9E-4341-8DC4-BA7B3508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6DAE"/>
                </a:solidFill>
              </a:defRPr>
            </a:pPr>
            <a:r>
              <a:rPr sz="1425" b="1">
                <a:solidFill>
                  <a:srgbClr val="056DAE"/>
                </a:solidFill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F0BFC-9C2D-488F-B690-B87788AC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383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6DAE"/>
                </a:solidFill>
              </a:defRPr>
            </a:pPr>
            <a:r>
              <a:rPr sz="750" b="1">
                <a:solidFill>
                  <a:srgbClr val="056DAE"/>
                </a:solidFill>
              </a:rPr>
              <a:t>ORGANIZATION TOOL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C14C2-1FBB-42F2-BC98-3FBEF831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98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Stylus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54848-B09D-4279-B88D-6E755CD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A5B"/>
                </a:solidFill>
              </a:defRPr>
            </a:pPr>
            <a:r>
              <a:rPr sz="1125" b="0">
                <a:solidFill>
                  <a:srgbClr val="334A5B"/>
                </a:solidFill>
              </a:rPr>
              <a:t>Governed enterprise AI services powered by Gemini 3.0 Pro.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6DCBA-A91F-4095-B767-FC913844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B7D4D-9C8E-48D4-866A-6F88858E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6DAE"/>
                </a:solidFill>
              </a:defRPr>
            </a:pPr>
            <a:r>
              <a:rPr sz="900" b="1">
                <a:solidFill>
                  <a:srgbClr val="056DAE"/>
                </a:solidFill>
              </a:rPr>
              <a:t>DISCRETE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38DA7-5691-476E-8571-0ACA2D6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6DAE"/>
          </a:solidFill>
          <a:ln xmlns:a="http://schemas.openxmlformats.org/drawingml/2006/main" w="0">
            <a:solidFill>
              <a:srgbClr val="056D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40423-AD47-4C51-BF0F-0D9FD49D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Pre-built summarization, Q&amp;A, comparison and translation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EC687-2085-4BB8-B799-76E844F5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6DAE"/>
          </a:solidFill>
          <a:ln xmlns:a="http://schemas.openxmlformats.org/drawingml/2006/main" w="0">
            <a:solidFill>
              <a:srgbClr val="056DA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CEC1F-379E-4802-90F8-AD7CAEB9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Best for repeatable productivity tasks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E5905-A4AD-41E1-A224-30BA9774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6DAE"/>
          </a:solidFill>
          <a:ln xmlns:a="http://schemas.openxmlformats.org/drawingml/2006/main" w="0">
            <a:solidFill>
              <a:srgbClr val="056D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FB07E-7B6A-46E6-B6EE-B2C2E39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815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Returns an answer; does not own the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E829C-0D55-4470-80B6-4F99141D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300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7CA2A-8B02-4D78-977C-1496A8C9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6DAE"/>
                </a:solidFill>
              </a:defRPr>
            </a:pPr>
            <a:r>
              <a:rPr sz="975" b="1">
                <a:solidFill>
                  <a:srgbClr val="056DAE"/>
                </a:solidFill>
              </a:rPr>
              <a:t>Use when speed, standardization and minimal build are the priority.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0C566E-6648-4375-AA89-7028951A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90900" cy="4029075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EC42A6-0F1B-42BC-9460-7529F83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90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B70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E8BF36-52B4-4D97-B765-BD47D056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47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B36B7B-5829-4D80-80A6-0185F6E5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47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CA40B0-EE6A-452C-9490-9024E9B1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3B70"/>
                </a:solidFill>
              </a:defRPr>
            </a:pPr>
            <a:r>
              <a:rPr sz="750" b="1">
                <a:solidFill>
                  <a:srgbClr val="003B70"/>
                </a:solidFill>
              </a:rPr>
              <a:t>STATELESS INTELLIGENCE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D5A867-31F4-4270-BDFC-57B8F78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98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EDGE Augmented LLM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0FF2B6-D4C6-4C41-A2F6-3023DFA0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A5B"/>
                </a:solidFill>
              </a:defRPr>
            </a:pPr>
            <a:r>
              <a:rPr sz="1125" b="0">
                <a:solidFill>
                  <a:srgbClr val="334A5B"/>
                </a:solidFill>
              </a:rPr>
              <a:t>A bounded LLM service for a single request–response task.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8D9670-12FC-41B9-9213-418267A2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05175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F3F7F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7A9B19-5169-4D42-BA58-F71C6A0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3B70"/>
                </a:solidFill>
              </a:defRPr>
            </a:pPr>
            <a:r>
              <a:rPr sz="900" b="1">
                <a:solidFill>
                  <a:srgbClr val="003B70"/>
                </a:solidFill>
              </a:rPr>
              <a:t>ONE-SHOT EXECUTION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35A4DC-86E1-4E82-90C5-81DA1F5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BB6A6-6FA7-46AE-98AA-58C5FDF5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052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Document extraction, classification and summarization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23F26E-E40E-41A4-9326-351C6E52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19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75CCC8-9641-43A7-AB3C-FBDD04EB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433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Optional retrieval or deterministic tools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D48669-E9A8-4EBE-B599-21BECCDD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95FAE-F2AF-4D59-A168-99156942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815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No persistent state or autonomous decision loop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3DE5DB-B33E-439F-AE1F-F4F80DFE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38725"/>
            <a:ext cx="300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F3F7F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D61C45-D8EA-48D5-B2DE-329B7508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1492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Use when the task is well-defined and context fits one execution.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6354ED-9699-49C0-A865-6B805352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3390900" cy="4029075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CD0B98-FAFB-4306-83C6-3C40DC2C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3390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36627C-82A6-41F6-83A5-7F4A52EA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7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6"/>
          </a:solidFill>
          <a:ln xmlns:a="http://schemas.openxmlformats.org/drawingml/2006/main" w="0">
            <a:solidFill>
              <a:srgbClr val="E9F7F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835A30-4101-485A-8934-11D42616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7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A6A5"/>
                </a:solidFill>
              </a:defRPr>
            </a:pPr>
            <a:r>
              <a:rPr sz="1425" b="1">
                <a:solidFill>
                  <a:srgbClr val="00A6A5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EC02EA-C077-46A0-A176-B28ACE09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383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A6A5"/>
                </a:solidFill>
              </a:defRPr>
            </a:pPr>
            <a:r>
              <a:rPr sz="750" b="1">
                <a:solidFill>
                  <a:srgbClr val="00A6A5"/>
                </a:solidFill>
              </a:rPr>
              <a:t>AUTONOMOUS ORCHESTRATION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AF4820-6E7D-4658-B6DF-1DF1B39E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EDGE Agent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8A38C6-E6AE-4B86-A89A-4719A6CB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A5B"/>
                </a:solidFill>
              </a:defRPr>
            </a:pPr>
            <a:r>
              <a:rPr sz="1125" b="0">
                <a:solidFill>
                  <a:srgbClr val="334A5B"/>
                </a:solidFill>
              </a:rPr>
              <a:t>A full agentic framework built on Google ADK.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CC6932-D786-4995-A4D2-26916170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05175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C847DA-CEA3-4927-94CE-A153FB4B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6A5"/>
                </a:solidFill>
              </a:defRPr>
            </a:pPr>
            <a:r>
              <a:rPr sz="900" b="1">
                <a:solidFill>
                  <a:srgbClr val="00A6A5"/>
                </a:solidFill>
              </a:rPr>
              <a:t>MULTI-STEP AGENT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4ECEC4-7A85-4A93-B6EE-69E18392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0">
            <a:solidFill>
              <a:srgbClr val="00A6A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729A30-CAB6-4E81-8245-62AE347C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052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Plans, reasons and dynamically selects tools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E76922-2351-4E96-A1D9-E7F2DEA6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9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0">
            <a:solidFill>
              <a:srgbClr val="00A6A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D37BAD-8BCD-480F-A6A0-5363BD34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433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Iterates across steps until a goal is reached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D9DD67-A88F-4DAC-A621-417B00AC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0">
            <a:solidFill>
              <a:srgbClr val="00A6A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A85934-06C6-4314-A993-C3F9AF29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815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A5B"/>
                </a:solidFill>
              </a:defRPr>
            </a:pPr>
            <a:r>
              <a:rPr sz="1050" b="0">
                <a:solidFill>
                  <a:srgbClr val="334A5B"/>
                </a:solidFill>
              </a:rPr>
              <a:t>Supports state, human gates, evaluation and observability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C8B067-7547-416F-9DA7-893E34D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38725"/>
            <a:ext cx="300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C95D59-D037-4578-ADFA-B1FF1674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1492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5"/>
                </a:solidFill>
              </a:defRPr>
            </a:pPr>
            <a:r>
              <a:rPr sz="975" b="1">
                <a:solidFill>
                  <a:srgbClr val="00A6A5"/>
                </a:solidFill>
              </a:rPr>
              <a:t>Use when decisions depend on changing context across a workflow.</a:t>
            </a:r>
          </a:p>
        </p:txBody>
      </p:sp>
    </p:spTree>
    <p:extLst>
      <p:ext uri="{BB962C8B-B14F-4D97-AF65-F5344CB8AC3E}">
        <p14:creationId xmlns:p14="http://schemas.microsoft.com/office/powerpoint/2010/main" val="572322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81D60-C1D9-42EE-B5C2-3CA7D61F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6DAE"/>
                </a:solidFill>
              </a:defRPr>
            </a:pPr>
            <a:r>
              <a:rPr sz="825" b="1">
                <a:solidFill>
                  <a:srgbClr val="056DAE"/>
                </a:solidFill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D0655-F614-4BCA-AF23-D22C2E7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3B70"/>
                </a:solidFill>
              </a:defRPr>
            </a:pPr>
            <a:r>
              <a:rPr sz="2400" b="1">
                <a:solidFill>
                  <a:srgbClr val="003B70"/>
                </a:solidFill>
              </a:rPr>
              <a:t>Choose by workflow complexity — combine where it adds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49953-CBFB-4703-84C1-6F5651D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786"/>
                </a:solidFill>
              </a:defRPr>
            </a:pPr>
            <a:r>
              <a:rPr sz="1200" b="0">
                <a:solidFill>
                  <a:srgbClr val="637786"/>
                </a:solidFill>
              </a:rPr>
              <a:t>The three approaches are complementary: services perform bounded work; agents coordinate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0A8F3-0414-47C6-9DBC-5A5B0DC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786"/>
                </a:solidFill>
              </a:defRPr>
            </a:pPr>
            <a:r>
              <a:rPr sz="750" b="1">
                <a:solidFill>
                  <a:srgbClr val="637786"/>
                </a:solidFill>
              </a:rPr>
              <a:t>CITI  | 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AD11F-FE45-49AC-8732-AD0B4A15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7786"/>
                </a:solidFill>
              </a:defRPr>
            </a:pPr>
            <a:r>
              <a:rPr sz="750" b="1">
                <a:solidFill>
                  <a:srgbClr val="63778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71B1A-EC2A-4071-BABF-1EE5435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A8A63-B08B-4646-9C40-15A91EEC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095500" cy="44767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4A6F5-C9CA-4E21-BF9E-99AC643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DECISION FACTOR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ADB21-B032-49AC-B279-BCFB2E27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62100"/>
            <a:ext cx="2800350" cy="44767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56DAE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9B146-8E02-4DC2-B200-9D980CD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0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STYLUS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A2C26-D266-442D-AFB2-DFBFACB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800350" cy="44767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03B70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53378-F295-498B-B481-17731790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00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EDGE AUGMENTED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FB938-ED45-4984-91A3-876F4A39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62100"/>
            <a:ext cx="2800350" cy="44767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FF24D-B8D5-4EB0-BDEF-42E61EDC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0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EDGE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26306-BA99-46E4-BE34-47EBBC5F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7108C-32F0-4EFD-910E-BB31DDEC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Primary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C7CD0-2D10-42D3-8E5E-89CF49A5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5EBDD-0828-4E09-94B6-E0EB972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Governed AI productivity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88DBF-E18B-46BB-B66C-979E68D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383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D37B5-F9F7-42D6-A4F5-EEF0680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Execute one bounded intelligence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809C2-4A06-4EF7-B7E9-F38FC8D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5FACF-5F3A-410A-867A-F999B7E7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Orchestrate an end-to-end business goal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FA47C-7A41-4708-B9CC-D1CAA832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D61DA-AA61-4DCB-B8A0-66C14905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Decision pattern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1382D-4F6C-4D29-BE6E-74A80480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908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48C42-904E-45B6-A064-52DB8CB3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479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Known API / prompt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7F61E-2BD7-4483-8775-71275C83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908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1BBD8-6F86-44B9-B7E1-040FA24C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Single pass with defined inputs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F810B-08EF-44B6-851F-4CBF590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43102-759E-4284-A038-5191B69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Dynamic plan → tool call → observe → adapt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0BBA3-6CB0-4726-A556-0BB9524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B485EF-00E6-415C-AEA4-DE5FA874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State &amp; memory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15CF73-B5DF-4E27-A6DC-43DF7D53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B96B55-214B-4821-B7F9-2CEAC69D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004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No workflow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401534-FDB8-4D2F-B0F7-46DDBA14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CA9EA6-2323-481A-AE21-B01DBCC9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Stateless by design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5491CE-17F9-44F5-B2B1-24D69ACD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C7B00F-EE3A-448C-B592-57BED04F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Session / case state; memory when required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42BE9E-36B7-49B6-ADB7-802B1040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7CC045-87AB-4C90-997B-50974E2C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Tool behavior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239882-EB02-462C-A3BA-A788EEFC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957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E513B3-576A-42AA-BD3E-0A8A3500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528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Pre-built service APIs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6C5025-E538-4AAE-B145-2FFF75A3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957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6FB376-4C68-4A9F-AB09-1535397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528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Optional, pre-wired tools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E599AD-3C70-49CB-8C8D-698F30E5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0047ED-FE4C-477F-A19B-0C0325D5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Autonomous tool selection and repeated calls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41F60D-3D1E-48FA-8626-F118D73B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7FC704-6504-4DFF-81CC-0D286185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Best-fit examples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D7AC6E-3281-4399-959F-949F46D7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481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3C1FDA-59B2-44E9-92E2-D407064E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053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Q&amp;A • compare • translate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FF2703-B87B-40EF-870C-5F40D14D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81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37EF4A-26BF-4B07-80F9-B10EFD04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Extract • classify • summarize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CD0DC4-503A-4CD0-9D4D-F239027D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8E5CF0-3D5B-4E6A-A1E9-0E41E4B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Investigate • reconcile • route • act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5E9397-8106-46E2-A6A2-31BFDE0B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329FDD-33C5-45A0-800B-D68C294E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Governance focus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BAE3BE-A396-41E2-99E2-2E066BA7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006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F89821-BDBF-44C9-8F9F-4AAA7620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577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Access, data and model controls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0752F2-53DD-448B-BBFB-20B6F6D3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006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A02056-D7C6-4A3C-B06A-E31C66AE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Grounding, schema and quality checks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64FF19-61C3-43B2-9211-2496FCC8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5876BA-B013-4CDE-9166-364D2105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334A5B"/>
                </a:solidFill>
              </a:defRPr>
            </a:pPr>
            <a:r>
              <a:rPr sz="938" b="0">
                <a:solidFill>
                  <a:srgbClr val="334A5B"/>
                </a:solidFill>
              </a:rPr>
              <a:t>All controls + HIL, policy, evals and observability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EB8337-97CB-4F55-897C-4241A1CC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34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CE1CF8-94E9-48D9-AB69-135E7173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0">
            <a:solidFill>
              <a:srgbClr val="00A6A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CBB938-BC11-4490-811A-1C1EC6E2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DDC809-C0E5-4231-94B4-812810E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A5"/>
                </a:solidFill>
              </a:defRPr>
            </a:pPr>
            <a:r>
              <a:rPr sz="825" b="1">
                <a:solidFill>
                  <a:srgbClr val="00A6A5"/>
                </a:solidFill>
              </a:rPr>
              <a:t>EXECUTIVE RECOMMENDATION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F910C1-1AB5-4CAD-B395-235CD19F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Use EDGE Agent to orchestrate complex workflows; invoke Stylus or EDGE Augmented LLM for governed, bounded sub-tasks.</a:t>
            </a:r>
          </a:p>
        </p:txBody>
      </p:sp>
    </p:spTree>
    <p:extLst>
      <p:ext uri="{BB962C8B-B14F-4D97-AF65-F5344CB8AC3E}">
        <p14:creationId xmlns:p14="http://schemas.microsoft.com/office/powerpoint/2010/main" val="152868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2026-07-15T02:18:04.3250000Z</dcterms:created>
  <dcterms:modified xsi:type="dcterms:W3CDTF">2026-07-15T02:18:04.3250000Z</dcterms:modified>
</coreProperties>
</file>