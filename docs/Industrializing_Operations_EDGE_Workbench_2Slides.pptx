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Open with the operating problem: settlement fail research is high-volume, repetitive, and judgment-heavy.
- The key message is not that we built one agent; we built a reusable factory for controlled AI workflows.
- Point to the pilot proof: 55 hours/day saved, roughly 13,750 hours per year, and 10% fail-volume reduction.
- Reinforce the control posture: deterministic data verification, observability, guardrails, and HITL are embedded before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Position the pilot as a reusable control pattern, not a one-off success.
- Walk left to right: prototype, harden, control, and scale. This is how experiments become production assets.
- Emphasize that payments, margin, and OTC share the same agentic investigation pattern.
- Ask leadership for prioritization, standard rollout controls, and named accountability per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052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Industrializing Operations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Moving from ad-hoc AI experimentation to a repeatable, enterprise-grade agent factory.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6784848" cy="4645152"/>
          </a:xfrm>
          <a:prstGeom prst="roundRect">
            <a:avLst>
              <a:gd name="adj" fmla="val 3150"/>
            </a:avLst>
          </a:prstGeom>
          <a:solidFill>
            <a:srgbClr val="F6F8FB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819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833"/>
                </a:solidFill>
              </a:rPr>
              <a:t>The leadership story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9536" y="1901952"/>
            <a:ext cx="73152" cy="352044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1892808"/>
            <a:ext cx="347472" cy="347472"/>
          </a:xfrm>
          <a:prstGeom prst="ellipse">
            <a:avLst/>
          </a:prstGeom>
          <a:solidFill>
            <a:srgbClr val="0052CC"/>
          </a:solidFill>
          <a:ln w="15240">
            <a:solidFill>
              <a:srgbClr val="005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199796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00200" y="1874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52CC"/>
                </a:solidFill>
              </a:rPr>
              <a:t>Manual operations problem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600200" y="2121408"/>
            <a:ext cx="5212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</a:rPr>
              <a:t>Fail research is slow, inconsistent, and heavily dependent on analyst judgment.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252728" y="2313432"/>
            <a:ext cx="0" cy="530352"/>
          </a:xfrm>
          <a:prstGeom prst="line">
            <a:avLst/>
          </a:prstGeom>
          <a:noFill/>
          <a:ln w="12700">
            <a:solidFill>
              <a:srgbClr val="0052CC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2752344"/>
            <a:ext cx="347472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2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2857500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2CC"/>
                </a:solidFill>
              </a:rPr>
              <a:t>02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600200" y="27340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52CC"/>
                </a:solidFill>
              </a:rPr>
              <a:t>Platform response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600200" y="2980944"/>
            <a:ext cx="5212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</a:rPr>
              <a:t>EDGE Workbench turns repeated investigation patterns into reusable agent workflows.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252728" y="3172968"/>
            <a:ext cx="0" cy="530352"/>
          </a:xfrm>
          <a:prstGeom prst="line">
            <a:avLst/>
          </a:prstGeom>
          <a:noFill/>
          <a:ln w="12700">
            <a:solidFill>
              <a:srgbClr val="0052CC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3611880"/>
            <a:ext cx="347472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3717036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2CC"/>
                </a:solidFill>
              </a:rPr>
              <a:t>03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00200" y="35935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52CC"/>
                </a:solidFill>
              </a:rPr>
              <a:t>Industrialization pattern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600200" y="3840480"/>
            <a:ext cx="5212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</a:rPr>
              <a:t>Agent Studio enables rapid SME prototyping; ADK / ARC promotes hardened code-first execution.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252728" y="4032504"/>
            <a:ext cx="0" cy="530352"/>
          </a:xfrm>
          <a:prstGeom prst="line">
            <a:avLst/>
          </a:prstGeom>
          <a:noFill/>
          <a:ln w="12700">
            <a:solidFill>
              <a:srgbClr val="0052CC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4471416"/>
            <a:ext cx="347472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6424" y="45765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2CC"/>
                </a:solidFill>
              </a:rPr>
              <a:t>04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600200" y="44531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52CC"/>
                </a:solidFill>
              </a:rPr>
              <a:t>Controls embedded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600200" y="4700016"/>
            <a:ext cx="5212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</a:rPr>
              <a:t>Deterministic data checks, observability, guardrails, and human approval are part of the runtime.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932688" y="5285232"/>
            <a:ext cx="614476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5404104"/>
            <a:ext cx="5852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A1833"/>
                </a:solidFill>
              </a:rPr>
              <a:t>Executive takeaway: platform reuse beats one-off agents; scale the factory, not experiments.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7699248" y="1325880"/>
            <a:ext cx="3886200" cy="4645152"/>
          </a:xfrm>
          <a:prstGeom prst="roundRect">
            <a:avLst>
              <a:gd name="adj" fmla="val 3765"/>
            </a:avLst>
          </a:prstGeom>
          <a:solidFill>
            <a:srgbClr val="0A1833"/>
          </a:solidFill>
          <a:ln w="12700">
            <a:solidFill>
              <a:srgbClr val="0A18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16276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Pilot proof point: US DTCC Fixed Income Fails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28432" y="19751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9E6FF"/>
                </a:solidFill>
              </a:rPr>
              <a:t>Reclaimed capacity and reduced settlement-fail volume without bypassing risk controls.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8028432" y="2514600"/>
            <a:ext cx="3127248" cy="731520"/>
          </a:xfrm>
          <a:prstGeom prst="roundRect">
            <a:avLst>
              <a:gd name="adj" fmla="val 15000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26426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55 Hrs/Day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84464" y="299008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DE9FF"/>
                </a:solidFill>
              </a:rPr>
              <a:t>Operational capacity saved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10588752" y="2715768"/>
            <a:ext cx="320040" cy="32004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43616" y="276148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52CC"/>
                </a:solidFill>
              </a:rPr>
              <a:t>⏱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28432" y="3447288"/>
            <a:ext cx="3127248" cy="731520"/>
          </a:xfrm>
          <a:prstGeom prst="roundRect">
            <a:avLst>
              <a:gd name="adj" fmla="val 15000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35753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~13,750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84464" y="392277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DE9FF"/>
                </a:solidFill>
              </a:rPr>
              <a:t>Analyst hours reclaimed annually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10588752" y="3648456"/>
            <a:ext cx="320040" cy="32004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43616" y="3694176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52CC"/>
                </a:solidFill>
              </a:rPr>
              <a:t>↗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28432" y="4379976"/>
            <a:ext cx="3127248" cy="731520"/>
          </a:xfrm>
          <a:prstGeom prst="roundRect">
            <a:avLst>
              <a:gd name="adj" fmla="val 15000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45079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284464" y="485546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DE9FF"/>
                </a:solidFill>
              </a:rPr>
              <a:t>Fails volume reduction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10588752" y="4581144"/>
            <a:ext cx="320040" cy="32004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43616" y="4626864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52CC"/>
                </a:solidFill>
              </a:rPr>
              <a:t>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28432" y="5440680"/>
            <a:ext cx="3127248" cy="256032"/>
          </a:xfrm>
          <a:prstGeom prst="roundRect">
            <a:avLst>
              <a:gd name="adj" fmla="val 21429"/>
            </a:avLst>
          </a:prstGeom>
          <a:solidFill>
            <a:srgbClr val="1B2E55"/>
          </a:solidFill>
          <a:ln w="12700">
            <a:solidFill>
              <a:srgbClr val="1B2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56448" y="5513832"/>
            <a:ext cx="2834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9E6FF"/>
                </a:solidFill>
              </a:rPr>
              <a:t>Verification-first: extracted math and short-data tables stay deterministic; LLMs generate commentary, not uncontrolled numbers.</a:t>
            </a:r>
            <a:endParaRPr lang="en-US" sz="670" dirty="0"/>
          </a:p>
        </p:txBody>
      </p:sp>
      <p:sp>
        <p:nvSpPr>
          <p:cNvPr id="48" name="Shape 46"/>
          <p:cNvSpPr/>
          <p:nvPr/>
        </p:nvSpPr>
        <p:spPr>
          <a:xfrm>
            <a:off x="621792" y="6446520"/>
            <a:ext cx="1092708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9496" y="6455664"/>
            <a:ext cx="384048" cy="182880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C412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652881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849A"/>
                </a:solidFill>
              </a:rPr>
              <a:t>Internal | EDGE Workbench executive view | Values shown are pilot / target planning figures.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052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safely: from pilot to operations-wide rollout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The pilot is the floor: reuse the EDGE factory across priority operations use cases while preserving controls.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7333488" cy="466344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81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833"/>
                </a:solidFill>
              </a:rPr>
              <a:t>Industrialization playbook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84832" y="2459736"/>
            <a:ext cx="585216" cy="0"/>
          </a:xfrm>
          <a:prstGeom prst="line">
            <a:avLst/>
          </a:prstGeom>
          <a:noFill/>
          <a:ln w="25400">
            <a:solidFill>
              <a:srgbClr val="0052C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77056" y="2459736"/>
            <a:ext cx="585216" cy="0"/>
          </a:xfrm>
          <a:prstGeom prst="line">
            <a:avLst/>
          </a:prstGeom>
          <a:noFill/>
          <a:ln w="25400">
            <a:solidFill>
              <a:srgbClr val="0052C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87568" y="2459736"/>
            <a:ext cx="585216" cy="0"/>
          </a:xfrm>
          <a:prstGeom prst="line">
            <a:avLst/>
          </a:prstGeom>
          <a:noFill/>
          <a:ln w="25400">
            <a:solidFill>
              <a:srgbClr val="0052C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2688" y="1975104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D6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3969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2CC"/>
                </a:solidFill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08176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1833"/>
                </a:solidFill>
              </a:rPr>
              <a:t>Prototype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078992" y="24871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41516B"/>
                </a:solidFill>
              </a:rPr>
              <a:t>SME designs workflow in Agent Studio.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2724912" y="1975104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13969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2CC"/>
                </a:solidFill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0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1833"/>
                </a:solidFill>
              </a:rPr>
              <a:t>Harden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871216" y="24871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41516B"/>
                </a:solidFill>
              </a:rPr>
              <a:t>Export prompts/tools into ADK code-first runtime.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4535424" y="1975104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D6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13969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2CC"/>
                </a:solidFill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10912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1833"/>
                </a:solidFill>
              </a:rPr>
              <a:t>Control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681728" y="24871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41516B"/>
                </a:solidFill>
              </a:rPr>
              <a:t>Apply policy, HITL, evals, and observability.</a:t>
            </a:r>
            <a:endParaRPr lang="en-US" sz="690" dirty="0"/>
          </a:p>
        </p:txBody>
      </p:sp>
      <p:sp>
        <p:nvSpPr>
          <p:cNvPr id="21" name="Shape 19"/>
          <p:cNvSpPr/>
          <p:nvPr/>
        </p:nvSpPr>
        <p:spPr>
          <a:xfrm>
            <a:off x="6345936" y="1975104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D6E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213969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2CC"/>
                </a:solidFill>
              </a:rPr>
              <a:t>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21424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1833"/>
                </a:solidFill>
              </a:rPr>
              <a:t>Scale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492240" y="24871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41516B"/>
                </a:solidFill>
              </a:rPr>
              <a:t>Reuse templates across adjacent operations.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932688" y="3401568"/>
            <a:ext cx="6565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639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052CC"/>
                </a:solidFill>
              </a:rPr>
              <a:t>Where reuse accelerates value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1143000" y="397764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Common pattern: ingest operational data → verify facts with deterministic tools → generate investigator commentary → route through HIL → publish or trigger workflow.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2688" y="4919472"/>
            <a:ext cx="1920240" cy="438912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4919472"/>
            <a:ext cx="1920240" cy="438912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02352" y="4919472"/>
            <a:ext cx="1920240" cy="438912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507492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52CC"/>
                </a:solidFill>
              </a:rPr>
              <a:t>Payments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3456432" y="507492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52CC"/>
                </a:solidFill>
              </a:rPr>
              <a:t>Margin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650992" y="50749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52CC"/>
                </a:solidFill>
              </a:rPr>
              <a:t>OTC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229600" y="1307592"/>
            <a:ext cx="3364992" cy="4663440"/>
          </a:xfrm>
          <a:prstGeom prst="roundRect">
            <a:avLst>
              <a:gd name="adj" fmla="val 4348"/>
            </a:avLst>
          </a:prstGeom>
          <a:solidFill>
            <a:srgbClr val="0A1833"/>
          </a:solidFill>
          <a:ln w="12700">
            <a:solidFill>
              <a:srgbClr val="0A18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Target value pool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31352" y="21488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$9MM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567928" y="274320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E6FF"/>
                </a:solidFill>
              </a:rPr>
              <a:t>/ year targeted fails-related cost reduction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549640" y="3127248"/>
            <a:ext cx="1417320" cy="292608"/>
          </a:xfrm>
          <a:prstGeom prst="roundRect">
            <a:avLst>
              <a:gd name="adj" fmla="val 21875"/>
            </a:avLst>
          </a:prstGeom>
          <a:solidFill>
            <a:srgbClr val="00A6B7"/>
          </a:solidFill>
          <a:ln w="12700">
            <a:solidFill>
              <a:srgbClr val="00A6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3191256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14 identified use cases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10113264" y="3127248"/>
            <a:ext cx="1051560" cy="292608"/>
          </a:xfrm>
          <a:prstGeom prst="roundRect">
            <a:avLst>
              <a:gd name="adj" fmla="val 21875"/>
            </a:avLst>
          </a:prstGeom>
          <a:solidFill>
            <a:srgbClr val="0A7F55"/>
          </a:solidFill>
          <a:ln w="12700">
            <a:solidFill>
              <a:srgbClr val="0A7F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77272" y="319125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Platform reuse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8549640" y="3675888"/>
            <a:ext cx="2615184" cy="0"/>
          </a:xfrm>
          <a:prstGeom prst="line">
            <a:avLst/>
          </a:prstGeom>
          <a:noFill/>
          <a:ln w="12700">
            <a:solidFill>
              <a:srgbClr val="3450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58784" y="3895344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Leadership ask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4306824"/>
            <a:ext cx="164592" cy="164592"/>
          </a:xfrm>
          <a:prstGeom prst="ellipse">
            <a:avLst/>
          </a:prstGeom>
          <a:solidFill>
            <a:srgbClr val="00A6B7"/>
          </a:solidFill>
          <a:ln w="12700">
            <a:solidFill>
              <a:srgbClr val="00A6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14816" y="42793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9E6FF"/>
                </a:solidFill>
              </a:rPr>
              <a:t>Prioritize top 3 rollout candidates by volume, risk, and repeatability.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8549640" y="4745736"/>
            <a:ext cx="164592" cy="164592"/>
          </a:xfrm>
          <a:prstGeom prst="ellipse">
            <a:avLst/>
          </a:prstGeom>
          <a:solidFill>
            <a:srgbClr val="00A6B7"/>
          </a:solidFill>
          <a:ln w="12700">
            <a:solidFill>
              <a:srgbClr val="00A6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14816" y="47183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9E6FF"/>
                </a:solidFill>
              </a:rPr>
              <a:t>Approve a standard control pattern before onboarding new agents.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8549640" y="5184648"/>
            <a:ext cx="164592" cy="164592"/>
          </a:xfrm>
          <a:prstGeom prst="ellipse">
            <a:avLst/>
          </a:prstGeom>
          <a:solidFill>
            <a:srgbClr val="00A6B7"/>
          </a:solidFill>
          <a:ln w="12700">
            <a:solidFill>
              <a:srgbClr val="00A6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14816" y="51572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9E6FF"/>
                </a:solidFill>
              </a:rPr>
              <a:t>Assign accountable SME + tech owner for each use case.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549640" y="5532120"/>
            <a:ext cx="2615184" cy="256032"/>
          </a:xfrm>
          <a:prstGeom prst="roundRect">
            <a:avLst>
              <a:gd name="adj" fmla="val 21429"/>
            </a:avLst>
          </a:prstGeom>
          <a:solidFill>
            <a:srgbClr val="1B2E55"/>
          </a:solidFill>
          <a:ln w="12700">
            <a:solidFill>
              <a:srgbClr val="1B2E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5605272"/>
            <a:ext cx="23591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D9E6FF"/>
                </a:solidFill>
              </a:rPr>
              <a:t>Scale with trust: every new workflow must inherit logging, evaluation, authorization, and mandatory human-in-the-loop controls.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621792" y="6446520"/>
            <a:ext cx="1092708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39496" y="6455664"/>
            <a:ext cx="384048" cy="182880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C412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43000" y="652881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849A"/>
                </a:solidFill>
              </a:rPr>
              <a:t>Internal | EDGE Workbench scaling roadmap | Financial target depends on prioritized use-case sequencing and adoption.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Industrializing Operations</dc:title>
  <dc:subject>Industrializing Operations executive presentation</dc:subject>
  <dc:creator>OpenAI</dc:creator>
  <cp:lastModifiedBy>OpenAI</cp:lastModifiedBy>
  <cp:revision>1</cp:revision>
  <dcterms:created xsi:type="dcterms:W3CDTF">2026-09-10T08:41:26Z</dcterms:created>
  <dcterms:modified xsi:type="dcterms:W3CDTF">2026-09-10T08:41:26Z</dcterms:modified>
</cp:coreProperties>
</file>