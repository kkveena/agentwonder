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3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1305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talk track:
This final tranche moves from architecture to execution. The first two tranches established why MCP matters, how tools should be designed, how servers should be hosted, and how governance should work.
Here the message is: let us adopt MCP through a controlled EDGE operating model, not through scattered tool experimentation.
The goal is to leave leadership with clear pilots, ownership, certification controls and decisions needed to move forward.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This is a candidate MCP server portfolio for EDGE. It is deliberately domain-bounded rather than a single massive tool server.
The names are not final product names; they illustrate the operating principle.
Each server should have a clear owner, supported business capabilities, data entitlements, and a certification status. The platform team should not own all business logic. Domain teams own the semantics; the platform owns the common gateway and governance model.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This slide turns MCP into an industrialized onboarding path. The point is not to slow teams down; it is to avoid everyone inventing their own integration and governance pattern.
Every new MCP tool should enter through intake, carry a contract, be risk classified, pass certification, and then become discoverable through the registry.
This is how we move from experimentation to an enterprise-grade tool plane.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This is the best pilot because it is close to our current EDGE work: fails investigation, commentary generation and validation.
The agent should not fabricate context. It should retrieve structured evidence through MCP, generate or validate commentary, and preserve traceability back to source systems.
This pilot proves the core MCP value: reusable data access, controlled tool invocation, grounded output and human approval before operational impact.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The second pilot is QMA because it demonstrates that MCP is not only for trade-data tools. It also supports classification, routing, summarization and workflow actions.
The important design point is that not every step has the same risk. Classification and recommendation can be more automated; case creation or outbound communication should have stronger policy controls and human approval.
This pilot connects MCP strategy to practical efficiency benefits already visible in QMA and EDGE Assist.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This RACI is important because MCP cuts across platform, domain applications, AI engineering, risk/control and business teams.
A common mistake is to make the platform team the owner of every tool. That will not scale and it weakens business accountability.
The better model is: platform owns the gateway and common controls; domain teams own MCP server semantics; AI engineering owns agent integration and evals; risk and control approve high-risk policies.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This slide should resonate with architecture and control partners. MCP certification must test more than the API endpoint.
We need deterministic tests to prove the tool works, and agent behavior tests to prove the model selects the right tool, passes the right parameters and follows the right sequence.
Every approved tool version should leave behind an evaluation record, otherwise we cannot govern regression risk as prompts, models and tools evolve.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This is the runtime resilience slide. It acknowledges reality: downstream services will throttle, tools will fail, and agents may occasionally choose a suboptimal path.
The strategy should include kill switches, circuit breakers, degraded modes and clear escalation paths.
For financial operations, the right failure mode is safe containment. If a write tool becomes risky, we can degrade to draft-only or read-only without taking the whole EDGE experience offline.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The roadmap is intentionally practical. We do not need to boil the ocean.
In the first 30 days, align on standards, risk tiers, ownership and candidate pilots. In the next 30 days, build the pilot capabilities and evaluation datasets. In the final 30 days, certify the pilot tool versions and operationalize the dashboard.
The day-90 decision should be evidence-based: did MCP improve reuse, control, traceability and agent quality?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talk track:
The recommendation is to make MCP the standard enterprise tool-access pattern for EDGE agentic workflows.
The near-term ask is modest and practical: endorse the standard, approve two pilots, adopt the risk/control model, and establish an operating cadence.
The broader message is that MCP gives us the architecture discipline needed for agentic AI to scale safely in a regulated environment.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3"/>
          </a:solidFill>
          <a:ln w="12700">
            <a:solidFill>
              <a:srgbClr val="0B1F33">
                <a:alpha val="0"/>
              </a:srgbClr>
            </a:solidFill>
            <a:prstDash val="solid"/>
          </a:ln>
        </p:spPr>
        <p:txBody>
          <a:bodyPr/>
          <a:lstStyle/>
          <a:p>
            <a:endParaRPr lang="en-US"/>
          </a:p>
        </p:txBody>
      </p:sp>
      <p:sp>
        <p:nvSpPr>
          <p:cNvPr id="3" name="Shape 1"/>
          <p:cNvSpPr/>
          <p:nvPr/>
        </p:nvSpPr>
        <p:spPr>
          <a:xfrm>
            <a:off x="0" y="0"/>
            <a:ext cx="201168" cy="6858000"/>
          </a:xfrm>
          <a:prstGeom prst="rect">
            <a:avLst/>
          </a:prstGeom>
          <a:solidFill>
            <a:srgbClr val="2563EB"/>
          </a:solidFill>
          <a:ln w="12700">
            <a:solidFill>
              <a:srgbClr val="2563EB">
                <a:alpha val="0"/>
              </a:srgbClr>
            </a:solidFill>
            <a:prstDash val="solid"/>
          </a:ln>
        </p:spPr>
        <p:txBody>
          <a:bodyPr/>
          <a:lstStyle/>
          <a:p>
            <a:endParaRPr lang="en-US"/>
          </a:p>
        </p:txBody>
      </p:sp>
      <p:sp>
        <p:nvSpPr>
          <p:cNvPr id="4" name="Text 2"/>
          <p:cNvSpPr/>
          <p:nvPr/>
        </p:nvSpPr>
        <p:spPr>
          <a:xfrm>
            <a:off x="713232" y="2029968"/>
            <a:ext cx="9692640" cy="566928"/>
          </a:xfrm>
          <a:prstGeom prst="rect">
            <a:avLst/>
          </a:prstGeom>
          <a:noFill/>
          <a:ln/>
        </p:spPr>
        <p:txBody>
          <a:bodyPr wrap="square" lIns="0" tIns="0" rIns="0" bIns="0" rtlCol="0" anchor="ctr"/>
          <a:lstStyle/>
          <a:p>
            <a:pPr marL="0" indent="0">
              <a:buNone/>
            </a:pPr>
            <a:r>
              <a:rPr lang="en-US" sz="3400" b="1" dirty="0">
                <a:solidFill>
                  <a:srgbClr val="FFFFFF"/>
                </a:solidFill>
                <a:latin typeface="Aptos Display" pitchFamily="34" charset="0"/>
                <a:ea typeface="Aptos Display" pitchFamily="34" charset="-122"/>
                <a:cs typeface="Aptos Display" pitchFamily="34" charset="-120"/>
              </a:rPr>
              <a:t>Tranche 3: Execution &amp; Adoption</a:t>
            </a:r>
            <a:endParaRPr lang="en-US" sz="3400" dirty="0"/>
          </a:p>
        </p:txBody>
      </p:sp>
      <p:sp>
        <p:nvSpPr>
          <p:cNvPr id="5" name="Text 3"/>
          <p:cNvSpPr/>
          <p:nvPr/>
        </p:nvSpPr>
        <p:spPr>
          <a:xfrm>
            <a:off x="749808" y="2761488"/>
            <a:ext cx="9875520" cy="320040"/>
          </a:xfrm>
          <a:prstGeom prst="rect">
            <a:avLst/>
          </a:prstGeom>
          <a:noFill/>
          <a:ln/>
        </p:spPr>
        <p:txBody>
          <a:bodyPr wrap="square" lIns="0" tIns="0" rIns="0" bIns="0" rtlCol="0" anchor="ctr"/>
          <a:lstStyle/>
          <a:p>
            <a:pPr marL="0" indent="0">
              <a:buNone/>
            </a:pPr>
            <a:r>
              <a:rPr lang="en-US" sz="1500" dirty="0">
                <a:solidFill>
                  <a:srgbClr val="DDEAFE"/>
                </a:solidFill>
              </a:rPr>
              <a:t>Converting MCP strategy into EDGE pilots, governance cadence and executive decisions</a:t>
            </a:r>
            <a:endParaRPr lang="en-US" sz="1500" dirty="0"/>
          </a:p>
        </p:txBody>
      </p:sp>
      <p:sp>
        <p:nvSpPr>
          <p:cNvPr id="6" name="Text 4"/>
          <p:cNvSpPr/>
          <p:nvPr/>
        </p:nvSpPr>
        <p:spPr>
          <a:xfrm>
            <a:off x="749808" y="3675888"/>
            <a:ext cx="9601200" cy="274320"/>
          </a:xfrm>
          <a:prstGeom prst="rect">
            <a:avLst/>
          </a:prstGeom>
          <a:noFill/>
          <a:ln/>
        </p:spPr>
        <p:txBody>
          <a:bodyPr wrap="square" lIns="0" tIns="0" rIns="0" bIns="0" rtlCol="0" anchor="ctr"/>
          <a:lstStyle/>
          <a:p>
            <a:pPr marL="0" indent="0">
              <a:buNone/>
            </a:pPr>
            <a:r>
              <a:rPr lang="en-US" sz="1100" dirty="0">
                <a:solidFill>
                  <a:srgbClr val="BDD7F6"/>
                </a:solidFill>
              </a:rPr>
              <a:t>Continues the core themes: MCP Tool Design  •  MCP Server Hosting  •  MCP Governance</a:t>
            </a:r>
            <a:endParaRPr lang="en-US" sz="1100" dirty="0"/>
          </a:p>
        </p:txBody>
      </p:sp>
      <p:sp>
        <p:nvSpPr>
          <p:cNvPr id="7" name="Shape 5"/>
          <p:cNvSpPr/>
          <p:nvPr/>
        </p:nvSpPr>
        <p:spPr>
          <a:xfrm>
            <a:off x="749808" y="4160520"/>
            <a:ext cx="3063240" cy="310896"/>
          </a:xfrm>
          <a:prstGeom prst="roundRect">
            <a:avLst>
              <a:gd name="adj" fmla="val 29412"/>
            </a:avLst>
          </a:prstGeom>
          <a:solidFill>
            <a:srgbClr val="2563EB"/>
          </a:solidFill>
          <a:ln w="12700">
            <a:solidFill>
              <a:srgbClr val="2563EB">
                <a:alpha val="0"/>
              </a:srgbClr>
            </a:solidFill>
            <a:prstDash val="solid"/>
          </a:ln>
        </p:spPr>
        <p:txBody>
          <a:bodyPr/>
          <a:lstStyle/>
          <a:p>
            <a:endParaRPr lang="en-US"/>
          </a:p>
        </p:txBody>
      </p:sp>
      <p:sp>
        <p:nvSpPr>
          <p:cNvPr id="8" name="Text 6"/>
          <p:cNvSpPr/>
          <p:nvPr/>
        </p:nvSpPr>
        <p:spPr>
          <a:xfrm>
            <a:off x="822960" y="4229100"/>
            <a:ext cx="2916936" cy="137160"/>
          </a:xfrm>
          <a:prstGeom prst="rect">
            <a:avLst/>
          </a:prstGeom>
          <a:noFill/>
          <a:ln/>
        </p:spPr>
        <p:txBody>
          <a:bodyPr wrap="square" lIns="0" tIns="0" rIns="0" bIns="0" rtlCol="0" anchor="ctr">
            <a:normAutofit/>
          </a:bodyPr>
          <a:lstStyle/>
          <a:p>
            <a:pPr marL="0" indent="0" algn="ctr">
              <a:buNone/>
            </a:pPr>
            <a:r>
              <a:rPr lang="en-US" sz="860" b="1" dirty="0">
                <a:solidFill>
                  <a:srgbClr val="FFFFFF"/>
                </a:solidFill>
              </a:rPr>
              <a:t>Final tranche — from strategy to operating model</a:t>
            </a:r>
            <a:endParaRPr lang="en-US" sz="860" dirty="0"/>
          </a:p>
        </p:txBody>
      </p:sp>
      <p:sp>
        <p:nvSpPr>
          <p:cNvPr id="9" name="Text 7"/>
          <p:cNvSpPr/>
          <p:nvPr/>
        </p:nvSpPr>
        <p:spPr>
          <a:xfrm>
            <a:off x="758952" y="6291072"/>
            <a:ext cx="1737360" cy="182880"/>
          </a:xfrm>
          <a:prstGeom prst="rect">
            <a:avLst/>
          </a:prstGeom>
          <a:noFill/>
          <a:ln/>
        </p:spPr>
        <p:txBody>
          <a:bodyPr wrap="square" lIns="0" tIns="0" rIns="0" bIns="0" rtlCol="0" anchor="ctr"/>
          <a:lstStyle/>
          <a:p>
            <a:pPr marL="0" indent="0">
              <a:buNone/>
            </a:pPr>
            <a:r>
              <a:rPr lang="en-US" sz="850" dirty="0">
                <a:solidFill>
                  <a:srgbClr val="93C5FD"/>
                </a:solidFill>
              </a:rPr>
              <a:t>September 2026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txBody>
          <a:bodyPr/>
          <a:lstStyle/>
          <a:p>
            <a:endParaRPr lang="en-US"/>
          </a:p>
        </p:txBody>
      </p:sp>
      <p:sp>
        <p:nvSpPr>
          <p:cNvPr id="3" name="Shape 1"/>
          <p:cNvSpPr/>
          <p:nvPr/>
        </p:nvSpPr>
        <p:spPr>
          <a:xfrm>
            <a:off x="0" y="0"/>
            <a:ext cx="12191695" cy="100584"/>
          </a:xfrm>
          <a:prstGeom prst="rect">
            <a:avLst/>
          </a:prstGeom>
          <a:solidFill>
            <a:srgbClr val="2563EB"/>
          </a:solidFill>
          <a:ln w="12700">
            <a:solidFill>
              <a:srgbClr val="2563EB">
                <a:alpha val="0"/>
              </a:srgbClr>
            </a:solidFill>
            <a:prstDash val="solid"/>
          </a:ln>
        </p:spPr>
        <p:txBody>
          <a:bodyPr/>
          <a:lstStyle/>
          <a:p>
            <a:endParaRPr lang="en-US"/>
          </a:p>
        </p:txBody>
      </p:sp>
      <p:sp>
        <p:nvSpPr>
          <p:cNvPr id="4" name="Text 2"/>
          <p:cNvSpPr/>
          <p:nvPr/>
        </p:nvSpPr>
        <p:spPr>
          <a:xfrm>
            <a:off x="502920" y="310896"/>
            <a:ext cx="9966960" cy="411480"/>
          </a:xfrm>
          <a:prstGeom prst="rect">
            <a:avLst/>
          </a:prstGeom>
          <a:noFill/>
          <a:ln/>
        </p:spPr>
        <p:txBody>
          <a:bodyPr wrap="square" lIns="0" tIns="0" rIns="0" bIns="0" rtlCol="0" anchor="ctr">
            <a:normAutofit/>
          </a:bodyPr>
          <a:lstStyle/>
          <a:p>
            <a:pPr marL="0" indent="0">
              <a:buNone/>
            </a:pPr>
            <a:r>
              <a:rPr lang="en-US" sz="2400" b="1" dirty="0">
                <a:solidFill>
                  <a:srgbClr val="0B1F33"/>
                </a:solidFill>
                <a:latin typeface="Aptos Display" pitchFamily="34" charset="0"/>
                <a:ea typeface="Aptos Display" pitchFamily="34" charset="-122"/>
                <a:cs typeface="Aptos Display" pitchFamily="34" charset="-120"/>
              </a:rPr>
              <a:t>EDGE MCP Server Portfolio</a:t>
            </a:r>
            <a:endParaRPr lang="en-US" sz="2400" dirty="0"/>
          </a:p>
        </p:txBody>
      </p:sp>
      <p:sp>
        <p:nvSpPr>
          <p:cNvPr id="5" name="Text 3"/>
          <p:cNvSpPr/>
          <p:nvPr/>
        </p:nvSpPr>
        <p:spPr>
          <a:xfrm>
            <a:off x="521208" y="749808"/>
            <a:ext cx="10789920" cy="320040"/>
          </a:xfrm>
          <a:prstGeom prst="rect">
            <a:avLst/>
          </a:prstGeom>
          <a:noFill/>
          <a:ln/>
        </p:spPr>
        <p:txBody>
          <a:bodyPr wrap="square" lIns="0" tIns="0" rIns="0" bIns="0" rtlCol="0" anchor="ctr">
            <a:normAutofit/>
          </a:bodyPr>
          <a:lstStyle/>
          <a:p>
            <a:pPr marL="0" indent="0">
              <a:buNone/>
            </a:pPr>
            <a:r>
              <a:rPr lang="en-US" sz="1050" dirty="0">
                <a:solidFill>
                  <a:srgbClr val="64748B"/>
                </a:solidFill>
              </a:rPr>
              <a:t>Start with domain-bounded servers that map to EDGE business capabilities and existing enterprise systems.</a:t>
            </a:r>
            <a:endParaRPr lang="en-US" sz="1050" dirty="0"/>
          </a:p>
        </p:txBody>
      </p:sp>
      <p:sp>
        <p:nvSpPr>
          <p:cNvPr id="6" name="Shape 4"/>
          <p:cNvSpPr/>
          <p:nvPr/>
        </p:nvSpPr>
        <p:spPr>
          <a:xfrm>
            <a:off x="713232" y="1481328"/>
            <a:ext cx="3429000" cy="1024128"/>
          </a:xfrm>
          <a:prstGeom prst="roundRect">
            <a:avLst>
              <a:gd name="adj" fmla="val 7143"/>
            </a:avLst>
          </a:prstGeom>
          <a:solidFill>
            <a:srgbClr val="FFFFFF"/>
          </a:solidFill>
          <a:ln w="12700">
            <a:solidFill>
              <a:srgbClr val="CBD5E1"/>
            </a:solidFill>
            <a:prstDash val="solid"/>
          </a:ln>
        </p:spPr>
        <p:txBody>
          <a:bodyPr/>
          <a:lstStyle/>
          <a:p>
            <a:endParaRPr lang="en-US"/>
          </a:p>
        </p:txBody>
      </p:sp>
      <p:sp>
        <p:nvSpPr>
          <p:cNvPr id="7" name="Shape 5"/>
          <p:cNvSpPr/>
          <p:nvPr/>
        </p:nvSpPr>
        <p:spPr>
          <a:xfrm>
            <a:off x="713232" y="1481328"/>
            <a:ext cx="3429000" cy="164592"/>
          </a:xfrm>
          <a:prstGeom prst="rect">
            <a:avLst/>
          </a:prstGeom>
          <a:solidFill>
            <a:srgbClr val="2563EB"/>
          </a:solidFill>
          <a:ln w="12700">
            <a:solidFill>
              <a:srgbClr val="2563EB">
                <a:alpha val="0"/>
              </a:srgbClr>
            </a:solidFill>
            <a:prstDash val="solid"/>
          </a:ln>
        </p:spPr>
        <p:txBody>
          <a:bodyPr/>
          <a:lstStyle/>
          <a:p>
            <a:endParaRPr lang="en-US"/>
          </a:p>
        </p:txBody>
      </p:sp>
      <p:sp>
        <p:nvSpPr>
          <p:cNvPr id="8" name="Text 6"/>
          <p:cNvSpPr/>
          <p:nvPr/>
        </p:nvSpPr>
        <p:spPr>
          <a:xfrm>
            <a:off x="877824" y="1810512"/>
            <a:ext cx="3063240" cy="164592"/>
          </a:xfrm>
          <a:prstGeom prst="rect">
            <a:avLst/>
          </a:prstGeom>
          <a:noFill/>
          <a:ln/>
        </p:spPr>
        <p:txBody>
          <a:bodyPr wrap="square" lIns="0" tIns="0" rIns="0" bIns="0" rtlCol="0" anchor="ctr">
            <a:normAutofit/>
          </a:bodyPr>
          <a:lstStyle/>
          <a:p>
            <a:pPr marL="0" indent="0">
              <a:buNone/>
            </a:pPr>
            <a:r>
              <a:rPr lang="en-US" sz="1180" b="1" dirty="0">
                <a:solidFill>
                  <a:srgbClr val="0B1F33"/>
                </a:solidFill>
              </a:rPr>
              <a:t>Trade &amp; Position MCP</a:t>
            </a:r>
            <a:endParaRPr lang="en-US" sz="1180" dirty="0"/>
          </a:p>
        </p:txBody>
      </p:sp>
      <p:sp>
        <p:nvSpPr>
          <p:cNvPr id="9" name="Text 7"/>
          <p:cNvSpPr/>
          <p:nvPr/>
        </p:nvSpPr>
        <p:spPr>
          <a:xfrm>
            <a:off x="877824" y="2130552"/>
            <a:ext cx="3017520" cy="164592"/>
          </a:xfrm>
          <a:prstGeom prst="rect">
            <a:avLst/>
          </a:prstGeom>
          <a:noFill/>
          <a:ln/>
        </p:spPr>
        <p:txBody>
          <a:bodyPr wrap="square" lIns="0" tIns="0" rIns="0" bIns="0" rtlCol="0" anchor="ctr">
            <a:normAutofit/>
          </a:bodyPr>
          <a:lstStyle/>
          <a:p>
            <a:pPr marL="0" indent="0">
              <a:buNone/>
            </a:pPr>
            <a:r>
              <a:rPr lang="en-US" sz="880" dirty="0">
                <a:solidFill>
                  <a:srgbClr val="64748B"/>
                </a:solidFill>
              </a:rPr>
              <a:t>position, trade, netting, desk views</a:t>
            </a:r>
            <a:endParaRPr lang="en-US" sz="880" dirty="0"/>
          </a:p>
        </p:txBody>
      </p:sp>
      <p:sp>
        <p:nvSpPr>
          <p:cNvPr id="10" name="Shape 8"/>
          <p:cNvSpPr/>
          <p:nvPr/>
        </p:nvSpPr>
        <p:spPr>
          <a:xfrm>
            <a:off x="4526280" y="1481328"/>
            <a:ext cx="3429000" cy="1024128"/>
          </a:xfrm>
          <a:prstGeom prst="roundRect">
            <a:avLst>
              <a:gd name="adj" fmla="val 7143"/>
            </a:avLst>
          </a:prstGeom>
          <a:solidFill>
            <a:srgbClr val="FFFFFF"/>
          </a:solidFill>
          <a:ln w="12700">
            <a:solidFill>
              <a:srgbClr val="CBD5E1"/>
            </a:solidFill>
            <a:prstDash val="solid"/>
          </a:ln>
        </p:spPr>
        <p:txBody>
          <a:bodyPr/>
          <a:lstStyle/>
          <a:p>
            <a:endParaRPr lang="en-US"/>
          </a:p>
        </p:txBody>
      </p:sp>
      <p:sp>
        <p:nvSpPr>
          <p:cNvPr id="11" name="Shape 9"/>
          <p:cNvSpPr/>
          <p:nvPr/>
        </p:nvSpPr>
        <p:spPr>
          <a:xfrm>
            <a:off x="4526280" y="1481328"/>
            <a:ext cx="3429000" cy="164592"/>
          </a:xfrm>
          <a:prstGeom prst="rect">
            <a:avLst/>
          </a:prstGeom>
          <a:solidFill>
            <a:srgbClr val="0F766E"/>
          </a:solidFill>
          <a:ln w="12700">
            <a:solidFill>
              <a:srgbClr val="0F766E">
                <a:alpha val="0"/>
              </a:srgbClr>
            </a:solidFill>
            <a:prstDash val="solid"/>
          </a:ln>
        </p:spPr>
        <p:txBody>
          <a:bodyPr/>
          <a:lstStyle/>
          <a:p>
            <a:endParaRPr lang="en-US"/>
          </a:p>
        </p:txBody>
      </p:sp>
      <p:sp>
        <p:nvSpPr>
          <p:cNvPr id="12" name="Text 10"/>
          <p:cNvSpPr/>
          <p:nvPr/>
        </p:nvSpPr>
        <p:spPr>
          <a:xfrm>
            <a:off x="4690872" y="1810512"/>
            <a:ext cx="3063240" cy="164592"/>
          </a:xfrm>
          <a:prstGeom prst="rect">
            <a:avLst/>
          </a:prstGeom>
          <a:noFill/>
          <a:ln/>
        </p:spPr>
        <p:txBody>
          <a:bodyPr wrap="square" lIns="0" tIns="0" rIns="0" bIns="0" rtlCol="0" anchor="ctr">
            <a:normAutofit/>
          </a:bodyPr>
          <a:lstStyle/>
          <a:p>
            <a:pPr marL="0" indent="0">
              <a:buNone/>
            </a:pPr>
            <a:r>
              <a:rPr lang="en-US" sz="1180" b="1" dirty="0">
                <a:solidFill>
                  <a:srgbClr val="0B1F33"/>
                </a:solidFill>
              </a:rPr>
              <a:t>Settlement MCP</a:t>
            </a:r>
            <a:endParaRPr lang="en-US" sz="1180" dirty="0"/>
          </a:p>
        </p:txBody>
      </p:sp>
      <p:sp>
        <p:nvSpPr>
          <p:cNvPr id="13" name="Text 11"/>
          <p:cNvSpPr/>
          <p:nvPr/>
        </p:nvSpPr>
        <p:spPr>
          <a:xfrm>
            <a:off x="4690872" y="2130552"/>
            <a:ext cx="3017520" cy="164592"/>
          </a:xfrm>
          <a:prstGeom prst="rect">
            <a:avLst/>
          </a:prstGeom>
          <a:noFill/>
          <a:ln/>
        </p:spPr>
        <p:txBody>
          <a:bodyPr wrap="square" lIns="0" tIns="0" rIns="0" bIns="0" rtlCol="0" anchor="ctr">
            <a:normAutofit/>
          </a:bodyPr>
          <a:lstStyle/>
          <a:p>
            <a:pPr marL="0" indent="0">
              <a:buNone/>
            </a:pPr>
            <a:r>
              <a:rPr lang="en-US" sz="880" dirty="0">
                <a:solidFill>
                  <a:srgbClr val="64748B"/>
                </a:solidFill>
              </a:rPr>
              <a:t>settlement status, fails, instructions</a:t>
            </a:r>
            <a:endParaRPr lang="en-US" sz="880" dirty="0"/>
          </a:p>
        </p:txBody>
      </p:sp>
      <p:sp>
        <p:nvSpPr>
          <p:cNvPr id="14" name="Shape 12"/>
          <p:cNvSpPr/>
          <p:nvPr/>
        </p:nvSpPr>
        <p:spPr>
          <a:xfrm>
            <a:off x="8339328" y="1481328"/>
            <a:ext cx="3429000" cy="1024128"/>
          </a:xfrm>
          <a:prstGeom prst="roundRect">
            <a:avLst>
              <a:gd name="adj" fmla="val 7143"/>
            </a:avLst>
          </a:prstGeom>
          <a:solidFill>
            <a:srgbClr val="FFFFFF"/>
          </a:solidFill>
          <a:ln w="12700">
            <a:solidFill>
              <a:srgbClr val="CBD5E1"/>
            </a:solidFill>
            <a:prstDash val="solid"/>
          </a:ln>
        </p:spPr>
        <p:txBody>
          <a:bodyPr/>
          <a:lstStyle/>
          <a:p>
            <a:endParaRPr lang="en-US"/>
          </a:p>
        </p:txBody>
      </p:sp>
      <p:sp>
        <p:nvSpPr>
          <p:cNvPr id="15" name="Shape 13"/>
          <p:cNvSpPr/>
          <p:nvPr/>
        </p:nvSpPr>
        <p:spPr>
          <a:xfrm>
            <a:off x="8339328" y="1481328"/>
            <a:ext cx="3429000" cy="164592"/>
          </a:xfrm>
          <a:prstGeom prst="rect">
            <a:avLst/>
          </a:prstGeom>
          <a:solidFill>
            <a:srgbClr val="16A34A"/>
          </a:solidFill>
          <a:ln w="12700">
            <a:solidFill>
              <a:srgbClr val="16A34A">
                <a:alpha val="0"/>
              </a:srgbClr>
            </a:solidFill>
            <a:prstDash val="solid"/>
          </a:ln>
        </p:spPr>
        <p:txBody>
          <a:bodyPr/>
          <a:lstStyle/>
          <a:p>
            <a:endParaRPr lang="en-US"/>
          </a:p>
        </p:txBody>
      </p:sp>
      <p:sp>
        <p:nvSpPr>
          <p:cNvPr id="16" name="Text 14"/>
          <p:cNvSpPr/>
          <p:nvPr/>
        </p:nvSpPr>
        <p:spPr>
          <a:xfrm>
            <a:off x="8503920" y="1810512"/>
            <a:ext cx="3063240" cy="164592"/>
          </a:xfrm>
          <a:prstGeom prst="rect">
            <a:avLst/>
          </a:prstGeom>
          <a:noFill/>
          <a:ln/>
        </p:spPr>
        <p:txBody>
          <a:bodyPr wrap="square" lIns="0" tIns="0" rIns="0" bIns="0" rtlCol="0" anchor="ctr">
            <a:normAutofit/>
          </a:bodyPr>
          <a:lstStyle/>
          <a:p>
            <a:pPr marL="0" indent="0">
              <a:buNone/>
            </a:pPr>
            <a:r>
              <a:rPr lang="en-US" sz="1180" b="1" dirty="0">
                <a:solidFill>
                  <a:srgbClr val="0B1F33"/>
                </a:solidFill>
              </a:rPr>
              <a:t>Reference Data MCP</a:t>
            </a:r>
            <a:endParaRPr lang="en-US" sz="1180" dirty="0"/>
          </a:p>
        </p:txBody>
      </p:sp>
      <p:sp>
        <p:nvSpPr>
          <p:cNvPr id="17" name="Text 15"/>
          <p:cNvSpPr/>
          <p:nvPr/>
        </p:nvSpPr>
        <p:spPr>
          <a:xfrm>
            <a:off x="8503920" y="2130552"/>
            <a:ext cx="3017520" cy="164592"/>
          </a:xfrm>
          <a:prstGeom prst="rect">
            <a:avLst/>
          </a:prstGeom>
          <a:noFill/>
          <a:ln/>
        </p:spPr>
        <p:txBody>
          <a:bodyPr wrap="square" lIns="0" tIns="0" rIns="0" bIns="0" rtlCol="0" anchor="ctr">
            <a:normAutofit/>
          </a:bodyPr>
          <a:lstStyle/>
          <a:p>
            <a:pPr marL="0" indent="0">
              <a:buNone/>
            </a:pPr>
            <a:r>
              <a:rPr lang="en-US" sz="880" dirty="0">
                <a:solidFill>
                  <a:srgbClr val="64748B"/>
                </a:solidFill>
              </a:rPr>
              <a:t>security, counterparty, calendars</a:t>
            </a:r>
            <a:endParaRPr lang="en-US" sz="880" dirty="0"/>
          </a:p>
        </p:txBody>
      </p:sp>
      <p:sp>
        <p:nvSpPr>
          <p:cNvPr id="18" name="Shape 16"/>
          <p:cNvSpPr/>
          <p:nvPr/>
        </p:nvSpPr>
        <p:spPr>
          <a:xfrm>
            <a:off x="713232" y="3035808"/>
            <a:ext cx="3429000" cy="1024128"/>
          </a:xfrm>
          <a:prstGeom prst="roundRect">
            <a:avLst>
              <a:gd name="adj" fmla="val 7143"/>
            </a:avLst>
          </a:prstGeom>
          <a:solidFill>
            <a:srgbClr val="FFFFFF"/>
          </a:solidFill>
          <a:ln w="12700">
            <a:solidFill>
              <a:srgbClr val="CBD5E1"/>
            </a:solidFill>
            <a:prstDash val="solid"/>
          </a:ln>
        </p:spPr>
        <p:txBody>
          <a:bodyPr/>
          <a:lstStyle/>
          <a:p>
            <a:endParaRPr lang="en-US"/>
          </a:p>
        </p:txBody>
      </p:sp>
      <p:sp>
        <p:nvSpPr>
          <p:cNvPr id="19" name="Shape 17"/>
          <p:cNvSpPr/>
          <p:nvPr/>
        </p:nvSpPr>
        <p:spPr>
          <a:xfrm>
            <a:off x="713232" y="3035808"/>
            <a:ext cx="3429000" cy="164592"/>
          </a:xfrm>
          <a:prstGeom prst="rect">
            <a:avLst/>
          </a:prstGeom>
          <a:solidFill>
            <a:srgbClr val="D97706"/>
          </a:solidFill>
          <a:ln w="12700">
            <a:solidFill>
              <a:srgbClr val="D97706">
                <a:alpha val="0"/>
              </a:srgbClr>
            </a:solidFill>
            <a:prstDash val="solid"/>
          </a:ln>
        </p:spPr>
        <p:txBody>
          <a:bodyPr/>
          <a:lstStyle/>
          <a:p>
            <a:endParaRPr lang="en-US"/>
          </a:p>
        </p:txBody>
      </p:sp>
      <p:sp>
        <p:nvSpPr>
          <p:cNvPr id="20" name="Text 18"/>
          <p:cNvSpPr/>
          <p:nvPr/>
        </p:nvSpPr>
        <p:spPr>
          <a:xfrm>
            <a:off x="877824" y="3364992"/>
            <a:ext cx="3063240" cy="164592"/>
          </a:xfrm>
          <a:prstGeom prst="rect">
            <a:avLst/>
          </a:prstGeom>
          <a:noFill/>
          <a:ln/>
        </p:spPr>
        <p:txBody>
          <a:bodyPr wrap="square" lIns="0" tIns="0" rIns="0" bIns="0" rtlCol="0" anchor="ctr">
            <a:normAutofit/>
          </a:bodyPr>
          <a:lstStyle/>
          <a:p>
            <a:pPr marL="0" indent="0">
              <a:buNone/>
            </a:pPr>
            <a:r>
              <a:rPr lang="en-US" sz="1180" b="1" dirty="0">
                <a:solidFill>
                  <a:srgbClr val="0B1F33"/>
                </a:solidFill>
              </a:rPr>
              <a:t>QMA / Email MCP</a:t>
            </a:r>
            <a:endParaRPr lang="en-US" sz="1180" dirty="0"/>
          </a:p>
        </p:txBody>
      </p:sp>
      <p:sp>
        <p:nvSpPr>
          <p:cNvPr id="21" name="Text 19"/>
          <p:cNvSpPr/>
          <p:nvPr/>
        </p:nvSpPr>
        <p:spPr>
          <a:xfrm>
            <a:off x="877824" y="3685032"/>
            <a:ext cx="3017520" cy="164592"/>
          </a:xfrm>
          <a:prstGeom prst="rect">
            <a:avLst/>
          </a:prstGeom>
          <a:noFill/>
          <a:ln/>
        </p:spPr>
        <p:txBody>
          <a:bodyPr wrap="square" lIns="0" tIns="0" rIns="0" bIns="0" rtlCol="0" anchor="ctr">
            <a:normAutofit/>
          </a:bodyPr>
          <a:lstStyle/>
          <a:p>
            <a:pPr marL="0" indent="0">
              <a:buNone/>
            </a:pPr>
            <a:r>
              <a:rPr lang="en-US" sz="880" dirty="0">
                <a:solidFill>
                  <a:srgbClr val="64748B"/>
                </a:solidFill>
              </a:rPr>
              <a:t>classification, routing, summaries</a:t>
            </a:r>
            <a:endParaRPr lang="en-US" sz="880" dirty="0"/>
          </a:p>
        </p:txBody>
      </p:sp>
      <p:sp>
        <p:nvSpPr>
          <p:cNvPr id="22" name="Shape 20"/>
          <p:cNvSpPr/>
          <p:nvPr/>
        </p:nvSpPr>
        <p:spPr>
          <a:xfrm>
            <a:off x="4526280" y="3035808"/>
            <a:ext cx="3429000" cy="1024128"/>
          </a:xfrm>
          <a:prstGeom prst="roundRect">
            <a:avLst>
              <a:gd name="adj" fmla="val 7143"/>
            </a:avLst>
          </a:prstGeom>
          <a:solidFill>
            <a:srgbClr val="FFFFFF"/>
          </a:solidFill>
          <a:ln w="12700">
            <a:solidFill>
              <a:srgbClr val="CBD5E1"/>
            </a:solidFill>
            <a:prstDash val="solid"/>
          </a:ln>
        </p:spPr>
        <p:txBody>
          <a:bodyPr/>
          <a:lstStyle/>
          <a:p>
            <a:endParaRPr lang="en-US"/>
          </a:p>
        </p:txBody>
      </p:sp>
      <p:sp>
        <p:nvSpPr>
          <p:cNvPr id="23" name="Shape 21"/>
          <p:cNvSpPr/>
          <p:nvPr/>
        </p:nvSpPr>
        <p:spPr>
          <a:xfrm>
            <a:off x="4526280" y="3035808"/>
            <a:ext cx="3429000" cy="164592"/>
          </a:xfrm>
          <a:prstGeom prst="rect">
            <a:avLst/>
          </a:prstGeom>
          <a:solidFill>
            <a:srgbClr val="6D28D9"/>
          </a:solidFill>
          <a:ln w="12700">
            <a:solidFill>
              <a:srgbClr val="6D28D9">
                <a:alpha val="0"/>
              </a:srgbClr>
            </a:solidFill>
            <a:prstDash val="solid"/>
          </a:ln>
        </p:spPr>
        <p:txBody>
          <a:bodyPr/>
          <a:lstStyle/>
          <a:p>
            <a:endParaRPr lang="en-US"/>
          </a:p>
        </p:txBody>
      </p:sp>
      <p:sp>
        <p:nvSpPr>
          <p:cNvPr id="24" name="Text 22"/>
          <p:cNvSpPr/>
          <p:nvPr/>
        </p:nvSpPr>
        <p:spPr>
          <a:xfrm>
            <a:off x="4690872" y="3364992"/>
            <a:ext cx="3063240" cy="164592"/>
          </a:xfrm>
          <a:prstGeom prst="rect">
            <a:avLst/>
          </a:prstGeom>
          <a:noFill/>
          <a:ln/>
        </p:spPr>
        <p:txBody>
          <a:bodyPr wrap="square" lIns="0" tIns="0" rIns="0" bIns="0" rtlCol="0" anchor="ctr">
            <a:normAutofit/>
          </a:bodyPr>
          <a:lstStyle/>
          <a:p>
            <a:pPr marL="0" indent="0">
              <a:buNone/>
            </a:pPr>
            <a:r>
              <a:rPr lang="en-US" sz="1180" b="1" dirty="0">
                <a:solidFill>
                  <a:srgbClr val="0B1F33"/>
                </a:solidFill>
              </a:rPr>
              <a:t>Workflow MCP</a:t>
            </a:r>
            <a:endParaRPr lang="en-US" sz="1180" dirty="0"/>
          </a:p>
        </p:txBody>
      </p:sp>
      <p:sp>
        <p:nvSpPr>
          <p:cNvPr id="25" name="Text 23"/>
          <p:cNvSpPr/>
          <p:nvPr/>
        </p:nvSpPr>
        <p:spPr>
          <a:xfrm>
            <a:off x="4690872" y="3685032"/>
            <a:ext cx="3017520" cy="164592"/>
          </a:xfrm>
          <a:prstGeom prst="rect">
            <a:avLst/>
          </a:prstGeom>
          <a:noFill/>
          <a:ln/>
        </p:spPr>
        <p:txBody>
          <a:bodyPr wrap="square" lIns="0" tIns="0" rIns="0" bIns="0" rtlCol="0" anchor="ctr">
            <a:normAutofit/>
          </a:bodyPr>
          <a:lstStyle/>
          <a:p>
            <a:pPr marL="0" indent="0">
              <a:buNone/>
            </a:pPr>
            <a:r>
              <a:rPr lang="en-US" sz="880" dirty="0">
                <a:solidFill>
                  <a:srgbClr val="64748B"/>
                </a:solidFill>
              </a:rPr>
              <a:t>case creation, status, approvals</a:t>
            </a:r>
            <a:endParaRPr lang="en-US" sz="880" dirty="0"/>
          </a:p>
        </p:txBody>
      </p:sp>
      <p:sp>
        <p:nvSpPr>
          <p:cNvPr id="26" name="Shape 24"/>
          <p:cNvSpPr/>
          <p:nvPr/>
        </p:nvSpPr>
        <p:spPr>
          <a:xfrm>
            <a:off x="8339328" y="3035808"/>
            <a:ext cx="3429000" cy="1024128"/>
          </a:xfrm>
          <a:prstGeom prst="roundRect">
            <a:avLst>
              <a:gd name="adj" fmla="val 7143"/>
            </a:avLst>
          </a:prstGeom>
          <a:solidFill>
            <a:srgbClr val="FFFFFF"/>
          </a:solidFill>
          <a:ln w="12700">
            <a:solidFill>
              <a:srgbClr val="CBD5E1"/>
            </a:solidFill>
            <a:prstDash val="solid"/>
          </a:ln>
        </p:spPr>
        <p:txBody>
          <a:bodyPr/>
          <a:lstStyle/>
          <a:p>
            <a:endParaRPr lang="en-US"/>
          </a:p>
        </p:txBody>
      </p:sp>
      <p:sp>
        <p:nvSpPr>
          <p:cNvPr id="27" name="Shape 25"/>
          <p:cNvSpPr/>
          <p:nvPr/>
        </p:nvSpPr>
        <p:spPr>
          <a:xfrm>
            <a:off x="8339328" y="3035808"/>
            <a:ext cx="3429000" cy="164592"/>
          </a:xfrm>
          <a:prstGeom prst="rect">
            <a:avLst/>
          </a:prstGeom>
          <a:solidFill>
            <a:srgbClr val="DC2626"/>
          </a:solidFill>
          <a:ln w="12700">
            <a:solidFill>
              <a:srgbClr val="DC2626">
                <a:alpha val="0"/>
              </a:srgbClr>
            </a:solidFill>
            <a:prstDash val="solid"/>
          </a:ln>
        </p:spPr>
        <p:txBody>
          <a:bodyPr/>
          <a:lstStyle/>
          <a:p>
            <a:endParaRPr lang="en-US"/>
          </a:p>
        </p:txBody>
      </p:sp>
      <p:sp>
        <p:nvSpPr>
          <p:cNvPr id="28" name="Text 26"/>
          <p:cNvSpPr/>
          <p:nvPr/>
        </p:nvSpPr>
        <p:spPr>
          <a:xfrm>
            <a:off x="8503920" y="3364992"/>
            <a:ext cx="3063240" cy="164592"/>
          </a:xfrm>
          <a:prstGeom prst="rect">
            <a:avLst/>
          </a:prstGeom>
          <a:noFill/>
          <a:ln/>
        </p:spPr>
        <p:txBody>
          <a:bodyPr wrap="square" lIns="0" tIns="0" rIns="0" bIns="0" rtlCol="0" anchor="ctr">
            <a:normAutofit/>
          </a:bodyPr>
          <a:lstStyle/>
          <a:p>
            <a:pPr marL="0" indent="0">
              <a:buNone/>
            </a:pPr>
            <a:r>
              <a:rPr lang="en-US" sz="1180" b="1" dirty="0">
                <a:solidFill>
                  <a:srgbClr val="0B1F33"/>
                </a:solidFill>
              </a:rPr>
              <a:t>DevOps / Controls MCP</a:t>
            </a:r>
            <a:endParaRPr lang="en-US" sz="1180" dirty="0"/>
          </a:p>
        </p:txBody>
      </p:sp>
      <p:sp>
        <p:nvSpPr>
          <p:cNvPr id="29" name="Text 27"/>
          <p:cNvSpPr/>
          <p:nvPr/>
        </p:nvSpPr>
        <p:spPr>
          <a:xfrm>
            <a:off x="8503920" y="3685032"/>
            <a:ext cx="3017520" cy="164592"/>
          </a:xfrm>
          <a:prstGeom prst="rect">
            <a:avLst/>
          </a:prstGeom>
          <a:noFill/>
          <a:ln/>
        </p:spPr>
        <p:txBody>
          <a:bodyPr wrap="square" lIns="0" tIns="0" rIns="0" bIns="0" rtlCol="0" anchor="ctr">
            <a:normAutofit/>
          </a:bodyPr>
          <a:lstStyle/>
          <a:p>
            <a:pPr marL="0" indent="0">
              <a:buNone/>
            </a:pPr>
            <a:r>
              <a:rPr lang="en-US" sz="880" dirty="0">
                <a:solidFill>
                  <a:srgbClr val="64748B"/>
                </a:solidFill>
              </a:rPr>
              <a:t>JIRA, logs, eval records, lineage</a:t>
            </a:r>
            <a:endParaRPr lang="en-US" sz="880" dirty="0"/>
          </a:p>
        </p:txBody>
      </p:sp>
      <p:sp>
        <p:nvSpPr>
          <p:cNvPr id="30" name="Shape 28"/>
          <p:cNvSpPr/>
          <p:nvPr/>
        </p:nvSpPr>
        <p:spPr>
          <a:xfrm>
            <a:off x="914400" y="4956048"/>
            <a:ext cx="10287000" cy="658368"/>
          </a:xfrm>
          <a:prstGeom prst="roundRect">
            <a:avLst>
              <a:gd name="adj" fmla="val 11111"/>
            </a:avLst>
          </a:prstGeom>
          <a:solidFill>
            <a:srgbClr val="F1F5F9"/>
          </a:solidFill>
          <a:ln w="12700">
            <a:solidFill>
              <a:srgbClr val="CBD5E1"/>
            </a:solidFill>
            <a:prstDash val="solid"/>
          </a:ln>
        </p:spPr>
        <p:txBody>
          <a:bodyPr/>
          <a:lstStyle/>
          <a:p>
            <a:endParaRPr lang="en-US"/>
          </a:p>
        </p:txBody>
      </p:sp>
      <p:sp>
        <p:nvSpPr>
          <p:cNvPr id="31" name="Text 29"/>
          <p:cNvSpPr/>
          <p:nvPr/>
        </p:nvSpPr>
        <p:spPr>
          <a:xfrm>
            <a:off x="1097280" y="5138928"/>
            <a:ext cx="1234440" cy="146304"/>
          </a:xfrm>
          <a:prstGeom prst="rect">
            <a:avLst/>
          </a:prstGeom>
          <a:noFill/>
          <a:ln/>
        </p:spPr>
        <p:txBody>
          <a:bodyPr wrap="square" lIns="0" tIns="0" rIns="0" bIns="0" rtlCol="0" anchor="ctr"/>
          <a:lstStyle/>
          <a:p>
            <a:pPr marL="0" indent="0">
              <a:buNone/>
            </a:pPr>
            <a:r>
              <a:rPr lang="en-US" sz="950" b="1" dirty="0">
                <a:solidFill>
                  <a:srgbClr val="2563EB"/>
                </a:solidFill>
              </a:rPr>
              <a:t>Design principle</a:t>
            </a:r>
            <a:endParaRPr lang="en-US" sz="950" dirty="0"/>
          </a:p>
        </p:txBody>
      </p:sp>
      <p:sp>
        <p:nvSpPr>
          <p:cNvPr id="32" name="Text 30"/>
          <p:cNvSpPr/>
          <p:nvPr/>
        </p:nvSpPr>
        <p:spPr>
          <a:xfrm>
            <a:off x="2514600" y="5111496"/>
            <a:ext cx="8321040" cy="182880"/>
          </a:xfrm>
          <a:prstGeom prst="rect">
            <a:avLst/>
          </a:prstGeom>
          <a:noFill/>
          <a:ln/>
        </p:spPr>
        <p:txBody>
          <a:bodyPr wrap="square" lIns="0" tIns="0" rIns="0" bIns="0" rtlCol="0" anchor="ctr">
            <a:normAutofit/>
          </a:bodyPr>
          <a:lstStyle/>
          <a:p>
            <a:pPr marL="0" indent="0">
              <a:buNone/>
            </a:pPr>
            <a:r>
              <a:rPr lang="en-US" sz="1060" b="1" dirty="0">
                <a:solidFill>
                  <a:srgbClr val="0B1F33"/>
                </a:solidFill>
              </a:rPr>
              <a:t>Each MCP server is owned by a domain team, exposes cohesive tools, and connects to existing enterprise APIs through approved credentials and controls.</a:t>
            </a:r>
            <a:endParaRPr lang="en-US" sz="1060" dirty="0"/>
          </a:p>
        </p:txBody>
      </p:sp>
      <p:sp>
        <p:nvSpPr>
          <p:cNvPr id="33" name="Text 31"/>
          <p:cNvSpPr/>
          <p:nvPr/>
        </p:nvSpPr>
        <p:spPr>
          <a:xfrm>
            <a:off x="502920" y="6473952"/>
            <a:ext cx="2926080" cy="182880"/>
          </a:xfrm>
          <a:prstGeom prst="rect">
            <a:avLst/>
          </a:prstGeom>
          <a:noFill/>
          <a:ln/>
        </p:spPr>
        <p:txBody>
          <a:bodyPr wrap="square" lIns="0" tIns="0" rIns="0" bIns="0" rtlCol="0" anchor="ctr"/>
          <a:lstStyle/>
          <a:p>
            <a:pPr marL="0" indent="0">
              <a:buNone/>
            </a:pPr>
            <a:r>
              <a:rPr lang="en-US" sz="780" dirty="0">
                <a:solidFill>
                  <a:srgbClr val="64748B"/>
                </a:solidFill>
              </a:rPr>
              <a:t>EDGE MCP Strategy — Tranche 3</a:t>
            </a:r>
            <a:endParaRPr lang="en-US" sz="780" dirty="0"/>
          </a:p>
        </p:txBody>
      </p:sp>
      <p:sp>
        <p:nvSpPr>
          <p:cNvPr id="34" name="Text 32"/>
          <p:cNvSpPr/>
          <p:nvPr/>
        </p:nvSpPr>
        <p:spPr>
          <a:xfrm>
            <a:off x="11338560" y="6446520"/>
            <a:ext cx="347472" cy="219456"/>
          </a:xfrm>
          <a:prstGeom prst="rect">
            <a:avLst/>
          </a:prstGeom>
          <a:noFill/>
          <a:ln/>
        </p:spPr>
        <p:txBody>
          <a:bodyPr wrap="square" lIns="0" tIns="0" rIns="0" bIns="0" rtlCol="0" anchor="ctr"/>
          <a:lstStyle/>
          <a:p>
            <a:pPr marL="0" indent="0" algn="r">
              <a:buNone/>
            </a:pPr>
            <a:r>
              <a:rPr lang="en-US" sz="850" dirty="0">
                <a:solidFill>
                  <a:srgbClr val="64748B"/>
                </a:solidFill>
              </a:rPr>
              <a:t>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txBody>
          <a:bodyPr/>
          <a:lstStyle/>
          <a:p>
            <a:endParaRPr lang="en-US"/>
          </a:p>
        </p:txBody>
      </p:sp>
      <p:sp>
        <p:nvSpPr>
          <p:cNvPr id="3" name="Shape 1"/>
          <p:cNvSpPr/>
          <p:nvPr/>
        </p:nvSpPr>
        <p:spPr>
          <a:xfrm>
            <a:off x="0" y="0"/>
            <a:ext cx="12191695" cy="100584"/>
          </a:xfrm>
          <a:prstGeom prst="rect">
            <a:avLst/>
          </a:prstGeom>
          <a:solidFill>
            <a:srgbClr val="2563EB"/>
          </a:solidFill>
          <a:ln w="12700">
            <a:solidFill>
              <a:srgbClr val="2563EB">
                <a:alpha val="0"/>
              </a:srgbClr>
            </a:solidFill>
            <a:prstDash val="solid"/>
          </a:ln>
        </p:spPr>
        <p:txBody>
          <a:bodyPr/>
          <a:lstStyle/>
          <a:p>
            <a:endParaRPr lang="en-US"/>
          </a:p>
        </p:txBody>
      </p:sp>
      <p:sp>
        <p:nvSpPr>
          <p:cNvPr id="4" name="Text 2"/>
          <p:cNvSpPr/>
          <p:nvPr/>
        </p:nvSpPr>
        <p:spPr>
          <a:xfrm>
            <a:off x="502920" y="310896"/>
            <a:ext cx="9966960" cy="411480"/>
          </a:xfrm>
          <a:prstGeom prst="rect">
            <a:avLst/>
          </a:prstGeom>
          <a:noFill/>
          <a:ln/>
        </p:spPr>
        <p:txBody>
          <a:bodyPr wrap="square" lIns="0" tIns="0" rIns="0" bIns="0" rtlCol="0" anchor="ctr">
            <a:normAutofit/>
          </a:bodyPr>
          <a:lstStyle/>
          <a:p>
            <a:pPr marL="0" indent="0">
              <a:buNone/>
            </a:pPr>
            <a:r>
              <a:rPr lang="en-US" sz="2400" b="1" dirty="0">
                <a:solidFill>
                  <a:srgbClr val="0B1F33"/>
                </a:solidFill>
                <a:latin typeface="Aptos Display" pitchFamily="34" charset="0"/>
                <a:ea typeface="Aptos Display" pitchFamily="34" charset="-122"/>
                <a:cs typeface="Aptos Display" pitchFamily="34" charset="-120"/>
              </a:rPr>
              <a:t>Tool Onboarding Factory</a:t>
            </a:r>
            <a:endParaRPr lang="en-US" sz="2400" dirty="0"/>
          </a:p>
        </p:txBody>
      </p:sp>
      <p:sp>
        <p:nvSpPr>
          <p:cNvPr id="5" name="Text 3"/>
          <p:cNvSpPr/>
          <p:nvPr/>
        </p:nvSpPr>
        <p:spPr>
          <a:xfrm>
            <a:off x="521208" y="749808"/>
            <a:ext cx="10789920" cy="320040"/>
          </a:xfrm>
          <a:prstGeom prst="rect">
            <a:avLst/>
          </a:prstGeom>
          <a:noFill/>
          <a:ln/>
        </p:spPr>
        <p:txBody>
          <a:bodyPr wrap="square" lIns="0" tIns="0" rIns="0" bIns="0" rtlCol="0" anchor="ctr">
            <a:normAutofit/>
          </a:bodyPr>
          <a:lstStyle/>
          <a:p>
            <a:pPr marL="0" indent="0">
              <a:buNone/>
            </a:pPr>
            <a:r>
              <a:rPr lang="en-US" sz="1050" dirty="0">
                <a:solidFill>
                  <a:srgbClr val="64748B"/>
                </a:solidFill>
              </a:rPr>
              <a:t>A repeatable intake-to-production path prevents uncontrolled MCP sprawl.</a:t>
            </a:r>
            <a:endParaRPr lang="en-US" sz="1050" dirty="0"/>
          </a:p>
        </p:txBody>
      </p:sp>
      <p:sp>
        <p:nvSpPr>
          <p:cNvPr id="6" name="Shape 4"/>
          <p:cNvSpPr/>
          <p:nvPr/>
        </p:nvSpPr>
        <p:spPr>
          <a:xfrm>
            <a:off x="530352" y="2148840"/>
            <a:ext cx="1627632" cy="1298448"/>
          </a:xfrm>
          <a:prstGeom prst="roundRect">
            <a:avLst>
              <a:gd name="adj" fmla="val 5634"/>
            </a:avLst>
          </a:prstGeom>
          <a:solidFill>
            <a:srgbClr val="FFFFFF"/>
          </a:solidFill>
          <a:ln w="12700">
            <a:solidFill>
              <a:srgbClr val="CBD5E1"/>
            </a:solidFill>
            <a:prstDash val="solid"/>
          </a:ln>
        </p:spPr>
        <p:txBody>
          <a:bodyPr/>
          <a:lstStyle/>
          <a:p>
            <a:endParaRPr lang="en-US"/>
          </a:p>
        </p:txBody>
      </p:sp>
      <p:sp>
        <p:nvSpPr>
          <p:cNvPr id="7" name="Shape 5"/>
          <p:cNvSpPr/>
          <p:nvPr/>
        </p:nvSpPr>
        <p:spPr>
          <a:xfrm>
            <a:off x="530352" y="2148840"/>
            <a:ext cx="1627632" cy="256032"/>
          </a:xfrm>
          <a:prstGeom prst="rect">
            <a:avLst/>
          </a:prstGeom>
          <a:solidFill>
            <a:srgbClr val="2563EB"/>
          </a:solidFill>
          <a:ln w="12700">
            <a:solidFill>
              <a:srgbClr val="2563EB">
                <a:alpha val="0"/>
              </a:srgbClr>
            </a:solidFill>
            <a:prstDash val="solid"/>
          </a:ln>
        </p:spPr>
        <p:txBody>
          <a:bodyPr/>
          <a:lstStyle/>
          <a:p>
            <a:endParaRPr lang="en-US"/>
          </a:p>
        </p:txBody>
      </p:sp>
      <p:sp>
        <p:nvSpPr>
          <p:cNvPr id="8" name="Text 6"/>
          <p:cNvSpPr/>
          <p:nvPr/>
        </p:nvSpPr>
        <p:spPr>
          <a:xfrm>
            <a:off x="621792" y="2235708"/>
            <a:ext cx="1444752" cy="73152"/>
          </a:xfrm>
          <a:prstGeom prst="rect">
            <a:avLst/>
          </a:prstGeom>
          <a:noFill/>
          <a:ln/>
        </p:spPr>
        <p:txBody>
          <a:bodyPr wrap="square" lIns="508" tIns="508" rIns="508" bIns="508" rtlCol="0" anchor="ctr">
            <a:normAutofit/>
          </a:bodyPr>
          <a:lstStyle/>
          <a:p>
            <a:pPr marL="0" indent="0" algn="ctr">
              <a:buNone/>
            </a:pPr>
            <a:r>
              <a:rPr lang="en-US" sz="780" b="1" dirty="0">
                <a:solidFill>
                  <a:srgbClr val="FFFFFF"/>
                </a:solidFill>
              </a:rPr>
              <a:t>1. INTAKE</a:t>
            </a:r>
            <a:endParaRPr lang="en-US" sz="780" dirty="0"/>
          </a:p>
        </p:txBody>
      </p:sp>
      <p:sp>
        <p:nvSpPr>
          <p:cNvPr id="9" name="Text 7"/>
          <p:cNvSpPr/>
          <p:nvPr/>
        </p:nvSpPr>
        <p:spPr>
          <a:xfrm>
            <a:off x="685800" y="2779776"/>
            <a:ext cx="1316736" cy="182880"/>
          </a:xfrm>
          <a:prstGeom prst="rect">
            <a:avLst/>
          </a:prstGeom>
          <a:noFill/>
          <a:ln/>
        </p:spPr>
        <p:txBody>
          <a:bodyPr wrap="square" lIns="0" tIns="0" rIns="0" bIns="0" rtlCol="0" anchor="ctr">
            <a:normAutofit/>
          </a:bodyPr>
          <a:lstStyle/>
          <a:p>
            <a:pPr marL="0" indent="0" algn="ctr">
              <a:buNone/>
            </a:pPr>
            <a:r>
              <a:rPr lang="en-US" sz="790" dirty="0">
                <a:solidFill>
                  <a:srgbClr val="64748B"/>
                </a:solidFill>
              </a:rPr>
              <a:t>business use case + owner</a:t>
            </a:r>
            <a:endParaRPr lang="en-US" sz="790" dirty="0"/>
          </a:p>
        </p:txBody>
      </p:sp>
      <p:sp>
        <p:nvSpPr>
          <p:cNvPr id="10" name="Shape 8"/>
          <p:cNvSpPr/>
          <p:nvPr/>
        </p:nvSpPr>
        <p:spPr>
          <a:xfrm>
            <a:off x="2185416" y="2816352"/>
            <a:ext cx="219456" cy="0"/>
          </a:xfrm>
          <a:prstGeom prst="line">
            <a:avLst/>
          </a:prstGeom>
          <a:noFill/>
          <a:ln w="11430">
            <a:solidFill>
              <a:srgbClr val="64748B"/>
            </a:solidFill>
            <a:prstDash val="solid"/>
            <a:headEnd type="none"/>
            <a:tailEnd type="triangle"/>
          </a:ln>
        </p:spPr>
        <p:txBody>
          <a:bodyPr/>
          <a:lstStyle/>
          <a:p>
            <a:endParaRPr lang="en-US"/>
          </a:p>
        </p:txBody>
      </p:sp>
      <p:sp>
        <p:nvSpPr>
          <p:cNvPr id="11" name="Shape 9"/>
          <p:cNvSpPr/>
          <p:nvPr/>
        </p:nvSpPr>
        <p:spPr>
          <a:xfrm>
            <a:off x="2432304" y="2148840"/>
            <a:ext cx="1627632" cy="1298448"/>
          </a:xfrm>
          <a:prstGeom prst="roundRect">
            <a:avLst>
              <a:gd name="adj" fmla="val 5634"/>
            </a:avLst>
          </a:prstGeom>
          <a:solidFill>
            <a:srgbClr val="FFFFFF"/>
          </a:solidFill>
          <a:ln w="12700">
            <a:solidFill>
              <a:srgbClr val="CBD5E1"/>
            </a:solidFill>
            <a:prstDash val="solid"/>
          </a:ln>
        </p:spPr>
        <p:txBody>
          <a:bodyPr/>
          <a:lstStyle/>
          <a:p>
            <a:endParaRPr lang="en-US"/>
          </a:p>
        </p:txBody>
      </p:sp>
      <p:sp>
        <p:nvSpPr>
          <p:cNvPr id="12" name="Shape 10"/>
          <p:cNvSpPr/>
          <p:nvPr/>
        </p:nvSpPr>
        <p:spPr>
          <a:xfrm>
            <a:off x="2432304" y="2148840"/>
            <a:ext cx="1627632" cy="256032"/>
          </a:xfrm>
          <a:prstGeom prst="rect">
            <a:avLst/>
          </a:prstGeom>
          <a:solidFill>
            <a:srgbClr val="0F766E"/>
          </a:solidFill>
          <a:ln w="12700">
            <a:solidFill>
              <a:srgbClr val="0F766E">
                <a:alpha val="0"/>
              </a:srgbClr>
            </a:solidFill>
            <a:prstDash val="solid"/>
          </a:ln>
        </p:spPr>
        <p:txBody>
          <a:bodyPr/>
          <a:lstStyle/>
          <a:p>
            <a:endParaRPr lang="en-US"/>
          </a:p>
        </p:txBody>
      </p:sp>
      <p:sp>
        <p:nvSpPr>
          <p:cNvPr id="13" name="Text 11"/>
          <p:cNvSpPr/>
          <p:nvPr/>
        </p:nvSpPr>
        <p:spPr>
          <a:xfrm>
            <a:off x="2523744" y="2235708"/>
            <a:ext cx="1444752" cy="73152"/>
          </a:xfrm>
          <a:prstGeom prst="rect">
            <a:avLst/>
          </a:prstGeom>
          <a:noFill/>
          <a:ln/>
        </p:spPr>
        <p:txBody>
          <a:bodyPr wrap="square" lIns="508" tIns="508" rIns="508" bIns="508" rtlCol="0" anchor="ctr">
            <a:normAutofit/>
          </a:bodyPr>
          <a:lstStyle/>
          <a:p>
            <a:pPr marL="0" indent="0" algn="ctr">
              <a:buNone/>
            </a:pPr>
            <a:r>
              <a:rPr lang="en-US" sz="780" b="1" dirty="0">
                <a:solidFill>
                  <a:srgbClr val="FFFFFF"/>
                </a:solidFill>
              </a:rPr>
              <a:t>2. DESIGN</a:t>
            </a:r>
            <a:endParaRPr lang="en-US" sz="780" dirty="0"/>
          </a:p>
        </p:txBody>
      </p:sp>
      <p:sp>
        <p:nvSpPr>
          <p:cNvPr id="14" name="Text 12"/>
          <p:cNvSpPr/>
          <p:nvPr/>
        </p:nvSpPr>
        <p:spPr>
          <a:xfrm>
            <a:off x="2587752" y="2779776"/>
            <a:ext cx="1316736" cy="182880"/>
          </a:xfrm>
          <a:prstGeom prst="rect">
            <a:avLst/>
          </a:prstGeom>
          <a:noFill/>
          <a:ln/>
        </p:spPr>
        <p:txBody>
          <a:bodyPr wrap="square" lIns="0" tIns="0" rIns="0" bIns="0" rtlCol="0" anchor="ctr">
            <a:normAutofit/>
          </a:bodyPr>
          <a:lstStyle/>
          <a:p>
            <a:pPr marL="0" indent="0" algn="ctr">
              <a:buNone/>
            </a:pPr>
            <a:r>
              <a:rPr lang="en-US" sz="790" dirty="0">
                <a:solidFill>
                  <a:srgbClr val="64748B"/>
                </a:solidFill>
              </a:rPr>
              <a:t>tool contract + risk tier</a:t>
            </a:r>
            <a:endParaRPr lang="en-US" sz="790" dirty="0"/>
          </a:p>
        </p:txBody>
      </p:sp>
      <p:sp>
        <p:nvSpPr>
          <p:cNvPr id="15" name="Shape 13"/>
          <p:cNvSpPr/>
          <p:nvPr/>
        </p:nvSpPr>
        <p:spPr>
          <a:xfrm>
            <a:off x="4087368" y="2816352"/>
            <a:ext cx="219456" cy="0"/>
          </a:xfrm>
          <a:prstGeom prst="line">
            <a:avLst/>
          </a:prstGeom>
          <a:noFill/>
          <a:ln w="11430">
            <a:solidFill>
              <a:srgbClr val="64748B"/>
            </a:solidFill>
            <a:prstDash val="solid"/>
            <a:headEnd type="none"/>
            <a:tailEnd type="triangle"/>
          </a:ln>
        </p:spPr>
        <p:txBody>
          <a:bodyPr/>
          <a:lstStyle/>
          <a:p>
            <a:endParaRPr lang="en-US"/>
          </a:p>
        </p:txBody>
      </p:sp>
      <p:sp>
        <p:nvSpPr>
          <p:cNvPr id="16" name="Shape 14"/>
          <p:cNvSpPr/>
          <p:nvPr/>
        </p:nvSpPr>
        <p:spPr>
          <a:xfrm>
            <a:off x="4334256" y="2148840"/>
            <a:ext cx="1627632" cy="1298448"/>
          </a:xfrm>
          <a:prstGeom prst="roundRect">
            <a:avLst>
              <a:gd name="adj" fmla="val 5634"/>
            </a:avLst>
          </a:prstGeom>
          <a:solidFill>
            <a:srgbClr val="FFFFFF"/>
          </a:solidFill>
          <a:ln w="12700">
            <a:solidFill>
              <a:srgbClr val="CBD5E1"/>
            </a:solidFill>
            <a:prstDash val="solid"/>
          </a:ln>
        </p:spPr>
        <p:txBody>
          <a:bodyPr/>
          <a:lstStyle/>
          <a:p>
            <a:endParaRPr lang="en-US"/>
          </a:p>
        </p:txBody>
      </p:sp>
      <p:sp>
        <p:nvSpPr>
          <p:cNvPr id="17" name="Shape 15"/>
          <p:cNvSpPr/>
          <p:nvPr/>
        </p:nvSpPr>
        <p:spPr>
          <a:xfrm>
            <a:off x="4334256" y="2148840"/>
            <a:ext cx="1627632" cy="256032"/>
          </a:xfrm>
          <a:prstGeom prst="rect">
            <a:avLst/>
          </a:prstGeom>
          <a:solidFill>
            <a:srgbClr val="16A34A"/>
          </a:solidFill>
          <a:ln w="12700">
            <a:solidFill>
              <a:srgbClr val="16A34A">
                <a:alpha val="0"/>
              </a:srgbClr>
            </a:solidFill>
            <a:prstDash val="solid"/>
          </a:ln>
        </p:spPr>
        <p:txBody>
          <a:bodyPr/>
          <a:lstStyle/>
          <a:p>
            <a:endParaRPr lang="en-US"/>
          </a:p>
        </p:txBody>
      </p:sp>
      <p:sp>
        <p:nvSpPr>
          <p:cNvPr id="18" name="Text 16"/>
          <p:cNvSpPr/>
          <p:nvPr/>
        </p:nvSpPr>
        <p:spPr>
          <a:xfrm>
            <a:off x="4425696" y="2235708"/>
            <a:ext cx="1444752" cy="73152"/>
          </a:xfrm>
          <a:prstGeom prst="rect">
            <a:avLst/>
          </a:prstGeom>
          <a:noFill/>
          <a:ln/>
        </p:spPr>
        <p:txBody>
          <a:bodyPr wrap="square" lIns="508" tIns="508" rIns="508" bIns="508" rtlCol="0" anchor="ctr">
            <a:normAutofit/>
          </a:bodyPr>
          <a:lstStyle/>
          <a:p>
            <a:pPr marL="0" indent="0" algn="ctr">
              <a:buNone/>
            </a:pPr>
            <a:r>
              <a:rPr lang="en-US" sz="780" b="1" dirty="0">
                <a:solidFill>
                  <a:srgbClr val="FFFFFF"/>
                </a:solidFill>
              </a:rPr>
              <a:t>3. BUILD</a:t>
            </a:r>
            <a:endParaRPr lang="en-US" sz="780" dirty="0"/>
          </a:p>
        </p:txBody>
      </p:sp>
      <p:sp>
        <p:nvSpPr>
          <p:cNvPr id="19" name="Text 17"/>
          <p:cNvSpPr/>
          <p:nvPr/>
        </p:nvSpPr>
        <p:spPr>
          <a:xfrm>
            <a:off x="4489704" y="2779776"/>
            <a:ext cx="1316736" cy="182880"/>
          </a:xfrm>
          <a:prstGeom prst="rect">
            <a:avLst/>
          </a:prstGeom>
          <a:noFill/>
          <a:ln/>
        </p:spPr>
        <p:txBody>
          <a:bodyPr wrap="square" lIns="0" tIns="0" rIns="0" bIns="0" rtlCol="0" anchor="ctr">
            <a:normAutofit/>
          </a:bodyPr>
          <a:lstStyle/>
          <a:p>
            <a:pPr marL="0" indent="0" algn="ctr">
              <a:buNone/>
            </a:pPr>
            <a:r>
              <a:rPr lang="en-US" sz="790" dirty="0">
                <a:solidFill>
                  <a:srgbClr val="64748B"/>
                </a:solidFill>
              </a:rPr>
              <a:t>server logic + schemas</a:t>
            </a:r>
            <a:endParaRPr lang="en-US" sz="790" dirty="0"/>
          </a:p>
        </p:txBody>
      </p:sp>
      <p:sp>
        <p:nvSpPr>
          <p:cNvPr id="20" name="Shape 18"/>
          <p:cNvSpPr/>
          <p:nvPr/>
        </p:nvSpPr>
        <p:spPr>
          <a:xfrm>
            <a:off x="5989320" y="2816352"/>
            <a:ext cx="219456" cy="0"/>
          </a:xfrm>
          <a:prstGeom prst="line">
            <a:avLst/>
          </a:prstGeom>
          <a:noFill/>
          <a:ln w="11430">
            <a:solidFill>
              <a:srgbClr val="64748B"/>
            </a:solidFill>
            <a:prstDash val="solid"/>
            <a:headEnd type="none"/>
            <a:tailEnd type="triangle"/>
          </a:ln>
        </p:spPr>
        <p:txBody>
          <a:bodyPr/>
          <a:lstStyle/>
          <a:p>
            <a:endParaRPr lang="en-US"/>
          </a:p>
        </p:txBody>
      </p:sp>
      <p:sp>
        <p:nvSpPr>
          <p:cNvPr id="21" name="Shape 19"/>
          <p:cNvSpPr/>
          <p:nvPr/>
        </p:nvSpPr>
        <p:spPr>
          <a:xfrm>
            <a:off x="6236208" y="2148840"/>
            <a:ext cx="1627632" cy="1298448"/>
          </a:xfrm>
          <a:prstGeom prst="roundRect">
            <a:avLst>
              <a:gd name="adj" fmla="val 5634"/>
            </a:avLst>
          </a:prstGeom>
          <a:solidFill>
            <a:srgbClr val="FFFFFF"/>
          </a:solidFill>
          <a:ln w="12700">
            <a:solidFill>
              <a:srgbClr val="CBD5E1"/>
            </a:solidFill>
            <a:prstDash val="solid"/>
          </a:ln>
        </p:spPr>
        <p:txBody>
          <a:bodyPr/>
          <a:lstStyle/>
          <a:p>
            <a:endParaRPr lang="en-US"/>
          </a:p>
        </p:txBody>
      </p:sp>
      <p:sp>
        <p:nvSpPr>
          <p:cNvPr id="22" name="Shape 20"/>
          <p:cNvSpPr/>
          <p:nvPr/>
        </p:nvSpPr>
        <p:spPr>
          <a:xfrm>
            <a:off x="6236208" y="2148840"/>
            <a:ext cx="1627632" cy="256032"/>
          </a:xfrm>
          <a:prstGeom prst="rect">
            <a:avLst/>
          </a:prstGeom>
          <a:solidFill>
            <a:srgbClr val="D97706"/>
          </a:solidFill>
          <a:ln w="12700">
            <a:solidFill>
              <a:srgbClr val="D97706">
                <a:alpha val="0"/>
              </a:srgbClr>
            </a:solidFill>
            <a:prstDash val="solid"/>
          </a:ln>
        </p:spPr>
        <p:txBody>
          <a:bodyPr/>
          <a:lstStyle/>
          <a:p>
            <a:endParaRPr lang="en-US"/>
          </a:p>
        </p:txBody>
      </p:sp>
      <p:sp>
        <p:nvSpPr>
          <p:cNvPr id="23" name="Text 21"/>
          <p:cNvSpPr/>
          <p:nvPr/>
        </p:nvSpPr>
        <p:spPr>
          <a:xfrm>
            <a:off x="6327648" y="2235708"/>
            <a:ext cx="1444752" cy="73152"/>
          </a:xfrm>
          <a:prstGeom prst="rect">
            <a:avLst/>
          </a:prstGeom>
          <a:noFill/>
          <a:ln/>
        </p:spPr>
        <p:txBody>
          <a:bodyPr wrap="square" lIns="508" tIns="508" rIns="508" bIns="508" rtlCol="0" anchor="ctr">
            <a:normAutofit/>
          </a:bodyPr>
          <a:lstStyle/>
          <a:p>
            <a:pPr marL="0" indent="0" algn="ctr">
              <a:buNone/>
            </a:pPr>
            <a:r>
              <a:rPr lang="en-US" sz="780" b="1" dirty="0">
                <a:solidFill>
                  <a:srgbClr val="FFFFFF"/>
                </a:solidFill>
              </a:rPr>
              <a:t>4. CERTIFY</a:t>
            </a:r>
            <a:endParaRPr lang="en-US" sz="780" dirty="0"/>
          </a:p>
        </p:txBody>
      </p:sp>
      <p:sp>
        <p:nvSpPr>
          <p:cNvPr id="24" name="Text 22"/>
          <p:cNvSpPr/>
          <p:nvPr/>
        </p:nvSpPr>
        <p:spPr>
          <a:xfrm>
            <a:off x="6391656" y="2779776"/>
            <a:ext cx="1316736" cy="182880"/>
          </a:xfrm>
          <a:prstGeom prst="rect">
            <a:avLst/>
          </a:prstGeom>
          <a:noFill/>
          <a:ln/>
        </p:spPr>
        <p:txBody>
          <a:bodyPr wrap="square" lIns="0" tIns="0" rIns="0" bIns="0" rtlCol="0" anchor="ctr">
            <a:normAutofit/>
          </a:bodyPr>
          <a:lstStyle/>
          <a:p>
            <a:pPr marL="0" indent="0" algn="ctr">
              <a:buNone/>
            </a:pPr>
            <a:r>
              <a:rPr lang="en-US" sz="790" dirty="0">
                <a:solidFill>
                  <a:srgbClr val="64748B"/>
                </a:solidFill>
              </a:rPr>
              <a:t>security + evals + load</a:t>
            </a:r>
            <a:endParaRPr lang="en-US" sz="790" dirty="0"/>
          </a:p>
        </p:txBody>
      </p:sp>
      <p:sp>
        <p:nvSpPr>
          <p:cNvPr id="25" name="Shape 23"/>
          <p:cNvSpPr/>
          <p:nvPr/>
        </p:nvSpPr>
        <p:spPr>
          <a:xfrm>
            <a:off x="7891272" y="2816352"/>
            <a:ext cx="219456" cy="0"/>
          </a:xfrm>
          <a:prstGeom prst="line">
            <a:avLst/>
          </a:prstGeom>
          <a:noFill/>
          <a:ln w="11430">
            <a:solidFill>
              <a:srgbClr val="64748B"/>
            </a:solidFill>
            <a:prstDash val="solid"/>
            <a:headEnd type="none"/>
            <a:tailEnd type="triangle"/>
          </a:ln>
        </p:spPr>
        <p:txBody>
          <a:bodyPr/>
          <a:lstStyle/>
          <a:p>
            <a:endParaRPr lang="en-US"/>
          </a:p>
        </p:txBody>
      </p:sp>
      <p:sp>
        <p:nvSpPr>
          <p:cNvPr id="26" name="Shape 24"/>
          <p:cNvSpPr/>
          <p:nvPr/>
        </p:nvSpPr>
        <p:spPr>
          <a:xfrm>
            <a:off x="8138160" y="2148840"/>
            <a:ext cx="1627632" cy="1298448"/>
          </a:xfrm>
          <a:prstGeom prst="roundRect">
            <a:avLst>
              <a:gd name="adj" fmla="val 5634"/>
            </a:avLst>
          </a:prstGeom>
          <a:solidFill>
            <a:srgbClr val="FFFFFF"/>
          </a:solidFill>
          <a:ln w="12700">
            <a:solidFill>
              <a:srgbClr val="CBD5E1"/>
            </a:solidFill>
            <a:prstDash val="solid"/>
          </a:ln>
        </p:spPr>
        <p:txBody>
          <a:bodyPr/>
          <a:lstStyle/>
          <a:p>
            <a:endParaRPr lang="en-US"/>
          </a:p>
        </p:txBody>
      </p:sp>
      <p:sp>
        <p:nvSpPr>
          <p:cNvPr id="27" name="Shape 25"/>
          <p:cNvSpPr/>
          <p:nvPr/>
        </p:nvSpPr>
        <p:spPr>
          <a:xfrm>
            <a:off x="8138160" y="2148840"/>
            <a:ext cx="1627632" cy="256032"/>
          </a:xfrm>
          <a:prstGeom prst="rect">
            <a:avLst/>
          </a:prstGeom>
          <a:solidFill>
            <a:srgbClr val="6D28D9"/>
          </a:solidFill>
          <a:ln w="12700">
            <a:solidFill>
              <a:srgbClr val="6D28D9">
                <a:alpha val="0"/>
              </a:srgbClr>
            </a:solidFill>
            <a:prstDash val="solid"/>
          </a:ln>
        </p:spPr>
        <p:txBody>
          <a:bodyPr/>
          <a:lstStyle/>
          <a:p>
            <a:endParaRPr lang="en-US"/>
          </a:p>
        </p:txBody>
      </p:sp>
      <p:sp>
        <p:nvSpPr>
          <p:cNvPr id="28" name="Text 26"/>
          <p:cNvSpPr/>
          <p:nvPr/>
        </p:nvSpPr>
        <p:spPr>
          <a:xfrm>
            <a:off x="8229600" y="2235708"/>
            <a:ext cx="1444752" cy="73152"/>
          </a:xfrm>
          <a:prstGeom prst="rect">
            <a:avLst/>
          </a:prstGeom>
          <a:noFill/>
          <a:ln/>
        </p:spPr>
        <p:txBody>
          <a:bodyPr wrap="square" lIns="508" tIns="508" rIns="508" bIns="508" rtlCol="0" anchor="ctr">
            <a:normAutofit/>
          </a:bodyPr>
          <a:lstStyle/>
          <a:p>
            <a:pPr marL="0" indent="0" algn="ctr">
              <a:buNone/>
            </a:pPr>
            <a:r>
              <a:rPr lang="en-US" sz="780" b="1" dirty="0">
                <a:solidFill>
                  <a:srgbClr val="FFFFFF"/>
                </a:solidFill>
              </a:rPr>
              <a:t>5. PUBLISH</a:t>
            </a:r>
            <a:endParaRPr lang="en-US" sz="780" dirty="0"/>
          </a:p>
        </p:txBody>
      </p:sp>
      <p:sp>
        <p:nvSpPr>
          <p:cNvPr id="29" name="Text 27"/>
          <p:cNvSpPr/>
          <p:nvPr/>
        </p:nvSpPr>
        <p:spPr>
          <a:xfrm>
            <a:off x="8293608" y="2779776"/>
            <a:ext cx="1316736" cy="182880"/>
          </a:xfrm>
          <a:prstGeom prst="rect">
            <a:avLst/>
          </a:prstGeom>
          <a:noFill/>
          <a:ln/>
        </p:spPr>
        <p:txBody>
          <a:bodyPr wrap="square" lIns="0" tIns="0" rIns="0" bIns="0" rtlCol="0" anchor="ctr">
            <a:normAutofit/>
          </a:bodyPr>
          <a:lstStyle/>
          <a:p>
            <a:pPr marL="0" indent="0" algn="ctr">
              <a:buNone/>
            </a:pPr>
            <a:r>
              <a:rPr lang="en-US" sz="790" dirty="0">
                <a:solidFill>
                  <a:srgbClr val="64748B"/>
                </a:solidFill>
              </a:rPr>
              <a:t>registry + entitlements</a:t>
            </a:r>
            <a:endParaRPr lang="en-US" sz="790" dirty="0"/>
          </a:p>
        </p:txBody>
      </p:sp>
      <p:sp>
        <p:nvSpPr>
          <p:cNvPr id="30" name="Shape 28"/>
          <p:cNvSpPr/>
          <p:nvPr/>
        </p:nvSpPr>
        <p:spPr>
          <a:xfrm>
            <a:off x="9793224" y="2816352"/>
            <a:ext cx="219456" cy="0"/>
          </a:xfrm>
          <a:prstGeom prst="line">
            <a:avLst/>
          </a:prstGeom>
          <a:noFill/>
          <a:ln w="11430">
            <a:solidFill>
              <a:srgbClr val="64748B"/>
            </a:solidFill>
            <a:prstDash val="solid"/>
            <a:headEnd type="none"/>
            <a:tailEnd type="triangle"/>
          </a:ln>
        </p:spPr>
        <p:txBody>
          <a:bodyPr/>
          <a:lstStyle/>
          <a:p>
            <a:endParaRPr lang="en-US"/>
          </a:p>
        </p:txBody>
      </p:sp>
      <p:sp>
        <p:nvSpPr>
          <p:cNvPr id="31" name="Shape 29"/>
          <p:cNvSpPr/>
          <p:nvPr/>
        </p:nvSpPr>
        <p:spPr>
          <a:xfrm>
            <a:off x="10040112" y="2148840"/>
            <a:ext cx="1627632" cy="1298448"/>
          </a:xfrm>
          <a:prstGeom prst="roundRect">
            <a:avLst>
              <a:gd name="adj" fmla="val 5634"/>
            </a:avLst>
          </a:prstGeom>
          <a:solidFill>
            <a:srgbClr val="FFFFFF"/>
          </a:solidFill>
          <a:ln w="12700">
            <a:solidFill>
              <a:srgbClr val="CBD5E1"/>
            </a:solidFill>
            <a:prstDash val="solid"/>
          </a:ln>
        </p:spPr>
        <p:txBody>
          <a:bodyPr/>
          <a:lstStyle/>
          <a:p>
            <a:endParaRPr lang="en-US"/>
          </a:p>
        </p:txBody>
      </p:sp>
      <p:sp>
        <p:nvSpPr>
          <p:cNvPr id="32" name="Shape 30"/>
          <p:cNvSpPr/>
          <p:nvPr/>
        </p:nvSpPr>
        <p:spPr>
          <a:xfrm>
            <a:off x="10040112" y="2148840"/>
            <a:ext cx="1627632" cy="256032"/>
          </a:xfrm>
          <a:prstGeom prst="rect">
            <a:avLst/>
          </a:prstGeom>
          <a:solidFill>
            <a:srgbClr val="DC2626"/>
          </a:solidFill>
          <a:ln w="12700">
            <a:solidFill>
              <a:srgbClr val="DC2626">
                <a:alpha val="0"/>
              </a:srgbClr>
            </a:solidFill>
            <a:prstDash val="solid"/>
          </a:ln>
        </p:spPr>
        <p:txBody>
          <a:bodyPr/>
          <a:lstStyle/>
          <a:p>
            <a:endParaRPr lang="en-US"/>
          </a:p>
        </p:txBody>
      </p:sp>
      <p:sp>
        <p:nvSpPr>
          <p:cNvPr id="33" name="Text 31"/>
          <p:cNvSpPr/>
          <p:nvPr/>
        </p:nvSpPr>
        <p:spPr>
          <a:xfrm>
            <a:off x="10131552" y="2235708"/>
            <a:ext cx="1444752" cy="73152"/>
          </a:xfrm>
          <a:prstGeom prst="rect">
            <a:avLst/>
          </a:prstGeom>
          <a:noFill/>
          <a:ln/>
        </p:spPr>
        <p:txBody>
          <a:bodyPr wrap="square" lIns="508" tIns="508" rIns="508" bIns="508" rtlCol="0" anchor="ctr">
            <a:normAutofit/>
          </a:bodyPr>
          <a:lstStyle/>
          <a:p>
            <a:pPr marL="0" indent="0" algn="ctr">
              <a:buNone/>
            </a:pPr>
            <a:r>
              <a:rPr lang="en-US" sz="780" b="1" dirty="0">
                <a:solidFill>
                  <a:srgbClr val="FFFFFF"/>
                </a:solidFill>
              </a:rPr>
              <a:t>6. OPERATE</a:t>
            </a:r>
            <a:endParaRPr lang="en-US" sz="780" dirty="0"/>
          </a:p>
        </p:txBody>
      </p:sp>
      <p:sp>
        <p:nvSpPr>
          <p:cNvPr id="34" name="Text 32"/>
          <p:cNvSpPr/>
          <p:nvPr/>
        </p:nvSpPr>
        <p:spPr>
          <a:xfrm>
            <a:off x="10195560" y="2779776"/>
            <a:ext cx="1316736" cy="182880"/>
          </a:xfrm>
          <a:prstGeom prst="rect">
            <a:avLst/>
          </a:prstGeom>
          <a:noFill/>
          <a:ln/>
        </p:spPr>
        <p:txBody>
          <a:bodyPr wrap="square" lIns="0" tIns="0" rIns="0" bIns="0" rtlCol="0" anchor="ctr">
            <a:normAutofit/>
          </a:bodyPr>
          <a:lstStyle/>
          <a:p>
            <a:pPr marL="0" indent="0" algn="ctr">
              <a:buNone/>
            </a:pPr>
            <a:r>
              <a:rPr lang="en-US" sz="790" dirty="0">
                <a:solidFill>
                  <a:srgbClr val="64748B"/>
                </a:solidFill>
              </a:rPr>
              <a:t>metrics + incidents + versioning</a:t>
            </a:r>
            <a:endParaRPr lang="en-US" sz="790" dirty="0"/>
          </a:p>
        </p:txBody>
      </p:sp>
      <p:sp>
        <p:nvSpPr>
          <p:cNvPr id="35" name="Shape 33"/>
          <p:cNvSpPr/>
          <p:nvPr/>
        </p:nvSpPr>
        <p:spPr>
          <a:xfrm>
            <a:off x="777240" y="4160520"/>
            <a:ext cx="10561320" cy="54864"/>
          </a:xfrm>
          <a:prstGeom prst="rect">
            <a:avLst/>
          </a:prstGeom>
          <a:solidFill>
            <a:srgbClr val="2563EB"/>
          </a:solidFill>
          <a:ln w="12700">
            <a:solidFill>
              <a:srgbClr val="2563EB">
                <a:alpha val="0"/>
              </a:srgbClr>
            </a:solidFill>
            <a:prstDash val="solid"/>
          </a:ln>
        </p:spPr>
        <p:txBody>
          <a:bodyPr/>
          <a:lstStyle/>
          <a:p>
            <a:endParaRPr lang="en-US"/>
          </a:p>
        </p:txBody>
      </p:sp>
      <p:sp>
        <p:nvSpPr>
          <p:cNvPr id="36" name="Text 34"/>
          <p:cNvSpPr/>
          <p:nvPr/>
        </p:nvSpPr>
        <p:spPr>
          <a:xfrm>
            <a:off x="777240" y="4251960"/>
            <a:ext cx="10561320" cy="219456"/>
          </a:xfrm>
          <a:prstGeom prst="rect">
            <a:avLst/>
          </a:prstGeom>
          <a:noFill/>
          <a:ln/>
        </p:spPr>
        <p:txBody>
          <a:bodyPr wrap="square" lIns="0" tIns="0" rIns="0" bIns="0" rtlCol="0" anchor="ctr">
            <a:normAutofit/>
          </a:bodyPr>
          <a:lstStyle/>
          <a:p>
            <a:pPr marL="0" indent="0">
              <a:buNone/>
            </a:pPr>
            <a:r>
              <a:rPr lang="en-US" sz="1000" b="1" dirty="0">
                <a:solidFill>
                  <a:srgbClr val="2563EB"/>
                </a:solidFill>
              </a:rPr>
              <a:t>EXIT CRITERIA BEFORE PRODUCTION</a:t>
            </a:r>
            <a:endParaRPr lang="en-US" sz="1000" dirty="0"/>
          </a:p>
        </p:txBody>
      </p:sp>
      <p:sp>
        <p:nvSpPr>
          <p:cNvPr id="37" name="Shape 35"/>
          <p:cNvSpPr/>
          <p:nvPr/>
        </p:nvSpPr>
        <p:spPr>
          <a:xfrm>
            <a:off x="868680" y="4590288"/>
            <a:ext cx="2514600" cy="713232"/>
          </a:xfrm>
          <a:prstGeom prst="roundRect">
            <a:avLst>
              <a:gd name="adj" fmla="val 10256"/>
            </a:avLst>
          </a:prstGeom>
          <a:solidFill>
            <a:srgbClr val="FFFFFF"/>
          </a:solidFill>
          <a:ln w="12700">
            <a:solidFill>
              <a:srgbClr val="CBD5E1"/>
            </a:solidFill>
            <a:prstDash val="solid"/>
          </a:ln>
        </p:spPr>
        <p:txBody>
          <a:bodyPr/>
          <a:lstStyle/>
          <a:p>
            <a:endParaRPr lang="en-US"/>
          </a:p>
        </p:txBody>
      </p:sp>
      <p:sp>
        <p:nvSpPr>
          <p:cNvPr id="38" name="Text 36"/>
          <p:cNvSpPr/>
          <p:nvPr/>
        </p:nvSpPr>
        <p:spPr>
          <a:xfrm>
            <a:off x="1005840" y="4764024"/>
            <a:ext cx="2194560" cy="118872"/>
          </a:xfrm>
          <a:prstGeom prst="rect">
            <a:avLst/>
          </a:prstGeom>
          <a:noFill/>
          <a:ln/>
        </p:spPr>
        <p:txBody>
          <a:bodyPr wrap="square" lIns="0" tIns="0" rIns="0" bIns="0" rtlCol="0" anchor="ctr"/>
          <a:lstStyle/>
          <a:p>
            <a:pPr marL="0" indent="0">
              <a:buNone/>
            </a:pPr>
            <a:r>
              <a:rPr lang="en-US" sz="950" b="1" dirty="0">
                <a:solidFill>
                  <a:srgbClr val="0B1F33"/>
                </a:solidFill>
              </a:rPr>
              <a:t>Contract</a:t>
            </a:r>
            <a:endParaRPr lang="en-US" sz="950" dirty="0"/>
          </a:p>
        </p:txBody>
      </p:sp>
      <p:sp>
        <p:nvSpPr>
          <p:cNvPr id="39" name="Text 37"/>
          <p:cNvSpPr/>
          <p:nvPr/>
        </p:nvSpPr>
        <p:spPr>
          <a:xfrm>
            <a:off x="1005840" y="5001768"/>
            <a:ext cx="2212848" cy="118872"/>
          </a:xfrm>
          <a:prstGeom prst="rect">
            <a:avLst/>
          </a:prstGeom>
          <a:noFill/>
          <a:ln/>
        </p:spPr>
        <p:txBody>
          <a:bodyPr wrap="square" lIns="0" tIns="0" rIns="0" bIns="0" rtlCol="0" anchor="ctr">
            <a:normAutofit/>
          </a:bodyPr>
          <a:lstStyle/>
          <a:p>
            <a:pPr marL="0" indent="0">
              <a:buNone/>
            </a:pPr>
            <a:r>
              <a:rPr lang="en-US" sz="750" dirty="0">
                <a:solidFill>
                  <a:srgbClr val="64748B"/>
                </a:solidFill>
              </a:rPr>
              <a:t>name, purpose, schema, owner, version, when to use / not use</a:t>
            </a:r>
            <a:endParaRPr lang="en-US" sz="750" dirty="0"/>
          </a:p>
        </p:txBody>
      </p:sp>
      <p:sp>
        <p:nvSpPr>
          <p:cNvPr id="40" name="Shape 38"/>
          <p:cNvSpPr/>
          <p:nvPr/>
        </p:nvSpPr>
        <p:spPr>
          <a:xfrm>
            <a:off x="3593592" y="4590288"/>
            <a:ext cx="2514600" cy="713232"/>
          </a:xfrm>
          <a:prstGeom prst="roundRect">
            <a:avLst>
              <a:gd name="adj" fmla="val 10256"/>
            </a:avLst>
          </a:prstGeom>
          <a:solidFill>
            <a:srgbClr val="FFFFFF"/>
          </a:solidFill>
          <a:ln w="12700">
            <a:solidFill>
              <a:srgbClr val="CBD5E1"/>
            </a:solidFill>
            <a:prstDash val="solid"/>
          </a:ln>
        </p:spPr>
        <p:txBody>
          <a:bodyPr/>
          <a:lstStyle/>
          <a:p>
            <a:endParaRPr lang="en-US"/>
          </a:p>
        </p:txBody>
      </p:sp>
      <p:sp>
        <p:nvSpPr>
          <p:cNvPr id="41" name="Text 39"/>
          <p:cNvSpPr/>
          <p:nvPr/>
        </p:nvSpPr>
        <p:spPr>
          <a:xfrm>
            <a:off x="3730752" y="4764024"/>
            <a:ext cx="2194560" cy="118872"/>
          </a:xfrm>
          <a:prstGeom prst="rect">
            <a:avLst/>
          </a:prstGeom>
          <a:noFill/>
          <a:ln/>
        </p:spPr>
        <p:txBody>
          <a:bodyPr wrap="square" lIns="0" tIns="0" rIns="0" bIns="0" rtlCol="0" anchor="ctr"/>
          <a:lstStyle/>
          <a:p>
            <a:pPr marL="0" indent="0">
              <a:buNone/>
            </a:pPr>
            <a:r>
              <a:rPr lang="en-US" sz="950" b="1" dirty="0">
                <a:solidFill>
                  <a:srgbClr val="0B1F33"/>
                </a:solidFill>
              </a:rPr>
              <a:t>Security</a:t>
            </a:r>
            <a:endParaRPr lang="en-US" sz="950" dirty="0"/>
          </a:p>
        </p:txBody>
      </p:sp>
      <p:sp>
        <p:nvSpPr>
          <p:cNvPr id="42" name="Text 40"/>
          <p:cNvSpPr/>
          <p:nvPr/>
        </p:nvSpPr>
        <p:spPr>
          <a:xfrm>
            <a:off x="3730752" y="5001768"/>
            <a:ext cx="2212848" cy="118872"/>
          </a:xfrm>
          <a:prstGeom prst="rect">
            <a:avLst/>
          </a:prstGeom>
          <a:noFill/>
          <a:ln/>
        </p:spPr>
        <p:txBody>
          <a:bodyPr wrap="square" lIns="0" tIns="0" rIns="0" bIns="0" rtlCol="0" anchor="ctr">
            <a:normAutofit/>
          </a:bodyPr>
          <a:lstStyle/>
          <a:p>
            <a:pPr marL="0" indent="0">
              <a:buNone/>
            </a:pPr>
            <a:r>
              <a:rPr lang="en-US" sz="750" dirty="0">
                <a:solidFill>
                  <a:srgbClr val="64748B"/>
                </a:solidFill>
              </a:rPr>
              <a:t>auth model, secrets handling, least privilege, read/write boundary</a:t>
            </a:r>
            <a:endParaRPr lang="en-US" sz="750" dirty="0"/>
          </a:p>
        </p:txBody>
      </p:sp>
      <p:sp>
        <p:nvSpPr>
          <p:cNvPr id="43" name="Shape 41"/>
          <p:cNvSpPr/>
          <p:nvPr/>
        </p:nvSpPr>
        <p:spPr>
          <a:xfrm>
            <a:off x="6318504" y="4590288"/>
            <a:ext cx="2514600" cy="713232"/>
          </a:xfrm>
          <a:prstGeom prst="roundRect">
            <a:avLst>
              <a:gd name="adj" fmla="val 10256"/>
            </a:avLst>
          </a:prstGeom>
          <a:solidFill>
            <a:srgbClr val="FFFFFF"/>
          </a:solidFill>
          <a:ln w="12700">
            <a:solidFill>
              <a:srgbClr val="CBD5E1"/>
            </a:solidFill>
            <a:prstDash val="solid"/>
          </a:ln>
        </p:spPr>
        <p:txBody>
          <a:bodyPr/>
          <a:lstStyle/>
          <a:p>
            <a:endParaRPr lang="en-US"/>
          </a:p>
        </p:txBody>
      </p:sp>
      <p:sp>
        <p:nvSpPr>
          <p:cNvPr id="44" name="Text 42"/>
          <p:cNvSpPr/>
          <p:nvPr/>
        </p:nvSpPr>
        <p:spPr>
          <a:xfrm>
            <a:off x="6455664" y="4764024"/>
            <a:ext cx="2194560" cy="118872"/>
          </a:xfrm>
          <a:prstGeom prst="rect">
            <a:avLst/>
          </a:prstGeom>
          <a:noFill/>
          <a:ln/>
        </p:spPr>
        <p:txBody>
          <a:bodyPr wrap="square" lIns="0" tIns="0" rIns="0" bIns="0" rtlCol="0" anchor="ctr"/>
          <a:lstStyle/>
          <a:p>
            <a:pPr marL="0" indent="0">
              <a:buNone/>
            </a:pPr>
            <a:r>
              <a:rPr lang="en-US" sz="950" b="1" dirty="0">
                <a:solidFill>
                  <a:srgbClr val="0B1F33"/>
                </a:solidFill>
              </a:rPr>
              <a:t>Quality</a:t>
            </a:r>
            <a:endParaRPr lang="en-US" sz="950" dirty="0"/>
          </a:p>
        </p:txBody>
      </p:sp>
      <p:sp>
        <p:nvSpPr>
          <p:cNvPr id="45" name="Text 43"/>
          <p:cNvSpPr/>
          <p:nvPr/>
        </p:nvSpPr>
        <p:spPr>
          <a:xfrm>
            <a:off x="6455664" y="5001768"/>
            <a:ext cx="2212848" cy="118872"/>
          </a:xfrm>
          <a:prstGeom prst="rect">
            <a:avLst/>
          </a:prstGeom>
          <a:noFill/>
          <a:ln/>
        </p:spPr>
        <p:txBody>
          <a:bodyPr wrap="square" lIns="0" tIns="0" rIns="0" bIns="0" rtlCol="0" anchor="ctr">
            <a:normAutofit/>
          </a:bodyPr>
          <a:lstStyle/>
          <a:p>
            <a:pPr marL="0" indent="0">
              <a:buNone/>
            </a:pPr>
            <a:r>
              <a:rPr lang="en-US" sz="750" dirty="0">
                <a:solidFill>
                  <a:srgbClr val="64748B"/>
                </a:solidFill>
              </a:rPr>
              <a:t>unit tests, golden tests, tool-selection and parameter accuracy</a:t>
            </a:r>
            <a:endParaRPr lang="en-US" sz="750" dirty="0"/>
          </a:p>
        </p:txBody>
      </p:sp>
      <p:sp>
        <p:nvSpPr>
          <p:cNvPr id="46" name="Shape 44"/>
          <p:cNvSpPr/>
          <p:nvPr/>
        </p:nvSpPr>
        <p:spPr>
          <a:xfrm>
            <a:off x="9043416" y="4590288"/>
            <a:ext cx="2514600" cy="713232"/>
          </a:xfrm>
          <a:prstGeom prst="roundRect">
            <a:avLst>
              <a:gd name="adj" fmla="val 10256"/>
            </a:avLst>
          </a:prstGeom>
          <a:solidFill>
            <a:srgbClr val="FFFFFF"/>
          </a:solidFill>
          <a:ln w="12700">
            <a:solidFill>
              <a:srgbClr val="CBD5E1"/>
            </a:solidFill>
            <a:prstDash val="solid"/>
          </a:ln>
        </p:spPr>
        <p:txBody>
          <a:bodyPr/>
          <a:lstStyle/>
          <a:p>
            <a:endParaRPr lang="en-US"/>
          </a:p>
        </p:txBody>
      </p:sp>
      <p:sp>
        <p:nvSpPr>
          <p:cNvPr id="47" name="Text 45"/>
          <p:cNvSpPr/>
          <p:nvPr/>
        </p:nvSpPr>
        <p:spPr>
          <a:xfrm>
            <a:off x="9180576" y="4764024"/>
            <a:ext cx="2194560" cy="118872"/>
          </a:xfrm>
          <a:prstGeom prst="rect">
            <a:avLst/>
          </a:prstGeom>
          <a:noFill/>
          <a:ln/>
        </p:spPr>
        <p:txBody>
          <a:bodyPr wrap="square" lIns="0" tIns="0" rIns="0" bIns="0" rtlCol="0" anchor="ctr"/>
          <a:lstStyle/>
          <a:p>
            <a:pPr marL="0" indent="0">
              <a:buNone/>
            </a:pPr>
            <a:r>
              <a:rPr lang="en-US" sz="950" b="1" dirty="0">
                <a:solidFill>
                  <a:srgbClr val="0B1F33"/>
                </a:solidFill>
              </a:rPr>
              <a:t>Operations</a:t>
            </a:r>
            <a:endParaRPr lang="en-US" sz="950" dirty="0"/>
          </a:p>
        </p:txBody>
      </p:sp>
      <p:sp>
        <p:nvSpPr>
          <p:cNvPr id="48" name="Text 46"/>
          <p:cNvSpPr/>
          <p:nvPr/>
        </p:nvSpPr>
        <p:spPr>
          <a:xfrm>
            <a:off x="9180576" y="5001768"/>
            <a:ext cx="2212848" cy="118872"/>
          </a:xfrm>
          <a:prstGeom prst="rect">
            <a:avLst/>
          </a:prstGeom>
          <a:noFill/>
          <a:ln/>
        </p:spPr>
        <p:txBody>
          <a:bodyPr wrap="square" lIns="0" tIns="0" rIns="0" bIns="0" rtlCol="0" anchor="ctr">
            <a:normAutofit/>
          </a:bodyPr>
          <a:lstStyle/>
          <a:p>
            <a:pPr marL="0" indent="0">
              <a:buNone/>
            </a:pPr>
            <a:r>
              <a:rPr lang="en-US" sz="750" dirty="0">
                <a:solidFill>
                  <a:srgbClr val="64748B"/>
                </a:solidFill>
              </a:rPr>
              <a:t>SLO, logging, rate limit, support group, incident path</a:t>
            </a:r>
            <a:endParaRPr lang="en-US" sz="750" dirty="0"/>
          </a:p>
        </p:txBody>
      </p:sp>
      <p:sp>
        <p:nvSpPr>
          <p:cNvPr id="49" name="Text 47"/>
          <p:cNvSpPr/>
          <p:nvPr/>
        </p:nvSpPr>
        <p:spPr>
          <a:xfrm>
            <a:off x="502920" y="6473952"/>
            <a:ext cx="2926080" cy="182880"/>
          </a:xfrm>
          <a:prstGeom prst="rect">
            <a:avLst/>
          </a:prstGeom>
          <a:noFill/>
          <a:ln/>
        </p:spPr>
        <p:txBody>
          <a:bodyPr wrap="square" lIns="0" tIns="0" rIns="0" bIns="0" rtlCol="0" anchor="ctr"/>
          <a:lstStyle/>
          <a:p>
            <a:pPr marL="0" indent="0">
              <a:buNone/>
            </a:pPr>
            <a:r>
              <a:rPr lang="en-US" sz="780" dirty="0">
                <a:solidFill>
                  <a:srgbClr val="64748B"/>
                </a:solidFill>
              </a:rPr>
              <a:t>EDGE MCP Strategy — Tranche 3</a:t>
            </a:r>
            <a:endParaRPr lang="en-US" sz="780" dirty="0"/>
          </a:p>
        </p:txBody>
      </p:sp>
      <p:sp>
        <p:nvSpPr>
          <p:cNvPr id="50" name="Text 48"/>
          <p:cNvSpPr/>
          <p:nvPr/>
        </p:nvSpPr>
        <p:spPr>
          <a:xfrm>
            <a:off x="11338560" y="6446520"/>
            <a:ext cx="347472" cy="219456"/>
          </a:xfrm>
          <a:prstGeom prst="rect">
            <a:avLst/>
          </a:prstGeom>
          <a:noFill/>
          <a:ln/>
        </p:spPr>
        <p:txBody>
          <a:bodyPr wrap="square" lIns="0" tIns="0" rIns="0" bIns="0" rtlCol="0" anchor="ctr"/>
          <a:lstStyle/>
          <a:p>
            <a:pPr marL="0" indent="0" algn="r">
              <a:buNone/>
            </a:pPr>
            <a:r>
              <a:rPr lang="en-US" sz="850" dirty="0">
                <a:solidFill>
                  <a:srgbClr val="64748B"/>
                </a:solidFill>
              </a:rPr>
              <a:t>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txBody>
          <a:bodyPr/>
          <a:lstStyle/>
          <a:p>
            <a:endParaRPr lang="en-US"/>
          </a:p>
        </p:txBody>
      </p:sp>
      <p:sp>
        <p:nvSpPr>
          <p:cNvPr id="3" name="Shape 1"/>
          <p:cNvSpPr/>
          <p:nvPr/>
        </p:nvSpPr>
        <p:spPr>
          <a:xfrm>
            <a:off x="0" y="0"/>
            <a:ext cx="12191695" cy="100584"/>
          </a:xfrm>
          <a:prstGeom prst="rect">
            <a:avLst/>
          </a:prstGeom>
          <a:solidFill>
            <a:srgbClr val="2563EB"/>
          </a:solidFill>
          <a:ln w="12700">
            <a:solidFill>
              <a:srgbClr val="2563EB">
                <a:alpha val="0"/>
              </a:srgbClr>
            </a:solidFill>
            <a:prstDash val="solid"/>
          </a:ln>
        </p:spPr>
        <p:txBody>
          <a:bodyPr/>
          <a:lstStyle/>
          <a:p>
            <a:endParaRPr lang="en-US"/>
          </a:p>
        </p:txBody>
      </p:sp>
      <p:sp>
        <p:nvSpPr>
          <p:cNvPr id="4" name="Text 2"/>
          <p:cNvSpPr/>
          <p:nvPr/>
        </p:nvSpPr>
        <p:spPr>
          <a:xfrm>
            <a:off x="502920" y="310896"/>
            <a:ext cx="9966960" cy="411480"/>
          </a:xfrm>
          <a:prstGeom prst="rect">
            <a:avLst/>
          </a:prstGeom>
          <a:noFill/>
          <a:ln/>
        </p:spPr>
        <p:txBody>
          <a:bodyPr wrap="square" lIns="0" tIns="0" rIns="0" bIns="0" rtlCol="0" anchor="ctr">
            <a:normAutofit/>
          </a:bodyPr>
          <a:lstStyle/>
          <a:p>
            <a:pPr marL="0" indent="0">
              <a:buNone/>
            </a:pPr>
            <a:r>
              <a:rPr lang="en-US" sz="2400" b="1" dirty="0">
                <a:solidFill>
                  <a:srgbClr val="0B1F33"/>
                </a:solidFill>
                <a:latin typeface="Aptos Display" pitchFamily="34" charset="0"/>
                <a:ea typeface="Aptos Display" pitchFamily="34" charset="-122"/>
                <a:cs typeface="Aptos Display" pitchFamily="34" charset="-120"/>
              </a:rPr>
              <a:t>Pilot 1: Fails Investigation &amp; Commentary Validation</a:t>
            </a:r>
            <a:endParaRPr lang="en-US" sz="2400" dirty="0"/>
          </a:p>
        </p:txBody>
      </p:sp>
      <p:sp>
        <p:nvSpPr>
          <p:cNvPr id="5" name="Text 3"/>
          <p:cNvSpPr/>
          <p:nvPr/>
        </p:nvSpPr>
        <p:spPr>
          <a:xfrm>
            <a:off x="521208" y="749808"/>
            <a:ext cx="10789920" cy="320040"/>
          </a:xfrm>
          <a:prstGeom prst="rect">
            <a:avLst/>
          </a:prstGeom>
          <a:noFill/>
          <a:ln/>
        </p:spPr>
        <p:txBody>
          <a:bodyPr wrap="square" lIns="0" tIns="0" rIns="0" bIns="0" rtlCol="0" anchor="ctr">
            <a:normAutofit/>
          </a:bodyPr>
          <a:lstStyle/>
          <a:p>
            <a:pPr marL="0" indent="0">
              <a:buNone/>
            </a:pPr>
            <a:r>
              <a:rPr lang="en-US" sz="1050" dirty="0">
                <a:solidFill>
                  <a:srgbClr val="64748B"/>
                </a:solidFill>
              </a:rPr>
              <a:t>Use MCP to make agent outputs grounded, traceable and reviewable.</a:t>
            </a:r>
            <a:endParaRPr lang="en-US" sz="1050" dirty="0"/>
          </a:p>
        </p:txBody>
      </p:sp>
      <p:sp>
        <p:nvSpPr>
          <p:cNvPr id="6" name="Shape 4"/>
          <p:cNvSpPr/>
          <p:nvPr/>
        </p:nvSpPr>
        <p:spPr>
          <a:xfrm>
            <a:off x="2057400" y="2926080"/>
            <a:ext cx="1097280" cy="0"/>
          </a:xfrm>
          <a:prstGeom prst="line">
            <a:avLst/>
          </a:prstGeom>
          <a:noFill/>
          <a:ln w="12700">
            <a:solidFill>
              <a:srgbClr val="64748B"/>
            </a:solidFill>
            <a:prstDash val="solid"/>
            <a:headEnd type="none"/>
            <a:tailEnd type="triangle"/>
          </a:ln>
        </p:spPr>
        <p:txBody>
          <a:bodyPr/>
          <a:lstStyle/>
          <a:p>
            <a:endParaRPr lang="en-US"/>
          </a:p>
        </p:txBody>
      </p:sp>
      <p:sp>
        <p:nvSpPr>
          <p:cNvPr id="7" name="Shape 5"/>
          <p:cNvSpPr/>
          <p:nvPr/>
        </p:nvSpPr>
        <p:spPr>
          <a:xfrm>
            <a:off x="4892040" y="2926080"/>
            <a:ext cx="1097280" cy="0"/>
          </a:xfrm>
          <a:prstGeom prst="line">
            <a:avLst/>
          </a:prstGeom>
          <a:noFill/>
          <a:ln w="11430">
            <a:solidFill>
              <a:srgbClr val="0F766E"/>
            </a:solidFill>
            <a:prstDash val="solid"/>
            <a:headEnd type="none"/>
            <a:tailEnd type="triangle"/>
          </a:ln>
        </p:spPr>
        <p:txBody>
          <a:bodyPr/>
          <a:lstStyle/>
          <a:p>
            <a:endParaRPr lang="en-US"/>
          </a:p>
        </p:txBody>
      </p:sp>
      <p:sp>
        <p:nvSpPr>
          <p:cNvPr id="8" name="Shape 6"/>
          <p:cNvSpPr/>
          <p:nvPr/>
        </p:nvSpPr>
        <p:spPr>
          <a:xfrm>
            <a:off x="4892040" y="2926080"/>
            <a:ext cx="1097280" cy="0"/>
          </a:xfrm>
          <a:prstGeom prst="line">
            <a:avLst/>
          </a:prstGeom>
          <a:noFill/>
          <a:ln w="11430">
            <a:solidFill>
              <a:srgbClr val="0F766E"/>
            </a:solidFill>
            <a:prstDash val="solid"/>
            <a:headEnd type="none"/>
            <a:tailEnd type="triangle"/>
          </a:ln>
        </p:spPr>
        <p:txBody>
          <a:bodyPr/>
          <a:lstStyle/>
          <a:p>
            <a:endParaRPr lang="en-US"/>
          </a:p>
        </p:txBody>
      </p:sp>
      <p:sp>
        <p:nvSpPr>
          <p:cNvPr id="9" name="Shape 7"/>
          <p:cNvSpPr/>
          <p:nvPr/>
        </p:nvSpPr>
        <p:spPr>
          <a:xfrm>
            <a:off x="4892040" y="2926080"/>
            <a:ext cx="1097280" cy="777240"/>
          </a:xfrm>
          <a:prstGeom prst="line">
            <a:avLst/>
          </a:prstGeom>
          <a:noFill/>
          <a:ln w="11430">
            <a:solidFill>
              <a:srgbClr val="0F766E"/>
            </a:solidFill>
            <a:prstDash val="solid"/>
            <a:headEnd type="none"/>
            <a:tailEnd type="triangle"/>
          </a:ln>
        </p:spPr>
        <p:txBody>
          <a:bodyPr/>
          <a:lstStyle/>
          <a:p>
            <a:endParaRPr lang="en-US"/>
          </a:p>
        </p:txBody>
      </p:sp>
      <p:sp>
        <p:nvSpPr>
          <p:cNvPr id="10" name="Shape 8"/>
          <p:cNvSpPr/>
          <p:nvPr/>
        </p:nvSpPr>
        <p:spPr>
          <a:xfrm>
            <a:off x="8092440" y="2148840"/>
            <a:ext cx="1097280" cy="777240"/>
          </a:xfrm>
          <a:prstGeom prst="line">
            <a:avLst/>
          </a:prstGeom>
          <a:noFill/>
          <a:ln w="10160">
            <a:solidFill>
              <a:srgbClr val="64748B"/>
            </a:solidFill>
            <a:prstDash val="solid"/>
            <a:headEnd type="none"/>
            <a:tailEnd type="triangle"/>
          </a:ln>
        </p:spPr>
        <p:txBody>
          <a:bodyPr/>
          <a:lstStyle/>
          <a:p>
            <a:endParaRPr lang="en-US"/>
          </a:p>
        </p:txBody>
      </p:sp>
      <p:sp>
        <p:nvSpPr>
          <p:cNvPr id="11" name="Shape 9"/>
          <p:cNvSpPr/>
          <p:nvPr/>
        </p:nvSpPr>
        <p:spPr>
          <a:xfrm>
            <a:off x="8092440" y="2926080"/>
            <a:ext cx="1097280" cy="0"/>
          </a:xfrm>
          <a:prstGeom prst="line">
            <a:avLst/>
          </a:prstGeom>
          <a:noFill/>
          <a:ln w="10160">
            <a:solidFill>
              <a:srgbClr val="64748B"/>
            </a:solidFill>
            <a:prstDash val="solid"/>
            <a:headEnd type="none"/>
            <a:tailEnd type="triangle"/>
          </a:ln>
        </p:spPr>
        <p:txBody>
          <a:bodyPr/>
          <a:lstStyle/>
          <a:p>
            <a:endParaRPr lang="en-US"/>
          </a:p>
        </p:txBody>
      </p:sp>
      <p:sp>
        <p:nvSpPr>
          <p:cNvPr id="12" name="Shape 10"/>
          <p:cNvSpPr/>
          <p:nvPr/>
        </p:nvSpPr>
        <p:spPr>
          <a:xfrm>
            <a:off x="8092440" y="3703320"/>
            <a:ext cx="1097280" cy="0"/>
          </a:xfrm>
          <a:prstGeom prst="line">
            <a:avLst/>
          </a:prstGeom>
          <a:noFill/>
          <a:ln w="10160">
            <a:solidFill>
              <a:srgbClr val="64748B"/>
            </a:solidFill>
            <a:prstDash val="solid"/>
            <a:headEnd type="none"/>
            <a:tailEnd type="triangle"/>
          </a:ln>
        </p:spPr>
        <p:txBody>
          <a:bodyPr/>
          <a:lstStyle/>
          <a:p>
            <a:endParaRPr lang="en-US"/>
          </a:p>
        </p:txBody>
      </p:sp>
      <p:sp>
        <p:nvSpPr>
          <p:cNvPr id="13" name="Shape 11"/>
          <p:cNvSpPr/>
          <p:nvPr/>
        </p:nvSpPr>
        <p:spPr>
          <a:xfrm>
            <a:off x="10652760" y="2926080"/>
            <a:ext cx="640080" cy="0"/>
          </a:xfrm>
          <a:prstGeom prst="line">
            <a:avLst/>
          </a:prstGeom>
          <a:noFill/>
          <a:ln w="12700">
            <a:solidFill>
              <a:srgbClr val="D97706"/>
            </a:solidFill>
            <a:prstDash val="solid"/>
            <a:headEnd type="none"/>
            <a:tailEnd type="triangle"/>
          </a:ln>
        </p:spPr>
        <p:txBody>
          <a:bodyPr/>
          <a:lstStyle/>
          <a:p>
            <a:endParaRPr lang="en-US"/>
          </a:p>
        </p:txBody>
      </p:sp>
      <p:sp>
        <p:nvSpPr>
          <p:cNvPr id="14" name="Shape 12"/>
          <p:cNvSpPr/>
          <p:nvPr/>
        </p:nvSpPr>
        <p:spPr>
          <a:xfrm>
            <a:off x="713232" y="2331720"/>
            <a:ext cx="1344168" cy="1170432"/>
          </a:xfrm>
          <a:prstGeom prst="roundRect">
            <a:avLst>
              <a:gd name="adj" fmla="val 6250"/>
            </a:avLst>
          </a:prstGeom>
          <a:solidFill>
            <a:srgbClr val="EFF6FF"/>
          </a:solidFill>
          <a:ln w="12700">
            <a:solidFill>
              <a:srgbClr val="93C5FD"/>
            </a:solidFill>
            <a:prstDash val="solid"/>
          </a:ln>
        </p:spPr>
        <p:txBody>
          <a:bodyPr/>
          <a:lstStyle/>
          <a:p>
            <a:endParaRPr lang="en-US"/>
          </a:p>
        </p:txBody>
      </p:sp>
      <p:sp>
        <p:nvSpPr>
          <p:cNvPr id="15" name="Text 13"/>
          <p:cNvSpPr/>
          <p:nvPr/>
        </p:nvSpPr>
        <p:spPr>
          <a:xfrm>
            <a:off x="841248" y="2688336"/>
            <a:ext cx="1097280" cy="256032"/>
          </a:xfrm>
          <a:prstGeom prst="rect">
            <a:avLst/>
          </a:prstGeom>
          <a:noFill/>
          <a:ln/>
        </p:spPr>
        <p:txBody>
          <a:bodyPr wrap="square" lIns="508" tIns="508" rIns="508" bIns="508" rtlCol="0" anchor="ctr">
            <a:normAutofit/>
          </a:bodyPr>
          <a:lstStyle/>
          <a:p>
            <a:pPr marL="0" indent="0" algn="ctr">
              <a:buNone/>
            </a:pPr>
            <a:r>
              <a:rPr lang="en-US" sz="1100" b="1" dirty="0">
                <a:solidFill>
                  <a:srgbClr val="2563EB"/>
                </a:solidFill>
              </a:rPr>
              <a:t>EDGE Agent</a:t>
            </a:r>
            <a:endParaRPr lang="en-US" sz="1100" dirty="0"/>
          </a:p>
          <a:p>
            <a:pPr marL="0" indent="0" algn="ctr">
              <a:buNone/>
            </a:pPr>
            <a:r>
              <a:rPr lang="en-US" sz="1100" b="1" dirty="0">
                <a:solidFill>
                  <a:srgbClr val="2563EB"/>
                </a:solidFill>
              </a:rPr>
              <a:t>Investigation</a:t>
            </a:r>
            <a:endParaRPr lang="en-US" sz="1100" dirty="0"/>
          </a:p>
        </p:txBody>
      </p:sp>
      <p:sp>
        <p:nvSpPr>
          <p:cNvPr id="16" name="Shape 14"/>
          <p:cNvSpPr/>
          <p:nvPr/>
        </p:nvSpPr>
        <p:spPr>
          <a:xfrm>
            <a:off x="3154680" y="2212848"/>
            <a:ext cx="1737360" cy="1417320"/>
          </a:xfrm>
          <a:prstGeom prst="roundRect">
            <a:avLst>
              <a:gd name="adj" fmla="val 5161"/>
            </a:avLst>
          </a:prstGeom>
          <a:solidFill>
            <a:srgbClr val="F5F3FF"/>
          </a:solidFill>
          <a:ln w="12700">
            <a:solidFill>
              <a:srgbClr val="C4B5FD"/>
            </a:solidFill>
            <a:prstDash val="solid"/>
          </a:ln>
        </p:spPr>
        <p:txBody>
          <a:bodyPr/>
          <a:lstStyle/>
          <a:p>
            <a:endParaRPr lang="en-US"/>
          </a:p>
        </p:txBody>
      </p:sp>
      <p:sp>
        <p:nvSpPr>
          <p:cNvPr id="17" name="Text 15"/>
          <p:cNvSpPr/>
          <p:nvPr/>
        </p:nvSpPr>
        <p:spPr>
          <a:xfrm>
            <a:off x="3337560" y="2578608"/>
            <a:ext cx="1371600" cy="137160"/>
          </a:xfrm>
          <a:prstGeom prst="rect">
            <a:avLst/>
          </a:prstGeom>
          <a:noFill/>
          <a:ln/>
        </p:spPr>
        <p:txBody>
          <a:bodyPr wrap="square" lIns="508" tIns="508" rIns="508" bIns="508" rtlCol="0" anchor="ctr">
            <a:normAutofit/>
          </a:bodyPr>
          <a:lstStyle/>
          <a:p>
            <a:pPr marL="0" indent="0" algn="ctr">
              <a:buNone/>
            </a:pPr>
            <a:r>
              <a:rPr lang="en-US" sz="1350" b="1" dirty="0">
                <a:solidFill>
                  <a:srgbClr val="6D28D9"/>
                </a:solidFill>
              </a:rPr>
              <a:t>MCP Gateway</a:t>
            </a:r>
            <a:endParaRPr lang="en-US" sz="1350" dirty="0"/>
          </a:p>
        </p:txBody>
      </p:sp>
      <p:sp>
        <p:nvSpPr>
          <p:cNvPr id="18" name="Text 16"/>
          <p:cNvSpPr/>
          <p:nvPr/>
        </p:nvSpPr>
        <p:spPr>
          <a:xfrm>
            <a:off x="3438144" y="3017520"/>
            <a:ext cx="1143000" cy="91440"/>
          </a:xfrm>
          <a:prstGeom prst="rect">
            <a:avLst/>
          </a:prstGeom>
          <a:noFill/>
          <a:ln/>
        </p:spPr>
        <p:txBody>
          <a:bodyPr wrap="square" lIns="0" tIns="0" rIns="0" bIns="0" rtlCol="0" anchor="ctr"/>
          <a:lstStyle/>
          <a:p>
            <a:pPr marL="0" indent="0" algn="ctr">
              <a:buNone/>
            </a:pPr>
            <a:r>
              <a:rPr lang="en-US" sz="720" dirty="0">
                <a:solidFill>
                  <a:srgbClr val="64748B"/>
                </a:solidFill>
              </a:rPr>
              <a:t>policy • routing • audit</a:t>
            </a:r>
            <a:endParaRPr lang="en-US" sz="720" dirty="0"/>
          </a:p>
        </p:txBody>
      </p:sp>
      <p:sp>
        <p:nvSpPr>
          <p:cNvPr id="19" name="Shape 17"/>
          <p:cNvSpPr/>
          <p:nvPr/>
        </p:nvSpPr>
        <p:spPr>
          <a:xfrm>
            <a:off x="5989320" y="1874520"/>
            <a:ext cx="2103120" cy="530352"/>
          </a:xfrm>
          <a:prstGeom prst="roundRect">
            <a:avLst>
              <a:gd name="adj" fmla="val 13793"/>
            </a:avLst>
          </a:prstGeom>
          <a:solidFill>
            <a:srgbClr val="FFFFFF"/>
          </a:solidFill>
          <a:ln w="12700">
            <a:solidFill>
              <a:srgbClr val="99F6E4"/>
            </a:solidFill>
            <a:prstDash val="solid"/>
          </a:ln>
        </p:spPr>
        <p:txBody>
          <a:bodyPr/>
          <a:lstStyle/>
          <a:p>
            <a:endParaRPr lang="en-US"/>
          </a:p>
        </p:txBody>
      </p:sp>
      <p:sp>
        <p:nvSpPr>
          <p:cNvPr id="20" name="Text 18"/>
          <p:cNvSpPr/>
          <p:nvPr/>
        </p:nvSpPr>
        <p:spPr>
          <a:xfrm>
            <a:off x="6099048" y="2057400"/>
            <a:ext cx="1874520" cy="109728"/>
          </a:xfrm>
          <a:prstGeom prst="rect">
            <a:avLst/>
          </a:prstGeom>
          <a:noFill/>
          <a:ln/>
        </p:spPr>
        <p:txBody>
          <a:bodyPr wrap="square" lIns="508" tIns="508" rIns="508" bIns="508" rtlCol="0" anchor="ctr">
            <a:normAutofit/>
          </a:bodyPr>
          <a:lstStyle/>
          <a:p>
            <a:pPr marL="0" indent="0" algn="ctr">
              <a:buNone/>
            </a:pPr>
            <a:r>
              <a:rPr lang="en-US" sz="920" b="1" dirty="0">
                <a:solidFill>
                  <a:srgbClr val="0F766E"/>
                </a:solidFill>
              </a:rPr>
              <a:t>Position MCP</a:t>
            </a:r>
            <a:endParaRPr lang="en-US" sz="920" dirty="0"/>
          </a:p>
        </p:txBody>
      </p:sp>
      <p:sp>
        <p:nvSpPr>
          <p:cNvPr id="21" name="Shape 19"/>
          <p:cNvSpPr/>
          <p:nvPr/>
        </p:nvSpPr>
        <p:spPr>
          <a:xfrm>
            <a:off x="5989320" y="2651760"/>
            <a:ext cx="2103120" cy="530352"/>
          </a:xfrm>
          <a:prstGeom prst="roundRect">
            <a:avLst>
              <a:gd name="adj" fmla="val 13793"/>
            </a:avLst>
          </a:prstGeom>
          <a:solidFill>
            <a:srgbClr val="FFFFFF"/>
          </a:solidFill>
          <a:ln w="12700">
            <a:solidFill>
              <a:srgbClr val="99F6E4"/>
            </a:solidFill>
            <a:prstDash val="solid"/>
          </a:ln>
        </p:spPr>
        <p:txBody>
          <a:bodyPr/>
          <a:lstStyle/>
          <a:p>
            <a:endParaRPr lang="en-US"/>
          </a:p>
        </p:txBody>
      </p:sp>
      <p:sp>
        <p:nvSpPr>
          <p:cNvPr id="22" name="Text 20"/>
          <p:cNvSpPr/>
          <p:nvPr/>
        </p:nvSpPr>
        <p:spPr>
          <a:xfrm>
            <a:off x="6099048" y="2834640"/>
            <a:ext cx="1874520" cy="109728"/>
          </a:xfrm>
          <a:prstGeom prst="rect">
            <a:avLst/>
          </a:prstGeom>
          <a:noFill/>
          <a:ln/>
        </p:spPr>
        <p:txBody>
          <a:bodyPr wrap="square" lIns="508" tIns="508" rIns="508" bIns="508" rtlCol="0" anchor="ctr">
            <a:normAutofit/>
          </a:bodyPr>
          <a:lstStyle/>
          <a:p>
            <a:pPr marL="0" indent="0" algn="ctr">
              <a:buNone/>
            </a:pPr>
            <a:r>
              <a:rPr lang="en-US" sz="920" b="1" dirty="0">
                <a:solidFill>
                  <a:srgbClr val="0F766E"/>
                </a:solidFill>
              </a:rPr>
              <a:t>Settlement MCP</a:t>
            </a:r>
            <a:endParaRPr lang="en-US" sz="920" dirty="0"/>
          </a:p>
        </p:txBody>
      </p:sp>
      <p:sp>
        <p:nvSpPr>
          <p:cNvPr id="23" name="Shape 21"/>
          <p:cNvSpPr/>
          <p:nvPr/>
        </p:nvSpPr>
        <p:spPr>
          <a:xfrm>
            <a:off x="5989320" y="3429000"/>
            <a:ext cx="2103120" cy="530352"/>
          </a:xfrm>
          <a:prstGeom prst="roundRect">
            <a:avLst>
              <a:gd name="adj" fmla="val 13793"/>
            </a:avLst>
          </a:prstGeom>
          <a:solidFill>
            <a:srgbClr val="FFFFFF"/>
          </a:solidFill>
          <a:ln w="12700">
            <a:solidFill>
              <a:srgbClr val="99F6E4"/>
            </a:solidFill>
            <a:prstDash val="solid"/>
          </a:ln>
        </p:spPr>
        <p:txBody>
          <a:bodyPr/>
          <a:lstStyle/>
          <a:p>
            <a:endParaRPr lang="en-US"/>
          </a:p>
        </p:txBody>
      </p:sp>
      <p:sp>
        <p:nvSpPr>
          <p:cNvPr id="24" name="Text 22"/>
          <p:cNvSpPr/>
          <p:nvPr/>
        </p:nvSpPr>
        <p:spPr>
          <a:xfrm>
            <a:off x="6099048" y="3611880"/>
            <a:ext cx="1874520" cy="109728"/>
          </a:xfrm>
          <a:prstGeom prst="rect">
            <a:avLst/>
          </a:prstGeom>
          <a:noFill/>
          <a:ln/>
        </p:spPr>
        <p:txBody>
          <a:bodyPr wrap="square" lIns="508" tIns="508" rIns="508" bIns="508" rtlCol="0" anchor="ctr">
            <a:normAutofit/>
          </a:bodyPr>
          <a:lstStyle/>
          <a:p>
            <a:pPr marL="0" indent="0" algn="ctr">
              <a:buNone/>
            </a:pPr>
            <a:r>
              <a:rPr lang="en-US" sz="920" b="1" dirty="0">
                <a:solidFill>
                  <a:srgbClr val="0F766E"/>
                </a:solidFill>
              </a:rPr>
              <a:t>Trade / Reference MCP</a:t>
            </a:r>
            <a:endParaRPr lang="en-US" sz="920" dirty="0"/>
          </a:p>
        </p:txBody>
      </p:sp>
      <p:sp>
        <p:nvSpPr>
          <p:cNvPr id="25" name="Shape 23"/>
          <p:cNvSpPr/>
          <p:nvPr/>
        </p:nvSpPr>
        <p:spPr>
          <a:xfrm>
            <a:off x="9189720" y="2331720"/>
            <a:ext cx="1463040" cy="1170432"/>
          </a:xfrm>
          <a:prstGeom prst="roundRect">
            <a:avLst>
              <a:gd name="adj" fmla="val 6250"/>
            </a:avLst>
          </a:prstGeom>
          <a:solidFill>
            <a:srgbClr val="F0FDF4"/>
          </a:solidFill>
          <a:ln w="12700">
            <a:solidFill>
              <a:srgbClr val="86EFAC"/>
            </a:solidFill>
            <a:prstDash val="solid"/>
          </a:ln>
        </p:spPr>
        <p:txBody>
          <a:bodyPr/>
          <a:lstStyle/>
          <a:p>
            <a:endParaRPr lang="en-US"/>
          </a:p>
        </p:txBody>
      </p:sp>
      <p:sp>
        <p:nvSpPr>
          <p:cNvPr id="26" name="Text 24"/>
          <p:cNvSpPr/>
          <p:nvPr/>
        </p:nvSpPr>
        <p:spPr>
          <a:xfrm>
            <a:off x="9299448" y="2688336"/>
            <a:ext cx="1243584" cy="246888"/>
          </a:xfrm>
          <a:prstGeom prst="rect">
            <a:avLst/>
          </a:prstGeom>
          <a:noFill/>
          <a:ln/>
        </p:spPr>
        <p:txBody>
          <a:bodyPr wrap="square" lIns="508" tIns="508" rIns="508" bIns="508" rtlCol="0" anchor="ctr">
            <a:normAutofit/>
          </a:bodyPr>
          <a:lstStyle/>
          <a:p>
            <a:pPr marL="0" indent="0" algn="ctr">
              <a:buNone/>
            </a:pPr>
            <a:r>
              <a:rPr lang="en-US" sz="1050" b="1" dirty="0">
                <a:solidFill>
                  <a:srgbClr val="16A34A"/>
                </a:solidFill>
              </a:rPr>
              <a:t>Grounded</a:t>
            </a:r>
            <a:endParaRPr lang="en-US" sz="1050" dirty="0"/>
          </a:p>
          <a:p>
            <a:pPr marL="0" indent="0" algn="ctr">
              <a:buNone/>
            </a:pPr>
            <a:r>
              <a:rPr lang="en-US" sz="1050" b="1" dirty="0">
                <a:solidFill>
                  <a:srgbClr val="16A34A"/>
                </a:solidFill>
              </a:rPr>
              <a:t>Evidence Pack</a:t>
            </a:r>
            <a:endParaRPr lang="en-US" sz="1050" dirty="0"/>
          </a:p>
        </p:txBody>
      </p:sp>
      <p:sp>
        <p:nvSpPr>
          <p:cNvPr id="27" name="Shape 25"/>
          <p:cNvSpPr/>
          <p:nvPr/>
        </p:nvSpPr>
        <p:spPr>
          <a:xfrm>
            <a:off x="11292840" y="2331720"/>
            <a:ext cx="731520" cy="1170432"/>
          </a:xfrm>
          <a:prstGeom prst="roundRect">
            <a:avLst>
              <a:gd name="adj" fmla="val 10000"/>
            </a:avLst>
          </a:prstGeom>
          <a:solidFill>
            <a:srgbClr val="FFFBEB"/>
          </a:solidFill>
          <a:ln w="12700">
            <a:solidFill>
              <a:srgbClr val="FCD34D"/>
            </a:solidFill>
            <a:prstDash val="solid"/>
          </a:ln>
        </p:spPr>
        <p:txBody>
          <a:bodyPr/>
          <a:lstStyle/>
          <a:p>
            <a:endParaRPr lang="en-US"/>
          </a:p>
        </p:txBody>
      </p:sp>
      <p:sp>
        <p:nvSpPr>
          <p:cNvPr id="28" name="Text 26"/>
          <p:cNvSpPr/>
          <p:nvPr/>
        </p:nvSpPr>
        <p:spPr>
          <a:xfrm>
            <a:off x="11384280" y="2798064"/>
            <a:ext cx="548640" cy="109728"/>
          </a:xfrm>
          <a:prstGeom prst="rect">
            <a:avLst/>
          </a:prstGeom>
          <a:noFill/>
          <a:ln/>
        </p:spPr>
        <p:txBody>
          <a:bodyPr wrap="square" lIns="508" tIns="508" rIns="508" bIns="508" rtlCol="0" anchor="ctr">
            <a:normAutofit/>
          </a:bodyPr>
          <a:lstStyle/>
          <a:p>
            <a:pPr marL="0" indent="0" algn="ctr">
              <a:buNone/>
            </a:pPr>
            <a:r>
              <a:rPr lang="en-US" sz="1050" b="1" dirty="0">
                <a:solidFill>
                  <a:srgbClr val="D97706"/>
                </a:solidFill>
              </a:rPr>
              <a:t>HIL</a:t>
            </a:r>
            <a:endParaRPr lang="en-US" sz="1050" dirty="0"/>
          </a:p>
        </p:txBody>
      </p:sp>
      <p:sp>
        <p:nvSpPr>
          <p:cNvPr id="29" name="Shape 27"/>
          <p:cNvSpPr/>
          <p:nvPr/>
        </p:nvSpPr>
        <p:spPr>
          <a:xfrm>
            <a:off x="804672" y="4617720"/>
            <a:ext cx="4663440" cy="54864"/>
          </a:xfrm>
          <a:prstGeom prst="rect">
            <a:avLst/>
          </a:prstGeom>
          <a:solidFill>
            <a:srgbClr val="16A34A"/>
          </a:solidFill>
          <a:ln w="12700">
            <a:solidFill>
              <a:srgbClr val="16A34A">
                <a:alpha val="0"/>
              </a:srgbClr>
            </a:solidFill>
            <a:prstDash val="solid"/>
          </a:ln>
        </p:spPr>
        <p:txBody>
          <a:bodyPr/>
          <a:lstStyle/>
          <a:p>
            <a:endParaRPr lang="en-US"/>
          </a:p>
        </p:txBody>
      </p:sp>
      <p:sp>
        <p:nvSpPr>
          <p:cNvPr id="30" name="Text 28"/>
          <p:cNvSpPr/>
          <p:nvPr/>
        </p:nvSpPr>
        <p:spPr>
          <a:xfrm>
            <a:off x="804672" y="4709160"/>
            <a:ext cx="4663440" cy="219456"/>
          </a:xfrm>
          <a:prstGeom prst="rect">
            <a:avLst/>
          </a:prstGeom>
          <a:noFill/>
          <a:ln/>
        </p:spPr>
        <p:txBody>
          <a:bodyPr wrap="square" lIns="0" tIns="0" rIns="0" bIns="0" rtlCol="0" anchor="ctr">
            <a:normAutofit/>
          </a:bodyPr>
          <a:lstStyle/>
          <a:p>
            <a:pPr marL="0" indent="0">
              <a:buNone/>
            </a:pPr>
            <a:r>
              <a:rPr lang="en-US" sz="1000" b="1" dirty="0">
                <a:solidFill>
                  <a:srgbClr val="16A34A"/>
                </a:solidFill>
              </a:rPr>
              <a:t>SUCCESS CRITERIA</a:t>
            </a:r>
            <a:endParaRPr lang="en-US" sz="1000" dirty="0"/>
          </a:p>
        </p:txBody>
      </p:sp>
      <p:sp>
        <p:nvSpPr>
          <p:cNvPr id="31" name="Text 29"/>
          <p:cNvSpPr/>
          <p:nvPr/>
        </p:nvSpPr>
        <p:spPr>
          <a:xfrm>
            <a:off x="896112" y="5020056"/>
            <a:ext cx="146304" cy="182880"/>
          </a:xfrm>
          <a:prstGeom prst="rect">
            <a:avLst/>
          </a:prstGeom>
          <a:noFill/>
          <a:ln/>
        </p:spPr>
        <p:txBody>
          <a:bodyPr wrap="square" lIns="0" tIns="0" rIns="0" bIns="0" rtlCol="0" anchor="ctr"/>
          <a:lstStyle/>
          <a:p>
            <a:pPr marL="0" indent="0">
              <a:buNone/>
            </a:pPr>
            <a:r>
              <a:rPr lang="en-US" sz="1030" b="1" dirty="0">
                <a:solidFill>
                  <a:srgbClr val="16A34A"/>
                </a:solidFill>
              </a:rPr>
              <a:t>•</a:t>
            </a:r>
            <a:endParaRPr lang="en-US" sz="1030" dirty="0"/>
          </a:p>
        </p:txBody>
      </p:sp>
      <p:sp>
        <p:nvSpPr>
          <p:cNvPr id="32" name="Text 30"/>
          <p:cNvSpPr/>
          <p:nvPr/>
        </p:nvSpPr>
        <p:spPr>
          <a:xfrm>
            <a:off x="1097280" y="5010912"/>
            <a:ext cx="4434840" cy="237744"/>
          </a:xfrm>
          <a:prstGeom prst="rect">
            <a:avLst/>
          </a:prstGeom>
          <a:noFill/>
          <a:ln/>
        </p:spPr>
        <p:txBody>
          <a:bodyPr wrap="square" lIns="0" tIns="0" rIns="0" bIns="0" rtlCol="0" anchor="ctr">
            <a:normAutofit/>
          </a:bodyPr>
          <a:lstStyle/>
          <a:p>
            <a:pPr marL="0" indent="0">
              <a:buNone/>
            </a:pPr>
            <a:r>
              <a:rPr lang="en-US" sz="1030" dirty="0">
                <a:solidFill>
                  <a:srgbClr val="111827"/>
                </a:solidFill>
              </a:rPr>
              <a:t>Commentary facts reconcile to source data</a:t>
            </a:r>
            <a:endParaRPr lang="en-US" sz="1030" dirty="0"/>
          </a:p>
        </p:txBody>
      </p:sp>
      <p:sp>
        <p:nvSpPr>
          <p:cNvPr id="33" name="Text 31"/>
          <p:cNvSpPr/>
          <p:nvPr/>
        </p:nvSpPr>
        <p:spPr>
          <a:xfrm>
            <a:off x="896112" y="5349240"/>
            <a:ext cx="146304" cy="182880"/>
          </a:xfrm>
          <a:prstGeom prst="rect">
            <a:avLst/>
          </a:prstGeom>
          <a:noFill/>
          <a:ln/>
        </p:spPr>
        <p:txBody>
          <a:bodyPr wrap="square" lIns="0" tIns="0" rIns="0" bIns="0" rtlCol="0" anchor="ctr"/>
          <a:lstStyle/>
          <a:p>
            <a:pPr marL="0" indent="0">
              <a:buNone/>
            </a:pPr>
            <a:r>
              <a:rPr lang="en-US" sz="1030" b="1" dirty="0">
                <a:solidFill>
                  <a:srgbClr val="16A34A"/>
                </a:solidFill>
              </a:rPr>
              <a:t>•</a:t>
            </a:r>
            <a:endParaRPr lang="en-US" sz="1030" dirty="0"/>
          </a:p>
        </p:txBody>
      </p:sp>
      <p:sp>
        <p:nvSpPr>
          <p:cNvPr id="34" name="Text 32"/>
          <p:cNvSpPr/>
          <p:nvPr/>
        </p:nvSpPr>
        <p:spPr>
          <a:xfrm>
            <a:off x="1097280" y="5340096"/>
            <a:ext cx="4434840" cy="237744"/>
          </a:xfrm>
          <a:prstGeom prst="rect">
            <a:avLst/>
          </a:prstGeom>
          <a:noFill/>
          <a:ln/>
        </p:spPr>
        <p:txBody>
          <a:bodyPr wrap="square" lIns="0" tIns="0" rIns="0" bIns="0" rtlCol="0" anchor="ctr">
            <a:normAutofit/>
          </a:bodyPr>
          <a:lstStyle/>
          <a:p>
            <a:pPr marL="0" indent="0">
              <a:buNone/>
            </a:pPr>
            <a:r>
              <a:rPr lang="en-US" sz="1030" dirty="0">
                <a:solidFill>
                  <a:srgbClr val="111827"/>
                </a:solidFill>
              </a:rPr>
              <a:t>Every numeric claim has evidence lineage</a:t>
            </a:r>
            <a:endParaRPr lang="en-US" sz="1030" dirty="0"/>
          </a:p>
        </p:txBody>
      </p:sp>
      <p:sp>
        <p:nvSpPr>
          <p:cNvPr id="35" name="Text 33"/>
          <p:cNvSpPr/>
          <p:nvPr/>
        </p:nvSpPr>
        <p:spPr>
          <a:xfrm>
            <a:off x="896112" y="5678424"/>
            <a:ext cx="146304" cy="182880"/>
          </a:xfrm>
          <a:prstGeom prst="rect">
            <a:avLst/>
          </a:prstGeom>
          <a:noFill/>
          <a:ln/>
        </p:spPr>
        <p:txBody>
          <a:bodyPr wrap="square" lIns="0" tIns="0" rIns="0" bIns="0" rtlCol="0" anchor="ctr"/>
          <a:lstStyle/>
          <a:p>
            <a:pPr marL="0" indent="0">
              <a:buNone/>
            </a:pPr>
            <a:r>
              <a:rPr lang="en-US" sz="1030" b="1" dirty="0">
                <a:solidFill>
                  <a:srgbClr val="16A34A"/>
                </a:solidFill>
              </a:rPr>
              <a:t>•</a:t>
            </a:r>
            <a:endParaRPr lang="en-US" sz="1030" dirty="0"/>
          </a:p>
        </p:txBody>
      </p:sp>
      <p:sp>
        <p:nvSpPr>
          <p:cNvPr id="36" name="Text 34"/>
          <p:cNvSpPr/>
          <p:nvPr/>
        </p:nvSpPr>
        <p:spPr>
          <a:xfrm>
            <a:off x="1097280" y="5669280"/>
            <a:ext cx="4434840" cy="237744"/>
          </a:xfrm>
          <a:prstGeom prst="rect">
            <a:avLst/>
          </a:prstGeom>
          <a:noFill/>
          <a:ln/>
        </p:spPr>
        <p:txBody>
          <a:bodyPr wrap="square" lIns="0" tIns="0" rIns="0" bIns="0" rtlCol="0" anchor="ctr">
            <a:normAutofit/>
          </a:bodyPr>
          <a:lstStyle/>
          <a:p>
            <a:pPr marL="0" indent="0">
              <a:buNone/>
            </a:pPr>
            <a:r>
              <a:rPr lang="en-US" sz="1030" dirty="0">
                <a:solidFill>
                  <a:srgbClr val="111827"/>
                </a:solidFill>
              </a:rPr>
              <a:t>Human approval required before publish</a:t>
            </a:r>
            <a:endParaRPr lang="en-US" sz="1030" dirty="0"/>
          </a:p>
        </p:txBody>
      </p:sp>
      <p:sp>
        <p:nvSpPr>
          <p:cNvPr id="37" name="Shape 35"/>
          <p:cNvSpPr/>
          <p:nvPr/>
        </p:nvSpPr>
        <p:spPr>
          <a:xfrm>
            <a:off x="6537960" y="4617720"/>
            <a:ext cx="4572000" cy="54864"/>
          </a:xfrm>
          <a:prstGeom prst="rect">
            <a:avLst/>
          </a:prstGeom>
          <a:solidFill>
            <a:srgbClr val="2563EB"/>
          </a:solidFill>
          <a:ln w="12700">
            <a:solidFill>
              <a:srgbClr val="2563EB">
                <a:alpha val="0"/>
              </a:srgbClr>
            </a:solidFill>
            <a:prstDash val="solid"/>
          </a:ln>
        </p:spPr>
        <p:txBody>
          <a:bodyPr/>
          <a:lstStyle/>
          <a:p>
            <a:endParaRPr lang="en-US"/>
          </a:p>
        </p:txBody>
      </p:sp>
      <p:sp>
        <p:nvSpPr>
          <p:cNvPr id="38" name="Text 36"/>
          <p:cNvSpPr/>
          <p:nvPr/>
        </p:nvSpPr>
        <p:spPr>
          <a:xfrm>
            <a:off x="6537960" y="4709160"/>
            <a:ext cx="4572000" cy="219456"/>
          </a:xfrm>
          <a:prstGeom prst="rect">
            <a:avLst/>
          </a:prstGeom>
          <a:noFill/>
          <a:ln/>
        </p:spPr>
        <p:txBody>
          <a:bodyPr wrap="square" lIns="0" tIns="0" rIns="0" bIns="0" rtlCol="0" anchor="ctr">
            <a:normAutofit/>
          </a:bodyPr>
          <a:lstStyle/>
          <a:p>
            <a:pPr marL="0" indent="0">
              <a:buNone/>
            </a:pPr>
            <a:r>
              <a:rPr lang="en-US" sz="1000" b="1" dirty="0">
                <a:solidFill>
                  <a:srgbClr val="2563EB"/>
                </a:solidFill>
              </a:rPr>
              <a:t>WHY THIS PILOT</a:t>
            </a:r>
            <a:endParaRPr lang="en-US" sz="1000" dirty="0"/>
          </a:p>
        </p:txBody>
      </p:sp>
      <p:sp>
        <p:nvSpPr>
          <p:cNvPr id="39" name="Text 37"/>
          <p:cNvSpPr/>
          <p:nvPr/>
        </p:nvSpPr>
        <p:spPr>
          <a:xfrm>
            <a:off x="6629400" y="5020056"/>
            <a:ext cx="146304" cy="182880"/>
          </a:xfrm>
          <a:prstGeom prst="rect">
            <a:avLst/>
          </a:prstGeom>
          <a:noFill/>
          <a:ln/>
        </p:spPr>
        <p:txBody>
          <a:bodyPr wrap="square" lIns="0" tIns="0" rIns="0" bIns="0" rtlCol="0" anchor="ctr"/>
          <a:lstStyle/>
          <a:p>
            <a:pPr marL="0" indent="0">
              <a:buNone/>
            </a:pPr>
            <a:r>
              <a:rPr lang="en-US" sz="1030" b="1" dirty="0">
                <a:solidFill>
                  <a:srgbClr val="2563EB"/>
                </a:solidFill>
              </a:rPr>
              <a:t>•</a:t>
            </a:r>
            <a:endParaRPr lang="en-US" sz="1030" dirty="0"/>
          </a:p>
        </p:txBody>
      </p:sp>
      <p:sp>
        <p:nvSpPr>
          <p:cNvPr id="40" name="Text 38"/>
          <p:cNvSpPr/>
          <p:nvPr/>
        </p:nvSpPr>
        <p:spPr>
          <a:xfrm>
            <a:off x="6830568" y="5010912"/>
            <a:ext cx="4389120" cy="237744"/>
          </a:xfrm>
          <a:prstGeom prst="rect">
            <a:avLst/>
          </a:prstGeom>
          <a:noFill/>
          <a:ln/>
        </p:spPr>
        <p:txBody>
          <a:bodyPr wrap="square" lIns="0" tIns="0" rIns="0" bIns="0" rtlCol="0" anchor="ctr">
            <a:normAutofit/>
          </a:bodyPr>
          <a:lstStyle/>
          <a:p>
            <a:pPr marL="0" indent="0">
              <a:buNone/>
            </a:pPr>
            <a:r>
              <a:rPr lang="en-US" sz="1030" dirty="0">
                <a:solidFill>
                  <a:srgbClr val="111827"/>
                </a:solidFill>
              </a:rPr>
              <a:t>Directly aligned to EDGE current use cases</a:t>
            </a:r>
            <a:endParaRPr lang="en-US" sz="1030" dirty="0"/>
          </a:p>
        </p:txBody>
      </p:sp>
      <p:sp>
        <p:nvSpPr>
          <p:cNvPr id="41" name="Text 39"/>
          <p:cNvSpPr/>
          <p:nvPr/>
        </p:nvSpPr>
        <p:spPr>
          <a:xfrm>
            <a:off x="6629400" y="5349240"/>
            <a:ext cx="146304" cy="182880"/>
          </a:xfrm>
          <a:prstGeom prst="rect">
            <a:avLst/>
          </a:prstGeom>
          <a:noFill/>
          <a:ln/>
        </p:spPr>
        <p:txBody>
          <a:bodyPr wrap="square" lIns="0" tIns="0" rIns="0" bIns="0" rtlCol="0" anchor="ctr"/>
          <a:lstStyle/>
          <a:p>
            <a:pPr marL="0" indent="0">
              <a:buNone/>
            </a:pPr>
            <a:r>
              <a:rPr lang="en-US" sz="1030" b="1" dirty="0">
                <a:solidFill>
                  <a:srgbClr val="2563EB"/>
                </a:solidFill>
              </a:rPr>
              <a:t>•</a:t>
            </a:r>
            <a:endParaRPr lang="en-US" sz="1030" dirty="0"/>
          </a:p>
        </p:txBody>
      </p:sp>
      <p:sp>
        <p:nvSpPr>
          <p:cNvPr id="42" name="Text 40"/>
          <p:cNvSpPr/>
          <p:nvPr/>
        </p:nvSpPr>
        <p:spPr>
          <a:xfrm>
            <a:off x="6830568" y="5340096"/>
            <a:ext cx="4389120" cy="237744"/>
          </a:xfrm>
          <a:prstGeom prst="rect">
            <a:avLst/>
          </a:prstGeom>
          <a:noFill/>
          <a:ln/>
        </p:spPr>
        <p:txBody>
          <a:bodyPr wrap="square" lIns="0" tIns="0" rIns="0" bIns="0" rtlCol="0" anchor="ctr">
            <a:normAutofit/>
          </a:bodyPr>
          <a:lstStyle/>
          <a:p>
            <a:pPr marL="0" indent="0">
              <a:buNone/>
            </a:pPr>
            <a:r>
              <a:rPr lang="en-US" sz="1030" dirty="0">
                <a:solidFill>
                  <a:srgbClr val="111827"/>
                </a:solidFill>
              </a:rPr>
              <a:t>Good test of read tools, validation and HIL</a:t>
            </a:r>
            <a:endParaRPr lang="en-US" sz="1030" dirty="0"/>
          </a:p>
        </p:txBody>
      </p:sp>
      <p:sp>
        <p:nvSpPr>
          <p:cNvPr id="43" name="Text 41"/>
          <p:cNvSpPr/>
          <p:nvPr/>
        </p:nvSpPr>
        <p:spPr>
          <a:xfrm>
            <a:off x="6629400" y="5678424"/>
            <a:ext cx="146304" cy="182880"/>
          </a:xfrm>
          <a:prstGeom prst="rect">
            <a:avLst/>
          </a:prstGeom>
          <a:noFill/>
          <a:ln/>
        </p:spPr>
        <p:txBody>
          <a:bodyPr wrap="square" lIns="0" tIns="0" rIns="0" bIns="0" rtlCol="0" anchor="ctr"/>
          <a:lstStyle/>
          <a:p>
            <a:pPr marL="0" indent="0">
              <a:buNone/>
            </a:pPr>
            <a:r>
              <a:rPr lang="en-US" sz="1030" b="1" dirty="0">
                <a:solidFill>
                  <a:srgbClr val="2563EB"/>
                </a:solidFill>
              </a:rPr>
              <a:t>•</a:t>
            </a:r>
            <a:endParaRPr lang="en-US" sz="1030" dirty="0"/>
          </a:p>
        </p:txBody>
      </p:sp>
      <p:sp>
        <p:nvSpPr>
          <p:cNvPr id="44" name="Text 42"/>
          <p:cNvSpPr/>
          <p:nvPr/>
        </p:nvSpPr>
        <p:spPr>
          <a:xfrm>
            <a:off x="6830568" y="5669280"/>
            <a:ext cx="4389120" cy="237744"/>
          </a:xfrm>
          <a:prstGeom prst="rect">
            <a:avLst/>
          </a:prstGeom>
          <a:noFill/>
          <a:ln/>
        </p:spPr>
        <p:txBody>
          <a:bodyPr wrap="square" lIns="0" tIns="0" rIns="0" bIns="0" rtlCol="0" anchor="ctr">
            <a:normAutofit/>
          </a:bodyPr>
          <a:lstStyle/>
          <a:p>
            <a:pPr marL="0" indent="0">
              <a:buNone/>
            </a:pPr>
            <a:r>
              <a:rPr lang="en-US" sz="1030" dirty="0">
                <a:solidFill>
                  <a:srgbClr val="111827"/>
                </a:solidFill>
              </a:rPr>
              <a:t>Low blast radius before write-tool expansion</a:t>
            </a:r>
            <a:endParaRPr lang="en-US" sz="1030" dirty="0"/>
          </a:p>
        </p:txBody>
      </p:sp>
      <p:sp>
        <p:nvSpPr>
          <p:cNvPr id="45" name="Text 43"/>
          <p:cNvSpPr/>
          <p:nvPr/>
        </p:nvSpPr>
        <p:spPr>
          <a:xfrm>
            <a:off x="502920" y="6473952"/>
            <a:ext cx="2926080" cy="182880"/>
          </a:xfrm>
          <a:prstGeom prst="rect">
            <a:avLst/>
          </a:prstGeom>
          <a:noFill/>
          <a:ln/>
        </p:spPr>
        <p:txBody>
          <a:bodyPr wrap="square" lIns="0" tIns="0" rIns="0" bIns="0" rtlCol="0" anchor="ctr"/>
          <a:lstStyle/>
          <a:p>
            <a:pPr marL="0" indent="0">
              <a:buNone/>
            </a:pPr>
            <a:r>
              <a:rPr lang="en-US" sz="780" dirty="0">
                <a:solidFill>
                  <a:srgbClr val="64748B"/>
                </a:solidFill>
              </a:rPr>
              <a:t>EDGE MCP Strategy — Tranche 3</a:t>
            </a:r>
            <a:endParaRPr lang="en-US" sz="780" dirty="0"/>
          </a:p>
        </p:txBody>
      </p:sp>
      <p:sp>
        <p:nvSpPr>
          <p:cNvPr id="46" name="Text 44"/>
          <p:cNvSpPr/>
          <p:nvPr/>
        </p:nvSpPr>
        <p:spPr>
          <a:xfrm>
            <a:off x="11338560" y="6446520"/>
            <a:ext cx="347472" cy="219456"/>
          </a:xfrm>
          <a:prstGeom prst="rect">
            <a:avLst/>
          </a:prstGeom>
          <a:noFill/>
          <a:ln/>
        </p:spPr>
        <p:txBody>
          <a:bodyPr wrap="square" lIns="0" tIns="0" rIns="0" bIns="0" rtlCol="0" anchor="ctr"/>
          <a:lstStyle/>
          <a:p>
            <a:pPr marL="0" indent="0" algn="r">
              <a:buNone/>
            </a:pPr>
            <a:r>
              <a:rPr lang="en-US" sz="850" dirty="0">
                <a:solidFill>
                  <a:srgbClr val="64748B"/>
                </a:solidFill>
              </a:rPr>
              <a:t>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txBody>
          <a:bodyPr/>
          <a:lstStyle/>
          <a:p>
            <a:endParaRPr lang="en-US"/>
          </a:p>
        </p:txBody>
      </p:sp>
      <p:sp>
        <p:nvSpPr>
          <p:cNvPr id="3" name="Shape 1"/>
          <p:cNvSpPr/>
          <p:nvPr/>
        </p:nvSpPr>
        <p:spPr>
          <a:xfrm>
            <a:off x="0" y="0"/>
            <a:ext cx="12191695" cy="100584"/>
          </a:xfrm>
          <a:prstGeom prst="rect">
            <a:avLst/>
          </a:prstGeom>
          <a:solidFill>
            <a:srgbClr val="2563EB"/>
          </a:solidFill>
          <a:ln w="12700">
            <a:solidFill>
              <a:srgbClr val="2563EB">
                <a:alpha val="0"/>
              </a:srgbClr>
            </a:solidFill>
            <a:prstDash val="solid"/>
          </a:ln>
        </p:spPr>
        <p:txBody>
          <a:bodyPr/>
          <a:lstStyle/>
          <a:p>
            <a:endParaRPr lang="en-US"/>
          </a:p>
        </p:txBody>
      </p:sp>
      <p:sp>
        <p:nvSpPr>
          <p:cNvPr id="4" name="Text 2"/>
          <p:cNvSpPr/>
          <p:nvPr/>
        </p:nvSpPr>
        <p:spPr>
          <a:xfrm>
            <a:off x="502920" y="310896"/>
            <a:ext cx="9966960" cy="411480"/>
          </a:xfrm>
          <a:prstGeom prst="rect">
            <a:avLst/>
          </a:prstGeom>
          <a:noFill/>
          <a:ln/>
        </p:spPr>
        <p:txBody>
          <a:bodyPr wrap="square" lIns="0" tIns="0" rIns="0" bIns="0" rtlCol="0" anchor="ctr">
            <a:normAutofit/>
          </a:bodyPr>
          <a:lstStyle/>
          <a:p>
            <a:pPr marL="0" indent="0">
              <a:buNone/>
            </a:pPr>
            <a:r>
              <a:rPr lang="en-US" sz="2400" b="1" dirty="0">
                <a:solidFill>
                  <a:srgbClr val="0B1F33"/>
                </a:solidFill>
                <a:latin typeface="Aptos Display" pitchFamily="34" charset="0"/>
                <a:ea typeface="Aptos Display" pitchFamily="34" charset="-122"/>
                <a:cs typeface="Aptos Display" pitchFamily="34" charset="-120"/>
              </a:rPr>
              <a:t>Pilot 2: QMA Email Routing &amp; EDGE Assist</a:t>
            </a:r>
            <a:endParaRPr lang="en-US" sz="2400" dirty="0"/>
          </a:p>
        </p:txBody>
      </p:sp>
      <p:sp>
        <p:nvSpPr>
          <p:cNvPr id="5" name="Text 3"/>
          <p:cNvSpPr/>
          <p:nvPr/>
        </p:nvSpPr>
        <p:spPr>
          <a:xfrm>
            <a:off x="521208" y="749808"/>
            <a:ext cx="10789920" cy="320040"/>
          </a:xfrm>
          <a:prstGeom prst="rect">
            <a:avLst/>
          </a:prstGeom>
          <a:noFill/>
          <a:ln/>
        </p:spPr>
        <p:txBody>
          <a:bodyPr wrap="square" lIns="0" tIns="0" rIns="0" bIns="0" rtlCol="0" anchor="ctr">
            <a:normAutofit/>
          </a:bodyPr>
          <a:lstStyle/>
          <a:p>
            <a:pPr marL="0" indent="0">
              <a:buNone/>
            </a:pPr>
            <a:r>
              <a:rPr lang="en-US" sz="1050" dirty="0">
                <a:solidFill>
                  <a:srgbClr val="64748B"/>
                </a:solidFill>
              </a:rPr>
              <a:t>Use MCP to connect classification, enterprise context and workflow actions without turning email handling into ad hoc scripts.</a:t>
            </a:r>
            <a:endParaRPr lang="en-US" sz="1050" dirty="0"/>
          </a:p>
        </p:txBody>
      </p:sp>
      <p:sp>
        <p:nvSpPr>
          <p:cNvPr id="6" name="Shape 4"/>
          <p:cNvSpPr/>
          <p:nvPr/>
        </p:nvSpPr>
        <p:spPr>
          <a:xfrm>
            <a:off x="594360" y="2084832"/>
            <a:ext cx="1993392" cy="1591056"/>
          </a:xfrm>
          <a:prstGeom prst="roundRect">
            <a:avLst>
              <a:gd name="adj" fmla="val 4598"/>
            </a:avLst>
          </a:prstGeom>
          <a:solidFill>
            <a:srgbClr val="FFFFFF"/>
          </a:solidFill>
          <a:ln w="12700">
            <a:solidFill>
              <a:srgbClr val="CBD5E1"/>
            </a:solidFill>
            <a:prstDash val="solid"/>
          </a:ln>
        </p:spPr>
        <p:txBody>
          <a:bodyPr/>
          <a:lstStyle/>
          <a:p>
            <a:endParaRPr lang="en-US"/>
          </a:p>
        </p:txBody>
      </p:sp>
      <p:sp>
        <p:nvSpPr>
          <p:cNvPr id="7" name="Shape 5"/>
          <p:cNvSpPr/>
          <p:nvPr/>
        </p:nvSpPr>
        <p:spPr>
          <a:xfrm>
            <a:off x="594360" y="2084832"/>
            <a:ext cx="1993392" cy="182880"/>
          </a:xfrm>
          <a:prstGeom prst="rect">
            <a:avLst/>
          </a:prstGeom>
          <a:solidFill>
            <a:srgbClr val="2563EB"/>
          </a:solidFill>
          <a:ln w="12700">
            <a:solidFill>
              <a:srgbClr val="2563EB">
                <a:alpha val="0"/>
              </a:srgbClr>
            </a:solidFill>
            <a:prstDash val="solid"/>
          </a:ln>
        </p:spPr>
        <p:txBody>
          <a:bodyPr/>
          <a:lstStyle/>
          <a:p>
            <a:endParaRPr lang="en-US"/>
          </a:p>
        </p:txBody>
      </p:sp>
      <p:sp>
        <p:nvSpPr>
          <p:cNvPr id="8" name="Text 6"/>
          <p:cNvSpPr/>
          <p:nvPr/>
        </p:nvSpPr>
        <p:spPr>
          <a:xfrm>
            <a:off x="740664" y="2615184"/>
            <a:ext cx="1700784" cy="128016"/>
          </a:xfrm>
          <a:prstGeom prst="rect">
            <a:avLst/>
          </a:prstGeom>
          <a:noFill/>
          <a:ln/>
        </p:spPr>
        <p:txBody>
          <a:bodyPr wrap="square" lIns="508" tIns="508" rIns="508" bIns="508" rtlCol="0" anchor="ctr">
            <a:normAutofit/>
          </a:bodyPr>
          <a:lstStyle/>
          <a:p>
            <a:pPr marL="0" indent="0" algn="ctr">
              <a:buNone/>
            </a:pPr>
            <a:r>
              <a:rPr lang="en-US" sz="1000" b="1" dirty="0">
                <a:solidFill>
                  <a:srgbClr val="2563EB"/>
                </a:solidFill>
              </a:rPr>
              <a:t>Email / Kafka</a:t>
            </a:r>
            <a:endParaRPr lang="en-US" sz="1000" dirty="0"/>
          </a:p>
        </p:txBody>
      </p:sp>
      <p:sp>
        <p:nvSpPr>
          <p:cNvPr id="9" name="Text 7"/>
          <p:cNvSpPr/>
          <p:nvPr/>
        </p:nvSpPr>
        <p:spPr>
          <a:xfrm>
            <a:off x="758952" y="2953512"/>
            <a:ext cx="1664208" cy="146304"/>
          </a:xfrm>
          <a:prstGeom prst="rect">
            <a:avLst/>
          </a:prstGeom>
          <a:noFill/>
          <a:ln/>
        </p:spPr>
        <p:txBody>
          <a:bodyPr wrap="square" lIns="0" tIns="0" rIns="0" bIns="0" rtlCol="0" anchor="ctr">
            <a:normAutofit/>
          </a:bodyPr>
          <a:lstStyle/>
          <a:p>
            <a:pPr marL="0" indent="0" algn="ctr">
              <a:buNone/>
            </a:pPr>
            <a:r>
              <a:rPr lang="en-US" sz="770" dirty="0">
                <a:solidFill>
                  <a:srgbClr val="64748B"/>
                </a:solidFill>
              </a:rPr>
              <a:t>incoming message + attachments</a:t>
            </a:r>
            <a:endParaRPr lang="en-US" sz="770" dirty="0"/>
          </a:p>
        </p:txBody>
      </p:sp>
      <p:sp>
        <p:nvSpPr>
          <p:cNvPr id="10" name="Shape 8"/>
          <p:cNvSpPr/>
          <p:nvPr/>
        </p:nvSpPr>
        <p:spPr>
          <a:xfrm>
            <a:off x="2624328" y="2880360"/>
            <a:ext cx="228600" cy="0"/>
          </a:xfrm>
          <a:prstGeom prst="line">
            <a:avLst/>
          </a:prstGeom>
          <a:noFill/>
          <a:ln w="11430">
            <a:solidFill>
              <a:srgbClr val="64748B"/>
            </a:solidFill>
            <a:prstDash val="solid"/>
            <a:headEnd type="none"/>
            <a:tailEnd type="triangle"/>
          </a:ln>
        </p:spPr>
        <p:txBody>
          <a:bodyPr/>
          <a:lstStyle/>
          <a:p>
            <a:endParaRPr lang="en-US"/>
          </a:p>
        </p:txBody>
      </p:sp>
      <p:sp>
        <p:nvSpPr>
          <p:cNvPr id="11" name="Shape 9"/>
          <p:cNvSpPr/>
          <p:nvPr/>
        </p:nvSpPr>
        <p:spPr>
          <a:xfrm>
            <a:off x="2898648" y="2084832"/>
            <a:ext cx="1993392" cy="1591056"/>
          </a:xfrm>
          <a:prstGeom prst="roundRect">
            <a:avLst>
              <a:gd name="adj" fmla="val 4598"/>
            </a:avLst>
          </a:prstGeom>
          <a:solidFill>
            <a:srgbClr val="FFFFFF"/>
          </a:solidFill>
          <a:ln w="12700">
            <a:solidFill>
              <a:srgbClr val="CBD5E1"/>
            </a:solidFill>
            <a:prstDash val="solid"/>
          </a:ln>
        </p:spPr>
        <p:txBody>
          <a:bodyPr/>
          <a:lstStyle/>
          <a:p>
            <a:endParaRPr lang="en-US"/>
          </a:p>
        </p:txBody>
      </p:sp>
      <p:sp>
        <p:nvSpPr>
          <p:cNvPr id="12" name="Shape 10"/>
          <p:cNvSpPr/>
          <p:nvPr/>
        </p:nvSpPr>
        <p:spPr>
          <a:xfrm>
            <a:off x="2898648" y="2084832"/>
            <a:ext cx="1993392" cy="182880"/>
          </a:xfrm>
          <a:prstGeom prst="rect">
            <a:avLst/>
          </a:prstGeom>
          <a:solidFill>
            <a:srgbClr val="0F766E"/>
          </a:solidFill>
          <a:ln w="12700">
            <a:solidFill>
              <a:srgbClr val="0F766E">
                <a:alpha val="0"/>
              </a:srgbClr>
            </a:solidFill>
            <a:prstDash val="solid"/>
          </a:ln>
        </p:spPr>
        <p:txBody>
          <a:bodyPr/>
          <a:lstStyle/>
          <a:p>
            <a:endParaRPr lang="en-US"/>
          </a:p>
        </p:txBody>
      </p:sp>
      <p:sp>
        <p:nvSpPr>
          <p:cNvPr id="13" name="Text 11"/>
          <p:cNvSpPr/>
          <p:nvPr/>
        </p:nvSpPr>
        <p:spPr>
          <a:xfrm>
            <a:off x="3044952" y="2615184"/>
            <a:ext cx="1700784" cy="128016"/>
          </a:xfrm>
          <a:prstGeom prst="rect">
            <a:avLst/>
          </a:prstGeom>
          <a:noFill/>
          <a:ln/>
        </p:spPr>
        <p:txBody>
          <a:bodyPr wrap="square" lIns="508" tIns="508" rIns="508" bIns="508" rtlCol="0" anchor="ctr">
            <a:normAutofit/>
          </a:bodyPr>
          <a:lstStyle/>
          <a:p>
            <a:pPr marL="0" indent="0" algn="ctr">
              <a:buNone/>
            </a:pPr>
            <a:r>
              <a:rPr lang="en-US" sz="1000" b="1" dirty="0">
                <a:solidFill>
                  <a:srgbClr val="0F766E"/>
                </a:solidFill>
              </a:rPr>
              <a:t>QMA Classifier</a:t>
            </a:r>
            <a:endParaRPr lang="en-US" sz="1000" dirty="0"/>
          </a:p>
        </p:txBody>
      </p:sp>
      <p:sp>
        <p:nvSpPr>
          <p:cNvPr id="14" name="Text 12"/>
          <p:cNvSpPr/>
          <p:nvPr/>
        </p:nvSpPr>
        <p:spPr>
          <a:xfrm>
            <a:off x="3063240" y="2953512"/>
            <a:ext cx="1664208" cy="146304"/>
          </a:xfrm>
          <a:prstGeom prst="rect">
            <a:avLst/>
          </a:prstGeom>
          <a:noFill/>
          <a:ln/>
        </p:spPr>
        <p:txBody>
          <a:bodyPr wrap="square" lIns="0" tIns="0" rIns="0" bIns="0" rtlCol="0" anchor="ctr">
            <a:normAutofit/>
          </a:bodyPr>
          <a:lstStyle/>
          <a:p>
            <a:pPr marL="0" indent="0" algn="ctr">
              <a:buNone/>
            </a:pPr>
            <a:r>
              <a:rPr lang="en-US" sz="770" dirty="0">
                <a:solidFill>
                  <a:srgbClr val="64748B"/>
                </a:solidFill>
              </a:rPr>
              <a:t>intent + priority + queue</a:t>
            </a:r>
            <a:endParaRPr lang="en-US" sz="770" dirty="0"/>
          </a:p>
        </p:txBody>
      </p:sp>
      <p:sp>
        <p:nvSpPr>
          <p:cNvPr id="15" name="Shape 13"/>
          <p:cNvSpPr/>
          <p:nvPr/>
        </p:nvSpPr>
        <p:spPr>
          <a:xfrm>
            <a:off x="4928616" y="2880360"/>
            <a:ext cx="228600" cy="0"/>
          </a:xfrm>
          <a:prstGeom prst="line">
            <a:avLst/>
          </a:prstGeom>
          <a:noFill/>
          <a:ln w="11430">
            <a:solidFill>
              <a:srgbClr val="64748B"/>
            </a:solidFill>
            <a:prstDash val="solid"/>
            <a:headEnd type="none"/>
            <a:tailEnd type="triangle"/>
          </a:ln>
        </p:spPr>
        <p:txBody>
          <a:bodyPr/>
          <a:lstStyle/>
          <a:p>
            <a:endParaRPr lang="en-US"/>
          </a:p>
        </p:txBody>
      </p:sp>
      <p:sp>
        <p:nvSpPr>
          <p:cNvPr id="16" name="Shape 14"/>
          <p:cNvSpPr/>
          <p:nvPr/>
        </p:nvSpPr>
        <p:spPr>
          <a:xfrm>
            <a:off x="5202936" y="2084832"/>
            <a:ext cx="1993392" cy="1591056"/>
          </a:xfrm>
          <a:prstGeom prst="roundRect">
            <a:avLst>
              <a:gd name="adj" fmla="val 4598"/>
            </a:avLst>
          </a:prstGeom>
          <a:solidFill>
            <a:srgbClr val="FFFFFF"/>
          </a:solidFill>
          <a:ln w="12700">
            <a:solidFill>
              <a:srgbClr val="CBD5E1"/>
            </a:solidFill>
            <a:prstDash val="solid"/>
          </a:ln>
        </p:spPr>
        <p:txBody>
          <a:bodyPr/>
          <a:lstStyle/>
          <a:p>
            <a:endParaRPr lang="en-US"/>
          </a:p>
        </p:txBody>
      </p:sp>
      <p:sp>
        <p:nvSpPr>
          <p:cNvPr id="17" name="Shape 15"/>
          <p:cNvSpPr/>
          <p:nvPr/>
        </p:nvSpPr>
        <p:spPr>
          <a:xfrm>
            <a:off x="5202936" y="2084832"/>
            <a:ext cx="1993392" cy="182880"/>
          </a:xfrm>
          <a:prstGeom prst="rect">
            <a:avLst/>
          </a:prstGeom>
          <a:solidFill>
            <a:srgbClr val="16A34A"/>
          </a:solidFill>
          <a:ln w="12700">
            <a:solidFill>
              <a:srgbClr val="16A34A">
                <a:alpha val="0"/>
              </a:srgbClr>
            </a:solidFill>
            <a:prstDash val="solid"/>
          </a:ln>
        </p:spPr>
        <p:txBody>
          <a:bodyPr/>
          <a:lstStyle/>
          <a:p>
            <a:endParaRPr lang="en-US"/>
          </a:p>
        </p:txBody>
      </p:sp>
      <p:sp>
        <p:nvSpPr>
          <p:cNvPr id="18" name="Text 16"/>
          <p:cNvSpPr/>
          <p:nvPr/>
        </p:nvSpPr>
        <p:spPr>
          <a:xfrm>
            <a:off x="5349240" y="2615184"/>
            <a:ext cx="1700784" cy="128016"/>
          </a:xfrm>
          <a:prstGeom prst="rect">
            <a:avLst/>
          </a:prstGeom>
          <a:noFill/>
          <a:ln/>
        </p:spPr>
        <p:txBody>
          <a:bodyPr wrap="square" lIns="508" tIns="508" rIns="508" bIns="508" rtlCol="0" anchor="ctr">
            <a:normAutofit/>
          </a:bodyPr>
          <a:lstStyle/>
          <a:p>
            <a:pPr marL="0" indent="0" algn="ctr">
              <a:buNone/>
            </a:pPr>
            <a:r>
              <a:rPr lang="en-US" sz="1000" b="1" dirty="0">
                <a:solidFill>
                  <a:srgbClr val="16A34A"/>
                </a:solidFill>
              </a:rPr>
              <a:t>MCP Context</a:t>
            </a:r>
            <a:endParaRPr lang="en-US" sz="1000" dirty="0"/>
          </a:p>
        </p:txBody>
      </p:sp>
      <p:sp>
        <p:nvSpPr>
          <p:cNvPr id="19" name="Text 17"/>
          <p:cNvSpPr/>
          <p:nvPr/>
        </p:nvSpPr>
        <p:spPr>
          <a:xfrm>
            <a:off x="5367528" y="2953512"/>
            <a:ext cx="1664208" cy="146304"/>
          </a:xfrm>
          <a:prstGeom prst="rect">
            <a:avLst/>
          </a:prstGeom>
          <a:noFill/>
          <a:ln/>
        </p:spPr>
        <p:txBody>
          <a:bodyPr wrap="square" lIns="0" tIns="0" rIns="0" bIns="0" rtlCol="0" anchor="ctr">
            <a:normAutofit/>
          </a:bodyPr>
          <a:lstStyle/>
          <a:p>
            <a:pPr marL="0" indent="0" algn="ctr">
              <a:buNone/>
            </a:pPr>
            <a:r>
              <a:rPr lang="en-US" sz="770" dirty="0">
                <a:solidFill>
                  <a:srgbClr val="64748B"/>
                </a:solidFill>
              </a:rPr>
              <a:t>reference + trade + account checks</a:t>
            </a:r>
            <a:endParaRPr lang="en-US" sz="770" dirty="0"/>
          </a:p>
        </p:txBody>
      </p:sp>
      <p:sp>
        <p:nvSpPr>
          <p:cNvPr id="20" name="Shape 18"/>
          <p:cNvSpPr/>
          <p:nvPr/>
        </p:nvSpPr>
        <p:spPr>
          <a:xfrm>
            <a:off x="7232904" y="2880360"/>
            <a:ext cx="228600" cy="0"/>
          </a:xfrm>
          <a:prstGeom prst="line">
            <a:avLst/>
          </a:prstGeom>
          <a:noFill/>
          <a:ln w="11430">
            <a:solidFill>
              <a:srgbClr val="64748B"/>
            </a:solidFill>
            <a:prstDash val="solid"/>
            <a:headEnd type="none"/>
            <a:tailEnd type="triangle"/>
          </a:ln>
        </p:spPr>
        <p:txBody>
          <a:bodyPr/>
          <a:lstStyle/>
          <a:p>
            <a:endParaRPr lang="en-US"/>
          </a:p>
        </p:txBody>
      </p:sp>
      <p:sp>
        <p:nvSpPr>
          <p:cNvPr id="21" name="Shape 19"/>
          <p:cNvSpPr/>
          <p:nvPr/>
        </p:nvSpPr>
        <p:spPr>
          <a:xfrm>
            <a:off x="7507224" y="2084832"/>
            <a:ext cx="1993392" cy="1591056"/>
          </a:xfrm>
          <a:prstGeom prst="roundRect">
            <a:avLst>
              <a:gd name="adj" fmla="val 4598"/>
            </a:avLst>
          </a:prstGeom>
          <a:solidFill>
            <a:srgbClr val="FFFFFF"/>
          </a:solidFill>
          <a:ln w="12700">
            <a:solidFill>
              <a:srgbClr val="CBD5E1"/>
            </a:solidFill>
            <a:prstDash val="solid"/>
          </a:ln>
        </p:spPr>
        <p:txBody>
          <a:bodyPr/>
          <a:lstStyle/>
          <a:p>
            <a:endParaRPr lang="en-US"/>
          </a:p>
        </p:txBody>
      </p:sp>
      <p:sp>
        <p:nvSpPr>
          <p:cNvPr id="22" name="Shape 20"/>
          <p:cNvSpPr/>
          <p:nvPr/>
        </p:nvSpPr>
        <p:spPr>
          <a:xfrm>
            <a:off x="7507224" y="2084832"/>
            <a:ext cx="1993392" cy="182880"/>
          </a:xfrm>
          <a:prstGeom prst="rect">
            <a:avLst/>
          </a:prstGeom>
          <a:solidFill>
            <a:srgbClr val="D97706"/>
          </a:solidFill>
          <a:ln w="12700">
            <a:solidFill>
              <a:srgbClr val="D97706">
                <a:alpha val="0"/>
              </a:srgbClr>
            </a:solidFill>
            <a:prstDash val="solid"/>
          </a:ln>
        </p:spPr>
        <p:txBody>
          <a:bodyPr/>
          <a:lstStyle/>
          <a:p>
            <a:endParaRPr lang="en-US"/>
          </a:p>
        </p:txBody>
      </p:sp>
      <p:sp>
        <p:nvSpPr>
          <p:cNvPr id="23" name="Text 21"/>
          <p:cNvSpPr/>
          <p:nvPr/>
        </p:nvSpPr>
        <p:spPr>
          <a:xfrm>
            <a:off x="7653528" y="2615184"/>
            <a:ext cx="1700784" cy="128016"/>
          </a:xfrm>
          <a:prstGeom prst="rect">
            <a:avLst/>
          </a:prstGeom>
          <a:noFill/>
          <a:ln/>
        </p:spPr>
        <p:txBody>
          <a:bodyPr wrap="square" lIns="508" tIns="508" rIns="508" bIns="508" rtlCol="0" anchor="ctr">
            <a:normAutofit/>
          </a:bodyPr>
          <a:lstStyle/>
          <a:p>
            <a:pPr marL="0" indent="0" algn="ctr">
              <a:buNone/>
            </a:pPr>
            <a:r>
              <a:rPr lang="en-US" sz="1000" b="1" dirty="0">
                <a:solidFill>
                  <a:srgbClr val="D97706"/>
                </a:solidFill>
              </a:rPr>
              <a:t>EDGE Assist</a:t>
            </a:r>
            <a:endParaRPr lang="en-US" sz="1000" dirty="0"/>
          </a:p>
        </p:txBody>
      </p:sp>
      <p:sp>
        <p:nvSpPr>
          <p:cNvPr id="24" name="Text 22"/>
          <p:cNvSpPr/>
          <p:nvPr/>
        </p:nvSpPr>
        <p:spPr>
          <a:xfrm>
            <a:off x="7671816" y="2953512"/>
            <a:ext cx="1664208" cy="146304"/>
          </a:xfrm>
          <a:prstGeom prst="rect">
            <a:avLst/>
          </a:prstGeom>
          <a:noFill/>
          <a:ln/>
        </p:spPr>
        <p:txBody>
          <a:bodyPr wrap="square" lIns="0" tIns="0" rIns="0" bIns="0" rtlCol="0" anchor="ctr">
            <a:normAutofit/>
          </a:bodyPr>
          <a:lstStyle/>
          <a:p>
            <a:pPr marL="0" indent="0" algn="ctr">
              <a:buNone/>
            </a:pPr>
            <a:r>
              <a:rPr lang="en-US" sz="770" dirty="0">
                <a:solidFill>
                  <a:srgbClr val="64748B"/>
                </a:solidFill>
              </a:rPr>
              <a:t>summary + recommended action</a:t>
            </a:r>
            <a:endParaRPr lang="en-US" sz="770" dirty="0"/>
          </a:p>
        </p:txBody>
      </p:sp>
      <p:sp>
        <p:nvSpPr>
          <p:cNvPr id="25" name="Shape 23"/>
          <p:cNvSpPr/>
          <p:nvPr/>
        </p:nvSpPr>
        <p:spPr>
          <a:xfrm>
            <a:off x="9537192" y="2880360"/>
            <a:ext cx="228600" cy="0"/>
          </a:xfrm>
          <a:prstGeom prst="line">
            <a:avLst/>
          </a:prstGeom>
          <a:noFill/>
          <a:ln w="11430">
            <a:solidFill>
              <a:srgbClr val="64748B"/>
            </a:solidFill>
            <a:prstDash val="solid"/>
            <a:headEnd type="none"/>
            <a:tailEnd type="triangle"/>
          </a:ln>
        </p:spPr>
        <p:txBody>
          <a:bodyPr/>
          <a:lstStyle/>
          <a:p>
            <a:endParaRPr lang="en-US"/>
          </a:p>
        </p:txBody>
      </p:sp>
      <p:sp>
        <p:nvSpPr>
          <p:cNvPr id="26" name="Shape 24"/>
          <p:cNvSpPr/>
          <p:nvPr/>
        </p:nvSpPr>
        <p:spPr>
          <a:xfrm>
            <a:off x="9811512" y="2084832"/>
            <a:ext cx="1993392" cy="1591056"/>
          </a:xfrm>
          <a:prstGeom prst="roundRect">
            <a:avLst>
              <a:gd name="adj" fmla="val 4598"/>
            </a:avLst>
          </a:prstGeom>
          <a:solidFill>
            <a:srgbClr val="FFFFFF"/>
          </a:solidFill>
          <a:ln w="12700">
            <a:solidFill>
              <a:srgbClr val="CBD5E1"/>
            </a:solidFill>
            <a:prstDash val="solid"/>
          </a:ln>
        </p:spPr>
        <p:txBody>
          <a:bodyPr/>
          <a:lstStyle/>
          <a:p>
            <a:endParaRPr lang="en-US"/>
          </a:p>
        </p:txBody>
      </p:sp>
      <p:sp>
        <p:nvSpPr>
          <p:cNvPr id="27" name="Shape 25"/>
          <p:cNvSpPr/>
          <p:nvPr/>
        </p:nvSpPr>
        <p:spPr>
          <a:xfrm>
            <a:off x="9811512" y="2084832"/>
            <a:ext cx="1993392" cy="182880"/>
          </a:xfrm>
          <a:prstGeom prst="rect">
            <a:avLst/>
          </a:prstGeom>
          <a:solidFill>
            <a:srgbClr val="6D28D9"/>
          </a:solidFill>
          <a:ln w="12700">
            <a:solidFill>
              <a:srgbClr val="6D28D9">
                <a:alpha val="0"/>
              </a:srgbClr>
            </a:solidFill>
            <a:prstDash val="solid"/>
          </a:ln>
        </p:spPr>
        <p:txBody>
          <a:bodyPr/>
          <a:lstStyle/>
          <a:p>
            <a:endParaRPr lang="en-US"/>
          </a:p>
        </p:txBody>
      </p:sp>
      <p:sp>
        <p:nvSpPr>
          <p:cNvPr id="28" name="Text 26"/>
          <p:cNvSpPr/>
          <p:nvPr/>
        </p:nvSpPr>
        <p:spPr>
          <a:xfrm>
            <a:off x="9957816" y="2615184"/>
            <a:ext cx="1700784" cy="128016"/>
          </a:xfrm>
          <a:prstGeom prst="rect">
            <a:avLst/>
          </a:prstGeom>
          <a:noFill/>
          <a:ln/>
        </p:spPr>
        <p:txBody>
          <a:bodyPr wrap="square" lIns="508" tIns="508" rIns="508" bIns="508" rtlCol="0" anchor="ctr">
            <a:normAutofit/>
          </a:bodyPr>
          <a:lstStyle/>
          <a:p>
            <a:pPr marL="0" indent="0" algn="ctr">
              <a:buNone/>
            </a:pPr>
            <a:r>
              <a:rPr lang="en-US" sz="1000" b="1" dirty="0">
                <a:solidFill>
                  <a:srgbClr val="6D28D9"/>
                </a:solidFill>
              </a:rPr>
              <a:t>Workflow</a:t>
            </a:r>
            <a:endParaRPr lang="en-US" sz="1000" dirty="0"/>
          </a:p>
        </p:txBody>
      </p:sp>
      <p:sp>
        <p:nvSpPr>
          <p:cNvPr id="29" name="Text 27"/>
          <p:cNvSpPr/>
          <p:nvPr/>
        </p:nvSpPr>
        <p:spPr>
          <a:xfrm>
            <a:off x="9976104" y="2953512"/>
            <a:ext cx="1664208" cy="146304"/>
          </a:xfrm>
          <a:prstGeom prst="rect">
            <a:avLst/>
          </a:prstGeom>
          <a:noFill/>
          <a:ln/>
        </p:spPr>
        <p:txBody>
          <a:bodyPr wrap="square" lIns="0" tIns="0" rIns="0" bIns="0" rtlCol="0" anchor="ctr">
            <a:normAutofit/>
          </a:bodyPr>
          <a:lstStyle/>
          <a:p>
            <a:pPr marL="0" indent="0" algn="ctr">
              <a:buNone/>
            </a:pPr>
            <a:r>
              <a:rPr lang="en-US" sz="770" dirty="0">
                <a:solidFill>
                  <a:srgbClr val="64748B"/>
                </a:solidFill>
              </a:rPr>
              <a:t>route, case, assign, review</a:t>
            </a:r>
            <a:endParaRPr lang="en-US" sz="770" dirty="0"/>
          </a:p>
        </p:txBody>
      </p:sp>
      <p:sp>
        <p:nvSpPr>
          <p:cNvPr id="30" name="Shape 28"/>
          <p:cNvSpPr/>
          <p:nvPr/>
        </p:nvSpPr>
        <p:spPr>
          <a:xfrm>
            <a:off x="777240" y="4343400"/>
            <a:ext cx="4754880" cy="54864"/>
          </a:xfrm>
          <a:prstGeom prst="rect">
            <a:avLst/>
          </a:prstGeom>
          <a:solidFill>
            <a:srgbClr val="0F766E"/>
          </a:solidFill>
          <a:ln w="12700">
            <a:solidFill>
              <a:srgbClr val="0F766E">
                <a:alpha val="0"/>
              </a:srgbClr>
            </a:solidFill>
            <a:prstDash val="solid"/>
          </a:ln>
        </p:spPr>
        <p:txBody>
          <a:bodyPr/>
          <a:lstStyle/>
          <a:p>
            <a:endParaRPr lang="en-US"/>
          </a:p>
        </p:txBody>
      </p:sp>
      <p:sp>
        <p:nvSpPr>
          <p:cNvPr id="31" name="Text 29"/>
          <p:cNvSpPr/>
          <p:nvPr/>
        </p:nvSpPr>
        <p:spPr>
          <a:xfrm>
            <a:off x="777240" y="4434840"/>
            <a:ext cx="4754880" cy="219456"/>
          </a:xfrm>
          <a:prstGeom prst="rect">
            <a:avLst/>
          </a:prstGeom>
          <a:noFill/>
          <a:ln/>
        </p:spPr>
        <p:txBody>
          <a:bodyPr wrap="square" lIns="0" tIns="0" rIns="0" bIns="0" rtlCol="0" anchor="ctr">
            <a:normAutofit/>
          </a:bodyPr>
          <a:lstStyle/>
          <a:p>
            <a:pPr marL="0" indent="0">
              <a:buNone/>
            </a:pPr>
            <a:r>
              <a:rPr lang="en-US" sz="1000" b="1" dirty="0">
                <a:solidFill>
                  <a:srgbClr val="0F766E"/>
                </a:solidFill>
              </a:rPr>
              <a:t>MCP TOOLS TO PROVE</a:t>
            </a:r>
            <a:endParaRPr lang="en-US" sz="1000" dirty="0"/>
          </a:p>
        </p:txBody>
      </p:sp>
      <p:sp>
        <p:nvSpPr>
          <p:cNvPr id="32" name="Shape 30"/>
          <p:cNvSpPr/>
          <p:nvPr/>
        </p:nvSpPr>
        <p:spPr>
          <a:xfrm>
            <a:off x="868680" y="4736592"/>
            <a:ext cx="2057400" cy="274320"/>
          </a:xfrm>
          <a:prstGeom prst="roundRect">
            <a:avLst>
              <a:gd name="adj" fmla="val 26667"/>
            </a:avLst>
          </a:prstGeom>
          <a:solidFill>
            <a:srgbClr val="ECFDF5"/>
          </a:solidFill>
          <a:ln w="12700">
            <a:solidFill>
              <a:srgbClr val="0F766E"/>
            </a:solidFill>
            <a:prstDash val="solid"/>
          </a:ln>
        </p:spPr>
        <p:txBody>
          <a:bodyPr/>
          <a:lstStyle/>
          <a:p>
            <a:endParaRPr lang="en-US"/>
          </a:p>
        </p:txBody>
      </p:sp>
      <p:sp>
        <p:nvSpPr>
          <p:cNvPr id="33" name="Text 31"/>
          <p:cNvSpPr/>
          <p:nvPr/>
        </p:nvSpPr>
        <p:spPr>
          <a:xfrm>
            <a:off x="941832" y="4823460"/>
            <a:ext cx="1911096" cy="82296"/>
          </a:xfrm>
          <a:prstGeom prst="rect">
            <a:avLst/>
          </a:prstGeom>
          <a:noFill/>
          <a:ln/>
        </p:spPr>
        <p:txBody>
          <a:bodyPr wrap="square" lIns="508" tIns="508" rIns="508" bIns="508" rtlCol="0" anchor="ctr">
            <a:normAutofit/>
          </a:bodyPr>
          <a:lstStyle/>
          <a:p>
            <a:pPr marL="0" indent="0" algn="ctr">
              <a:buNone/>
            </a:pPr>
            <a:r>
              <a:rPr lang="en-US" sz="760" b="1" dirty="0">
                <a:solidFill>
                  <a:srgbClr val="0F766E"/>
                </a:solidFill>
              </a:rPr>
              <a:t>qma_email_context_get</a:t>
            </a:r>
            <a:endParaRPr lang="en-US" sz="760" dirty="0"/>
          </a:p>
        </p:txBody>
      </p:sp>
      <p:sp>
        <p:nvSpPr>
          <p:cNvPr id="34" name="Shape 32"/>
          <p:cNvSpPr/>
          <p:nvPr/>
        </p:nvSpPr>
        <p:spPr>
          <a:xfrm>
            <a:off x="3200400" y="4736592"/>
            <a:ext cx="2057400" cy="274320"/>
          </a:xfrm>
          <a:prstGeom prst="roundRect">
            <a:avLst>
              <a:gd name="adj" fmla="val 26667"/>
            </a:avLst>
          </a:prstGeom>
          <a:solidFill>
            <a:srgbClr val="ECFDF5"/>
          </a:solidFill>
          <a:ln w="12700">
            <a:solidFill>
              <a:srgbClr val="0F766E"/>
            </a:solidFill>
            <a:prstDash val="solid"/>
          </a:ln>
        </p:spPr>
        <p:txBody>
          <a:bodyPr/>
          <a:lstStyle/>
          <a:p>
            <a:endParaRPr lang="en-US"/>
          </a:p>
        </p:txBody>
      </p:sp>
      <p:sp>
        <p:nvSpPr>
          <p:cNvPr id="35" name="Text 33"/>
          <p:cNvSpPr/>
          <p:nvPr/>
        </p:nvSpPr>
        <p:spPr>
          <a:xfrm>
            <a:off x="3273552" y="4823460"/>
            <a:ext cx="1911096" cy="82296"/>
          </a:xfrm>
          <a:prstGeom prst="rect">
            <a:avLst/>
          </a:prstGeom>
          <a:noFill/>
          <a:ln/>
        </p:spPr>
        <p:txBody>
          <a:bodyPr wrap="square" lIns="508" tIns="508" rIns="508" bIns="508" rtlCol="0" anchor="ctr">
            <a:normAutofit/>
          </a:bodyPr>
          <a:lstStyle/>
          <a:p>
            <a:pPr marL="0" indent="0" algn="ctr">
              <a:buNone/>
            </a:pPr>
            <a:r>
              <a:rPr lang="en-US" sz="760" b="1" dirty="0">
                <a:solidFill>
                  <a:srgbClr val="0F766E"/>
                </a:solidFill>
              </a:rPr>
              <a:t>reference_party_resolve</a:t>
            </a:r>
            <a:endParaRPr lang="en-US" sz="760" dirty="0"/>
          </a:p>
        </p:txBody>
      </p:sp>
      <p:sp>
        <p:nvSpPr>
          <p:cNvPr id="36" name="Shape 34"/>
          <p:cNvSpPr/>
          <p:nvPr/>
        </p:nvSpPr>
        <p:spPr>
          <a:xfrm>
            <a:off x="868680" y="5148072"/>
            <a:ext cx="2057400" cy="274320"/>
          </a:xfrm>
          <a:prstGeom prst="roundRect">
            <a:avLst>
              <a:gd name="adj" fmla="val 26667"/>
            </a:avLst>
          </a:prstGeom>
          <a:solidFill>
            <a:srgbClr val="ECFDF5"/>
          </a:solidFill>
          <a:ln w="12700">
            <a:solidFill>
              <a:srgbClr val="0F766E"/>
            </a:solidFill>
            <a:prstDash val="solid"/>
          </a:ln>
        </p:spPr>
        <p:txBody>
          <a:bodyPr/>
          <a:lstStyle/>
          <a:p>
            <a:endParaRPr lang="en-US"/>
          </a:p>
        </p:txBody>
      </p:sp>
      <p:sp>
        <p:nvSpPr>
          <p:cNvPr id="37" name="Text 35"/>
          <p:cNvSpPr/>
          <p:nvPr/>
        </p:nvSpPr>
        <p:spPr>
          <a:xfrm>
            <a:off x="941832" y="5234940"/>
            <a:ext cx="1911096" cy="82296"/>
          </a:xfrm>
          <a:prstGeom prst="rect">
            <a:avLst/>
          </a:prstGeom>
          <a:noFill/>
          <a:ln/>
        </p:spPr>
        <p:txBody>
          <a:bodyPr wrap="square" lIns="508" tIns="508" rIns="508" bIns="508" rtlCol="0" anchor="ctr">
            <a:normAutofit/>
          </a:bodyPr>
          <a:lstStyle/>
          <a:p>
            <a:pPr marL="0" indent="0" algn="ctr">
              <a:buNone/>
            </a:pPr>
            <a:r>
              <a:rPr lang="en-US" sz="760" b="1" dirty="0">
                <a:solidFill>
                  <a:srgbClr val="0F766E"/>
                </a:solidFill>
              </a:rPr>
              <a:t>workflow_case_create_propose</a:t>
            </a:r>
            <a:endParaRPr lang="en-US" sz="760" dirty="0"/>
          </a:p>
        </p:txBody>
      </p:sp>
      <p:sp>
        <p:nvSpPr>
          <p:cNvPr id="38" name="Shape 36"/>
          <p:cNvSpPr/>
          <p:nvPr/>
        </p:nvSpPr>
        <p:spPr>
          <a:xfrm>
            <a:off x="3200400" y="5148072"/>
            <a:ext cx="2057400" cy="274320"/>
          </a:xfrm>
          <a:prstGeom prst="roundRect">
            <a:avLst>
              <a:gd name="adj" fmla="val 26667"/>
            </a:avLst>
          </a:prstGeom>
          <a:solidFill>
            <a:srgbClr val="ECFDF5"/>
          </a:solidFill>
          <a:ln w="12700">
            <a:solidFill>
              <a:srgbClr val="0F766E"/>
            </a:solidFill>
            <a:prstDash val="solid"/>
          </a:ln>
        </p:spPr>
        <p:txBody>
          <a:bodyPr/>
          <a:lstStyle/>
          <a:p>
            <a:endParaRPr lang="en-US"/>
          </a:p>
        </p:txBody>
      </p:sp>
      <p:sp>
        <p:nvSpPr>
          <p:cNvPr id="39" name="Text 37"/>
          <p:cNvSpPr/>
          <p:nvPr/>
        </p:nvSpPr>
        <p:spPr>
          <a:xfrm>
            <a:off x="3273552" y="5234940"/>
            <a:ext cx="1911096" cy="82296"/>
          </a:xfrm>
          <a:prstGeom prst="rect">
            <a:avLst/>
          </a:prstGeom>
          <a:noFill/>
          <a:ln/>
        </p:spPr>
        <p:txBody>
          <a:bodyPr wrap="square" lIns="508" tIns="508" rIns="508" bIns="508" rtlCol="0" anchor="ctr">
            <a:normAutofit/>
          </a:bodyPr>
          <a:lstStyle/>
          <a:p>
            <a:pPr marL="0" indent="0" algn="ctr">
              <a:buNone/>
            </a:pPr>
            <a:r>
              <a:rPr lang="en-US" sz="760" b="1" dirty="0">
                <a:solidFill>
                  <a:srgbClr val="0F766E"/>
                </a:solidFill>
              </a:rPr>
              <a:t>routing_group_recommend</a:t>
            </a:r>
            <a:endParaRPr lang="en-US" sz="760" dirty="0"/>
          </a:p>
        </p:txBody>
      </p:sp>
      <p:sp>
        <p:nvSpPr>
          <p:cNvPr id="40" name="Shape 38"/>
          <p:cNvSpPr/>
          <p:nvPr/>
        </p:nvSpPr>
        <p:spPr>
          <a:xfrm>
            <a:off x="6400800" y="4343400"/>
            <a:ext cx="4663440" cy="54864"/>
          </a:xfrm>
          <a:prstGeom prst="rect">
            <a:avLst/>
          </a:prstGeom>
          <a:solidFill>
            <a:srgbClr val="D97706"/>
          </a:solidFill>
          <a:ln w="12700">
            <a:solidFill>
              <a:srgbClr val="D97706">
                <a:alpha val="0"/>
              </a:srgbClr>
            </a:solidFill>
            <a:prstDash val="solid"/>
          </a:ln>
        </p:spPr>
        <p:txBody>
          <a:bodyPr/>
          <a:lstStyle/>
          <a:p>
            <a:endParaRPr lang="en-US"/>
          </a:p>
        </p:txBody>
      </p:sp>
      <p:sp>
        <p:nvSpPr>
          <p:cNvPr id="41" name="Text 39"/>
          <p:cNvSpPr/>
          <p:nvPr/>
        </p:nvSpPr>
        <p:spPr>
          <a:xfrm>
            <a:off x="6400800" y="4434840"/>
            <a:ext cx="4663440" cy="219456"/>
          </a:xfrm>
          <a:prstGeom prst="rect">
            <a:avLst/>
          </a:prstGeom>
          <a:noFill/>
          <a:ln/>
        </p:spPr>
        <p:txBody>
          <a:bodyPr wrap="square" lIns="0" tIns="0" rIns="0" bIns="0" rtlCol="0" anchor="ctr">
            <a:normAutofit/>
          </a:bodyPr>
          <a:lstStyle/>
          <a:p>
            <a:pPr marL="0" indent="0">
              <a:buNone/>
            </a:pPr>
            <a:r>
              <a:rPr lang="en-US" sz="1000" b="1" dirty="0">
                <a:solidFill>
                  <a:srgbClr val="D97706"/>
                </a:solidFill>
              </a:rPr>
              <a:t>CONTROL POSTURE</a:t>
            </a:r>
            <a:endParaRPr lang="en-US" sz="1000" dirty="0"/>
          </a:p>
        </p:txBody>
      </p:sp>
      <p:sp>
        <p:nvSpPr>
          <p:cNvPr id="42" name="Text 40"/>
          <p:cNvSpPr/>
          <p:nvPr/>
        </p:nvSpPr>
        <p:spPr>
          <a:xfrm>
            <a:off x="6492240" y="4745736"/>
            <a:ext cx="146304" cy="182880"/>
          </a:xfrm>
          <a:prstGeom prst="rect">
            <a:avLst/>
          </a:prstGeom>
          <a:noFill/>
          <a:ln/>
        </p:spPr>
        <p:txBody>
          <a:bodyPr wrap="square" lIns="0" tIns="0" rIns="0" bIns="0" rtlCol="0" anchor="ctr"/>
          <a:lstStyle/>
          <a:p>
            <a:pPr marL="0" indent="0">
              <a:buNone/>
            </a:pPr>
            <a:r>
              <a:rPr lang="en-US" sz="1000" b="1" dirty="0">
                <a:solidFill>
                  <a:srgbClr val="D97706"/>
                </a:solidFill>
              </a:rPr>
              <a:t>•</a:t>
            </a:r>
            <a:endParaRPr lang="en-US" sz="1000" dirty="0"/>
          </a:p>
        </p:txBody>
      </p:sp>
      <p:sp>
        <p:nvSpPr>
          <p:cNvPr id="43" name="Text 41"/>
          <p:cNvSpPr/>
          <p:nvPr/>
        </p:nvSpPr>
        <p:spPr>
          <a:xfrm>
            <a:off x="6693408" y="4736592"/>
            <a:ext cx="4434840" cy="237744"/>
          </a:xfrm>
          <a:prstGeom prst="rect">
            <a:avLst/>
          </a:prstGeom>
          <a:noFill/>
          <a:ln/>
        </p:spPr>
        <p:txBody>
          <a:bodyPr wrap="square" lIns="0" tIns="0" rIns="0" bIns="0" rtlCol="0" anchor="ctr">
            <a:normAutofit/>
          </a:bodyPr>
          <a:lstStyle/>
          <a:p>
            <a:pPr marL="0" indent="0">
              <a:buNone/>
            </a:pPr>
            <a:r>
              <a:rPr lang="en-US" sz="1000" dirty="0">
                <a:solidFill>
                  <a:srgbClr val="111827"/>
                </a:solidFill>
              </a:rPr>
              <a:t>Classify and recommend: automated</a:t>
            </a:r>
            <a:endParaRPr lang="en-US" sz="1000" dirty="0"/>
          </a:p>
        </p:txBody>
      </p:sp>
      <p:sp>
        <p:nvSpPr>
          <p:cNvPr id="44" name="Text 42"/>
          <p:cNvSpPr/>
          <p:nvPr/>
        </p:nvSpPr>
        <p:spPr>
          <a:xfrm>
            <a:off x="6492240" y="5065776"/>
            <a:ext cx="146304" cy="182880"/>
          </a:xfrm>
          <a:prstGeom prst="rect">
            <a:avLst/>
          </a:prstGeom>
          <a:noFill/>
          <a:ln/>
        </p:spPr>
        <p:txBody>
          <a:bodyPr wrap="square" lIns="0" tIns="0" rIns="0" bIns="0" rtlCol="0" anchor="ctr"/>
          <a:lstStyle/>
          <a:p>
            <a:pPr marL="0" indent="0">
              <a:buNone/>
            </a:pPr>
            <a:r>
              <a:rPr lang="en-US" sz="1000" b="1" dirty="0">
                <a:solidFill>
                  <a:srgbClr val="D97706"/>
                </a:solidFill>
              </a:rPr>
              <a:t>•</a:t>
            </a:r>
            <a:endParaRPr lang="en-US" sz="1000" dirty="0"/>
          </a:p>
        </p:txBody>
      </p:sp>
      <p:sp>
        <p:nvSpPr>
          <p:cNvPr id="45" name="Text 43"/>
          <p:cNvSpPr/>
          <p:nvPr/>
        </p:nvSpPr>
        <p:spPr>
          <a:xfrm>
            <a:off x="6693408" y="5056632"/>
            <a:ext cx="4434840" cy="237744"/>
          </a:xfrm>
          <a:prstGeom prst="rect">
            <a:avLst/>
          </a:prstGeom>
          <a:noFill/>
          <a:ln/>
        </p:spPr>
        <p:txBody>
          <a:bodyPr wrap="square" lIns="0" tIns="0" rIns="0" bIns="0" rtlCol="0" anchor="ctr">
            <a:normAutofit/>
          </a:bodyPr>
          <a:lstStyle/>
          <a:p>
            <a:pPr marL="0" indent="0">
              <a:buNone/>
            </a:pPr>
            <a:r>
              <a:rPr lang="en-US" sz="1000" dirty="0">
                <a:solidFill>
                  <a:srgbClr val="111827"/>
                </a:solidFill>
              </a:rPr>
              <a:t>Case creation: policy-controlled</a:t>
            </a:r>
            <a:endParaRPr lang="en-US" sz="1000" dirty="0"/>
          </a:p>
        </p:txBody>
      </p:sp>
      <p:sp>
        <p:nvSpPr>
          <p:cNvPr id="46" name="Text 44"/>
          <p:cNvSpPr/>
          <p:nvPr/>
        </p:nvSpPr>
        <p:spPr>
          <a:xfrm>
            <a:off x="6492240" y="5385816"/>
            <a:ext cx="146304" cy="182880"/>
          </a:xfrm>
          <a:prstGeom prst="rect">
            <a:avLst/>
          </a:prstGeom>
          <a:noFill/>
          <a:ln/>
        </p:spPr>
        <p:txBody>
          <a:bodyPr wrap="square" lIns="0" tIns="0" rIns="0" bIns="0" rtlCol="0" anchor="ctr"/>
          <a:lstStyle/>
          <a:p>
            <a:pPr marL="0" indent="0">
              <a:buNone/>
            </a:pPr>
            <a:r>
              <a:rPr lang="en-US" sz="1000" b="1" dirty="0">
                <a:solidFill>
                  <a:srgbClr val="D97706"/>
                </a:solidFill>
              </a:rPr>
              <a:t>•</a:t>
            </a:r>
            <a:endParaRPr lang="en-US" sz="1000" dirty="0"/>
          </a:p>
        </p:txBody>
      </p:sp>
      <p:sp>
        <p:nvSpPr>
          <p:cNvPr id="47" name="Text 45"/>
          <p:cNvSpPr/>
          <p:nvPr/>
        </p:nvSpPr>
        <p:spPr>
          <a:xfrm>
            <a:off x="6693408" y="5376672"/>
            <a:ext cx="4434840" cy="237744"/>
          </a:xfrm>
          <a:prstGeom prst="rect">
            <a:avLst/>
          </a:prstGeom>
          <a:noFill/>
          <a:ln/>
        </p:spPr>
        <p:txBody>
          <a:bodyPr wrap="square" lIns="0" tIns="0" rIns="0" bIns="0" rtlCol="0" anchor="ctr">
            <a:normAutofit/>
          </a:bodyPr>
          <a:lstStyle/>
          <a:p>
            <a:pPr marL="0" indent="0">
              <a:buNone/>
            </a:pPr>
            <a:r>
              <a:rPr lang="en-US" sz="1000" dirty="0">
                <a:solidFill>
                  <a:srgbClr val="111827"/>
                </a:solidFill>
              </a:rPr>
              <a:t>External communication: human approved</a:t>
            </a:r>
            <a:endParaRPr lang="en-US" sz="1000" dirty="0"/>
          </a:p>
        </p:txBody>
      </p:sp>
      <p:sp>
        <p:nvSpPr>
          <p:cNvPr id="48" name="Text 46"/>
          <p:cNvSpPr/>
          <p:nvPr/>
        </p:nvSpPr>
        <p:spPr>
          <a:xfrm>
            <a:off x="502920" y="6473952"/>
            <a:ext cx="2926080" cy="182880"/>
          </a:xfrm>
          <a:prstGeom prst="rect">
            <a:avLst/>
          </a:prstGeom>
          <a:noFill/>
          <a:ln/>
        </p:spPr>
        <p:txBody>
          <a:bodyPr wrap="square" lIns="0" tIns="0" rIns="0" bIns="0" rtlCol="0" anchor="ctr"/>
          <a:lstStyle/>
          <a:p>
            <a:pPr marL="0" indent="0">
              <a:buNone/>
            </a:pPr>
            <a:r>
              <a:rPr lang="en-US" sz="780" dirty="0">
                <a:solidFill>
                  <a:srgbClr val="64748B"/>
                </a:solidFill>
              </a:rPr>
              <a:t>EDGE MCP Strategy — Tranche 3</a:t>
            </a:r>
            <a:endParaRPr lang="en-US" sz="780" dirty="0"/>
          </a:p>
        </p:txBody>
      </p:sp>
      <p:sp>
        <p:nvSpPr>
          <p:cNvPr id="49" name="Text 47"/>
          <p:cNvSpPr/>
          <p:nvPr/>
        </p:nvSpPr>
        <p:spPr>
          <a:xfrm>
            <a:off x="11338560" y="6446520"/>
            <a:ext cx="347472" cy="219456"/>
          </a:xfrm>
          <a:prstGeom prst="rect">
            <a:avLst/>
          </a:prstGeom>
          <a:noFill/>
          <a:ln/>
        </p:spPr>
        <p:txBody>
          <a:bodyPr wrap="square" lIns="0" tIns="0" rIns="0" bIns="0" rtlCol="0" anchor="ctr"/>
          <a:lstStyle/>
          <a:p>
            <a:pPr marL="0" indent="0" algn="r">
              <a:buNone/>
            </a:pPr>
            <a:r>
              <a:rPr lang="en-US" sz="850" dirty="0">
                <a:solidFill>
                  <a:srgbClr val="64748B"/>
                </a:solidFill>
              </a:rPr>
              <a:t>25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txBody>
          <a:bodyPr/>
          <a:lstStyle/>
          <a:p>
            <a:endParaRPr lang="en-US"/>
          </a:p>
        </p:txBody>
      </p:sp>
      <p:sp>
        <p:nvSpPr>
          <p:cNvPr id="3" name="Shape 1"/>
          <p:cNvSpPr/>
          <p:nvPr/>
        </p:nvSpPr>
        <p:spPr>
          <a:xfrm>
            <a:off x="0" y="0"/>
            <a:ext cx="12191695" cy="100584"/>
          </a:xfrm>
          <a:prstGeom prst="rect">
            <a:avLst/>
          </a:prstGeom>
          <a:solidFill>
            <a:srgbClr val="2563EB"/>
          </a:solidFill>
          <a:ln w="12700">
            <a:solidFill>
              <a:srgbClr val="2563EB">
                <a:alpha val="0"/>
              </a:srgbClr>
            </a:solidFill>
            <a:prstDash val="solid"/>
          </a:ln>
        </p:spPr>
        <p:txBody>
          <a:bodyPr/>
          <a:lstStyle/>
          <a:p>
            <a:endParaRPr lang="en-US"/>
          </a:p>
        </p:txBody>
      </p:sp>
      <p:sp>
        <p:nvSpPr>
          <p:cNvPr id="4" name="Text 2"/>
          <p:cNvSpPr/>
          <p:nvPr/>
        </p:nvSpPr>
        <p:spPr>
          <a:xfrm>
            <a:off x="502920" y="310896"/>
            <a:ext cx="9966960" cy="411480"/>
          </a:xfrm>
          <a:prstGeom prst="rect">
            <a:avLst/>
          </a:prstGeom>
          <a:noFill/>
          <a:ln/>
        </p:spPr>
        <p:txBody>
          <a:bodyPr wrap="square" lIns="0" tIns="0" rIns="0" bIns="0" rtlCol="0" anchor="ctr">
            <a:normAutofit/>
          </a:bodyPr>
          <a:lstStyle/>
          <a:p>
            <a:pPr marL="0" indent="0">
              <a:buNone/>
            </a:pPr>
            <a:r>
              <a:rPr lang="en-US" sz="2400" b="1" dirty="0">
                <a:solidFill>
                  <a:srgbClr val="0B1F33"/>
                </a:solidFill>
                <a:latin typeface="Aptos Display" pitchFamily="34" charset="0"/>
                <a:ea typeface="Aptos Display" pitchFamily="34" charset="-122"/>
                <a:cs typeface="Aptos Display" pitchFamily="34" charset="-120"/>
              </a:rPr>
              <a:t>Governance Operating Model: RACI</a:t>
            </a:r>
            <a:endParaRPr lang="en-US" sz="2400" dirty="0"/>
          </a:p>
        </p:txBody>
      </p:sp>
      <p:sp>
        <p:nvSpPr>
          <p:cNvPr id="5" name="Text 3"/>
          <p:cNvSpPr/>
          <p:nvPr/>
        </p:nvSpPr>
        <p:spPr>
          <a:xfrm>
            <a:off x="521208" y="749808"/>
            <a:ext cx="10789920" cy="320040"/>
          </a:xfrm>
          <a:prstGeom prst="rect">
            <a:avLst/>
          </a:prstGeom>
          <a:noFill/>
          <a:ln/>
        </p:spPr>
        <p:txBody>
          <a:bodyPr wrap="square" lIns="0" tIns="0" rIns="0" bIns="0" rtlCol="0" anchor="ctr">
            <a:normAutofit/>
          </a:bodyPr>
          <a:lstStyle/>
          <a:p>
            <a:pPr marL="0" indent="0">
              <a:buNone/>
            </a:pPr>
            <a:r>
              <a:rPr lang="en-US" sz="1050" dirty="0">
                <a:solidFill>
                  <a:srgbClr val="64748B"/>
                </a:solidFill>
              </a:rPr>
              <a:t>Clear ownership prevents MCP from becoming another unmanaged integration layer.</a:t>
            </a:r>
            <a:endParaRPr lang="en-US" sz="1050" dirty="0"/>
          </a:p>
        </p:txBody>
      </p:sp>
      <p:sp>
        <p:nvSpPr>
          <p:cNvPr id="6" name="Shape 4"/>
          <p:cNvSpPr/>
          <p:nvPr/>
        </p:nvSpPr>
        <p:spPr>
          <a:xfrm>
            <a:off x="685800" y="1307592"/>
            <a:ext cx="10835640" cy="384048"/>
          </a:xfrm>
          <a:prstGeom prst="rect">
            <a:avLst/>
          </a:prstGeom>
          <a:solidFill>
            <a:srgbClr val="0B1F33"/>
          </a:solidFill>
          <a:ln w="12700">
            <a:solidFill>
              <a:srgbClr val="0B1F33">
                <a:alpha val="0"/>
              </a:srgbClr>
            </a:solidFill>
            <a:prstDash val="solid"/>
          </a:ln>
        </p:spPr>
        <p:txBody>
          <a:bodyPr/>
          <a:lstStyle/>
          <a:p>
            <a:endParaRPr lang="en-US"/>
          </a:p>
        </p:txBody>
      </p:sp>
      <p:sp>
        <p:nvSpPr>
          <p:cNvPr id="7" name="Text 5"/>
          <p:cNvSpPr/>
          <p:nvPr/>
        </p:nvSpPr>
        <p:spPr>
          <a:xfrm>
            <a:off x="685800" y="1444752"/>
            <a:ext cx="1874520" cy="91440"/>
          </a:xfrm>
          <a:prstGeom prst="rect">
            <a:avLst/>
          </a:prstGeom>
          <a:noFill/>
          <a:ln/>
        </p:spPr>
        <p:txBody>
          <a:bodyPr wrap="square" lIns="0" tIns="0" rIns="0" bIns="0" rtlCol="0" anchor="ctr">
            <a:normAutofit/>
          </a:bodyPr>
          <a:lstStyle/>
          <a:p>
            <a:pPr marL="0" indent="0" algn="l">
              <a:buNone/>
            </a:pPr>
            <a:r>
              <a:rPr lang="en-US" sz="840" b="1" dirty="0">
                <a:solidFill>
                  <a:srgbClr val="FFFFFF"/>
                </a:solidFill>
              </a:rPr>
              <a:t>Capability</a:t>
            </a:r>
            <a:endParaRPr lang="en-US" sz="840" dirty="0"/>
          </a:p>
        </p:txBody>
      </p:sp>
      <p:sp>
        <p:nvSpPr>
          <p:cNvPr id="8" name="Text 6"/>
          <p:cNvSpPr/>
          <p:nvPr/>
        </p:nvSpPr>
        <p:spPr>
          <a:xfrm>
            <a:off x="2971800" y="1444752"/>
            <a:ext cx="1097280" cy="91440"/>
          </a:xfrm>
          <a:prstGeom prst="rect">
            <a:avLst/>
          </a:prstGeom>
          <a:noFill/>
          <a:ln/>
        </p:spPr>
        <p:txBody>
          <a:bodyPr wrap="square" lIns="0" tIns="0" rIns="0" bIns="0" rtlCol="0" anchor="ctr">
            <a:normAutofit/>
          </a:bodyPr>
          <a:lstStyle/>
          <a:p>
            <a:pPr marL="0" indent="0" algn="ctr">
              <a:buNone/>
            </a:pPr>
            <a:r>
              <a:rPr lang="en-US" sz="840" b="1" dirty="0">
                <a:solidFill>
                  <a:srgbClr val="FFFFFF"/>
                </a:solidFill>
              </a:rPr>
              <a:t>Platform</a:t>
            </a:r>
            <a:endParaRPr lang="en-US" sz="840" dirty="0"/>
          </a:p>
        </p:txBody>
      </p:sp>
      <p:sp>
        <p:nvSpPr>
          <p:cNvPr id="9" name="Text 7"/>
          <p:cNvSpPr/>
          <p:nvPr/>
        </p:nvSpPr>
        <p:spPr>
          <a:xfrm>
            <a:off x="4343400" y="1444752"/>
            <a:ext cx="1417320" cy="91440"/>
          </a:xfrm>
          <a:prstGeom prst="rect">
            <a:avLst/>
          </a:prstGeom>
          <a:noFill/>
          <a:ln/>
        </p:spPr>
        <p:txBody>
          <a:bodyPr wrap="square" lIns="0" tIns="0" rIns="0" bIns="0" rtlCol="0" anchor="ctr">
            <a:normAutofit/>
          </a:bodyPr>
          <a:lstStyle/>
          <a:p>
            <a:pPr marL="0" indent="0" algn="ctr">
              <a:buNone/>
            </a:pPr>
            <a:r>
              <a:rPr lang="en-US" sz="840" b="1" dirty="0">
                <a:solidFill>
                  <a:srgbClr val="FFFFFF"/>
                </a:solidFill>
              </a:rPr>
              <a:t>Domain Team</a:t>
            </a:r>
            <a:endParaRPr lang="en-US" sz="840" dirty="0"/>
          </a:p>
        </p:txBody>
      </p:sp>
      <p:sp>
        <p:nvSpPr>
          <p:cNvPr id="10" name="Text 8"/>
          <p:cNvSpPr/>
          <p:nvPr/>
        </p:nvSpPr>
        <p:spPr>
          <a:xfrm>
            <a:off x="5989320" y="1444752"/>
            <a:ext cx="1097280" cy="91440"/>
          </a:xfrm>
          <a:prstGeom prst="rect">
            <a:avLst/>
          </a:prstGeom>
          <a:noFill/>
          <a:ln/>
        </p:spPr>
        <p:txBody>
          <a:bodyPr wrap="square" lIns="0" tIns="0" rIns="0" bIns="0" rtlCol="0" anchor="ctr">
            <a:normAutofit/>
          </a:bodyPr>
          <a:lstStyle/>
          <a:p>
            <a:pPr marL="0" indent="0" algn="ctr">
              <a:buNone/>
            </a:pPr>
            <a:r>
              <a:rPr lang="en-US" sz="840" b="1" dirty="0">
                <a:solidFill>
                  <a:srgbClr val="FFFFFF"/>
                </a:solidFill>
              </a:rPr>
              <a:t>AI Eng</a:t>
            </a:r>
            <a:endParaRPr lang="en-US" sz="840" dirty="0"/>
          </a:p>
        </p:txBody>
      </p:sp>
      <p:sp>
        <p:nvSpPr>
          <p:cNvPr id="11" name="Text 9"/>
          <p:cNvSpPr/>
          <p:nvPr/>
        </p:nvSpPr>
        <p:spPr>
          <a:xfrm>
            <a:off x="7269480" y="1444752"/>
            <a:ext cx="1600200" cy="91440"/>
          </a:xfrm>
          <a:prstGeom prst="rect">
            <a:avLst/>
          </a:prstGeom>
          <a:noFill/>
          <a:ln/>
        </p:spPr>
        <p:txBody>
          <a:bodyPr wrap="square" lIns="0" tIns="0" rIns="0" bIns="0" rtlCol="0" anchor="ctr">
            <a:normAutofit/>
          </a:bodyPr>
          <a:lstStyle/>
          <a:p>
            <a:pPr marL="0" indent="0" algn="ctr">
              <a:buNone/>
            </a:pPr>
            <a:r>
              <a:rPr lang="en-US" sz="840" b="1" dirty="0">
                <a:solidFill>
                  <a:srgbClr val="FFFFFF"/>
                </a:solidFill>
              </a:rPr>
              <a:t>Risk / Control</a:t>
            </a:r>
            <a:endParaRPr lang="en-US" sz="840" dirty="0"/>
          </a:p>
        </p:txBody>
      </p:sp>
      <p:sp>
        <p:nvSpPr>
          <p:cNvPr id="12" name="Text 10"/>
          <p:cNvSpPr/>
          <p:nvPr/>
        </p:nvSpPr>
        <p:spPr>
          <a:xfrm>
            <a:off x="9189720" y="1444752"/>
            <a:ext cx="1325880" cy="91440"/>
          </a:xfrm>
          <a:prstGeom prst="rect">
            <a:avLst/>
          </a:prstGeom>
          <a:noFill/>
          <a:ln/>
        </p:spPr>
        <p:txBody>
          <a:bodyPr wrap="square" lIns="0" tIns="0" rIns="0" bIns="0" rtlCol="0" anchor="ctr">
            <a:normAutofit/>
          </a:bodyPr>
          <a:lstStyle/>
          <a:p>
            <a:pPr marL="0" indent="0" algn="ctr">
              <a:buNone/>
            </a:pPr>
            <a:r>
              <a:rPr lang="en-US" sz="840" b="1" dirty="0">
                <a:solidFill>
                  <a:srgbClr val="FFFFFF"/>
                </a:solidFill>
              </a:rPr>
              <a:t>Business</a:t>
            </a:r>
            <a:endParaRPr lang="en-US" sz="840" dirty="0"/>
          </a:p>
        </p:txBody>
      </p:sp>
      <p:sp>
        <p:nvSpPr>
          <p:cNvPr id="13" name="Shape 11"/>
          <p:cNvSpPr/>
          <p:nvPr/>
        </p:nvSpPr>
        <p:spPr>
          <a:xfrm>
            <a:off x="685800" y="1828800"/>
            <a:ext cx="10835640" cy="502920"/>
          </a:xfrm>
          <a:prstGeom prst="rect">
            <a:avLst/>
          </a:prstGeom>
          <a:solidFill>
            <a:srgbClr val="FFFFFF"/>
          </a:solidFill>
          <a:ln w="6350">
            <a:solidFill>
              <a:srgbClr val="E2E8F0"/>
            </a:solidFill>
            <a:prstDash val="solid"/>
          </a:ln>
        </p:spPr>
        <p:txBody>
          <a:bodyPr/>
          <a:lstStyle/>
          <a:p>
            <a:endParaRPr lang="en-US"/>
          </a:p>
        </p:txBody>
      </p:sp>
      <p:sp>
        <p:nvSpPr>
          <p:cNvPr id="14" name="Text 12"/>
          <p:cNvSpPr/>
          <p:nvPr/>
        </p:nvSpPr>
        <p:spPr>
          <a:xfrm>
            <a:off x="850392" y="1993392"/>
            <a:ext cx="1783080" cy="100584"/>
          </a:xfrm>
          <a:prstGeom prst="rect">
            <a:avLst/>
          </a:prstGeom>
          <a:noFill/>
          <a:ln/>
        </p:spPr>
        <p:txBody>
          <a:bodyPr wrap="square" lIns="0" tIns="0" rIns="0" bIns="0" rtlCol="0" anchor="ctr">
            <a:normAutofit/>
          </a:bodyPr>
          <a:lstStyle/>
          <a:p>
            <a:pPr marL="0" indent="0">
              <a:buNone/>
            </a:pPr>
            <a:r>
              <a:rPr lang="en-US" sz="820" b="1" dirty="0">
                <a:solidFill>
                  <a:srgbClr val="0B1F33"/>
                </a:solidFill>
              </a:rPr>
              <a:t>Gateway, registry, shared telemetry</a:t>
            </a:r>
            <a:endParaRPr lang="en-US" sz="820" dirty="0"/>
          </a:p>
        </p:txBody>
      </p:sp>
      <p:sp>
        <p:nvSpPr>
          <p:cNvPr id="15" name="Text 13"/>
          <p:cNvSpPr/>
          <p:nvPr/>
        </p:nvSpPr>
        <p:spPr>
          <a:xfrm>
            <a:off x="2971800" y="1993392"/>
            <a:ext cx="1143000" cy="109728"/>
          </a:xfrm>
          <a:prstGeom prst="rect">
            <a:avLst/>
          </a:prstGeom>
          <a:noFill/>
          <a:ln/>
        </p:spPr>
        <p:txBody>
          <a:bodyPr wrap="square" lIns="0" tIns="0" rIns="0" bIns="0" rtlCol="0" anchor="ctr"/>
          <a:lstStyle/>
          <a:p>
            <a:pPr marL="0" indent="0" algn="ctr">
              <a:buNone/>
            </a:pPr>
            <a:r>
              <a:rPr lang="en-US" sz="1000" b="1" dirty="0">
                <a:solidFill>
                  <a:srgbClr val="2563EB"/>
                </a:solidFill>
              </a:rPr>
              <a:t>A</a:t>
            </a:r>
            <a:endParaRPr lang="en-US" sz="1000" dirty="0"/>
          </a:p>
        </p:txBody>
      </p:sp>
      <p:sp>
        <p:nvSpPr>
          <p:cNvPr id="16" name="Text 14"/>
          <p:cNvSpPr/>
          <p:nvPr/>
        </p:nvSpPr>
        <p:spPr>
          <a:xfrm>
            <a:off x="4343400" y="1993392"/>
            <a:ext cx="1143000" cy="109728"/>
          </a:xfrm>
          <a:prstGeom prst="rect">
            <a:avLst/>
          </a:prstGeom>
          <a:noFill/>
          <a:ln/>
        </p:spPr>
        <p:txBody>
          <a:bodyPr wrap="square" lIns="0" tIns="0" rIns="0" bIns="0" rtlCol="0" anchor="ctr"/>
          <a:lstStyle/>
          <a:p>
            <a:pPr marL="0" indent="0" algn="ctr">
              <a:buNone/>
            </a:pPr>
            <a:r>
              <a:rPr lang="en-US" sz="1000" b="1" dirty="0">
                <a:solidFill>
                  <a:srgbClr val="D97706"/>
                </a:solidFill>
              </a:rPr>
              <a:t>C</a:t>
            </a:r>
            <a:endParaRPr lang="en-US" sz="1000" dirty="0"/>
          </a:p>
        </p:txBody>
      </p:sp>
      <p:sp>
        <p:nvSpPr>
          <p:cNvPr id="17" name="Text 15"/>
          <p:cNvSpPr/>
          <p:nvPr/>
        </p:nvSpPr>
        <p:spPr>
          <a:xfrm>
            <a:off x="5989320" y="1993392"/>
            <a:ext cx="1097280" cy="109728"/>
          </a:xfrm>
          <a:prstGeom prst="rect">
            <a:avLst/>
          </a:prstGeom>
          <a:noFill/>
          <a:ln/>
        </p:spPr>
        <p:txBody>
          <a:bodyPr wrap="square" lIns="0" tIns="0" rIns="0" bIns="0" rtlCol="0" anchor="ctr"/>
          <a:lstStyle/>
          <a:p>
            <a:pPr marL="0" indent="0" algn="ctr">
              <a:buNone/>
            </a:pPr>
            <a:r>
              <a:rPr lang="en-US" sz="1000" b="1" dirty="0">
                <a:solidFill>
                  <a:srgbClr val="D97706"/>
                </a:solidFill>
              </a:rPr>
              <a:t>C</a:t>
            </a:r>
            <a:endParaRPr lang="en-US" sz="1000" dirty="0"/>
          </a:p>
        </p:txBody>
      </p:sp>
      <p:sp>
        <p:nvSpPr>
          <p:cNvPr id="18" name="Text 16"/>
          <p:cNvSpPr/>
          <p:nvPr/>
        </p:nvSpPr>
        <p:spPr>
          <a:xfrm>
            <a:off x="7269480" y="1993392"/>
            <a:ext cx="1600200" cy="109728"/>
          </a:xfrm>
          <a:prstGeom prst="rect">
            <a:avLst/>
          </a:prstGeom>
          <a:noFill/>
          <a:ln/>
        </p:spPr>
        <p:txBody>
          <a:bodyPr wrap="square" lIns="0" tIns="0" rIns="0" bIns="0" rtlCol="0" anchor="ctr"/>
          <a:lstStyle/>
          <a:p>
            <a:pPr marL="0" indent="0" algn="ctr">
              <a:buNone/>
            </a:pPr>
            <a:r>
              <a:rPr lang="en-US" sz="1000" b="1" dirty="0">
                <a:solidFill>
                  <a:srgbClr val="D97706"/>
                </a:solidFill>
              </a:rPr>
              <a:t>C</a:t>
            </a:r>
            <a:endParaRPr lang="en-US" sz="1000" dirty="0"/>
          </a:p>
        </p:txBody>
      </p:sp>
      <p:sp>
        <p:nvSpPr>
          <p:cNvPr id="19" name="Text 17"/>
          <p:cNvSpPr/>
          <p:nvPr/>
        </p:nvSpPr>
        <p:spPr>
          <a:xfrm>
            <a:off x="9189720" y="1993392"/>
            <a:ext cx="1325880" cy="109728"/>
          </a:xfrm>
          <a:prstGeom prst="rect">
            <a:avLst/>
          </a:prstGeom>
          <a:noFill/>
          <a:ln/>
        </p:spPr>
        <p:txBody>
          <a:bodyPr wrap="square" lIns="0" tIns="0" rIns="0" bIns="0" rtlCol="0" anchor="ctr"/>
          <a:lstStyle/>
          <a:p>
            <a:pPr marL="0" indent="0" algn="ctr">
              <a:buNone/>
            </a:pPr>
            <a:r>
              <a:rPr lang="en-US" sz="1000" b="1" dirty="0">
                <a:solidFill>
                  <a:srgbClr val="64748B"/>
                </a:solidFill>
              </a:rPr>
              <a:t>I</a:t>
            </a:r>
            <a:endParaRPr lang="en-US" sz="1000" dirty="0"/>
          </a:p>
        </p:txBody>
      </p:sp>
      <p:sp>
        <p:nvSpPr>
          <p:cNvPr id="20" name="Shape 18"/>
          <p:cNvSpPr/>
          <p:nvPr/>
        </p:nvSpPr>
        <p:spPr>
          <a:xfrm>
            <a:off x="685800" y="2377440"/>
            <a:ext cx="10835640" cy="502920"/>
          </a:xfrm>
          <a:prstGeom prst="rect">
            <a:avLst/>
          </a:prstGeom>
          <a:solidFill>
            <a:srgbClr val="F8FAFC"/>
          </a:solidFill>
          <a:ln w="6350">
            <a:solidFill>
              <a:srgbClr val="E2E8F0"/>
            </a:solidFill>
            <a:prstDash val="solid"/>
          </a:ln>
        </p:spPr>
        <p:txBody>
          <a:bodyPr/>
          <a:lstStyle/>
          <a:p>
            <a:endParaRPr lang="en-US"/>
          </a:p>
        </p:txBody>
      </p:sp>
      <p:sp>
        <p:nvSpPr>
          <p:cNvPr id="21" name="Text 19"/>
          <p:cNvSpPr/>
          <p:nvPr/>
        </p:nvSpPr>
        <p:spPr>
          <a:xfrm>
            <a:off x="850392" y="2542032"/>
            <a:ext cx="1783080" cy="100584"/>
          </a:xfrm>
          <a:prstGeom prst="rect">
            <a:avLst/>
          </a:prstGeom>
          <a:noFill/>
          <a:ln/>
        </p:spPr>
        <p:txBody>
          <a:bodyPr wrap="square" lIns="0" tIns="0" rIns="0" bIns="0" rtlCol="0" anchor="ctr">
            <a:normAutofit/>
          </a:bodyPr>
          <a:lstStyle/>
          <a:p>
            <a:pPr marL="0" indent="0">
              <a:buNone/>
            </a:pPr>
            <a:r>
              <a:rPr lang="en-US" sz="820" b="1" dirty="0">
                <a:solidFill>
                  <a:srgbClr val="0B1F33"/>
                </a:solidFill>
              </a:rPr>
              <a:t>Tool business logic and data mapping</a:t>
            </a:r>
            <a:endParaRPr lang="en-US" sz="820" dirty="0"/>
          </a:p>
        </p:txBody>
      </p:sp>
      <p:sp>
        <p:nvSpPr>
          <p:cNvPr id="22" name="Text 20"/>
          <p:cNvSpPr/>
          <p:nvPr/>
        </p:nvSpPr>
        <p:spPr>
          <a:xfrm>
            <a:off x="2971800" y="2542032"/>
            <a:ext cx="1143000" cy="109728"/>
          </a:xfrm>
          <a:prstGeom prst="rect">
            <a:avLst/>
          </a:prstGeom>
          <a:noFill/>
          <a:ln/>
        </p:spPr>
        <p:txBody>
          <a:bodyPr wrap="square" lIns="0" tIns="0" rIns="0" bIns="0" rtlCol="0" anchor="ctr"/>
          <a:lstStyle/>
          <a:p>
            <a:pPr marL="0" indent="0" algn="ctr">
              <a:buNone/>
            </a:pPr>
            <a:r>
              <a:rPr lang="en-US" sz="1000" b="1" dirty="0">
                <a:solidFill>
                  <a:srgbClr val="D97706"/>
                </a:solidFill>
              </a:rPr>
              <a:t>C</a:t>
            </a:r>
            <a:endParaRPr lang="en-US" sz="1000" dirty="0"/>
          </a:p>
        </p:txBody>
      </p:sp>
      <p:sp>
        <p:nvSpPr>
          <p:cNvPr id="23" name="Text 21"/>
          <p:cNvSpPr/>
          <p:nvPr/>
        </p:nvSpPr>
        <p:spPr>
          <a:xfrm>
            <a:off x="4343400" y="2542032"/>
            <a:ext cx="1143000" cy="109728"/>
          </a:xfrm>
          <a:prstGeom prst="rect">
            <a:avLst/>
          </a:prstGeom>
          <a:noFill/>
          <a:ln/>
        </p:spPr>
        <p:txBody>
          <a:bodyPr wrap="square" lIns="0" tIns="0" rIns="0" bIns="0" rtlCol="0" anchor="ctr"/>
          <a:lstStyle/>
          <a:p>
            <a:pPr marL="0" indent="0" algn="ctr">
              <a:buNone/>
            </a:pPr>
            <a:r>
              <a:rPr lang="en-US" sz="1000" b="1" dirty="0">
                <a:solidFill>
                  <a:srgbClr val="2563EB"/>
                </a:solidFill>
              </a:rPr>
              <a:t>A</a:t>
            </a:r>
            <a:endParaRPr lang="en-US" sz="1000" dirty="0"/>
          </a:p>
        </p:txBody>
      </p:sp>
      <p:sp>
        <p:nvSpPr>
          <p:cNvPr id="24" name="Text 22"/>
          <p:cNvSpPr/>
          <p:nvPr/>
        </p:nvSpPr>
        <p:spPr>
          <a:xfrm>
            <a:off x="5989320" y="2542032"/>
            <a:ext cx="1097280" cy="109728"/>
          </a:xfrm>
          <a:prstGeom prst="rect">
            <a:avLst/>
          </a:prstGeom>
          <a:noFill/>
          <a:ln/>
        </p:spPr>
        <p:txBody>
          <a:bodyPr wrap="square" lIns="0" tIns="0" rIns="0" bIns="0" rtlCol="0" anchor="ctr"/>
          <a:lstStyle/>
          <a:p>
            <a:pPr marL="0" indent="0" algn="ctr">
              <a:buNone/>
            </a:pPr>
            <a:r>
              <a:rPr lang="en-US" sz="1000" b="1" dirty="0">
                <a:solidFill>
                  <a:srgbClr val="0F766E"/>
                </a:solidFill>
              </a:rPr>
              <a:t>R</a:t>
            </a:r>
            <a:endParaRPr lang="en-US" sz="1000" dirty="0"/>
          </a:p>
        </p:txBody>
      </p:sp>
      <p:sp>
        <p:nvSpPr>
          <p:cNvPr id="25" name="Text 23"/>
          <p:cNvSpPr/>
          <p:nvPr/>
        </p:nvSpPr>
        <p:spPr>
          <a:xfrm>
            <a:off x="7269480" y="2542032"/>
            <a:ext cx="1600200" cy="109728"/>
          </a:xfrm>
          <a:prstGeom prst="rect">
            <a:avLst/>
          </a:prstGeom>
          <a:noFill/>
          <a:ln/>
        </p:spPr>
        <p:txBody>
          <a:bodyPr wrap="square" lIns="0" tIns="0" rIns="0" bIns="0" rtlCol="0" anchor="ctr"/>
          <a:lstStyle/>
          <a:p>
            <a:pPr marL="0" indent="0" algn="ctr">
              <a:buNone/>
            </a:pPr>
            <a:r>
              <a:rPr lang="en-US" sz="1000" b="1" dirty="0">
                <a:solidFill>
                  <a:srgbClr val="D97706"/>
                </a:solidFill>
              </a:rPr>
              <a:t>C</a:t>
            </a:r>
            <a:endParaRPr lang="en-US" sz="1000" dirty="0"/>
          </a:p>
        </p:txBody>
      </p:sp>
      <p:sp>
        <p:nvSpPr>
          <p:cNvPr id="26" name="Text 24"/>
          <p:cNvSpPr/>
          <p:nvPr/>
        </p:nvSpPr>
        <p:spPr>
          <a:xfrm>
            <a:off x="9189720" y="2542032"/>
            <a:ext cx="1325880" cy="109728"/>
          </a:xfrm>
          <a:prstGeom prst="rect">
            <a:avLst/>
          </a:prstGeom>
          <a:noFill/>
          <a:ln/>
        </p:spPr>
        <p:txBody>
          <a:bodyPr wrap="square" lIns="0" tIns="0" rIns="0" bIns="0" rtlCol="0" anchor="ctr"/>
          <a:lstStyle/>
          <a:p>
            <a:pPr marL="0" indent="0" algn="ctr">
              <a:buNone/>
            </a:pPr>
            <a:r>
              <a:rPr lang="en-US" sz="1000" b="1" dirty="0">
                <a:solidFill>
                  <a:srgbClr val="D97706"/>
                </a:solidFill>
              </a:rPr>
              <a:t>C</a:t>
            </a:r>
            <a:endParaRPr lang="en-US" sz="1000" dirty="0"/>
          </a:p>
        </p:txBody>
      </p:sp>
      <p:sp>
        <p:nvSpPr>
          <p:cNvPr id="27" name="Shape 25"/>
          <p:cNvSpPr/>
          <p:nvPr/>
        </p:nvSpPr>
        <p:spPr>
          <a:xfrm>
            <a:off x="685800" y="2926080"/>
            <a:ext cx="10835640" cy="502920"/>
          </a:xfrm>
          <a:prstGeom prst="rect">
            <a:avLst/>
          </a:prstGeom>
          <a:solidFill>
            <a:srgbClr val="FFFFFF"/>
          </a:solidFill>
          <a:ln w="6350">
            <a:solidFill>
              <a:srgbClr val="E2E8F0"/>
            </a:solidFill>
            <a:prstDash val="solid"/>
          </a:ln>
        </p:spPr>
        <p:txBody>
          <a:bodyPr/>
          <a:lstStyle/>
          <a:p>
            <a:endParaRPr lang="en-US"/>
          </a:p>
        </p:txBody>
      </p:sp>
      <p:sp>
        <p:nvSpPr>
          <p:cNvPr id="28" name="Text 26"/>
          <p:cNvSpPr/>
          <p:nvPr/>
        </p:nvSpPr>
        <p:spPr>
          <a:xfrm>
            <a:off x="850392" y="3090672"/>
            <a:ext cx="1783080" cy="100584"/>
          </a:xfrm>
          <a:prstGeom prst="rect">
            <a:avLst/>
          </a:prstGeom>
          <a:noFill/>
          <a:ln/>
        </p:spPr>
        <p:txBody>
          <a:bodyPr wrap="square" lIns="0" tIns="0" rIns="0" bIns="0" rtlCol="0" anchor="ctr">
            <a:normAutofit/>
          </a:bodyPr>
          <a:lstStyle/>
          <a:p>
            <a:pPr marL="0" indent="0">
              <a:buNone/>
            </a:pPr>
            <a:r>
              <a:rPr lang="en-US" sz="820" b="1" dirty="0">
                <a:solidFill>
                  <a:srgbClr val="0B1F33"/>
                </a:solidFill>
              </a:rPr>
              <a:t>Tool contract and prompt description</a:t>
            </a:r>
            <a:endParaRPr lang="en-US" sz="820" dirty="0"/>
          </a:p>
        </p:txBody>
      </p:sp>
      <p:sp>
        <p:nvSpPr>
          <p:cNvPr id="29" name="Text 27"/>
          <p:cNvSpPr/>
          <p:nvPr/>
        </p:nvSpPr>
        <p:spPr>
          <a:xfrm>
            <a:off x="2971800" y="3090672"/>
            <a:ext cx="1143000" cy="109728"/>
          </a:xfrm>
          <a:prstGeom prst="rect">
            <a:avLst/>
          </a:prstGeom>
          <a:noFill/>
          <a:ln/>
        </p:spPr>
        <p:txBody>
          <a:bodyPr wrap="square" lIns="0" tIns="0" rIns="0" bIns="0" rtlCol="0" anchor="ctr"/>
          <a:lstStyle/>
          <a:p>
            <a:pPr marL="0" indent="0" algn="ctr">
              <a:buNone/>
            </a:pPr>
            <a:r>
              <a:rPr lang="en-US" sz="1000" b="1" dirty="0">
                <a:solidFill>
                  <a:srgbClr val="0F766E"/>
                </a:solidFill>
              </a:rPr>
              <a:t>R</a:t>
            </a:r>
            <a:endParaRPr lang="en-US" sz="1000" dirty="0"/>
          </a:p>
        </p:txBody>
      </p:sp>
      <p:sp>
        <p:nvSpPr>
          <p:cNvPr id="30" name="Text 28"/>
          <p:cNvSpPr/>
          <p:nvPr/>
        </p:nvSpPr>
        <p:spPr>
          <a:xfrm>
            <a:off x="4343400" y="3090672"/>
            <a:ext cx="1143000" cy="109728"/>
          </a:xfrm>
          <a:prstGeom prst="rect">
            <a:avLst/>
          </a:prstGeom>
          <a:noFill/>
          <a:ln/>
        </p:spPr>
        <p:txBody>
          <a:bodyPr wrap="square" lIns="0" tIns="0" rIns="0" bIns="0" rtlCol="0" anchor="ctr"/>
          <a:lstStyle/>
          <a:p>
            <a:pPr marL="0" indent="0" algn="ctr">
              <a:buNone/>
            </a:pPr>
            <a:r>
              <a:rPr lang="en-US" sz="1000" b="1" dirty="0">
                <a:solidFill>
                  <a:srgbClr val="2563EB"/>
                </a:solidFill>
              </a:rPr>
              <a:t>A</a:t>
            </a:r>
            <a:endParaRPr lang="en-US" sz="1000" dirty="0"/>
          </a:p>
        </p:txBody>
      </p:sp>
      <p:sp>
        <p:nvSpPr>
          <p:cNvPr id="31" name="Text 29"/>
          <p:cNvSpPr/>
          <p:nvPr/>
        </p:nvSpPr>
        <p:spPr>
          <a:xfrm>
            <a:off x="5989320" y="3090672"/>
            <a:ext cx="1097280" cy="109728"/>
          </a:xfrm>
          <a:prstGeom prst="rect">
            <a:avLst/>
          </a:prstGeom>
          <a:noFill/>
          <a:ln/>
        </p:spPr>
        <p:txBody>
          <a:bodyPr wrap="square" lIns="0" tIns="0" rIns="0" bIns="0" rtlCol="0" anchor="ctr"/>
          <a:lstStyle/>
          <a:p>
            <a:pPr marL="0" indent="0" algn="ctr">
              <a:buNone/>
            </a:pPr>
            <a:r>
              <a:rPr lang="en-US" sz="1000" b="1" dirty="0">
                <a:solidFill>
                  <a:srgbClr val="0F766E"/>
                </a:solidFill>
              </a:rPr>
              <a:t>R</a:t>
            </a:r>
            <a:endParaRPr lang="en-US" sz="1000" dirty="0"/>
          </a:p>
        </p:txBody>
      </p:sp>
      <p:sp>
        <p:nvSpPr>
          <p:cNvPr id="32" name="Text 30"/>
          <p:cNvSpPr/>
          <p:nvPr/>
        </p:nvSpPr>
        <p:spPr>
          <a:xfrm>
            <a:off x="7269480" y="3090672"/>
            <a:ext cx="1600200" cy="109728"/>
          </a:xfrm>
          <a:prstGeom prst="rect">
            <a:avLst/>
          </a:prstGeom>
          <a:noFill/>
          <a:ln/>
        </p:spPr>
        <p:txBody>
          <a:bodyPr wrap="square" lIns="0" tIns="0" rIns="0" bIns="0" rtlCol="0" anchor="ctr"/>
          <a:lstStyle/>
          <a:p>
            <a:pPr marL="0" indent="0" algn="ctr">
              <a:buNone/>
            </a:pPr>
            <a:r>
              <a:rPr lang="en-US" sz="1000" b="1" dirty="0">
                <a:solidFill>
                  <a:srgbClr val="D97706"/>
                </a:solidFill>
              </a:rPr>
              <a:t>C</a:t>
            </a:r>
            <a:endParaRPr lang="en-US" sz="1000" dirty="0"/>
          </a:p>
        </p:txBody>
      </p:sp>
      <p:sp>
        <p:nvSpPr>
          <p:cNvPr id="33" name="Text 31"/>
          <p:cNvSpPr/>
          <p:nvPr/>
        </p:nvSpPr>
        <p:spPr>
          <a:xfrm>
            <a:off x="9189720" y="3090672"/>
            <a:ext cx="1325880" cy="109728"/>
          </a:xfrm>
          <a:prstGeom prst="rect">
            <a:avLst/>
          </a:prstGeom>
          <a:noFill/>
          <a:ln/>
        </p:spPr>
        <p:txBody>
          <a:bodyPr wrap="square" lIns="0" tIns="0" rIns="0" bIns="0" rtlCol="0" anchor="ctr"/>
          <a:lstStyle/>
          <a:p>
            <a:pPr marL="0" indent="0" algn="ctr">
              <a:buNone/>
            </a:pPr>
            <a:r>
              <a:rPr lang="en-US" sz="1000" b="1" dirty="0">
                <a:solidFill>
                  <a:srgbClr val="D97706"/>
                </a:solidFill>
              </a:rPr>
              <a:t>C</a:t>
            </a:r>
            <a:endParaRPr lang="en-US" sz="1000" dirty="0"/>
          </a:p>
        </p:txBody>
      </p:sp>
      <p:sp>
        <p:nvSpPr>
          <p:cNvPr id="34" name="Shape 32"/>
          <p:cNvSpPr/>
          <p:nvPr/>
        </p:nvSpPr>
        <p:spPr>
          <a:xfrm>
            <a:off x="685800" y="3474720"/>
            <a:ext cx="10835640" cy="502920"/>
          </a:xfrm>
          <a:prstGeom prst="rect">
            <a:avLst/>
          </a:prstGeom>
          <a:solidFill>
            <a:srgbClr val="F8FAFC"/>
          </a:solidFill>
          <a:ln w="6350">
            <a:solidFill>
              <a:srgbClr val="E2E8F0"/>
            </a:solidFill>
            <a:prstDash val="solid"/>
          </a:ln>
        </p:spPr>
        <p:txBody>
          <a:bodyPr/>
          <a:lstStyle/>
          <a:p>
            <a:endParaRPr lang="en-US"/>
          </a:p>
        </p:txBody>
      </p:sp>
      <p:sp>
        <p:nvSpPr>
          <p:cNvPr id="35" name="Text 33"/>
          <p:cNvSpPr/>
          <p:nvPr/>
        </p:nvSpPr>
        <p:spPr>
          <a:xfrm>
            <a:off x="850392" y="3639312"/>
            <a:ext cx="1783080" cy="100584"/>
          </a:xfrm>
          <a:prstGeom prst="rect">
            <a:avLst/>
          </a:prstGeom>
          <a:noFill/>
          <a:ln/>
        </p:spPr>
        <p:txBody>
          <a:bodyPr wrap="square" lIns="0" tIns="0" rIns="0" bIns="0" rtlCol="0" anchor="ctr">
            <a:normAutofit/>
          </a:bodyPr>
          <a:lstStyle/>
          <a:p>
            <a:pPr marL="0" indent="0">
              <a:buNone/>
            </a:pPr>
            <a:r>
              <a:rPr lang="en-US" sz="820" b="1" dirty="0">
                <a:solidFill>
                  <a:srgbClr val="0B1F33"/>
                </a:solidFill>
              </a:rPr>
              <a:t>Risk tier and policy approval</a:t>
            </a:r>
            <a:endParaRPr lang="en-US" sz="820" dirty="0"/>
          </a:p>
        </p:txBody>
      </p:sp>
      <p:sp>
        <p:nvSpPr>
          <p:cNvPr id="36" name="Text 34"/>
          <p:cNvSpPr/>
          <p:nvPr/>
        </p:nvSpPr>
        <p:spPr>
          <a:xfrm>
            <a:off x="2971800" y="3639312"/>
            <a:ext cx="1143000" cy="109728"/>
          </a:xfrm>
          <a:prstGeom prst="rect">
            <a:avLst/>
          </a:prstGeom>
          <a:noFill/>
          <a:ln/>
        </p:spPr>
        <p:txBody>
          <a:bodyPr wrap="square" lIns="0" tIns="0" rIns="0" bIns="0" rtlCol="0" anchor="ctr"/>
          <a:lstStyle/>
          <a:p>
            <a:pPr marL="0" indent="0" algn="ctr">
              <a:buNone/>
            </a:pPr>
            <a:r>
              <a:rPr lang="en-US" sz="1000" b="1" dirty="0">
                <a:solidFill>
                  <a:srgbClr val="D97706"/>
                </a:solidFill>
              </a:rPr>
              <a:t>C</a:t>
            </a:r>
            <a:endParaRPr lang="en-US" sz="1000" dirty="0"/>
          </a:p>
        </p:txBody>
      </p:sp>
      <p:sp>
        <p:nvSpPr>
          <p:cNvPr id="37" name="Text 35"/>
          <p:cNvSpPr/>
          <p:nvPr/>
        </p:nvSpPr>
        <p:spPr>
          <a:xfrm>
            <a:off x="4343400" y="3639312"/>
            <a:ext cx="1143000" cy="109728"/>
          </a:xfrm>
          <a:prstGeom prst="rect">
            <a:avLst/>
          </a:prstGeom>
          <a:noFill/>
          <a:ln/>
        </p:spPr>
        <p:txBody>
          <a:bodyPr wrap="square" lIns="0" tIns="0" rIns="0" bIns="0" rtlCol="0" anchor="ctr"/>
          <a:lstStyle/>
          <a:p>
            <a:pPr marL="0" indent="0" algn="ctr">
              <a:buNone/>
            </a:pPr>
            <a:r>
              <a:rPr lang="en-US" sz="1000" b="1" dirty="0">
                <a:solidFill>
                  <a:srgbClr val="0F766E"/>
                </a:solidFill>
              </a:rPr>
              <a:t>R</a:t>
            </a:r>
            <a:endParaRPr lang="en-US" sz="1000" dirty="0"/>
          </a:p>
        </p:txBody>
      </p:sp>
      <p:sp>
        <p:nvSpPr>
          <p:cNvPr id="38" name="Text 36"/>
          <p:cNvSpPr/>
          <p:nvPr/>
        </p:nvSpPr>
        <p:spPr>
          <a:xfrm>
            <a:off x="5989320" y="3639312"/>
            <a:ext cx="1097280" cy="109728"/>
          </a:xfrm>
          <a:prstGeom prst="rect">
            <a:avLst/>
          </a:prstGeom>
          <a:noFill/>
          <a:ln/>
        </p:spPr>
        <p:txBody>
          <a:bodyPr wrap="square" lIns="0" tIns="0" rIns="0" bIns="0" rtlCol="0" anchor="ctr"/>
          <a:lstStyle/>
          <a:p>
            <a:pPr marL="0" indent="0" algn="ctr">
              <a:buNone/>
            </a:pPr>
            <a:r>
              <a:rPr lang="en-US" sz="1000" b="1" dirty="0">
                <a:solidFill>
                  <a:srgbClr val="D97706"/>
                </a:solidFill>
              </a:rPr>
              <a:t>C</a:t>
            </a:r>
            <a:endParaRPr lang="en-US" sz="1000" dirty="0"/>
          </a:p>
        </p:txBody>
      </p:sp>
      <p:sp>
        <p:nvSpPr>
          <p:cNvPr id="39" name="Text 37"/>
          <p:cNvSpPr/>
          <p:nvPr/>
        </p:nvSpPr>
        <p:spPr>
          <a:xfrm>
            <a:off x="7269480" y="3639312"/>
            <a:ext cx="1600200" cy="109728"/>
          </a:xfrm>
          <a:prstGeom prst="rect">
            <a:avLst/>
          </a:prstGeom>
          <a:noFill/>
          <a:ln/>
        </p:spPr>
        <p:txBody>
          <a:bodyPr wrap="square" lIns="0" tIns="0" rIns="0" bIns="0" rtlCol="0" anchor="ctr"/>
          <a:lstStyle/>
          <a:p>
            <a:pPr marL="0" indent="0" algn="ctr">
              <a:buNone/>
            </a:pPr>
            <a:r>
              <a:rPr lang="en-US" sz="1000" b="1" dirty="0">
                <a:solidFill>
                  <a:srgbClr val="2563EB"/>
                </a:solidFill>
              </a:rPr>
              <a:t>A</a:t>
            </a:r>
            <a:endParaRPr lang="en-US" sz="1000" dirty="0"/>
          </a:p>
        </p:txBody>
      </p:sp>
      <p:sp>
        <p:nvSpPr>
          <p:cNvPr id="40" name="Text 38"/>
          <p:cNvSpPr/>
          <p:nvPr/>
        </p:nvSpPr>
        <p:spPr>
          <a:xfrm>
            <a:off x="9189720" y="3639312"/>
            <a:ext cx="1325880" cy="109728"/>
          </a:xfrm>
          <a:prstGeom prst="rect">
            <a:avLst/>
          </a:prstGeom>
          <a:noFill/>
          <a:ln/>
        </p:spPr>
        <p:txBody>
          <a:bodyPr wrap="square" lIns="0" tIns="0" rIns="0" bIns="0" rtlCol="0" anchor="ctr"/>
          <a:lstStyle/>
          <a:p>
            <a:pPr marL="0" indent="0" algn="ctr">
              <a:buNone/>
            </a:pPr>
            <a:r>
              <a:rPr lang="en-US" sz="1000" b="1" dirty="0">
                <a:solidFill>
                  <a:srgbClr val="D97706"/>
                </a:solidFill>
              </a:rPr>
              <a:t>C</a:t>
            </a:r>
            <a:endParaRPr lang="en-US" sz="1000" dirty="0"/>
          </a:p>
        </p:txBody>
      </p:sp>
      <p:sp>
        <p:nvSpPr>
          <p:cNvPr id="41" name="Shape 39"/>
          <p:cNvSpPr/>
          <p:nvPr/>
        </p:nvSpPr>
        <p:spPr>
          <a:xfrm>
            <a:off x="685800" y="4023360"/>
            <a:ext cx="10835640" cy="502920"/>
          </a:xfrm>
          <a:prstGeom prst="rect">
            <a:avLst/>
          </a:prstGeom>
          <a:solidFill>
            <a:srgbClr val="FFFFFF"/>
          </a:solidFill>
          <a:ln w="6350">
            <a:solidFill>
              <a:srgbClr val="E2E8F0"/>
            </a:solidFill>
            <a:prstDash val="solid"/>
          </a:ln>
        </p:spPr>
        <p:txBody>
          <a:bodyPr/>
          <a:lstStyle/>
          <a:p>
            <a:endParaRPr lang="en-US"/>
          </a:p>
        </p:txBody>
      </p:sp>
      <p:sp>
        <p:nvSpPr>
          <p:cNvPr id="42" name="Text 40"/>
          <p:cNvSpPr/>
          <p:nvPr/>
        </p:nvSpPr>
        <p:spPr>
          <a:xfrm>
            <a:off x="850392" y="4187952"/>
            <a:ext cx="1783080" cy="100584"/>
          </a:xfrm>
          <a:prstGeom prst="rect">
            <a:avLst/>
          </a:prstGeom>
          <a:noFill/>
          <a:ln/>
        </p:spPr>
        <p:txBody>
          <a:bodyPr wrap="square" lIns="0" tIns="0" rIns="0" bIns="0" rtlCol="0" anchor="ctr">
            <a:normAutofit/>
          </a:bodyPr>
          <a:lstStyle/>
          <a:p>
            <a:pPr marL="0" indent="0">
              <a:buNone/>
            </a:pPr>
            <a:r>
              <a:rPr lang="en-US" sz="820" b="1" dirty="0">
                <a:solidFill>
                  <a:srgbClr val="0B1F33"/>
                </a:solidFill>
              </a:rPr>
              <a:t>Golden tests and regression gates</a:t>
            </a:r>
            <a:endParaRPr lang="en-US" sz="820" dirty="0"/>
          </a:p>
        </p:txBody>
      </p:sp>
      <p:sp>
        <p:nvSpPr>
          <p:cNvPr id="43" name="Text 41"/>
          <p:cNvSpPr/>
          <p:nvPr/>
        </p:nvSpPr>
        <p:spPr>
          <a:xfrm>
            <a:off x="2971800" y="4187952"/>
            <a:ext cx="1143000" cy="109728"/>
          </a:xfrm>
          <a:prstGeom prst="rect">
            <a:avLst/>
          </a:prstGeom>
          <a:noFill/>
          <a:ln/>
        </p:spPr>
        <p:txBody>
          <a:bodyPr wrap="square" lIns="0" tIns="0" rIns="0" bIns="0" rtlCol="0" anchor="ctr"/>
          <a:lstStyle/>
          <a:p>
            <a:pPr marL="0" indent="0" algn="ctr">
              <a:buNone/>
            </a:pPr>
            <a:r>
              <a:rPr lang="en-US" sz="1000" b="1" dirty="0">
                <a:solidFill>
                  <a:srgbClr val="0F766E"/>
                </a:solidFill>
              </a:rPr>
              <a:t>R</a:t>
            </a:r>
            <a:endParaRPr lang="en-US" sz="1000" dirty="0"/>
          </a:p>
        </p:txBody>
      </p:sp>
      <p:sp>
        <p:nvSpPr>
          <p:cNvPr id="44" name="Text 42"/>
          <p:cNvSpPr/>
          <p:nvPr/>
        </p:nvSpPr>
        <p:spPr>
          <a:xfrm>
            <a:off x="4343400" y="4187952"/>
            <a:ext cx="1143000" cy="109728"/>
          </a:xfrm>
          <a:prstGeom prst="rect">
            <a:avLst/>
          </a:prstGeom>
          <a:noFill/>
          <a:ln/>
        </p:spPr>
        <p:txBody>
          <a:bodyPr wrap="square" lIns="0" tIns="0" rIns="0" bIns="0" rtlCol="0" anchor="ctr"/>
          <a:lstStyle/>
          <a:p>
            <a:pPr marL="0" indent="0" algn="ctr">
              <a:buNone/>
            </a:pPr>
            <a:r>
              <a:rPr lang="en-US" sz="1000" b="1" dirty="0">
                <a:solidFill>
                  <a:srgbClr val="D97706"/>
                </a:solidFill>
              </a:rPr>
              <a:t>C</a:t>
            </a:r>
            <a:endParaRPr lang="en-US" sz="1000" dirty="0"/>
          </a:p>
        </p:txBody>
      </p:sp>
      <p:sp>
        <p:nvSpPr>
          <p:cNvPr id="45" name="Text 43"/>
          <p:cNvSpPr/>
          <p:nvPr/>
        </p:nvSpPr>
        <p:spPr>
          <a:xfrm>
            <a:off x="5989320" y="4187952"/>
            <a:ext cx="1097280" cy="109728"/>
          </a:xfrm>
          <a:prstGeom prst="rect">
            <a:avLst/>
          </a:prstGeom>
          <a:noFill/>
          <a:ln/>
        </p:spPr>
        <p:txBody>
          <a:bodyPr wrap="square" lIns="0" tIns="0" rIns="0" bIns="0" rtlCol="0" anchor="ctr"/>
          <a:lstStyle/>
          <a:p>
            <a:pPr marL="0" indent="0" algn="ctr">
              <a:buNone/>
            </a:pPr>
            <a:r>
              <a:rPr lang="en-US" sz="1000" b="1" dirty="0">
                <a:solidFill>
                  <a:srgbClr val="2563EB"/>
                </a:solidFill>
              </a:rPr>
              <a:t>A</a:t>
            </a:r>
            <a:endParaRPr lang="en-US" sz="1000" dirty="0"/>
          </a:p>
        </p:txBody>
      </p:sp>
      <p:sp>
        <p:nvSpPr>
          <p:cNvPr id="46" name="Text 44"/>
          <p:cNvSpPr/>
          <p:nvPr/>
        </p:nvSpPr>
        <p:spPr>
          <a:xfrm>
            <a:off x="7269480" y="4187952"/>
            <a:ext cx="1600200" cy="109728"/>
          </a:xfrm>
          <a:prstGeom prst="rect">
            <a:avLst/>
          </a:prstGeom>
          <a:noFill/>
          <a:ln/>
        </p:spPr>
        <p:txBody>
          <a:bodyPr wrap="square" lIns="0" tIns="0" rIns="0" bIns="0" rtlCol="0" anchor="ctr"/>
          <a:lstStyle/>
          <a:p>
            <a:pPr marL="0" indent="0" algn="ctr">
              <a:buNone/>
            </a:pPr>
            <a:r>
              <a:rPr lang="en-US" sz="1000" b="1" dirty="0">
                <a:solidFill>
                  <a:srgbClr val="D97706"/>
                </a:solidFill>
              </a:rPr>
              <a:t>C</a:t>
            </a:r>
            <a:endParaRPr lang="en-US" sz="1000" dirty="0"/>
          </a:p>
        </p:txBody>
      </p:sp>
      <p:sp>
        <p:nvSpPr>
          <p:cNvPr id="47" name="Text 45"/>
          <p:cNvSpPr/>
          <p:nvPr/>
        </p:nvSpPr>
        <p:spPr>
          <a:xfrm>
            <a:off x="9189720" y="4187952"/>
            <a:ext cx="1325880" cy="109728"/>
          </a:xfrm>
          <a:prstGeom prst="rect">
            <a:avLst/>
          </a:prstGeom>
          <a:noFill/>
          <a:ln/>
        </p:spPr>
        <p:txBody>
          <a:bodyPr wrap="square" lIns="0" tIns="0" rIns="0" bIns="0" rtlCol="0" anchor="ctr"/>
          <a:lstStyle/>
          <a:p>
            <a:pPr marL="0" indent="0" algn="ctr">
              <a:buNone/>
            </a:pPr>
            <a:r>
              <a:rPr lang="en-US" sz="1000" b="1" dirty="0">
                <a:solidFill>
                  <a:srgbClr val="D97706"/>
                </a:solidFill>
              </a:rPr>
              <a:t>C</a:t>
            </a:r>
            <a:endParaRPr lang="en-US" sz="1000" dirty="0"/>
          </a:p>
        </p:txBody>
      </p:sp>
      <p:sp>
        <p:nvSpPr>
          <p:cNvPr id="48" name="Shape 46"/>
          <p:cNvSpPr/>
          <p:nvPr/>
        </p:nvSpPr>
        <p:spPr>
          <a:xfrm>
            <a:off x="685800" y="4572000"/>
            <a:ext cx="10835640" cy="502920"/>
          </a:xfrm>
          <a:prstGeom prst="rect">
            <a:avLst/>
          </a:prstGeom>
          <a:solidFill>
            <a:srgbClr val="F8FAFC"/>
          </a:solidFill>
          <a:ln w="6350">
            <a:solidFill>
              <a:srgbClr val="E2E8F0"/>
            </a:solidFill>
            <a:prstDash val="solid"/>
          </a:ln>
        </p:spPr>
        <p:txBody>
          <a:bodyPr/>
          <a:lstStyle/>
          <a:p>
            <a:endParaRPr lang="en-US"/>
          </a:p>
        </p:txBody>
      </p:sp>
      <p:sp>
        <p:nvSpPr>
          <p:cNvPr id="49" name="Text 47"/>
          <p:cNvSpPr/>
          <p:nvPr/>
        </p:nvSpPr>
        <p:spPr>
          <a:xfrm>
            <a:off x="850392" y="4736592"/>
            <a:ext cx="1783080" cy="100584"/>
          </a:xfrm>
          <a:prstGeom prst="rect">
            <a:avLst/>
          </a:prstGeom>
          <a:noFill/>
          <a:ln/>
        </p:spPr>
        <p:txBody>
          <a:bodyPr wrap="square" lIns="0" tIns="0" rIns="0" bIns="0" rtlCol="0" anchor="ctr">
            <a:normAutofit/>
          </a:bodyPr>
          <a:lstStyle/>
          <a:p>
            <a:pPr marL="0" indent="0">
              <a:buNone/>
            </a:pPr>
            <a:r>
              <a:rPr lang="en-US" sz="820" b="1" dirty="0">
                <a:solidFill>
                  <a:srgbClr val="0B1F33"/>
                </a:solidFill>
              </a:rPr>
              <a:t>Production support and incidents</a:t>
            </a:r>
            <a:endParaRPr lang="en-US" sz="820" dirty="0"/>
          </a:p>
        </p:txBody>
      </p:sp>
      <p:sp>
        <p:nvSpPr>
          <p:cNvPr id="50" name="Text 48"/>
          <p:cNvSpPr/>
          <p:nvPr/>
        </p:nvSpPr>
        <p:spPr>
          <a:xfrm>
            <a:off x="2971800" y="4736592"/>
            <a:ext cx="1143000" cy="109728"/>
          </a:xfrm>
          <a:prstGeom prst="rect">
            <a:avLst/>
          </a:prstGeom>
          <a:noFill/>
          <a:ln/>
        </p:spPr>
        <p:txBody>
          <a:bodyPr wrap="square" lIns="0" tIns="0" rIns="0" bIns="0" rtlCol="0" anchor="ctr"/>
          <a:lstStyle/>
          <a:p>
            <a:pPr marL="0" indent="0" algn="ctr">
              <a:buNone/>
            </a:pPr>
            <a:r>
              <a:rPr lang="en-US" sz="1000" b="1" dirty="0">
                <a:solidFill>
                  <a:srgbClr val="2563EB"/>
                </a:solidFill>
              </a:rPr>
              <a:t>A</a:t>
            </a:r>
            <a:endParaRPr lang="en-US" sz="1000" dirty="0"/>
          </a:p>
        </p:txBody>
      </p:sp>
      <p:sp>
        <p:nvSpPr>
          <p:cNvPr id="51" name="Text 49"/>
          <p:cNvSpPr/>
          <p:nvPr/>
        </p:nvSpPr>
        <p:spPr>
          <a:xfrm>
            <a:off x="4343400" y="4736592"/>
            <a:ext cx="1143000" cy="109728"/>
          </a:xfrm>
          <a:prstGeom prst="rect">
            <a:avLst/>
          </a:prstGeom>
          <a:noFill/>
          <a:ln/>
        </p:spPr>
        <p:txBody>
          <a:bodyPr wrap="square" lIns="0" tIns="0" rIns="0" bIns="0" rtlCol="0" anchor="ctr"/>
          <a:lstStyle/>
          <a:p>
            <a:pPr marL="0" indent="0" algn="ctr">
              <a:buNone/>
            </a:pPr>
            <a:r>
              <a:rPr lang="en-US" sz="1000" b="1" dirty="0">
                <a:solidFill>
                  <a:srgbClr val="0F766E"/>
                </a:solidFill>
              </a:rPr>
              <a:t>R</a:t>
            </a:r>
            <a:endParaRPr lang="en-US" sz="1000" dirty="0"/>
          </a:p>
        </p:txBody>
      </p:sp>
      <p:sp>
        <p:nvSpPr>
          <p:cNvPr id="52" name="Text 50"/>
          <p:cNvSpPr/>
          <p:nvPr/>
        </p:nvSpPr>
        <p:spPr>
          <a:xfrm>
            <a:off x="5989320" y="4736592"/>
            <a:ext cx="1097280" cy="109728"/>
          </a:xfrm>
          <a:prstGeom prst="rect">
            <a:avLst/>
          </a:prstGeom>
          <a:noFill/>
          <a:ln/>
        </p:spPr>
        <p:txBody>
          <a:bodyPr wrap="square" lIns="0" tIns="0" rIns="0" bIns="0" rtlCol="0" anchor="ctr"/>
          <a:lstStyle/>
          <a:p>
            <a:pPr marL="0" indent="0" algn="ctr">
              <a:buNone/>
            </a:pPr>
            <a:r>
              <a:rPr lang="en-US" sz="1000" b="1" dirty="0">
                <a:solidFill>
                  <a:srgbClr val="0F766E"/>
                </a:solidFill>
              </a:rPr>
              <a:t>R</a:t>
            </a:r>
            <a:endParaRPr lang="en-US" sz="1000" dirty="0"/>
          </a:p>
        </p:txBody>
      </p:sp>
      <p:sp>
        <p:nvSpPr>
          <p:cNvPr id="53" name="Text 51"/>
          <p:cNvSpPr/>
          <p:nvPr/>
        </p:nvSpPr>
        <p:spPr>
          <a:xfrm>
            <a:off x="7269480" y="4736592"/>
            <a:ext cx="1600200" cy="109728"/>
          </a:xfrm>
          <a:prstGeom prst="rect">
            <a:avLst/>
          </a:prstGeom>
          <a:noFill/>
          <a:ln/>
        </p:spPr>
        <p:txBody>
          <a:bodyPr wrap="square" lIns="0" tIns="0" rIns="0" bIns="0" rtlCol="0" anchor="ctr"/>
          <a:lstStyle/>
          <a:p>
            <a:pPr marL="0" indent="0" algn="ctr">
              <a:buNone/>
            </a:pPr>
            <a:r>
              <a:rPr lang="en-US" sz="1000" b="1" dirty="0">
                <a:solidFill>
                  <a:srgbClr val="D97706"/>
                </a:solidFill>
              </a:rPr>
              <a:t>C</a:t>
            </a:r>
            <a:endParaRPr lang="en-US" sz="1000" dirty="0"/>
          </a:p>
        </p:txBody>
      </p:sp>
      <p:sp>
        <p:nvSpPr>
          <p:cNvPr id="54" name="Text 52"/>
          <p:cNvSpPr/>
          <p:nvPr/>
        </p:nvSpPr>
        <p:spPr>
          <a:xfrm>
            <a:off x="9189720" y="4736592"/>
            <a:ext cx="1325880" cy="109728"/>
          </a:xfrm>
          <a:prstGeom prst="rect">
            <a:avLst/>
          </a:prstGeom>
          <a:noFill/>
          <a:ln/>
        </p:spPr>
        <p:txBody>
          <a:bodyPr wrap="square" lIns="0" tIns="0" rIns="0" bIns="0" rtlCol="0" anchor="ctr"/>
          <a:lstStyle/>
          <a:p>
            <a:pPr marL="0" indent="0" algn="ctr">
              <a:buNone/>
            </a:pPr>
            <a:r>
              <a:rPr lang="en-US" sz="1000" b="1" dirty="0">
                <a:solidFill>
                  <a:srgbClr val="64748B"/>
                </a:solidFill>
              </a:rPr>
              <a:t>I</a:t>
            </a:r>
            <a:endParaRPr lang="en-US" sz="1000" dirty="0"/>
          </a:p>
        </p:txBody>
      </p:sp>
      <p:sp>
        <p:nvSpPr>
          <p:cNvPr id="55" name="Text 53"/>
          <p:cNvSpPr/>
          <p:nvPr/>
        </p:nvSpPr>
        <p:spPr>
          <a:xfrm>
            <a:off x="777240" y="5440680"/>
            <a:ext cx="5669280" cy="164592"/>
          </a:xfrm>
          <a:prstGeom prst="rect">
            <a:avLst/>
          </a:prstGeom>
          <a:noFill/>
          <a:ln/>
        </p:spPr>
        <p:txBody>
          <a:bodyPr wrap="square" lIns="0" tIns="0" rIns="0" bIns="0" rtlCol="0" anchor="ctr"/>
          <a:lstStyle/>
          <a:p>
            <a:pPr marL="0" indent="0">
              <a:buNone/>
            </a:pPr>
            <a:r>
              <a:rPr lang="en-US" sz="850" dirty="0">
                <a:solidFill>
                  <a:srgbClr val="64748B"/>
                </a:solidFill>
              </a:rPr>
              <a:t>R = Responsible  •  A = Accountable  •  C = Consulted  •  I = Informed</a:t>
            </a:r>
            <a:endParaRPr lang="en-US" sz="850" dirty="0"/>
          </a:p>
        </p:txBody>
      </p:sp>
      <p:sp>
        <p:nvSpPr>
          <p:cNvPr id="56" name="Text 54"/>
          <p:cNvSpPr/>
          <p:nvPr/>
        </p:nvSpPr>
        <p:spPr>
          <a:xfrm>
            <a:off x="777240" y="5833872"/>
            <a:ext cx="10607040" cy="201168"/>
          </a:xfrm>
          <a:prstGeom prst="rect">
            <a:avLst/>
          </a:prstGeom>
          <a:noFill/>
          <a:ln/>
        </p:spPr>
        <p:txBody>
          <a:bodyPr wrap="square" lIns="0" tIns="0" rIns="0" bIns="0" rtlCol="0" anchor="ctr">
            <a:normAutofit/>
          </a:bodyPr>
          <a:lstStyle/>
          <a:p>
            <a:pPr marL="0" indent="0" algn="ctr">
              <a:buNone/>
            </a:pPr>
            <a:r>
              <a:rPr lang="en-US" sz="1250" b="1" dirty="0">
                <a:solidFill>
                  <a:srgbClr val="0B1F33"/>
                </a:solidFill>
              </a:rPr>
              <a:t>Core principle: platform enables governance; domain teams own business semantics.</a:t>
            </a:r>
            <a:endParaRPr lang="en-US" sz="1250" dirty="0"/>
          </a:p>
        </p:txBody>
      </p:sp>
      <p:sp>
        <p:nvSpPr>
          <p:cNvPr id="57" name="Text 55"/>
          <p:cNvSpPr/>
          <p:nvPr/>
        </p:nvSpPr>
        <p:spPr>
          <a:xfrm>
            <a:off x="502920" y="6473952"/>
            <a:ext cx="2926080" cy="182880"/>
          </a:xfrm>
          <a:prstGeom prst="rect">
            <a:avLst/>
          </a:prstGeom>
          <a:noFill/>
          <a:ln/>
        </p:spPr>
        <p:txBody>
          <a:bodyPr wrap="square" lIns="0" tIns="0" rIns="0" bIns="0" rtlCol="0" anchor="ctr"/>
          <a:lstStyle/>
          <a:p>
            <a:pPr marL="0" indent="0">
              <a:buNone/>
            </a:pPr>
            <a:r>
              <a:rPr lang="en-US" sz="780" dirty="0">
                <a:solidFill>
                  <a:srgbClr val="64748B"/>
                </a:solidFill>
              </a:rPr>
              <a:t>EDGE MCP Strategy — Tranche 3</a:t>
            </a:r>
            <a:endParaRPr lang="en-US" sz="780" dirty="0"/>
          </a:p>
        </p:txBody>
      </p:sp>
      <p:sp>
        <p:nvSpPr>
          <p:cNvPr id="58" name="Text 56"/>
          <p:cNvSpPr/>
          <p:nvPr/>
        </p:nvSpPr>
        <p:spPr>
          <a:xfrm>
            <a:off x="11338560" y="6446520"/>
            <a:ext cx="347472" cy="219456"/>
          </a:xfrm>
          <a:prstGeom prst="rect">
            <a:avLst/>
          </a:prstGeom>
          <a:noFill/>
          <a:ln/>
        </p:spPr>
        <p:txBody>
          <a:bodyPr wrap="square" lIns="0" tIns="0" rIns="0" bIns="0" rtlCol="0" anchor="ctr"/>
          <a:lstStyle/>
          <a:p>
            <a:pPr marL="0" indent="0" algn="r">
              <a:buNone/>
            </a:pPr>
            <a:r>
              <a:rPr lang="en-US" sz="850" dirty="0">
                <a:solidFill>
                  <a:srgbClr val="64748B"/>
                </a:solidFill>
              </a:rPr>
              <a:t>26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txBody>
          <a:bodyPr/>
          <a:lstStyle/>
          <a:p>
            <a:endParaRPr lang="en-US"/>
          </a:p>
        </p:txBody>
      </p:sp>
      <p:sp>
        <p:nvSpPr>
          <p:cNvPr id="3" name="Shape 1"/>
          <p:cNvSpPr/>
          <p:nvPr/>
        </p:nvSpPr>
        <p:spPr>
          <a:xfrm>
            <a:off x="0" y="0"/>
            <a:ext cx="12191695" cy="100584"/>
          </a:xfrm>
          <a:prstGeom prst="rect">
            <a:avLst/>
          </a:prstGeom>
          <a:solidFill>
            <a:srgbClr val="2563EB"/>
          </a:solidFill>
          <a:ln w="12700">
            <a:solidFill>
              <a:srgbClr val="2563EB">
                <a:alpha val="0"/>
              </a:srgbClr>
            </a:solidFill>
            <a:prstDash val="solid"/>
          </a:ln>
        </p:spPr>
        <p:txBody>
          <a:bodyPr/>
          <a:lstStyle/>
          <a:p>
            <a:endParaRPr lang="en-US"/>
          </a:p>
        </p:txBody>
      </p:sp>
      <p:sp>
        <p:nvSpPr>
          <p:cNvPr id="4" name="Text 2"/>
          <p:cNvSpPr/>
          <p:nvPr/>
        </p:nvSpPr>
        <p:spPr>
          <a:xfrm>
            <a:off x="502920" y="310896"/>
            <a:ext cx="9966960" cy="411480"/>
          </a:xfrm>
          <a:prstGeom prst="rect">
            <a:avLst/>
          </a:prstGeom>
          <a:noFill/>
          <a:ln/>
        </p:spPr>
        <p:txBody>
          <a:bodyPr wrap="square" lIns="0" tIns="0" rIns="0" bIns="0" rtlCol="0" anchor="ctr">
            <a:normAutofit/>
          </a:bodyPr>
          <a:lstStyle/>
          <a:p>
            <a:pPr marL="0" indent="0">
              <a:buNone/>
            </a:pPr>
            <a:r>
              <a:rPr lang="en-US" sz="2400" b="1" dirty="0">
                <a:solidFill>
                  <a:srgbClr val="0B1F33"/>
                </a:solidFill>
                <a:latin typeface="Aptos Display" pitchFamily="34" charset="0"/>
                <a:ea typeface="Aptos Display" pitchFamily="34" charset="-122"/>
                <a:cs typeface="Aptos Display" pitchFamily="34" charset="-120"/>
              </a:rPr>
              <a:t>Certification Harness: Evals Before Production</a:t>
            </a:r>
            <a:endParaRPr lang="en-US" sz="2400" dirty="0"/>
          </a:p>
        </p:txBody>
      </p:sp>
      <p:sp>
        <p:nvSpPr>
          <p:cNvPr id="5" name="Text 3"/>
          <p:cNvSpPr/>
          <p:nvPr/>
        </p:nvSpPr>
        <p:spPr>
          <a:xfrm>
            <a:off x="521208" y="749808"/>
            <a:ext cx="10789920" cy="320040"/>
          </a:xfrm>
          <a:prstGeom prst="rect">
            <a:avLst/>
          </a:prstGeom>
          <a:noFill/>
          <a:ln/>
        </p:spPr>
        <p:txBody>
          <a:bodyPr wrap="square" lIns="0" tIns="0" rIns="0" bIns="0" rtlCol="0" anchor="ctr">
            <a:normAutofit/>
          </a:bodyPr>
          <a:lstStyle/>
          <a:p>
            <a:pPr marL="0" indent="0">
              <a:buNone/>
            </a:pPr>
            <a:r>
              <a:rPr lang="en-US" sz="1050" dirty="0">
                <a:solidFill>
                  <a:srgbClr val="64748B"/>
                </a:solidFill>
              </a:rPr>
              <a:t>A tool is not production-ready until both deterministic behavior and agent behavior are tested.</a:t>
            </a:r>
            <a:endParaRPr lang="en-US" sz="1050" dirty="0"/>
          </a:p>
        </p:txBody>
      </p:sp>
      <p:sp>
        <p:nvSpPr>
          <p:cNvPr id="6" name="Shape 4"/>
          <p:cNvSpPr/>
          <p:nvPr/>
        </p:nvSpPr>
        <p:spPr>
          <a:xfrm>
            <a:off x="1965960" y="1325880"/>
            <a:ext cx="7863840" cy="594360"/>
          </a:xfrm>
          <a:prstGeom prst="roundRect">
            <a:avLst>
              <a:gd name="adj" fmla="val 12308"/>
            </a:avLst>
          </a:prstGeom>
          <a:solidFill>
            <a:srgbClr val="FFFFFF"/>
          </a:solidFill>
          <a:ln w="12700">
            <a:solidFill>
              <a:srgbClr val="CBD5E1"/>
            </a:solidFill>
            <a:prstDash val="solid"/>
          </a:ln>
        </p:spPr>
        <p:txBody>
          <a:bodyPr/>
          <a:lstStyle/>
          <a:p>
            <a:endParaRPr lang="en-US"/>
          </a:p>
        </p:txBody>
      </p:sp>
      <p:sp>
        <p:nvSpPr>
          <p:cNvPr id="7" name="Shape 5"/>
          <p:cNvSpPr/>
          <p:nvPr/>
        </p:nvSpPr>
        <p:spPr>
          <a:xfrm>
            <a:off x="1965960" y="1325880"/>
            <a:ext cx="164592" cy="594360"/>
          </a:xfrm>
          <a:prstGeom prst="rect">
            <a:avLst/>
          </a:prstGeom>
          <a:solidFill>
            <a:srgbClr val="2563EB"/>
          </a:solidFill>
          <a:ln w="12700">
            <a:solidFill>
              <a:srgbClr val="2563EB">
                <a:alpha val="0"/>
              </a:srgbClr>
            </a:solidFill>
            <a:prstDash val="solid"/>
          </a:ln>
        </p:spPr>
        <p:txBody>
          <a:bodyPr/>
          <a:lstStyle/>
          <a:p>
            <a:endParaRPr lang="en-US"/>
          </a:p>
        </p:txBody>
      </p:sp>
      <p:sp>
        <p:nvSpPr>
          <p:cNvPr id="8" name="Text 6"/>
          <p:cNvSpPr/>
          <p:nvPr/>
        </p:nvSpPr>
        <p:spPr>
          <a:xfrm>
            <a:off x="2331720" y="1481328"/>
            <a:ext cx="2240280" cy="109728"/>
          </a:xfrm>
          <a:prstGeom prst="rect">
            <a:avLst/>
          </a:prstGeom>
          <a:noFill/>
          <a:ln/>
        </p:spPr>
        <p:txBody>
          <a:bodyPr wrap="square" lIns="0" tIns="0" rIns="0" bIns="0" rtlCol="0" anchor="ctr"/>
          <a:lstStyle/>
          <a:p>
            <a:pPr marL="0" indent="0">
              <a:buNone/>
            </a:pPr>
            <a:r>
              <a:rPr lang="en-US" sz="1020" b="1" dirty="0">
                <a:solidFill>
                  <a:srgbClr val="2563EB"/>
                </a:solidFill>
              </a:rPr>
              <a:t>1. Schema &amp; Contract</a:t>
            </a:r>
            <a:endParaRPr lang="en-US" sz="1020" dirty="0"/>
          </a:p>
        </p:txBody>
      </p:sp>
      <p:sp>
        <p:nvSpPr>
          <p:cNvPr id="9" name="Text 7"/>
          <p:cNvSpPr/>
          <p:nvPr/>
        </p:nvSpPr>
        <p:spPr>
          <a:xfrm>
            <a:off x="4892040" y="1481328"/>
            <a:ext cx="4480560" cy="109728"/>
          </a:xfrm>
          <a:prstGeom prst="rect">
            <a:avLst/>
          </a:prstGeom>
          <a:noFill/>
          <a:ln/>
        </p:spPr>
        <p:txBody>
          <a:bodyPr wrap="square" lIns="0" tIns="0" rIns="0" bIns="0" rtlCol="0" anchor="ctr">
            <a:normAutofit/>
          </a:bodyPr>
          <a:lstStyle/>
          <a:p>
            <a:pPr marL="0" indent="0">
              <a:buNone/>
            </a:pPr>
            <a:r>
              <a:rPr lang="en-US" sz="940" dirty="0">
                <a:solidFill>
                  <a:srgbClr val="334155"/>
                </a:solidFill>
              </a:rPr>
              <a:t>input/output validation, error model, examples</a:t>
            </a:r>
            <a:endParaRPr lang="en-US" sz="940" dirty="0"/>
          </a:p>
        </p:txBody>
      </p:sp>
      <p:sp>
        <p:nvSpPr>
          <p:cNvPr id="10" name="Shape 8"/>
          <p:cNvSpPr/>
          <p:nvPr/>
        </p:nvSpPr>
        <p:spPr>
          <a:xfrm>
            <a:off x="5897880" y="2057400"/>
            <a:ext cx="0" cy="155448"/>
          </a:xfrm>
          <a:prstGeom prst="line">
            <a:avLst/>
          </a:prstGeom>
          <a:noFill/>
          <a:ln w="10160">
            <a:solidFill>
              <a:srgbClr val="64748B"/>
            </a:solidFill>
            <a:prstDash val="solid"/>
            <a:headEnd type="none"/>
            <a:tailEnd type="triangle"/>
          </a:ln>
        </p:spPr>
        <p:txBody>
          <a:bodyPr/>
          <a:lstStyle/>
          <a:p>
            <a:endParaRPr lang="en-US"/>
          </a:p>
        </p:txBody>
      </p:sp>
      <p:sp>
        <p:nvSpPr>
          <p:cNvPr id="11" name="Shape 9"/>
          <p:cNvSpPr/>
          <p:nvPr/>
        </p:nvSpPr>
        <p:spPr>
          <a:xfrm>
            <a:off x="1965960" y="2167128"/>
            <a:ext cx="7863840" cy="594360"/>
          </a:xfrm>
          <a:prstGeom prst="roundRect">
            <a:avLst>
              <a:gd name="adj" fmla="val 12308"/>
            </a:avLst>
          </a:prstGeom>
          <a:solidFill>
            <a:srgbClr val="FFFFFF"/>
          </a:solidFill>
          <a:ln w="12700">
            <a:solidFill>
              <a:srgbClr val="CBD5E1"/>
            </a:solidFill>
            <a:prstDash val="solid"/>
          </a:ln>
        </p:spPr>
        <p:txBody>
          <a:bodyPr/>
          <a:lstStyle/>
          <a:p>
            <a:endParaRPr lang="en-US"/>
          </a:p>
        </p:txBody>
      </p:sp>
      <p:sp>
        <p:nvSpPr>
          <p:cNvPr id="12" name="Shape 10"/>
          <p:cNvSpPr/>
          <p:nvPr/>
        </p:nvSpPr>
        <p:spPr>
          <a:xfrm>
            <a:off x="1965960" y="2167128"/>
            <a:ext cx="164592" cy="594360"/>
          </a:xfrm>
          <a:prstGeom prst="rect">
            <a:avLst/>
          </a:prstGeom>
          <a:solidFill>
            <a:srgbClr val="0F766E"/>
          </a:solidFill>
          <a:ln w="12700">
            <a:solidFill>
              <a:srgbClr val="0F766E">
                <a:alpha val="0"/>
              </a:srgbClr>
            </a:solidFill>
            <a:prstDash val="solid"/>
          </a:ln>
        </p:spPr>
        <p:txBody>
          <a:bodyPr/>
          <a:lstStyle/>
          <a:p>
            <a:endParaRPr lang="en-US"/>
          </a:p>
        </p:txBody>
      </p:sp>
      <p:sp>
        <p:nvSpPr>
          <p:cNvPr id="13" name="Text 11"/>
          <p:cNvSpPr/>
          <p:nvPr/>
        </p:nvSpPr>
        <p:spPr>
          <a:xfrm>
            <a:off x="2331720" y="2322576"/>
            <a:ext cx="2240280" cy="109728"/>
          </a:xfrm>
          <a:prstGeom prst="rect">
            <a:avLst/>
          </a:prstGeom>
          <a:noFill/>
          <a:ln/>
        </p:spPr>
        <p:txBody>
          <a:bodyPr wrap="square" lIns="0" tIns="0" rIns="0" bIns="0" rtlCol="0" anchor="ctr"/>
          <a:lstStyle/>
          <a:p>
            <a:pPr marL="0" indent="0">
              <a:buNone/>
            </a:pPr>
            <a:r>
              <a:rPr lang="en-US" sz="1020" b="1" dirty="0">
                <a:solidFill>
                  <a:srgbClr val="0F766E"/>
                </a:solidFill>
              </a:rPr>
              <a:t>2. Deterministic Tool Tests</a:t>
            </a:r>
            <a:endParaRPr lang="en-US" sz="1020" dirty="0"/>
          </a:p>
        </p:txBody>
      </p:sp>
      <p:sp>
        <p:nvSpPr>
          <p:cNvPr id="14" name="Text 12"/>
          <p:cNvSpPr/>
          <p:nvPr/>
        </p:nvSpPr>
        <p:spPr>
          <a:xfrm>
            <a:off x="4892040" y="2322576"/>
            <a:ext cx="4480560" cy="109728"/>
          </a:xfrm>
          <a:prstGeom prst="rect">
            <a:avLst/>
          </a:prstGeom>
          <a:noFill/>
          <a:ln/>
        </p:spPr>
        <p:txBody>
          <a:bodyPr wrap="square" lIns="0" tIns="0" rIns="0" bIns="0" rtlCol="0" anchor="ctr">
            <a:normAutofit/>
          </a:bodyPr>
          <a:lstStyle/>
          <a:p>
            <a:pPr marL="0" indent="0">
              <a:buNone/>
            </a:pPr>
            <a:r>
              <a:rPr lang="en-US" sz="940" dirty="0">
                <a:solidFill>
                  <a:srgbClr val="334155"/>
                </a:solidFill>
              </a:rPr>
              <a:t>unit, integration, idempotency, stale data</a:t>
            </a:r>
            <a:endParaRPr lang="en-US" sz="940" dirty="0"/>
          </a:p>
        </p:txBody>
      </p:sp>
      <p:sp>
        <p:nvSpPr>
          <p:cNvPr id="15" name="Shape 13"/>
          <p:cNvSpPr/>
          <p:nvPr/>
        </p:nvSpPr>
        <p:spPr>
          <a:xfrm>
            <a:off x="5897880" y="2898648"/>
            <a:ext cx="0" cy="155448"/>
          </a:xfrm>
          <a:prstGeom prst="line">
            <a:avLst/>
          </a:prstGeom>
          <a:noFill/>
          <a:ln w="10160">
            <a:solidFill>
              <a:srgbClr val="64748B"/>
            </a:solidFill>
            <a:prstDash val="solid"/>
            <a:headEnd type="none"/>
            <a:tailEnd type="triangle"/>
          </a:ln>
        </p:spPr>
        <p:txBody>
          <a:bodyPr/>
          <a:lstStyle/>
          <a:p>
            <a:endParaRPr lang="en-US"/>
          </a:p>
        </p:txBody>
      </p:sp>
      <p:sp>
        <p:nvSpPr>
          <p:cNvPr id="16" name="Shape 14"/>
          <p:cNvSpPr/>
          <p:nvPr/>
        </p:nvSpPr>
        <p:spPr>
          <a:xfrm>
            <a:off x="1965960" y="3008376"/>
            <a:ext cx="7863840" cy="594360"/>
          </a:xfrm>
          <a:prstGeom prst="roundRect">
            <a:avLst>
              <a:gd name="adj" fmla="val 12308"/>
            </a:avLst>
          </a:prstGeom>
          <a:solidFill>
            <a:srgbClr val="FFFFFF"/>
          </a:solidFill>
          <a:ln w="12700">
            <a:solidFill>
              <a:srgbClr val="CBD5E1"/>
            </a:solidFill>
            <a:prstDash val="solid"/>
          </a:ln>
        </p:spPr>
        <p:txBody>
          <a:bodyPr/>
          <a:lstStyle/>
          <a:p>
            <a:endParaRPr lang="en-US"/>
          </a:p>
        </p:txBody>
      </p:sp>
      <p:sp>
        <p:nvSpPr>
          <p:cNvPr id="17" name="Shape 15"/>
          <p:cNvSpPr/>
          <p:nvPr/>
        </p:nvSpPr>
        <p:spPr>
          <a:xfrm>
            <a:off x="1965960" y="3008376"/>
            <a:ext cx="164592" cy="594360"/>
          </a:xfrm>
          <a:prstGeom prst="rect">
            <a:avLst/>
          </a:prstGeom>
          <a:solidFill>
            <a:srgbClr val="16A34A"/>
          </a:solidFill>
          <a:ln w="12700">
            <a:solidFill>
              <a:srgbClr val="16A34A">
                <a:alpha val="0"/>
              </a:srgbClr>
            </a:solidFill>
            <a:prstDash val="solid"/>
          </a:ln>
        </p:spPr>
        <p:txBody>
          <a:bodyPr/>
          <a:lstStyle/>
          <a:p>
            <a:endParaRPr lang="en-US"/>
          </a:p>
        </p:txBody>
      </p:sp>
      <p:sp>
        <p:nvSpPr>
          <p:cNvPr id="18" name="Text 16"/>
          <p:cNvSpPr/>
          <p:nvPr/>
        </p:nvSpPr>
        <p:spPr>
          <a:xfrm>
            <a:off x="2331720" y="3163824"/>
            <a:ext cx="2240280" cy="109728"/>
          </a:xfrm>
          <a:prstGeom prst="rect">
            <a:avLst/>
          </a:prstGeom>
          <a:noFill/>
          <a:ln/>
        </p:spPr>
        <p:txBody>
          <a:bodyPr wrap="square" lIns="0" tIns="0" rIns="0" bIns="0" rtlCol="0" anchor="ctr"/>
          <a:lstStyle/>
          <a:p>
            <a:pPr marL="0" indent="0">
              <a:buNone/>
            </a:pPr>
            <a:r>
              <a:rPr lang="en-US" sz="1020" b="1" dirty="0">
                <a:solidFill>
                  <a:srgbClr val="16A34A"/>
                </a:solidFill>
              </a:rPr>
              <a:t>3. Agent Behavior Tests</a:t>
            </a:r>
            <a:endParaRPr lang="en-US" sz="1020" dirty="0"/>
          </a:p>
        </p:txBody>
      </p:sp>
      <p:sp>
        <p:nvSpPr>
          <p:cNvPr id="19" name="Text 17"/>
          <p:cNvSpPr/>
          <p:nvPr/>
        </p:nvSpPr>
        <p:spPr>
          <a:xfrm>
            <a:off x="4892040" y="3163824"/>
            <a:ext cx="4480560" cy="109728"/>
          </a:xfrm>
          <a:prstGeom prst="rect">
            <a:avLst/>
          </a:prstGeom>
          <a:noFill/>
          <a:ln/>
        </p:spPr>
        <p:txBody>
          <a:bodyPr wrap="square" lIns="0" tIns="0" rIns="0" bIns="0" rtlCol="0" anchor="ctr">
            <a:normAutofit/>
          </a:bodyPr>
          <a:lstStyle/>
          <a:p>
            <a:pPr marL="0" indent="0">
              <a:buNone/>
            </a:pPr>
            <a:r>
              <a:rPr lang="en-US" sz="940" dirty="0">
                <a:solidFill>
                  <a:srgbClr val="334155"/>
                </a:solidFill>
              </a:rPr>
              <a:t>tool selection, parameter accuracy, tool sequence</a:t>
            </a:r>
            <a:endParaRPr lang="en-US" sz="940" dirty="0"/>
          </a:p>
        </p:txBody>
      </p:sp>
      <p:sp>
        <p:nvSpPr>
          <p:cNvPr id="20" name="Shape 18"/>
          <p:cNvSpPr/>
          <p:nvPr/>
        </p:nvSpPr>
        <p:spPr>
          <a:xfrm>
            <a:off x="5897880" y="3739896"/>
            <a:ext cx="0" cy="155448"/>
          </a:xfrm>
          <a:prstGeom prst="line">
            <a:avLst/>
          </a:prstGeom>
          <a:noFill/>
          <a:ln w="10160">
            <a:solidFill>
              <a:srgbClr val="64748B"/>
            </a:solidFill>
            <a:prstDash val="solid"/>
            <a:headEnd type="none"/>
            <a:tailEnd type="triangle"/>
          </a:ln>
        </p:spPr>
        <p:txBody>
          <a:bodyPr/>
          <a:lstStyle/>
          <a:p>
            <a:endParaRPr lang="en-US"/>
          </a:p>
        </p:txBody>
      </p:sp>
      <p:sp>
        <p:nvSpPr>
          <p:cNvPr id="21" name="Shape 19"/>
          <p:cNvSpPr/>
          <p:nvPr/>
        </p:nvSpPr>
        <p:spPr>
          <a:xfrm>
            <a:off x="1965960" y="3849624"/>
            <a:ext cx="7863840" cy="594360"/>
          </a:xfrm>
          <a:prstGeom prst="roundRect">
            <a:avLst>
              <a:gd name="adj" fmla="val 12308"/>
            </a:avLst>
          </a:prstGeom>
          <a:solidFill>
            <a:srgbClr val="FFFFFF"/>
          </a:solidFill>
          <a:ln w="12700">
            <a:solidFill>
              <a:srgbClr val="CBD5E1"/>
            </a:solidFill>
            <a:prstDash val="solid"/>
          </a:ln>
        </p:spPr>
        <p:txBody>
          <a:bodyPr/>
          <a:lstStyle/>
          <a:p>
            <a:endParaRPr lang="en-US"/>
          </a:p>
        </p:txBody>
      </p:sp>
      <p:sp>
        <p:nvSpPr>
          <p:cNvPr id="22" name="Shape 20"/>
          <p:cNvSpPr/>
          <p:nvPr/>
        </p:nvSpPr>
        <p:spPr>
          <a:xfrm>
            <a:off x="1965960" y="3849624"/>
            <a:ext cx="164592" cy="594360"/>
          </a:xfrm>
          <a:prstGeom prst="rect">
            <a:avLst/>
          </a:prstGeom>
          <a:solidFill>
            <a:srgbClr val="D97706"/>
          </a:solidFill>
          <a:ln w="12700">
            <a:solidFill>
              <a:srgbClr val="D97706">
                <a:alpha val="0"/>
              </a:srgbClr>
            </a:solidFill>
            <a:prstDash val="solid"/>
          </a:ln>
        </p:spPr>
        <p:txBody>
          <a:bodyPr/>
          <a:lstStyle/>
          <a:p>
            <a:endParaRPr lang="en-US"/>
          </a:p>
        </p:txBody>
      </p:sp>
      <p:sp>
        <p:nvSpPr>
          <p:cNvPr id="23" name="Text 21"/>
          <p:cNvSpPr/>
          <p:nvPr/>
        </p:nvSpPr>
        <p:spPr>
          <a:xfrm>
            <a:off x="2331720" y="4005072"/>
            <a:ext cx="2240280" cy="109728"/>
          </a:xfrm>
          <a:prstGeom prst="rect">
            <a:avLst/>
          </a:prstGeom>
          <a:noFill/>
          <a:ln/>
        </p:spPr>
        <p:txBody>
          <a:bodyPr wrap="square" lIns="0" tIns="0" rIns="0" bIns="0" rtlCol="0" anchor="ctr"/>
          <a:lstStyle/>
          <a:p>
            <a:pPr marL="0" indent="0">
              <a:buNone/>
            </a:pPr>
            <a:r>
              <a:rPr lang="en-US" sz="1020" b="1" dirty="0">
                <a:solidFill>
                  <a:srgbClr val="D97706"/>
                </a:solidFill>
              </a:rPr>
              <a:t>4. Grounding &amp; Evidence</a:t>
            </a:r>
            <a:endParaRPr lang="en-US" sz="1020" dirty="0"/>
          </a:p>
        </p:txBody>
      </p:sp>
      <p:sp>
        <p:nvSpPr>
          <p:cNvPr id="24" name="Text 22"/>
          <p:cNvSpPr/>
          <p:nvPr/>
        </p:nvSpPr>
        <p:spPr>
          <a:xfrm>
            <a:off x="4892040" y="4005072"/>
            <a:ext cx="4480560" cy="109728"/>
          </a:xfrm>
          <a:prstGeom prst="rect">
            <a:avLst/>
          </a:prstGeom>
          <a:noFill/>
          <a:ln/>
        </p:spPr>
        <p:txBody>
          <a:bodyPr wrap="square" lIns="0" tIns="0" rIns="0" bIns="0" rtlCol="0" anchor="ctr">
            <a:normAutofit/>
          </a:bodyPr>
          <a:lstStyle/>
          <a:p>
            <a:pPr marL="0" indent="0">
              <a:buNone/>
            </a:pPr>
            <a:r>
              <a:rPr lang="en-US" sz="940" dirty="0">
                <a:solidFill>
                  <a:srgbClr val="334155"/>
                </a:solidFill>
              </a:rPr>
              <a:t>claims reconcile to source data and lineage</a:t>
            </a:r>
            <a:endParaRPr lang="en-US" sz="940" dirty="0"/>
          </a:p>
        </p:txBody>
      </p:sp>
      <p:sp>
        <p:nvSpPr>
          <p:cNvPr id="25" name="Shape 23"/>
          <p:cNvSpPr/>
          <p:nvPr/>
        </p:nvSpPr>
        <p:spPr>
          <a:xfrm>
            <a:off x="5897880" y="4581144"/>
            <a:ext cx="0" cy="155448"/>
          </a:xfrm>
          <a:prstGeom prst="line">
            <a:avLst/>
          </a:prstGeom>
          <a:noFill/>
          <a:ln w="10160">
            <a:solidFill>
              <a:srgbClr val="64748B"/>
            </a:solidFill>
            <a:prstDash val="solid"/>
            <a:headEnd type="none"/>
            <a:tailEnd type="triangle"/>
          </a:ln>
        </p:spPr>
        <p:txBody>
          <a:bodyPr/>
          <a:lstStyle/>
          <a:p>
            <a:endParaRPr lang="en-US"/>
          </a:p>
        </p:txBody>
      </p:sp>
      <p:sp>
        <p:nvSpPr>
          <p:cNvPr id="26" name="Shape 24"/>
          <p:cNvSpPr/>
          <p:nvPr/>
        </p:nvSpPr>
        <p:spPr>
          <a:xfrm>
            <a:off x="1965960" y="4690872"/>
            <a:ext cx="7863840" cy="594360"/>
          </a:xfrm>
          <a:prstGeom prst="roundRect">
            <a:avLst>
              <a:gd name="adj" fmla="val 12308"/>
            </a:avLst>
          </a:prstGeom>
          <a:solidFill>
            <a:srgbClr val="FFFFFF"/>
          </a:solidFill>
          <a:ln w="12700">
            <a:solidFill>
              <a:srgbClr val="CBD5E1"/>
            </a:solidFill>
            <a:prstDash val="solid"/>
          </a:ln>
        </p:spPr>
        <p:txBody>
          <a:bodyPr/>
          <a:lstStyle/>
          <a:p>
            <a:endParaRPr lang="en-US"/>
          </a:p>
        </p:txBody>
      </p:sp>
      <p:sp>
        <p:nvSpPr>
          <p:cNvPr id="27" name="Shape 25"/>
          <p:cNvSpPr/>
          <p:nvPr/>
        </p:nvSpPr>
        <p:spPr>
          <a:xfrm>
            <a:off x="1965960" y="4690872"/>
            <a:ext cx="164592" cy="594360"/>
          </a:xfrm>
          <a:prstGeom prst="rect">
            <a:avLst/>
          </a:prstGeom>
          <a:solidFill>
            <a:srgbClr val="6D28D9"/>
          </a:solidFill>
          <a:ln w="12700">
            <a:solidFill>
              <a:srgbClr val="6D28D9">
                <a:alpha val="0"/>
              </a:srgbClr>
            </a:solidFill>
            <a:prstDash val="solid"/>
          </a:ln>
        </p:spPr>
        <p:txBody>
          <a:bodyPr/>
          <a:lstStyle/>
          <a:p>
            <a:endParaRPr lang="en-US"/>
          </a:p>
        </p:txBody>
      </p:sp>
      <p:sp>
        <p:nvSpPr>
          <p:cNvPr id="28" name="Text 26"/>
          <p:cNvSpPr/>
          <p:nvPr/>
        </p:nvSpPr>
        <p:spPr>
          <a:xfrm>
            <a:off x="2331720" y="4846320"/>
            <a:ext cx="2240280" cy="109728"/>
          </a:xfrm>
          <a:prstGeom prst="rect">
            <a:avLst/>
          </a:prstGeom>
          <a:noFill/>
          <a:ln/>
        </p:spPr>
        <p:txBody>
          <a:bodyPr wrap="square" lIns="0" tIns="0" rIns="0" bIns="0" rtlCol="0" anchor="ctr"/>
          <a:lstStyle/>
          <a:p>
            <a:pPr marL="0" indent="0">
              <a:buNone/>
            </a:pPr>
            <a:r>
              <a:rPr lang="en-US" sz="1020" b="1" dirty="0">
                <a:solidFill>
                  <a:srgbClr val="6D28D9"/>
                </a:solidFill>
              </a:rPr>
              <a:t>5. Regression Gate</a:t>
            </a:r>
            <a:endParaRPr lang="en-US" sz="1020" dirty="0"/>
          </a:p>
        </p:txBody>
      </p:sp>
      <p:sp>
        <p:nvSpPr>
          <p:cNvPr id="29" name="Text 27"/>
          <p:cNvSpPr/>
          <p:nvPr/>
        </p:nvSpPr>
        <p:spPr>
          <a:xfrm>
            <a:off x="4892040" y="4846320"/>
            <a:ext cx="4480560" cy="109728"/>
          </a:xfrm>
          <a:prstGeom prst="rect">
            <a:avLst/>
          </a:prstGeom>
          <a:noFill/>
          <a:ln/>
        </p:spPr>
        <p:txBody>
          <a:bodyPr wrap="square" lIns="0" tIns="0" rIns="0" bIns="0" rtlCol="0" anchor="ctr">
            <a:normAutofit/>
          </a:bodyPr>
          <a:lstStyle/>
          <a:p>
            <a:pPr marL="0" indent="0">
              <a:buNone/>
            </a:pPr>
            <a:r>
              <a:rPr lang="en-US" sz="940" dirty="0">
                <a:solidFill>
                  <a:srgbClr val="334155"/>
                </a:solidFill>
              </a:rPr>
              <a:t>model version + prompt + tool version changes</a:t>
            </a:r>
            <a:endParaRPr lang="en-US" sz="940" dirty="0"/>
          </a:p>
        </p:txBody>
      </p:sp>
      <p:sp>
        <p:nvSpPr>
          <p:cNvPr id="30" name="Shape 28"/>
          <p:cNvSpPr/>
          <p:nvPr/>
        </p:nvSpPr>
        <p:spPr>
          <a:xfrm>
            <a:off x="822960" y="5532120"/>
            <a:ext cx="10561320" cy="438912"/>
          </a:xfrm>
          <a:prstGeom prst="roundRect">
            <a:avLst>
              <a:gd name="adj" fmla="val 16667"/>
            </a:avLst>
          </a:prstGeom>
          <a:solidFill>
            <a:srgbClr val="F1F5F9"/>
          </a:solidFill>
          <a:ln w="12700">
            <a:solidFill>
              <a:srgbClr val="CBD5E1"/>
            </a:solidFill>
            <a:prstDash val="solid"/>
          </a:ln>
        </p:spPr>
        <p:txBody>
          <a:bodyPr/>
          <a:lstStyle/>
          <a:p>
            <a:endParaRPr lang="en-US"/>
          </a:p>
        </p:txBody>
      </p:sp>
      <p:sp>
        <p:nvSpPr>
          <p:cNvPr id="31" name="Text 29"/>
          <p:cNvSpPr/>
          <p:nvPr/>
        </p:nvSpPr>
        <p:spPr>
          <a:xfrm>
            <a:off x="960120" y="5696712"/>
            <a:ext cx="10287000" cy="109728"/>
          </a:xfrm>
          <a:prstGeom prst="rect">
            <a:avLst/>
          </a:prstGeom>
          <a:noFill/>
          <a:ln/>
        </p:spPr>
        <p:txBody>
          <a:bodyPr wrap="square" lIns="0" tIns="0" rIns="0" bIns="0" rtlCol="0" anchor="ctr">
            <a:normAutofit/>
          </a:bodyPr>
          <a:lstStyle/>
          <a:p>
            <a:pPr marL="0" indent="0" algn="ctr">
              <a:buNone/>
            </a:pPr>
            <a:r>
              <a:rPr lang="en-US" sz="940" b="1" dirty="0">
                <a:solidFill>
                  <a:srgbClr val="0B1F33"/>
                </a:solidFill>
              </a:rPr>
              <a:t>Certification output: approved tool version + risk tier + eligible agents + evaluation record + production SLO.</a:t>
            </a:r>
            <a:endParaRPr lang="en-US" sz="940" dirty="0"/>
          </a:p>
        </p:txBody>
      </p:sp>
      <p:sp>
        <p:nvSpPr>
          <p:cNvPr id="32" name="Text 30"/>
          <p:cNvSpPr/>
          <p:nvPr/>
        </p:nvSpPr>
        <p:spPr>
          <a:xfrm>
            <a:off x="502920" y="6473952"/>
            <a:ext cx="2926080" cy="182880"/>
          </a:xfrm>
          <a:prstGeom prst="rect">
            <a:avLst/>
          </a:prstGeom>
          <a:noFill/>
          <a:ln/>
        </p:spPr>
        <p:txBody>
          <a:bodyPr wrap="square" lIns="0" tIns="0" rIns="0" bIns="0" rtlCol="0" anchor="ctr"/>
          <a:lstStyle/>
          <a:p>
            <a:pPr marL="0" indent="0">
              <a:buNone/>
            </a:pPr>
            <a:r>
              <a:rPr lang="en-US" sz="780" dirty="0">
                <a:solidFill>
                  <a:srgbClr val="64748B"/>
                </a:solidFill>
              </a:rPr>
              <a:t>EDGE MCP Strategy — Tranche 3</a:t>
            </a:r>
            <a:endParaRPr lang="en-US" sz="780" dirty="0"/>
          </a:p>
        </p:txBody>
      </p:sp>
      <p:sp>
        <p:nvSpPr>
          <p:cNvPr id="33" name="Text 31"/>
          <p:cNvSpPr/>
          <p:nvPr/>
        </p:nvSpPr>
        <p:spPr>
          <a:xfrm>
            <a:off x="11338560" y="6446520"/>
            <a:ext cx="347472" cy="219456"/>
          </a:xfrm>
          <a:prstGeom prst="rect">
            <a:avLst/>
          </a:prstGeom>
          <a:noFill/>
          <a:ln/>
        </p:spPr>
        <p:txBody>
          <a:bodyPr wrap="square" lIns="0" tIns="0" rIns="0" bIns="0" rtlCol="0" anchor="ctr"/>
          <a:lstStyle/>
          <a:p>
            <a:pPr marL="0" indent="0" algn="r">
              <a:buNone/>
            </a:pPr>
            <a:r>
              <a:rPr lang="en-US" sz="850" dirty="0">
                <a:solidFill>
                  <a:srgbClr val="64748B"/>
                </a:solidFill>
              </a:rPr>
              <a:t>27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txBody>
          <a:bodyPr/>
          <a:lstStyle/>
          <a:p>
            <a:endParaRPr lang="en-US"/>
          </a:p>
        </p:txBody>
      </p:sp>
      <p:sp>
        <p:nvSpPr>
          <p:cNvPr id="3" name="Shape 1"/>
          <p:cNvSpPr/>
          <p:nvPr/>
        </p:nvSpPr>
        <p:spPr>
          <a:xfrm>
            <a:off x="0" y="0"/>
            <a:ext cx="12191695" cy="100584"/>
          </a:xfrm>
          <a:prstGeom prst="rect">
            <a:avLst/>
          </a:prstGeom>
          <a:solidFill>
            <a:srgbClr val="2563EB"/>
          </a:solidFill>
          <a:ln w="12700">
            <a:solidFill>
              <a:srgbClr val="2563EB">
                <a:alpha val="0"/>
              </a:srgbClr>
            </a:solidFill>
            <a:prstDash val="solid"/>
          </a:ln>
        </p:spPr>
        <p:txBody>
          <a:bodyPr/>
          <a:lstStyle/>
          <a:p>
            <a:endParaRPr lang="en-US"/>
          </a:p>
        </p:txBody>
      </p:sp>
      <p:sp>
        <p:nvSpPr>
          <p:cNvPr id="4" name="Text 2"/>
          <p:cNvSpPr/>
          <p:nvPr/>
        </p:nvSpPr>
        <p:spPr>
          <a:xfrm>
            <a:off x="502920" y="310896"/>
            <a:ext cx="9966960" cy="411480"/>
          </a:xfrm>
          <a:prstGeom prst="rect">
            <a:avLst/>
          </a:prstGeom>
          <a:noFill/>
          <a:ln/>
        </p:spPr>
        <p:txBody>
          <a:bodyPr wrap="square" lIns="0" tIns="0" rIns="0" bIns="0" rtlCol="0" anchor="ctr">
            <a:normAutofit/>
          </a:bodyPr>
          <a:lstStyle/>
          <a:p>
            <a:pPr marL="0" indent="0">
              <a:buNone/>
            </a:pPr>
            <a:r>
              <a:rPr lang="en-US" sz="2400" b="1" dirty="0">
                <a:solidFill>
                  <a:srgbClr val="0B1F33"/>
                </a:solidFill>
                <a:latin typeface="Aptos Display" pitchFamily="34" charset="0"/>
                <a:ea typeface="Aptos Display" pitchFamily="34" charset="-122"/>
                <a:cs typeface="Aptos Display" pitchFamily="34" charset="-120"/>
              </a:rPr>
              <a:t>Runtime Controls &amp; Incident Response</a:t>
            </a:r>
            <a:endParaRPr lang="en-US" sz="2400" dirty="0"/>
          </a:p>
        </p:txBody>
      </p:sp>
      <p:sp>
        <p:nvSpPr>
          <p:cNvPr id="5" name="Text 3"/>
          <p:cNvSpPr/>
          <p:nvPr/>
        </p:nvSpPr>
        <p:spPr>
          <a:xfrm>
            <a:off x="521208" y="749808"/>
            <a:ext cx="10789920" cy="320040"/>
          </a:xfrm>
          <a:prstGeom prst="rect">
            <a:avLst/>
          </a:prstGeom>
          <a:noFill/>
          <a:ln/>
        </p:spPr>
        <p:txBody>
          <a:bodyPr wrap="square" lIns="0" tIns="0" rIns="0" bIns="0" rtlCol="0" anchor="ctr">
            <a:normAutofit/>
          </a:bodyPr>
          <a:lstStyle/>
          <a:p>
            <a:pPr marL="0" indent="0">
              <a:buNone/>
            </a:pPr>
            <a:r>
              <a:rPr lang="en-US" sz="1050" dirty="0">
                <a:solidFill>
                  <a:srgbClr val="64748B"/>
                </a:solidFill>
              </a:rPr>
              <a:t>Assume tools will fail, models will choose poorly, and downstream systems will throttle. Design for containment.</a:t>
            </a:r>
            <a:endParaRPr lang="en-US" sz="1050" dirty="0"/>
          </a:p>
        </p:txBody>
      </p:sp>
      <p:sp>
        <p:nvSpPr>
          <p:cNvPr id="6" name="Shape 4"/>
          <p:cNvSpPr/>
          <p:nvPr/>
        </p:nvSpPr>
        <p:spPr>
          <a:xfrm>
            <a:off x="777240" y="1234440"/>
            <a:ext cx="10607040" cy="54864"/>
          </a:xfrm>
          <a:prstGeom prst="rect">
            <a:avLst/>
          </a:prstGeom>
          <a:solidFill>
            <a:srgbClr val="2563EB"/>
          </a:solidFill>
          <a:ln w="12700">
            <a:solidFill>
              <a:srgbClr val="2563EB">
                <a:alpha val="0"/>
              </a:srgbClr>
            </a:solidFill>
            <a:prstDash val="solid"/>
          </a:ln>
        </p:spPr>
        <p:txBody>
          <a:bodyPr/>
          <a:lstStyle/>
          <a:p>
            <a:endParaRPr lang="en-US"/>
          </a:p>
        </p:txBody>
      </p:sp>
      <p:sp>
        <p:nvSpPr>
          <p:cNvPr id="7" name="Text 5"/>
          <p:cNvSpPr/>
          <p:nvPr/>
        </p:nvSpPr>
        <p:spPr>
          <a:xfrm>
            <a:off x="777240" y="1325880"/>
            <a:ext cx="10607040" cy="219456"/>
          </a:xfrm>
          <a:prstGeom prst="rect">
            <a:avLst/>
          </a:prstGeom>
          <a:noFill/>
          <a:ln/>
        </p:spPr>
        <p:txBody>
          <a:bodyPr wrap="square" lIns="0" tIns="0" rIns="0" bIns="0" rtlCol="0" anchor="ctr">
            <a:normAutofit/>
          </a:bodyPr>
          <a:lstStyle/>
          <a:p>
            <a:pPr marL="0" indent="0">
              <a:buNone/>
            </a:pPr>
            <a:r>
              <a:rPr lang="en-US" sz="1000" b="1" dirty="0">
                <a:solidFill>
                  <a:srgbClr val="2563EB"/>
                </a:solidFill>
              </a:rPr>
              <a:t>RUNTIME CONTROL LOOP</a:t>
            </a:r>
            <a:endParaRPr lang="en-US" sz="1000" dirty="0"/>
          </a:p>
        </p:txBody>
      </p:sp>
      <p:sp>
        <p:nvSpPr>
          <p:cNvPr id="8" name="Shape 6"/>
          <p:cNvSpPr/>
          <p:nvPr/>
        </p:nvSpPr>
        <p:spPr>
          <a:xfrm>
            <a:off x="960120" y="1965960"/>
            <a:ext cx="1554480" cy="685800"/>
          </a:xfrm>
          <a:prstGeom prst="roundRect">
            <a:avLst>
              <a:gd name="adj" fmla="val 10667"/>
            </a:avLst>
          </a:prstGeom>
          <a:solidFill>
            <a:srgbClr val="FFFFFF"/>
          </a:solidFill>
          <a:ln w="12700">
            <a:solidFill>
              <a:srgbClr val="CBD5E1"/>
            </a:solidFill>
            <a:prstDash val="solid"/>
          </a:ln>
        </p:spPr>
        <p:txBody>
          <a:bodyPr/>
          <a:lstStyle/>
          <a:p>
            <a:endParaRPr lang="en-US"/>
          </a:p>
        </p:txBody>
      </p:sp>
      <p:sp>
        <p:nvSpPr>
          <p:cNvPr id="9" name="Text 7"/>
          <p:cNvSpPr/>
          <p:nvPr/>
        </p:nvSpPr>
        <p:spPr>
          <a:xfrm>
            <a:off x="1088136" y="2221992"/>
            <a:ext cx="1298448" cy="100584"/>
          </a:xfrm>
          <a:prstGeom prst="rect">
            <a:avLst/>
          </a:prstGeom>
          <a:noFill/>
          <a:ln/>
        </p:spPr>
        <p:txBody>
          <a:bodyPr wrap="square" lIns="508" tIns="508" rIns="508" bIns="508" rtlCol="0" anchor="ctr">
            <a:normAutofit/>
          </a:bodyPr>
          <a:lstStyle/>
          <a:p>
            <a:pPr marL="0" indent="0" algn="ctr">
              <a:buNone/>
            </a:pPr>
            <a:r>
              <a:rPr lang="en-US" sz="950" b="1" dirty="0">
                <a:solidFill>
                  <a:srgbClr val="2563EB"/>
                </a:solidFill>
              </a:rPr>
              <a:t>Request</a:t>
            </a:r>
            <a:endParaRPr lang="en-US" sz="950" dirty="0"/>
          </a:p>
        </p:txBody>
      </p:sp>
      <p:sp>
        <p:nvSpPr>
          <p:cNvPr id="10" name="Shape 8"/>
          <p:cNvSpPr/>
          <p:nvPr/>
        </p:nvSpPr>
        <p:spPr>
          <a:xfrm>
            <a:off x="2423160" y="2313432"/>
            <a:ext cx="292608" cy="0"/>
          </a:xfrm>
          <a:prstGeom prst="line">
            <a:avLst/>
          </a:prstGeom>
          <a:noFill/>
          <a:ln w="11430">
            <a:solidFill>
              <a:srgbClr val="64748B"/>
            </a:solidFill>
            <a:prstDash val="solid"/>
            <a:headEnd type="none"/>
            <a:tailEnd type="triangle"/>
          </a:ln>
        </p:spPr>
        <p:txBody>
          <a:bodyPr/>
          <a:lstStyle/>
          <a:p>
            <a:endParaRPr lang="en-US"/>
          </a:p>
        </p:txBody>
      </p:sp>
      <p:sp>
        <p:nvSpPr>
          <p:cNvPr id="11" name="Shape 9"/>
          <p:cNvSpPr/>
          <p:nvPr/>
        </p:nvSpPr>
        <p:spPr>
          <a:xfrm>
            <a:off x="2788920" y="1965960"/>
            <a:ext cx="1554480" cy="685800"/>
          </a:xfrm>
          <a:prstGeom prst="roundRect">
            <a:avLst>
              <a:gd name="adj" fmla="val 10667"/>
            </a:avLst>
          </a:prstGeom>
          <a:solidFill>
            <a:srgbClr val="FFFFFF"/>
          </a:solidFill>
          <a:ln w="12700">
            <a:solidFill>
              <a:srgbClr val="CBD5E1"/>
            </a:solidFill>
            <a:prstDash val="solid"/>
          </a:ln>
        </p:spPr>
        <p:txBody>
          <a:bodyPr/>
          <a:lstStyle/>
          <a:p>
            <a:endParaRPr lang="en-US"/>
          </a:p>
        </p:txBody>
      </p:sp>
      <p:sp>
        <p:nvSpPr>
          <p:cNvPr id="12" name="Text 10"/>
          <p:cNvSpPr/>
          <p:nvPr/>
        </p:nvSpPr>
        <p:spPr>
          <a:xfrm>
            <a:off x="2916936" y="2221992"/>
            <a:ext cx="1298448" cy="100584"/>
          </a:xfrm>
          <a:prstGeom prst="rect">
            <a:avLst/>
          </a:prstGeom>
          <a:noFill/>
          <a:ln/>
        </p:spPr>
        <p:txBody>
          <a:bodyPr wrap="square" lIns="508" tIns="508" rIns="508" bIns="508" rtlCol="0" anchor="ctr">
            <a:normAutofit/>
          </a:bodyPr>
          <a:lstStyle/>
          <a:p>
            <a:pPr marL="0" indent="0" algn="ctr">
              <a:buNone/>
            </a:pPr>
            <a:r>
              <a:rPr lang="en-US" sz="950" b="1" dirty="0">
                <a:solidFill>
                  <a:srgbClr val="6D28D9"/>
                </a:solidFill>
              </a:rPr>
              <a:t>Policy Check</a:t>
            </a:r>
            <a:endParaRPr lang="en-US" sz="950" dirty="0"/>
          </a:p>
        </p:txBody>
      </p:sp>
      <p:sp>
        <p:nvSpPr>
          <p:cNvPr id="13" name="Shape 11"/>
          <p:cNvSpPr/>
          <p:nvPr/>
        </p:nvSpPr>
        <p:spPr>
          <a:xfrm>
            <a:off x="4480560" y="2313432"/>
            <a:ext cx="292608" cy="0"/>
          </a:xfrm>
          <a:prstGeom prst="line">
            <a:avLst/>
          </a:prstGeom>
          <a:noFill/>
          <a:ln w="11430">
            <a:solidFill>
              <a:srgbClr val="64748B"/>
            </a:solidFill>
            <a:prstDash val="solid"/>
            <a:headEnd type="none"/>
            <a:tailEnd type="triangle"/>
          </a:ln>
        </p:spPr>
        <p:txBody>
          <a:bodyPr/>
          <a:lstStyle/>
          <a:p>
            <a:endParaRPr lang="en-US"/>
          </a:p>
        </p:txBody>
      </p:sp>
      <p:sp>
        <p:nvSpPr>
          <p:cNvPr id="14" name="Shape 12"/>
          <p:cNvSpPr/>
          <p:nvPr/>
        </p:nvSpPr>
        <p:spPr>
          <a:xfrm>
            <a:off x="4846320" y="1965960"/>
            <a:ext cx="1554480" cy="685800"/>
          </a:xfrm>
          <a:prstGeom prst="roundRect">
            <a:avLst>
              <a:gd name="adj" fmla="val 10667"/>
            </a:avLst>
          </a:prstGeom>
          <a:solidFill>
            <a:srgbClr val="FFFFFF"/>
          </a:solidFill>
          <a:ln w="12700">
            <a:solidFill>
              <a:srgbClr val="CBD5E1"/>
            </a:solidFill>
            <a:prstDash val="solid"/>
          </a:ln>
        </p:spPr>
        <p:txBody>
          <a:bodyPr/>
          <a:lstStyle/>
          <a:p>
            <a:endParaRPr lang="en-US"/>
          </a:p>
        </p:txBody>
      </p:sp>
      <p:sp>
        <p:nvSpPr>
          <p:cNvPr id="15" name="Text 13"/>
          <p:cNvSpPr/>
          <p:nvPr/>
        </p:nvSpPr>
        <p:spPr>
          <a:xfrm>
            <a:off x="4974336" y="2221992"/>
            <a:ext cx="1298448" cy="100584"/>
          </a:xfrm>
          <a:prstGeom prst="rect">
            <a:avLst/>
          </a:prstGeom>
          <a:noFill/>
          <a:ln/>
        </p:spPr>
        <p:txBody>
          <a:bodyPr wrap="square" lIns="508" tIns="508" rIns="508" bIns="508" rtlCol="0" anchor="ctr">
            <a:normAutofit/>
          </a:bodyPr>
          <a:lstStyle/>
          <a:p>
            <a:pPr marL="0" indent="0" algn="ctr">
              <a:buNone/>
            </a:pPr>
            <a:r>
              <a:rPr lang="en-US" sz="950" b="1" dirty="0">
                <a:solidFill>
                  <a:srgbClr val="0F766E"/>
                </a:solidFill>
              </a:rPr>
              <a:t>Tool Invoke</a:t>
            </a:r>
            <a:endParaRPr lang="en-US" sz="950" dirty="0"/>
          </a:p>
        </p:txBody>
      </p:sp>
      <p:sp>
        <p:nvSpPr>
          <p:cNvPr id="16" name="Shape 14"/>
          <p:cNvSpPr/>
          <p:nvPr/>
        </p:nvSpPr>
        <p:spPr>
          <a:xfrm>
            <a:off x="6537960" y="2313432"/>
            <a:ext cx="292608" cy="0"/>
          </a:xfrm>
          <a:prstGeom prst="line">
            <a:avLst/>
          </a:prstGeom>
          <a:noFill/>
          <a:ln w="11430">
            <a:solidFill>
              <a:srgbClr val="64748B"/>
            </a:solidFill>
            <a:prstDash val="solid"/>
            <a:headEnd type="none"/>
            <a:tailEnd type="triangle"/>
          </a:ln>
        </p:spPr>
        <p:txBody>
          <a:bodyPr/>
          <a:lstStyle/>
          <a:p>
            <a:endParaRPr lang="en-US"/>
          </a:p>
        </p:txBody>
      </p:sp>
      <p:sp>
        <p:nvSpPr>
          <p:cNvPr id="17" name="Shape 15"/>
          <p:cNvSpPr/>
          <p:nvPr/>
        </p:nvSpPr>
        <p:spPr>
          <a:xfrm>
            <a:off x="6903720" y="1965960"/>
            <a:ext cx="1554480" cy="685800"/>
          </a:xfrm>
          <a:prstGeom prst="roundRect">
            <a:avLst>
              <a:gd name="adj" fmla="val 10667"/>
            </a:avLst>
          </a:prstGeom>
          <a:solidFill>
            <a:srgbClr val="FFFFFF"/>
          </a:solidFill>
          <a:ln w="12700">
            <a:solidFill>
              <a:srgbClr val="CBD5E1"/>
            </a:solidFill>
            <a:prstDash val="solid"/>
          </a:ln>
        </p:spPr>
        <p:txBody>
          <a:bodyPr/>
          <a:lstStyle/>
          <a:p>
            <a:endParaRPr lang="en-US"/>
          </a:p>
        </p:txBody>
      </p:sp>
      <p:sp>
        <p:nvSpPr>
          <p:cNvPr id="18" name="Text 16"/>
          <p:cNvSpPr/>
          <p:nvPr/>
        </p:nvSpPr>
        <p:spPr>
          <a:xfrm>
            <a:off x="7031736" y="2221992"/>
            <a:ext cx="1298448" cy="100584"/>
          </a:xfrm>
          <a:prstGeom prst="rect">
            <a:avLst/>
          </a:prstGeom>
          <a:noFill/>
          <a:ln/>
        </p:spPr>
        <p:txBody>
          <a:bodyPr wrap="square" lIns="508" tIns="508" rIns="508" bIns="508" rtlCol="0" anchor="ctr">
            <a:normAutofit/>
          </a:bodyPr>
          <a:lstStyle/>
          <a:p>
            <a:pPr marL="0" indent="0" algn="ctr">
              <a:buNone/>
            </a:pPr>
            <a:r>
              <a:rPr lang="en-US" sz="950" b="1" dirty="0">
                <a:solidFill>
                  <a:srgbClr val="16A34A"/>
                </a:solidFill>
              </a:rPr>
              <a:t>Observe</a:t>
            </a:r>
            <a:endParaRPr lang="en-US" sz="950" dirty="0"/>
          </a:p>
        </p:txBody>
      </p:sp>
      <p:sp>
        <p:nvSpPr>
          <p:cNvPr id="19" name="Shape 17"/>
          <p:cNvSpPr/>
          <p:nvPr/>
        </p:nvSpPr>
        <p:spPr>
          <a:xfrm>
            <a:off x="8595360" y="2313432"/>
            <a:ext cx="292608" cy="0"/>
          </a:xfrm>
          <a:prstGeom prst="line">
            <a:avLst/>
          </a:prstGeom>
          <a:noFill/>
          <a:ln w="11430">
            <a:solidFill>
              <a:srgbClr val="64748B"/>
            </a:solidFill>
            <a:prstDash val="solid"/>
            <a:headEnd type="none"/>
            <a:tailEnd type="triangle"/>
          </a:ln>
        </p:spPr>
        <p:txBody>
          <a:bodyPr/>
          <a:lstStyle/>
          <a:p>
            <a:endParaRPr lang="en-US"/>
          </a:p>
        </p:txBody>
      </p:sp>
      <p:sp>
        <p:nvSpPr>
          <p:cNvPr id="20" name="Shape 18"/>
          <p:cNvSpPr/>
          <p:nvPr/>
        </p:nvSpPr>
        <p:spPr>
          <a:xfrm>
            <a:off x="8961120" y="1965960"/>
            <a:ext cx="1554480" cy="685800"/>
          </a:xfrm>
          <a:prstGeom prst="roundRect">
            <a:avLst>
              <a:gd name="adj" fmla="val 10667"/>
            </a:avLst>
          </a:prstGeom>
          <a:solidFill>
            <a:srgbClr val="FFFFFF"/>
          </a:solidFill>
          <a:ln w="12700">
            <a:solidFill>
              <a:srgbClr val="CBD5E1"/>
            </a:solidFill>
            <a:prstDash val="solid"/>
          </a:ln>
        </p:spPr>
        <p:txBody>
          <a:bodyPr/>
          <a:lstStyle/>
          <a:p>
            <a:endParaRPr lang="en-US"/>
          </a:p>
        </p:txBody>
      </p:sp>
      <p:sp>
        <p:nvSpPr>
          <p:cNvPr id="21" name="Text 19"/>
          <p:cNvSpPr/>
          <p:nvPr/>
        </p:nvSpPr>
        <p:spPr>
          <a:xfrm>
            <a:off x="9089136" y="2221992"/>
            <a:ext cx="1298448" cy="100584"/>
          </a:xfrm>
          <a:prstGeom prst="rect">
            <a:avLst/>
          </a:prstGeom>
          <a:noFill/>
          <a:ln/>
        </p:spPr>
        <p:txBody>
          <a:bodyPr wrap="square" lIns="508" tIns="508" rIns="508" bIns="508" rtlCol="0" anchor="ctr">
            <a:normAutofit/>
          </a:bodyPr>
          <a:lstStyle/>
          <a:p>
            <a:pPr marL="0" indent="0" algn="ctr">
              <a:buNone/>
            </a:pPr>
            <a:r>
              <a:rPr lang="en-US" sz="950" b="1" dirty="0">
                <a:solidFill>
                  <a:srgbClr val="DC2626"/>
                </a:solidFill>
              </a:rPr>
              <a:t>Contain / Escalate</a:t>
            </a:r>
            <a:endParaRPr lang="en-US" sz="950" dirty="0"/>
          </a:p>
        </p:txBody>
      </p:sp>
      <p:sp>
        <p:nvSpPr>
          <p:cNvPr id="22" name="Shape 20"/>
          <p:cNvSpPr/>
          <p:nvPr/>
        </p:nvSpPr>
        <p:spPr>
          <a:xfrm>
            <a:off x="749808" y="3749040"/>
            <a:ext cx="2084832" cy="804672"/>
          </a:xfrm>
          <a:prstGeom prst="roundRect">
            <a:avLst>
              <a:gd name="adj" fmla="val 9091"/>
            </a:avLst>
          </a:prstGeom>
          <a:solidFill>
            <a:srgbClr val="FFFFFF"/>
          </a:solidFill>
          <a:ln w="12700">
            <a:solidFill>
              <a:srgbClr val="CBD5E1"/>
            </a:solidFill>
            <a:prstDash val="solid"/>
          </a:ln>
        </p:spPr>
        <p:txBody>
          <a:bodyPr/>
          <a:lstStyle/>
          <a:p>
            <a:endParaRPr lang="en-US"/>
          </a:p>
        </p:txBody>
      </p:sp>
      <p:sp>
        <p:nvSpPr>
          <p:cNvPr id="23" name="Text 21"/>
          <p:cNvSpPr/>
          <p:nvPr/>
        </p:nvSpPr>
        <p:spPr>
          <a:xfrm>
            <a:off x="896112" y="3931920"/>
            <a:ext cx="1737360" cy="109728"/>
          </a:xfrm>
          <a:prstGeom prst="rect">
            <a:avLst/>
          </a:prstGeom>
          <a:noFill/>
          <a:ln/>
        </p:spPr>
        <p:txBody>
          <a:bodyPr wrap="square" lIns="0" tIns="0" rIns="0" bIns="0" rtlCol="0" anchor="ctr">
            <a:normAutofit/>
          </a:bodyPr>
          <a:lstStyle/>
          <a:p>
            <a:pPr marL="0" indent="0">
              <a:buNone/>
            </a:pPr>
            <a:r>
              <a:rPr lang="en-US" sz="940" b="1" dirty="0">
                <a:solidFill>
                  <a:srgbClr val="0B1F33"/>
                </a:solidFill>
              </a:rPr>
              <a:t>Kill switch</a:t>
            </a:r>
            <a:endParaRPr lang="en-US" sz="940" dirty="0"/>
          </a:p>
        </p:txBody>
      </p:sp>
      <p:sp>
        <p:nvSpPr>
          <p:cNvPr id="24" name="Text 22"/>
          <p:cNvSpPr/>
          <p:nvPr/>
        </p:nvSpPr>
        <p:spPr>
          <a:xfrm>
            <a:off x="896112" y="4187952"/>
            <a:ext cx="1737360" cy="109728"/>
          </a:xfrm>
          <a:prstGeom prst="rect">
            <a:avLst/>
          </a:prstGeom>
          <a:noFill/>
          <a:ln/>
        </p:spPr>
        <p:txBody>
          <a:bodyPr wrap="square" lIns="0" tIns="0" rIns="0" bIns="0" rtlCol="0" anchor="ctr">
            <a:normAutofit/>
          </a:bodyPr>
          <a:lstStyle/>
          <a:p>
            <a:pPr marL="0" indent="0">
              <a:buNone/>
            </a:pPr>
            <a:r>
              <a:rPr lang="en-US" sz="740" dirty="0">
                <a:solidFill>
                  <a:srgbClr val="64748B"/>
                </a:solidFill>
              </a:rPr>
              <a:t>disable tool, server or agent class</a:t>
            </a:r>
            <a:endParaRPr lang="en-US" sz="740" dirty="0"/>
          </a:p>
        </p:txBody>
      </p:sp>
      <p:sp>
        <p:nvSpPr>
          <p:cNvPr id="25" name="Shape 23"/>
          <p:cNvSpPr/>
          <p:nvPr/>
        </p:nvSpPr>
        <p:spPr>
          <a:xfrm>
            <a:off x="3017520" y="3749040"/>
            <a:ext cx="2084832" cy="804672"/>
          </a:xfrm>
          <a:prstGeom prst="roundRect">
            <a:avLst>
              <a:gd name="adj" fmla="val 9091"/>
            </a:avLst>
          </a:prstGeom>
          <a:solidFill>
            <a:srgbClr val="FFFFFF"/>
          </a:solidFill>
          <a:ln w="12700">
            <a:solidFill>
              <a:srgbClr val="CBD5E1"/>
            </a:solidFill>
            <a:prstDash val="solid"/>
          </a:ln>
        </p:spPr>
        <p:txBody>
          <a:bodyPr/>
          <a:lstStyle/>
          <a:p>
            <a:endParaRPr lang="en-US"/>
          </a:p>
        </p:txBody>
      </p:sp>
      <p:sp>
        <p:nvSpPr>
          <p:cNvPr id="26" name="Text 24"/>
          <p:cNvSpPr/>
          <p:nvPr/>
        </p:nvSpPr>
        <p:spPr>
          <a:xfrm>
            <a:off x="3163824" y="3931920"/>
            <a:ext cx="1737360" cy="109728"/>
          </a:xfrm>
          <a:prstGeom prst="rect">
            <a:avLst/>
          </a:prstGeom>
          <a:noFill/>
          <a:ln/>
        </p:spPr>
        <p:txBody>
          <a:bodyPr wrap="square" lIns="0" tIns="0" rIns="0" bIns="0" rtlCol="0" anchor="ctr">
            <a:normAutofit/>
          </a:bodyPr>
          <a:lstStyle/>
          <a:p>
            <a:pPr marL="0" indent="0">
              <a:buNone/>
            </a:pPr>
            <a:r>
              <a:rPr lang="en-US" sz="940" b="1" dirty="0">
                <a:solidFill>
                  <a:srgbClr val="0B1F33"/>
                </a:solidFill>
              </a:rPr>
              <a:t>Circuit breaker</a:t>
            </a:r>
            <a:endParaRPr lang="en-US" sz="940" dirty="0"/>
          </a:p>
        </p:txBody>
      </p:sp>
      <p:sp>
        <p:nvSpPr>
          <p:cNvPr id="27" name="Text 25"/>
          <p:cNvSpPr/>
          <p:nvPr/>
        </p:nvSpPr>
        <p:spPr>
          <a:xfrm>
            <a:off x="3163824" y="4187952"/>
            <a:ext cx="1737360" cy="109728"/>
          </a:xfrm>
          <a:prstGeom prst="rect">
            <a:avLst/>
          </a:prstGeom>
          <a:noFill/>
          <a:ln/>
        </p:spPr>
        <p:txBody>
          <a:bodyPr wrap="square" lIns="0" tIns="0" rIns="0" bIns="0" rtlCol="0" anchor="ctr">
            <a:normAutofit/>
          </a:bodyPr>
          <a:lstStyle/>
          <a:p>
            <a:pPr marL="0" indent="0">
              <a:buNone/>
            </a:pPr>
            <a:r>
              <a:rPr lang="en-US" sz="740" dirty="0">
                <a:solidFill>
                  <a:srgbClr val="64748B"/>
                </a:solidFill>
              </a:rPr>
              <a:t>stop retry storms and backend overload</a:t>
            </a:r>
            <a:endParaRPr lang="en-US" sz="740" dirty="0"/>
          </a:p>
        </p:txBody>
      </p:sp>
      <p:sp>
        <p:nvSpPr>
          <p:cNvPr id="28" name="Shape 26"/>
          <p:cNvSpPr/>
          <p:nvPr/>
        </p:nvSpPr>
        <p:spPr>
          <a:xfrm>
            <a:off x="5285232" y="3749040"/>
            <a:ext cx="2084832" cy="804672"/>
          </a:xfrm>
          <a:prstGeom prst="roundRect">
            <a:avLst>
              <a:gd name="adj" fmla="val 9091"/>
            </a:avLst>
          </a:prstGeom>
          <a:solidFill>
            <a:srgbClr val="FFFFFF"/>
          </a:solidFill>
          <a:ln w="12700">
            <a:solidFill>
              <a:srgbClr val="CBD5E1"/>
            </a:solidFill>
            <a:prstDash val="solid"/>
          </a:ln>
        </p:spPr>
        <p:txBody>
          <a:bodyPr/>
          <a:lstStyle/>
          <a:p>
            <a:endParaRPr lang="en-US"/>
          </a:p>
        </p:txBody>
      </p:sp>
      <p:sp>
        <p:nvSpPr>
          <p:cNvPr id="29" name="Text 27"/>
          <p:cNvSpPr/>
          <p:nvPr/>
        </p:nvSpPr>
        <p:spPr>
          <a:xfrm>
            <a:off x="5431536" y="3931920"/>
            <a:ext cx="1737360" cy="109728"/>
          </a:xfrm>
          <a:prstGeom prst="rect">
            <a:avLst/>
          </a:prstGeom>
          <a:noFill/>
          <a:ln/>
        </p:spPr>
        <p:txBody>
          <a:bodyPr wrap="square" lIns="0" tIns="0" rIns="0" bIns="0" rtlCol="0" anchor="ctr">
            <a:normAutofit/>
          </a:bodyPr>
          <a:lstStyle/>
          <a:p>
            <a:pPr marL="0" indent="0">
              <a:buNone/>
            </a:pPr>
            <a:r>
              <a:rPr lang="en-US" sz="940" b="1" dirty="0">
                <a:solidFill>
                  <a:srgbClr val="0B1F33"/>
                </a:solidFill>
              </a:rPr>
              <a:t>Degraded mode</a:t>
            </a:r>
            <a:endParaRPr lang="en-US" sz="940" dirty="0"/>
          </a:p>
        </p:txBody>
      </p:sp>
      <p:sp>
        <p:nvSpPr>
          <p:cNvPr id="30" name="Text 28"/>
          <p:cNvSpPr/>
          <p:nvPr/>
        </p:nvSpPr>
        <p:spPr>
          <a:xfrm>
            <a:off x="5431536" y="4187952"/>
            <a:ext cx="1737360" cy="109728"/>
          </a:xfrm>
          <a:prstGeom prst="rect">
            <a:avLst/>
          </a:prstGeom>
          <a:noFill/>
          <a:ln/>
        </p:spPr>
        <p:txBody>
          <a:bodyPr wrap="square" lIns="0" tIns="0" rIns="0" bIns="0" rtlCol="0" anchor="ctr">
            <a:normAutofit/>
          </a:bodyPr>
          <a:lstStyle/>
          <a:p>
            <a:pPr marL="0" indent="0">
              <a:buNone/>
            </a:pPr>
            <a:r>
              <a:rPr lang="en-US" sz="740" dirty="0">
                <a:solidFill>
                  <a:srgbClr val="64748B"/>
                </a:solidFill>
              </a:rPr>
              <a:t>fallback to read-only or draft-only</a:t>
            </a:r>
            <a:endParaRPr lang="en-US" sz="740" dirty="0"/>
          </a:p>
        </p:txBody>
      </p:sp>
      <p:sp>
        <p:nvSpPr>
          <p:cNvPr id="31" name="Shape 29"/>
          <p:cNvSpPr/>
          <p:nvPr/>
        </p:nvSpPr>
        <p:spPr>
          <a:xfrm>
            <a:off x="7552944" y="3749040"/>
            <a:ext cx="2084832" cy="804672"/>
          </a:xfrm>
          <a:prstGeom prst="roundRect">
            <a:avLst>
              <a:gd name="adj" fmla="val 9091"/>
            </a:avLst>
          </a:prstGeom>
          <a:solidFill>
            <a:srgbClr val="FFFFFF"/>
          </a:solidFill>
          <a:ln w="12700">
            <a:solidFill>
              <a:srgbClr val="CBD5E1"/>
            </a:solidFill>
            <a:prstDash val="solid"/>
          </a:ln>
        </p:spPr>
        <p:txBody>
          <a:bodyPr/>
          <a:lstStyle/>
          <a:p>
            <a:endParaRPr lang="en-US"/>
          </a:p>
        </p:txBody>
      </p:sp>
      <p:sp>
        <p:nvSpPr>
          <p:cNvPr id="32" name="Text 30"/>
          <p:cNvSpPr/>
          <p:nvPr/>
        </p:nvSpPr>
        <p:spPr>
          <a:xfrm>
            <a:off x="7699248" y="3931920"/>
            <a:ext cx="1737360" cy="109728"/>
          </a:xfrm>
          <a:prstGeom prst="rect">
            <a:avLst/>
          </a:prstGeom>
          <a:noFill/>
          <a:ln/>
        </p:spPr>
        <p:txBody>
          <a:bodyPr wrap="square" lIns="0" tIns="0" rIns="0" bIns="0" rtlCol="0" anchor="ctr">
            <a:normAutofit/>
          </a:bodyPr>
          <a:lstStyle/>
          <a:p>
            <a:pPr marL="0" indent="0">
              <a:buNone/>
            </a:pPr>
            <a:r>
              <a:rPr lang="en-US" sz="940" b="1" dirty="0">
                <a:solidFill>
                  <a:srgbClr val="0B1F33"/>
                </a:solidFill>
              </a:rPr>
              <a:t>Quarantine</a:t>
            </a:r>
            <a:endParaRPr lang="en-US" sz="940" dirty="0"/>
          </a:p>
        </p:txBody>
      </p:sp>
      <p:sp>
        <p:nvSpPr>
          <p:cNvPr id="33" name="Text 31"/>
          <p:cNvSpPr/>
          <p:nvPr/>
        </p:nvSpPr>
        <p:spPr>
          <a:xfrm>
            <a:off x="7699248" y="4187952"/>
            <a:ext cx="1737360" cy="109728"/>
          </a:xfrm>
          <a:prstGeom prst="rect">
            <a:avLst/>
          </a:prstGeom>
          <a:noFill/>
          <a:ln/>
        </p:spPr>
        <p:txBody>
          <a:bodyPr wrap="square" lIns="0" tIns="0" rIns="0" bIns="0" rtlCol="0" anchor="ctr">
            <a:normAutofit/>
          </a:bodyPr>
          <a:lstStyle/>
          <a:p>
            <a:pPr marL="0" indent="0">
              <a:buNone/>
            </a:pPr>
            <a:r>
              <a:rPr lang="en-US" sz="740" dirty="0">
                <a:solidFill>
                  <a:srgbClr val="64748B"/>
                </a:solidFill>
              </a:rPr>
              <a:t>block uncertified or anomalous tool versions</a:t>
            </a:r>
            <a:endParaRPr lang="en-US" sz="740" dirty="0"/>
          </a:p>
        </p:txBody>
      </p:sp>
      <p:sp>
        <p:nvSpPr>
          <p:cNvPr id="34" name="Shape 32"/>
          <p:cNvSpPr/>
          <p:nvPr/>
        </p:nvSpPr>
        <p:spPr>
          <a:xfrm>
            <a:off x="9820656" y="3749040"/>
            <a:ext cx="2084832" cy="804672"/>
          </a:xfrm>
          <a:prstGeom prst="roundRect">
            <a:avLst>
              <a:gd name="adj" fmla="val 9091"/>
            </a:avLst>
          </a:prstGeom>
          <a:solidFill>
            <a:srgbClr val="FFFFFF"/>
          </a:solidFill>
          <a:ln w="12700">
            <a:solidFill>
              <a:srgbClr val="CBD5E1"/>
            </a:solidFill>
            <a:prstDash val="solid"/>
          </a:ln>
        </p:spPr>
        <p:txBody>
          <a:bodyPr/>
          <a:lstStyle/>
          <a:p>
            <a:endParaRPr lang="en-US"/>
          </a:p>
        </p:txBody>
      </p:sp>
      <p:sp>
        <p:nvSpPr>
          <p:cNvPr id="35" name="Text 33"/>
          <p:cNvSpPr/>
          <p:nvPr/>
        </p:nvSpPr>
        <p:spPr>
          <a:xfrm>
            <a:off x="9966960" y="3931920"/>
            <a:ext cx="1737360" cy="109728"/>
          </a:xfrm>
          <a:prstGeom prst="rect">
            <a:avLst/>
          </a:prstGeom>
          <a:noFill/>
          <a:ln/>
        </p:spPr>
        <p:txBody>
          <a:bodyPr wrap="square" lIns="0" tIns="0" rIns="0" bIns="0" rtlCol="0" anchor="ctr">
            <a:normAutofit/>
          </a:bodyPr>
          <a:lstStyle/>
          <a:p>
            <a:pPr marL="0" indent="0">
              <a:buNone/>
            </a:pPr>
            <a:r>
              <a:rPr lang="en-US" sz="940" b="1" dirty="0">
                <a:solidFill>
                  <a:srgbClr val="0B1F33"/>
                </a:solidFill>
              </a:rPr>
              <a:t>Escalation</a:t>
            </a:r>
            <a:endParaRPr lang="en-US" sz="940" dirty="0"/>
          </a:p>
        </p:txBody>
      </p:sp>
      <p:sp>
        <p:nvSpPr>
          <p:cNvPr id="36" name="Text 34"/>
          <p:cNvSpPr/>
          <p:nvPr/>
        </p:nvSpPr>
        <p:spPr>
          <a:xfrm>
            <a:off x="9966960" y="4187952"/>
            <a:ext cx="1737360" cy="109728"/>
          </a:xfrm>
          <a:prstGeom prst="rect">
            <a:avLst/>
          </a:prstGeom>
          <a:noFill/>
          <a:ln/>
        </p:spPr>
        <p:txBody>
          <a:bodyPr wrap="square" lIns="0" tIns="0" rIns="0" bIns="0" rtlCol="0" anchor="ctr">
            <a:normAutofit/>
          </a:bodyPr>
          <a:lstStyle/>
          <a:p>
            <a:pPr marL="0" indent="0">
              <a:buNone/>
            </a:pPr>
            <a:r>
              <a:rPr lang="en-US" sz="740" dirty="0">
                <a:solidFill>
                  <a:srgbClr val="64748B"/>
                </a:solidFill>
              </a:rPr>
              <a:t>human owner + control desk path</a:t>
            </a:r>
            <a:endParaRPr lang="en-US" sz="740" dirty="0"/>
          </a:p>
        </p:txBody>
      </p:sp>
      <p:sp>
        <p:nvSpPr>
          <p:cNvPr id="37" name="Text 35"/>
          <p:cNvSpPr/>
          <p:nvPr/>
        </p:nvSpPr>
        <p:spPr>
          <a:xfrm>
            <a:off x="777240" y="5650992"/>
            <a:ext cx="10698480" cy="228600"/>
          </a:xfrm>
          <a:prstGeom prst="rect">
            <a:avLst/>
          </a:prstGeom>
          <a:noFill/>
          <a:ln/>
        </p:spPr>
        <p:txBody>
          <a:bodyPr wrap="square" lIns="0" tIns="0" rIns="0" bIns="0" rtlCol="0" anchor="ctr"/>
          <a:lstStyle/>
          <a:p>
            <a:pPr marL="0" indent="0" algn="ctr">
              <a:buNone/>
            </a:pPr>
            <a:r>
              <a:rPr lang="en-US" sz="1320" b="1" dirty="0">
                <a:solidFill>
                  <a:srgbClr val="0B1F33"/>
                </a:solidFill>
              </a:rPr>
              <a:t>Production posture: automation should fail safe, not fail open.</a:t>
            </a:r>
            <a:endParaRPr lang="en-US" sz="1320" dirty="0"/>
          </a:p>
        </p:txBody>
      </p:sp>
      <p:sp>
        <p:nvSpPr>
          <p:cNvPr id="38" name="Text 36"/>
          <p:cNvSpPr/>
          <p:nvPr/>
        </p:nvSpPr>
        <p:spPr>
          <a:xfrm>
            <a:off x="502920" y="6473952"/>
            <a:ext cx="2926080" cy="182880"/>
          </a:xfrm>
          <a:prstGeom prst="rect">
            <a:avLst/>
          </a:prstGeom>
          <a:noFill/>
          <a:ln/>
        </p:spPr>
        <p:txBody>
          <a:bodyPr wrap="square" lIns="0" tIns="0" rIns="0" bIns="0" rtlCol="0" anchor="ctr"/>
          <a:lstStyle/>
          <a:p>
            <a:pPr marL="0" indent="0">
              <a:buNone/>
            </a:pPr>
            <a:r>
              <a:rPr lang="en-US" sz="780" dirty="0">
                <a:solidFill>
                  <a:srgbClr val="64748B"/>
                </a:solidFill>
              </a:rPr>
              <a:t>EDGE MCP Strategy — Tranche 3</a:t>
            </a:r>
            <a:endParaRPr lang="en-US" sz="780" dirty="0"/>
          </a:p>
        </p:txBody>
      </p:sp>
      <p:sp>
        <p:nvSpPr>
          <p:cNvPr id="39" name="Text 37"/>
          <p:cNvSpPr/>
          <p:nvPr/>
        </p:nvSpPr>
        <p:spPr>
          <a:xfrm>
            <a:off x="11338560" y="6446520"/>
            <a:ext cx="347472" cy="219456"/>
          </a:xfrm>
          <a:prstGeom prst="rect">
            <a:avLst/>
          </a:prstGeom>
          <a:noFill/>
          <a:ln/>
        </p:spPr>
        <p:txBody>
          <a:bodyPr wrap="square" lIns="0" tIns="0" rIns="0" bIns="0" rtlCol="0" anchor="ctr"/>
          <a:lstStyle/>
          <a:p>
            <a:pPr marL="0" indent="0" algn="r">
              <a:buNone/>
            </a:pPr>
            <a:r>
              <a:rPr lang="en-US" sz="850" dirty="0">
                <a:solidFill>
                  <a:srgbClr val="64748B"/>
                </a:solidFill>
              </a:rPr>
              <a:t>28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txBody>
          <a:bodyPr/>
          <a:lstStyle/>
          <a:p>
            <a:endParaRPr lang="en-US"/>
          </a:p>
        </p:txBody>
      </p:sp>
      <p:sp>
        <p:nvSpPr>
          <p:cNvPr id="3" name="Shape 1"/>
          <p:cNvSpPr/>
          <p:nvPr/>
        </p:nvSpPr>
        <p:spPr>
          <a:xfrm>
            <a:off x="0" y="0"/>
            <a:ext cx="12191695" cy="100584"/>
          </a:xfrm>
          <a:prstGeom prst="rect">
            <a:avLst/>
          </a:prstGeom>
          <a:solidFill>
            <a:srgbClr val="2563EB"/>
          </a:solidFill>
          <a:ln w="12700">
            <a:solidFill>
              <a:srgbClr val="2563EB">
                <a:alpha val="0"/>
              </a:srgbClr>
            </a:solidFill>
            <a:prstDash val="solid"/>
          </a:ln>
        </p:spPr>
        <p:txBody>
          <a:bodyPr/>
          <a:lstStyle/>
          <a:p>
            <a:endParaRPr lang="en-US"/>
          </a:p>
        </p:txBody>
      </p:sp>
      <p:sp>
        <p:nvSpPr>
          <p:cNvPr id="4" name="Text 2"/>
          <p:cNvSpPr/>
          <p:nvPr/>
        </p:nvSpPr>
        <p:spPr>
          <a:xfrm>
            <a:off x="502920" y="310896"/>
            <a:ext cx="9966960" cy="411480"/>
          </a:xfrm>
          <a:prstGeom prst="rect">
            <a:avLst/>
          </a:prstGeom>
          <a:noFill/>
          <a:ln/>
        </p:spPr>
        <p:txBody>
          <a:bodyPr wrap="square" lIns="0" tIns="0" rIns="0" bIns="0" rtlCol="0" anchor="ctr">
            <a:normAutofit/>
          </a:bodyPr>
          <a:lstStyle/>
          <a:p>
            <a:pPr marL="0" indent="0">
              <a:buNone/>
            </a:pPr>
            <a:r>
              <a:rPr lang="en-US" sz="2400" b="1" dirty="0">
                <a:solidFill>
                  <a:srgbClr val="0B1F33"/>
                </a:solidFill>
                <a:latin typeface="Aptos Display" pitchFamily="34" charset="0"/>
                <a:ea typeface="Aptos Display" pitchFamily="34" charset="-122"/>
                <a:cs typeface="Aptos Display" pitchFamily="34" charset="-120"/>
              </a:rPr>
              <a:t>90-Day Implementation Roadmap</a:t>
            </a:r>
            <a:endParaRPr lang="en-US" sz="2400" dirty="0"/>
          </a:p>
        </p:txBody>
      </p:sp>
      <p:sp>
        <p:nvSpPr>
          <p:cNvPr id="5" name="Text 3"/>
          <p:cNvSpPr/>
          <p:nvPr/>
        </p:nvSpPr>
        <p:spPr>
          <a:xfrm>
            <a:off x="521208" y="749808"/>
            <a:ext cx="10789920" cy="320040"/>
          </a:xfrm>
          <a:prstGeom prst="rect">
            <a:avLst/>
          </a:prstGeom>
          <a:noFill/>
          <a:ln/>
        </p:spPr>
        <p:txBody>
          <a:bodyPr wrap="square" lIns="0" tIns="0" rIns="0" bIns="0" rtlCol="0" anchor="ctr">
            <a:normAutofit/>
          </a:bodyPr>
          <a:lstStyle/>
          <a:p>
            <a:pPr marL="0" indent="0">
              <a:buNone/>
            </a:pPr>
            <a:r>
              <a:rPr lang="en-US" sz="1050" dirty="0">
                <a:solidFill>
                  <a:srgbClr val="64748B"/>
                </a:solidFill>
              </a:rPr>
              <a:t>A pragmatic adoption path: standards first, two pilots next, enterprise scale after evidence.</a:t>
            </a:r>
            <a:endParaRPr lang="en-US" sz="1050" dirty="0"/>
          </a:p>
        </p:txBody>
      </p:sp>
      <p:sp>
        <p:nvSpPr>
          <p:cNvPr id="6" name="Shape 4"/>
          <p:cNvSpPr/>
          <p:nvPr/>
        </p:nvSpPr>
        <p:spPr>
          <a:xfrm>
            <a:off x="685800" y="1600200"/>
            <a:ext cx="3429000" cy="3703320"/>
          </a:xfrm>
          <a:prstGeom prst="roundRect">
            <a:avLst>
              <a:gd name="adj" fmla="val 2133"/>
            </a:avLst>
          </a:prstGeom>
          <a:solidFill>
            <a:srgbClr val="FFFFFF"/>
          </a:solidFill>
          <a:ln w="12700">
            <a:solidFill>
              <a:srgbClr val="CBD5E1"/>
            </a:solidFill>
            <a:prstDash val="solid"/>
          </a:ln>
        </p:spPr>
        <p:txBody>
          <a:bodyPr/>
          <a:lstStyle/>
          <a:p>
            <a:endParaRPr lang="en-US"/>
          </a:p>
        </p:txBody>
      </p:sp>
      <p:sp>
        <p:nvSpPr>
          <p:cNvPr id="7" name="Shape 5"/>
          <p:cNvSpPr/>
          <p:nvPr/>
        </p:nvSpPr>
        <p:spPr>
          <a:xfrm>
            <a:off x="685800" y="1600200"/>
            <a:ext cx="3429000" cy="384048"/>
          </a:xfrm>
          <a:prstGeom prst="rect">
            <a:avLst/>
          </a:prstGeom>
          <a:solidFill>
            <a:srgbClr val="2563EB"/>
          </a:solidFill>
          <a:ln w="12700">
            <a:solidFill>
              <a:srgbClr val="2563EB">
                <a:alpha val="0"/>
              </a:srgbClr>
            </a:solidFill>
            <a:prstDash val="solid"/>
          </a:ln>
        </p:spPr>
        <p:txBody>
          <a:bodyPr/>
          <a:lstStyle/>
          <a:p>
            <a:endParaRPr lang="en-US"/>
          </a:p>
        </p:txBody>
      </p:sp>
      <p:sp>
        <p:nvSpPr>
          <p:cNvPr id="8" name="Text 6"/>
          <p:cNvSpPr/>
          <p:nvPr/>
        </p:nvSpPr>
        <p:spPr>
          <a:xfrm>
            <a:off x="868680" y="1737360"/>
            <a:ext cx="3063240" cy="100584"/>
          </a:xfrm>
          <a:prstGeom prst="rect">
            <a:avLst/>
          </a:prstGeom>
          <a:noFill/>
          <a:ln/>
        </p:spPr>
        <p:txBody>
          <a:bodyPr wrap="square" lIns="508" tIns="508" rIns="508" bIns="508" rtlCol="0" anchor="ctr">
            <a:normAutofit/>
          </a:bodyPr>
          <a:lstStyle/>
          <a:p>
            <a:pPr marL="0" indent="0" algn="ctr">
              <a:buNone/>
            </a:pPr>
            <a:r>
              <a:rPr lang="en-US" sz="870" b="1" dirty="0">
                <a:solidFill>
                  <a:srgbClr val="FFFFFF"/>
                </a:solidFill>
              </a:rPr>
              <a:t>DAYS 0–30</a:t>
            </a:r>
            <a:endParaRPr lang="en-US" sz="870" dirty="0"/>
          </a:p>
        </p:txBody>
      </p:sp>
      <p:sp>
        <p:nvSpPr>
          <p:cNvPr id="9" name="Text 7"/>
          <p:cNvSpPr/>
          <p:nvPr/>
        </p:nvSpPr>
        <p:spPr>
          <a:xfrm>
            <a:off x="914400" y="2267712"/>
            <a:ext cx="2926080" cy="164592"/>
          </a:xfrm>
          <a:prstGeom prst="rect">
            <a:avLst/>
          </a:prstGeom>
          <a:noFill/>
          <a:ln/>
        </p:spPr>
        <p:txBody>
          <a:bodyPr wrap="square" lIns="0" tIns="0" rIns="0" bIns="0" rtlCol="0" anchor="ctr">
            <a:normAutofit/>
          </a:bodyPr>
          <a:lstStyle/>
          <a:p>
            <a:pPr marL="0" indent="0" algn="ctr">
              <a:buNone/>
            </a:pPr>
            <a:r>
              <a:rPr lang="en-US" sz="1500" b="1" dirty="0">
                <a:solidFill>
                  <a:srgbClr val="2563EB"/>
                </a:solidFill>
              </a:rPr>
              <a:t>Foundation</a:t>
            </a:r>
            <a:endParaRPr lang="en-US" sz="1500" dirty="0"/>
          </a:p>
        </p:txBody>
      </p:sp>
      <p:sp>
        <p:nvSpPr>
          <p:cNvPr id="10" name="Text 8"/>
          <p:cNvSpPr/>
          <p:nvPr/>
        </p:nvSpPr>
        <p:spPr>
          <a:xfrm>
            <a:off x="1051560" y="2907792"/>
            <a:ext cx="146304" cy="182880"/>
          </a:xfrm>
          <a:prstGeom prst="rect">
            <a:avLst/>
          </a:prstGeom>
          <a:noFill/>
          <a:ln/>
        </p:spPr>
        <p:txBody>
          <a:bodyPr wrap="square" lIns="0" tIns="0" rIns="0" bIns="0" rtlCol="0" anchor="ctr"/>
          <a:lstStyle/>
          <a:p>
            <a:pPr marL="0" indent="0">
              <a:buNone/>
            </a:pPr>
            <a:r>
              <a:rPr lang="en-US" sz="1000" b="1" dirty="0">
                <a:solidFill>
                  <a:srgbClr val="2563EB"/>
                </a:solidFill>
              </a:rPr>
              <a:t>•</a:t>
            </a:r>
            <a:endParaRPr lang="en-US" sz="1000" dirty="0"/>
          </a:p>
        </p:txBody>
      </p:sp>
      <p:sp>
        <p:nvSpPr>
          <p:cNvPr id="11" name="Text 9"/>
          <p:cNvSpPr/>
          <p:nvPr/>
        </p:nvSpPr>
        <p:spPr>
          <a:xfrm>
            <a:off x="1252728" y="2898648"/>
            <a:ext cx="2788920" cy="237744"/>
          </a:xfrm>
          <a:prstGeom prst="rect">
            <a:avLst/>
          </a:prstGeom>
          <a:noFill/>
          <a:ln/>
        </p:spPr>
        <p:txBody>
          <a:bodyPr wrap="square" lIns="0" tIns="0" rIns="0" bIns="0" rtlCol="0" anchor="ctr">
            <a:normAutofit/>
          </a:bodyPr>
          <a:lstStyle/>
          <a:p>
            <a:pPr marL="0" indent="0">
              <a:buNone/>
            </a:pPr>
            <a:r>
              <a:rPr lang="en-US" sz="1000" dirty="0">
                <a:solidFill>
                  <a:srgbClr val="111827"/>
                </a:solidFill>
              </a:rPr>
              <a:t>Finalize MCP standards</a:t>
            </a:r>
            <a:endParaRPr lang="en-US" sz="1000" dirty="0"/>
          </a:p>
        </p:txBody>
      </p:sp>
      <p:sp>
        <p:nvSpPr>
          <p:cNvPr id="12" name="Text 10"/>
          <p:cNvSpPr/>
          <p:nvPr/>
        </p:nvSpPr>
        <p:spPr>
          <a:xfrm>
            <a:off x="1051560" y="3319272"/>
            <a:ext cx="146304" cy="182880"/>
          </a:xfrm>
          <a:prstGeom prst="rect">
            <a:avLst/>
          </a:prstGeom>
          <a:noFill/>
          <a:ln/>
        </p:spPr>
        <p:txBody>
          <a:bodyPr wrap="square" lIns="0" tIns="0" rIns="0" bIns="0" rtlCol="0" anchor="ctr"/>
          <a:lstStyle/>
          <a:p>
            <a:pPr marL="0" indent="0">
              <a:buNone/>
            </a:pPr>
            <a:r>
              <a:rPr lang="en-US" sz="1000" b="1" dirty="0">
                <a:solidFill>
                  <a:srgbClr val="2563EB"/>
                </a:solidFill>
              </a:rPr>
              <a:t>•</a:t>
            </a:r>
            <a:endParaRPr lang="en-US" sz="1000" dirty="0"/>
          </a:p>
        </p:txBody>
      </p:sp>
      <p:sp>
        <p:nvSpPr>
          <p:cNvPr id="13" name="Text 11"/>
          <p:cNvSpPr/>
          <p:nvPr/>
        </p:nvSpPr>
        <p:spPr>
          <a:xfrm>
            <a:off x="1252728" y="3310128"/>
            <a:ext cx="2788920" cy="237744"/>
          </a:xfrm>
          <a:prstGeom prst="rect">
            <a:avLst/>
          </a:prstGeom>
          <a:noFill/>
          <a:ln/>
        </p:spPr>
        <p:txBody>
          <a:bodyPr wrap="square" lIns="0" tIns="0" rIns="0" bIns="0" rtlCol="0" anchor="ctr">
            <a:normAutofit/>
          </a:bodyPr>
          <a:lstStyle/>
          <a:p>
            <a:pPr marL="0" indent="0">
              <a:buNone/>
            </a:pPr>
            <a:r>
              <a:rPr lang="en-US" sz="1000" dirty="0">
                <a:solidFill>
                  <a:srgbClr val="111827"/>
                </a:solidFill>
              </a:rPr>
              <a:t>Define risk tiers and RACI</a:t>
            </a:r>
            <a:endParaRPr lang="en-US" sz="1000" dirty="0"/>
          </a:p>
        </p:txBody>
      </p:sp>
      <p:sp>
        <p:nvSpPr>
          <p:cNvPr id="14" name="Text 12"/>
          <p:cNvSpPr/>
          <p:nvPr/>
        </p:nvSpPr>
        <p:spPr>
          <a:xfrm>
            <a:off x="1051560" y="3730752"/>
            <a:ext cx="146304" cy="182880"/>
          </a:xfrm>
          <a:prstGeom prst="rect">
            <a:avLst/>
          </a:prstGeom>
          <a:noFill/>
          <a:ln/>
        </p:spPr>
        <p:txBody>
          <a:bodyPr wrap="square" lIns="0" tIns="0" rIns="0" bIns="0" rtlCol="0" anchor="ctr"/>
          <a:lstStyle/>
          <a:p>
            <a:pPr marL="0" indent="0">
              <a:buNone/>
            </a:pPr>
            <a:r>
              <a:rPr lang="en-US" sz="1000" b="1" dirty="0">
                <a:solidFill>
                  <a:srgbClr val="2563EB"/>
                </a:solidFill>
              </a:rPr>
              <a:t>•</a:t>
            </a:r>
            <a:endParaRPr lang="en-US" sz="1000" dirty="0"/>
          </a:p>
        </p:txBody>
      </p:sp>
      <p:sp>
        <p:nvSpPr>
          <p:cNvPr id="15" name="Text 13"/>
          <p:cNvSpPr/>
          <p:nvPr/>
        </p:nvSpPr>
        <p:spPr>
          <a:xfrm>
            <a:off x="1252728" y="3721608"/>
            <a:ext cx="2788920" cy="237744"/>
          </a:xfrm>
          <a:prstGeom prst="rect">
            <a:avLst/>
          </a:prstGeom>
          <a:noFill/>
          <a:ln/>
        </p:spPr>
        <p:txBody>
          <a:bodyPr wrap="square" lIns="0" tIns="0" rIns="0" bIns="0" rtlCol="0" anchor="ctr">
            <a:normAutofit/>
          </a:bodyPr>
          <a:lstStyle/>
          <a:p>
            <a:pPr marL="0" indent="0">
              <a:buNone/>
            </a:pPr>
            <a:r>
              <a:rPr lang="en-US" sz="1000" dirty="0">
                <a:solidFill>
                  <a:srgbClr val="111827"/>
                </a:solidFill>
              </a:rPr>
              <a:t>Stand up initial registry</a:t>
            </a:r>
            <a:endParaRPr lang="en-US" sz="1000" dirty="0"/>
          </a:p>
        </p:txBody>
      </p:sp>
      <p:sp>
        <p:nvSpPr>
          <p:cNvPr id="16" name="Text 14"/>
          <p:cNvSpPr/>
          <p:nvPr/>
        </p:nvSpPr>
        <p:spPr>
          <a:xfrm>
            <a:off x="1051560" y="4142232"/>
            <a:ext cx="146304" cy="182880"/>
          </a:xfrm>
          <a:prstGeom prst="rect">
            <a:avLst/>
          </a:prstGeom>
          <a:noFill/>
          <a:ln/>
        </p:spPr>
        <p:txBody>
          <a:bodyPr wrap="square" lIns="0" tIns="0" rIns="0" bIns="0" rtlCol="0" anchor="ctr"/>
          <a:lstStyle/>
          <a:p>
            <a:pPr marL="0" indent="0">
              <a:buNone/>
            </a:pPr>
            <a:r>
              <a:rPr lang="en-US" sz="1000" b="1" dirty="0">
                <a:solidFill>
                  <a:srgbClr val="2563EB"/>
                </a:solidFill>
              </a:rPr>
              <a:t>•</a:t>
            </a:r>
            <a:endParaRPr lang="en-US" sz="1000" dirty="0"/>
          </a:p>
        </p:txBody>
      </p:sp>
      <p:sp>
        <p:nvSpPr>
          <p:cNvPr id="17" name="Text 15"/>
          <p:cNvSpPr/>
          <p:nvPr/>
        </p:nvSpPr>
        <p:spPr>
          <a:xfrm>
            <a:off x="1252728" y="4133088"/>
            <a:ext cx="2788920" cy="237744"/>
          </a:xfrm>
          <a:prstGeom prst="rect">
            <a:avLst/>
          </a:prstGeom>
          <a:noFill/>
          <a:ln/>
        </p:spPr>
        <p:txBody>
          <a:bodyPr wrap="square" lIns="0" tIns="0" rIns="0" bIns="0" rtlCol="0" anchor="ctr">
            <a:normAutofit/>
          </a:bodyPr>
          <a:lstStyle/>
          <a:p>
            <a:pPr marL="0" indent="0">
              <a:buNone/>
            </a:pPr>
            <a:r>
              <a:rPr lang="en-US" sz="1000" dirty="0">
                <a:solidFill>
                  <a:srgbClr val="111827"/>
                </a:solidFill>
              </a:rPr>
              <a:t>Select two EDGE pilots</a:t>
            </a:r>
            <a:endParaRPr lang="en-US" sz="1000" dirty="0"/>
          </a:p>
        </p:txBody>
      </p:sp>
      <p:sp>
        <p:nvSpPr>
          <p:cNvPr id="18" name="Shape 16"/>
          <p:cNvSpPr/>
          <p:nvPr/>
        </p:nvSpPr>
        <p:spPr>
          <a:xfrm>
            <a:off x="4178808" y="3456432"/>
            <a:ext cx="237744" cy="0"/>
          </a:xfrm>
          <a:prstGeom prst="line">
            <a:avLst/>
          </a:prstGeom>
          <a:noFill/>
          <a:ln w="12700">
            <a:solidFill>
              <a:srgbClr val="64748B"/>
            </a:solidFill>
            <a:prstDash val="solid"/>
            <a:headEnd type="none"/>
            <a:tailEnd type="triangle"/>
          </a:ln>
        </p:spPr>
        <p:txBody>
          <a:bodyPr/>
          <a:lstStyle/>
          <a:p>
            <a:endParaRPr lang="en-US"/>
          </a:p>
        </p:txBody>
      </p:sp>
      <p:sp>
        <p:nvSpPr>
          <p:cNvPr id="19" name="Shape 17"/>
          <p:cNvSpPr/>
          <p:nvPr/>
        </p:nvSpPr>
        <p:spPr>
          <a:xfrm>
            <a:off x="4480560" y="1600200"/>
            <a:ext cx="3429000" cy="3703320"/>
          </a:xfrm>
          <a:prstGeom prst="roundRect">
            <a:avLst>
              <a:gd name="adj" fmla="val 2133"/>
            </a:avLst>
          </a:prstGeom>
          <a:solidFill>
            <a:srgbClr val="FFFFFF"/>
          </a:solidFill>
          <a:ln w="12700">
            <a:solidFill>
              <a:srgbClr val="CBD5E1"/>
            </a:solidFill>
            <a:prstDash val="solid"/>
          </a:ln>
        </p:spPr>
        <p:txBody>
          <a:bodyPr/>
          <a:lstStyle/>
          <a:p>
            <a:endParaRPr lang="en-US"/>
          </a:p>
        </p:txBody>
      </p:sp>
      <p:sp>
        <p:nvSpPr>
          <p:cNvPr id="20" name="Shape 18"/>
          <p:cNvSpPr/>
          <p:nvPr/>
        </p:nvSpPr>
        <p:spPr>
          <a:xfrm>
            <a:off x="4480560" y="1600200"/>
            <a:ext cx="3429000" cy="384048"/>
          </a:xfrm>
          <a:prstGeom prst="rect">
            <a:avLst/>
          </a:prstGeom>
          <a:solidFill>
            <a:srgbClr val="0F766E"/>
          </a:solidFill>
          <a:ln w="12700">
            <a:solidFill>
              <a:srgbClr val="0F766E">
                <a:alpha val="0"/>
              </a:srgbClr>
            </a:solidFill>
            <a:prstDash val="solid"/>
          </a:ln>
        </p:spPr>
        <p:txBody>
          <a:bodyPr/>
          <a:lstStyle/>
          <a:p>
            <a:endParaRPr lang="en-US"/>
          </a:p>
        </p:txBody>
      </p:sp>
      <p:sp>
        <p:nvSpPr>
          <p:cNvPr id="21" name="Text 19"/>
          <p:cNvSpPr/>
          <p:nvPr/>
        </p:nvSpPr>
        <p:spPr>
          <a:xfrm>
            <a:off x="4663440" y="1737360"/>
            <a:ext cx="3063240" cy="100584"/>
          </a:xfrm>
          <a:prstGeom prst="rect">
            <a:avLst/>
          </a:prstGeom>
          <a:noFill/>
          <a:ln/>
        </p:spPr>
        <p:txBody>
          <a:bodyPr wrap="square" lIns="508" tIns="508" rIns="508" bIns="508" rtlCol="0" anchor="ctr">
            <a:normAutofit/>
          </a:bodyPr>
          <a:lstStyle/>
          <a:p>
            <a:pPr marL="0" indent="0" algn="ctr">
              <a:buNone/>
            </a:pPr>
            <a:r>
              <a:rPr lang="en-US" sz="870" b="1" dirty="0">
                <a:solidFill>
                  <a:srgbClr val="FFFFFF"/>
                </a:solidFill>
              </a:rPr>
              <a:t>DAYS 31–60</a:t>
            </a:r>
            <a:endParaRPr lang="en-US" sz="870" dirty="0"/>
          </a:p>
        </p:txBody>
      </p:sp>
      <p:sp>
        <p:nvSpPr>
          <p:cNvPr id="22" name="Text 20"/>
          <p:cNvSpPr/>
          <p:nvPr/>
        </p:nvSpPr>
        <p:spPr>
          <a:xfrm>
            <a:off x="4709160" y="2267712"/>
            <a:ext cx="2926080" cy="164592"/>
          </a:xfrm>
          <a:prstGeom prst="rect">
            <a:avLst/>
          </a:prstGeom>
          <a:noFill/>
          <a:ln/>
        </p:spPr>
        <p:txBody>
          <a:bodyPr wrap="square" lIns="0" tIns="0" rIns="0" bIns="0" rtlCol="0" anchor="ctr">
            <a:normAutofit/>
          </a:bodyPr>
          <a:lstStyle/>
          <a:p>
            <a:pPr marL="0" indent="0" algn="ctr">
              <a:buNone/>
            </a:pPr>
            <a:r>
              <a:rPr lang="en-US" sz="1500" b="1" dirty="0">
                <a:solidFill>
                  <a:srgbClr val="0F766E"/>
                </a:solidFill>
              </a:rPr>
              <a:t>Pilot Build</a:t>
            </a:r>
            <a:endParaRPr lang="en-US" sz="1500" dirty="0"/>
          </a:p>
        </p:txBody>
      </p:sp>
      <p:sp>
        <p:nvSpPr>
          <p:cNvPr id="23" name="Text 21"/>
          <p:cNvSpPr/>
          <p:nvPr/>
        </p:nvSpPr>
        <p:spPr>
          <a:xfrm>
            <a:off x="4846320" y="2907792"/>
            <a:ext cx="146304" cy="182880"/>
          </a:xfrm>
          <a:prstGeom prst="rect">
            <a:avLst/>
          </a:prstGeom>
          <a:noFill/>
          <a:ln/>
        </p:spPr>
        <p:txBody>
          <a:bodyPr wrap="square" lIns="0" tIns="0" rIns="0" bIns="0" rtlCol="0" anchor="ctr"/>
          <a:lstStyle/>
          <a:p>
            <a:pPr marL="0" indent="0">
              <a:buNone/>
            </a:pPr>
            <a:r>
              <a:rPr lang="en-US" sz="1000" b="1" dirty="0">
                <a:solidFill>
                  <a:srgbClr val="0F766E"/>
                </a:solidFill>
              </a:rPr>
              <a:t>•</a:t>
            </a:r>
            <a:endParaRPr lang="en-US" sz="1000" dirty="0"/>
          </a:p>
        </p:txBody>
      </p:sp>
      <p:sp>
        <p:nvSpPr>
          <p:cNvPr id="24" name="Text 22"/>
          <p:cNvSpPr/>
          <p:nvPr/>
        </p:nvSpPr>
        <p:spPr>
          <a:xfrm>
            <a:off x="5047488" y="2898648"/>
            <a:ext cx="2788920" cy="237744"/>
          </a:xfrm>
          <a:prstGeom prst="rect">
            <a:avLst/>
          </a:prstGeom>
          <a:noFill/>
          <a:ln/>
        </p:spPr>
        <p:txBody>
          <a:bodyPr wrap="square" lIns="0" tIns="0" rIns="0" bIns="0" rtlCol="0" anchor="ctr">
            <a:normAutofit/>
          </a:bodyPr>
          <a:lstStyle/>
          <a:p>
            <a:pPr marL="0" indent="0">
              <a:buNone/>
            </a:pPr>
            <a:r>
              <a:rPr lang="en-US" sz="1000" dirty="0">
                <a:solidFill>
                  <a:srgbClr val="111827"/>
                </a:solidFill>
              </a:rPr>
              <a:t>Build gateway MVP path</a:t>
            </a:r>
            <a:endParaRPr lang="en-US" sz="1000" dirty="0"/>
          </a:p>
        </p:txBody>
      </p:sp>
      <p:sp>
        <p:nvSpPr>
          <p:cNvPr id="25" name="Text 23"/>
          <p:cNvSpPr/>
          <p:nvPr/>
        </p:nvSpPr>
        <p:spPr>
          <a:xfrm>
            <a:off x="4846320" y="3319272"/>
            <a:ext cx="146304" cy="182880"/>
          </a:xfrm>
          <a:prstGeom prst="rect">
            <a:avLst/>
          </a:prstGeom>
          <a:noFill/>
          <a:ln/>
        </p:spPr>
        <p:txBody>
          <a:bodyPr wrap="square" lIns="0" tIns="0" rIns="0" bIns="0" rtlCol="0" anchor="ctr"/>
          <a:lstStyle/>
          <a:p>
            <a:pPr marL="0" indent="0">
              <a:buNone/>
            </a:pPr>
            <a:r>
              <a:rPr lang="en-US" sz="1000" b="1" dirty="0">
                <a:solidFill>
                  <a:srgbClr val="0F766E"/>
                </a:solidFill>
              </a:rPr>
              <a:t>•</a:t>
            </a:r>
            <a:endParaRPr lang="en-US" sz="1000" dirty="0"/>
          </a:p>
        </p:txBody>
      </p:sp>
      <p:sp>
        <p:nvSpPr>
          <p:cNvPr id="26" name="Text 24"/>
          <p:cNvSpPr/>
          <p:nvPr/>
        </p:nvSpPr>
        <p:spPr>
          <a:xfrm>
            <a:off x="5047488" y="3310128"/>
            <a:ext cx="2788920" cy="237744"/>
          </a:xfrm>
          <a:prstGeom prst="rect">
            <a:avLst/>
          </a:prstGeom>
          <a:noFill/>
          <a:ln/>
        </p:spPr>
        <p:txBody>
          <a:bodyPr wrap="square" lIns="0" tIns="0" rIns="0" bIns="0" rtlCol="0" anchor="ctr">
            <a:normAutofit/>
          </a:bodyPr>
          <a:lstStyle/>
          <a:p>
            <a:pPr marL="0" indent="0">
              <a:buNone/>
            </a:pPr>
            <a:r>
              <a:rPr lang="en-US" sz="1000" dirty="0">
                <a:solidFill>
                  <a:srgbClr val="111827"/>
                </a:solidFill>
              </a:rPr>
              <a:t>Implement candidate MCP servers</a:t>
            </a:r>
            <a:endParaRPr lang="en-US" sz="1000" dirty="0"/>
          </a:p>
        </p:txBody>
      </p:sp>
      <p:sp>
        <p:nvSpPr>
          <p:cNvPr id="27" name="Text 25"/>
          <p:cNvSpPr/>
          <p:nvPr/>
        </p:nvSpPr>
        <p:spPr>
          <a:xfrm>
            <a:off x="4846320" y="3730752"/>
            <a:ext cx="146304" cy="182880"/>
          </a:xfrm>
          <a:prstGeom prst="rect">
            <a:avLst/>
          </a:prstGeom>
          <a:noFill/>
          <a:ln/>
        </p:spPr>
        <p:txBody>
          <a:bodyPr wrap="square" lIns="0" tIns="0" rIns="0" bIns="0" rtlCol="0" anchor="ctr"/>
          <a:lstStyle/>
          <a:p>
            <a:pPr marL="0" indent="0">
              <a:buNone/>
            </a:pPr>
            <a:r>
              <a:rPr lang="en-US" sz="1000" b="1" dirty="0">
                <a:solidFill>
                  <a:srgbClr val="0F766E"/>
                </a:solidFill>
              </a:rPr>
              <a:t>•</a:t>
            </a:r>
            <a:endParaRPr lang="en-US" sz="1000" dirty="0"/>
          </a:p>
        </p:txBody>
      </p:sp>
      <p:sp>
        <p:nvSpPr>
          <p:cNvPr id="28" name="Text 26"/>
          <p:cNvSpPr/>
          <p:nvPr/>
        </p:nvSpPr>
        <p:spPr>
          <a:xfrm>
            <a:off x="5047488" y="3721608"/>
            <a:ext cx="2788920" cy="237744"/>
          </a:xfrm>
          <a:prstGeom prst="rect">
            <a:avLst/>
          </a:prstGeom>
          <a:noFill/>
          <a:ln/>
        </p:spPr>
        <p:txBody>
          <a:bodyPr wrap="square" lIns="0" tIns="0" rIns="0" bIns="0" rtlCol="0" anchor="ctr">
            <a:normAutofit/>
          </a:bodyPr>
          <a:lstStyle/>
          <a:p>
            <a:pPr marL="0" indent="0">
              <a:buNone/>
            </a:pPr>
            <a:r>
              <a:rPr lang="en-US" sz="1000" dirty="0">
                <a:solidFill>
                  <a:srgbClr val="111827"/>
                </a:solidFill>
              </a:rPr>
              <a:t>Create golden eval datasets</a:t>
            </a:r>
            <a:endParaRPr lang="en-US" sz="1000" dirty="0"/>
          </a:p>
        </p:txBody>
      </p:sp>
      <p:sp>
        <p:nvSpPr>
          <p:cNvPr id="29" name="Text 27"/>
          <p:cNvSpPr/>
          <p:nvPr/>
        </p:nvSpPr>
        <p:spPr>
          <a:xfrm>
            <a:off x="4846320" y="4142232"/>
            <a:ext cx="146304" cy="182880"/>
          </a:xfrm>
          <a:prstGeom prst="rect">
            <a:avLst/>
          </a:prstGeom>
          <a:noFill/>
          <a:ln/>
        </p:spPr>
        <p:txBody>
          <a:bodyPr wrap="square" lIns="0" tIns="0" rIns="0" bIns="0" rtlCol="0" anchor="ctr"/>
          <a:lstStyle/>
          <a:p>
            <a:pPr marL="0" indent="0">
              <a:buNone/>
            </a:pPr>
            <a:r>
              <a:rPr lang="en-US" sz="1000" b="1" dirty="0">
                <a:solidFill>
                  <a:srgbClr val="0F766E"/>
                </a:solidFill>
              </a:rPr>
              <a:t>•</a:t>
            </a:r>
            <a:endParaRPr lang="en-US" sz="1000" dirty="0"/>
          </a:p>
        </p:txBody>
      </p:sp>
      <p:sp>
        <p:nvSpPr>
          <p:cNvPr id="30" name="Text 28"/>
          <p:cNvSpPr/>
          <p:nvPr/>
        </p:nvSpPr>
        <p:spPr>
          <a:xfrm>
            <a:off x="5047488" y="4133088"/>
            <a:ext cx="2788920" cy="237744"/>
          </a:xfrm>
          <a:prstGeom prst="rect">
            <a:avLst/>
          </a:prstGeom>
          <a:noFill/>
          <a:ln/>
        </p:spPr>
        <p:txBody>
          <a:bodyPr wrap="square" lIns="0" tIns="0" rIns="0" bIns="0" rtlCol="0" anchor="ctr">
            <a:normAutofit/>
          </a:bodyPr>
          <a:lstStyle/>
          <a:p>
            <a:pPr marL="0" indent="0">
              <a:buNone/>
            </a:pPr>
            <a:r>
              <a:rPr lang="en-US" sz="1000" dirty="0">
                <a:solidFill>
                  <a:srgbClr val="111827"/>
                </a:solidFill>
              </a:rPr>
              <a:t>Run controlled pilot traffic</a:t>
            </a:r>
            <a:endParaRPr lang="en-US" sz="1000" dirty="0"/>
          </a:p>
        </p:txBody>
      </p:sp>
      <p:sp>
        <p:nvSpPr>
          <p:cNvPr id="31" name="Shape 29"/>
          <p:cNvSpPr/>
          <p:nvPr/>
        </p:nvSpPr>
        <p:spPr>
          <a:xfrm>
            <a:off x="7973568" y="3456432"/>
            <a:ext cx="237744" cy="0"/>
          </a:xfrm>
          <a:prstGeom prst="line">
            <a:avLst/>
          </a:prstGeom>
          <a:noFill/>
          <a:ln w="12700">
            <a:solidFill>
              <a:srgbClr val="64748B"/>
            </a:solidFill>
            <a:prstDash val="solid"/>
            <a:headEnd type="none"/>
            <a:tailEnd type="triangle"/>
          </a:ln>
        </p:spPr>
        <p:txBody>
          <a:bodyPr/>
          <a:lstStyle/>
          <a:p>
            <a:endParaRPr lang="en-US"/>
          </a:p>
        </p:txBody>
      </p:sp>
      <p:sp>
        <p:nvSpPr>
          <p:cNvPr id="32" name="Shape 30"/>
          <p:cNvSpPr/>
          <p:nvPr/>
        </p:nvSpPr>
        <p:spPr>
          <a:xfrm>
            <a:off x="8275320" y="1600200"/>
            <a:ext cx="3429000" cy="3703320"/>
          </a:xfrm>
          <a:prstGeom prst="roundRect">
            <a:avLst>
              <a:gd name="adj" fmla="val 2133"/>
            </a:avLst>
          </a:prstGeom>
          <a:solidFill>
            <a:srgbClr val="FFFFFF"/>
          </a:solidFill>
          <a:ln w="12700">
            <a:solidFill>
              <a:srgbClr val="CBD5E1"/>
            </a:solidFill>
            <a:prstDash val="solid"/>
          </a:ln>
        </p:spPr>
        <p:txBody>
          <a:bodyPr/>
          <a:lstStyle/>
          <a:p>
            <a:endParaRPr lang="en-US"/>
          </a:p>
        </p:txBody>
      </p:sp>
      <p:sp>
        <p:nvSpPr>
          <p:cNvPr id="33" name="Shape 31"/>
          <p:cNvSpPr/>
          <p:nvPr/>
        </p:nvSpPr>
        <p:spPr>
          <a:xfrm>
            <a:off x="8275320" y="1600200"/>
            <a:ext cx="3429000" cy="384048"/>
          </a:xfrm>
          <a:prstGeom prst="rect">
            <a:avLst/>
          </a:prstGeom>
          <a:solidFill>
            <a:srgbClr val="16A34A"/>
          </a:solidFill>
          <a:ln w="12700">
            <a:solidFill>
              <a:srgbClr val="16A34A">
                <a:alpha val="0"/>
              </a:srgbClr>
            </a:solidFill>
            <a:prstDash val="solid"/>
          </a:ln>
        </p:spPr>
        <p:txBody>
          <a:bodyPr/>
          <a:lstStyle/>
          <a:p>
            <a:endParaRPr lang="en-US"/>
          </a:p>
        </p:txBody>
      </p:sp>
      <p:sp>
        <p:nvSpPr>
          <p:cNvPr id="34" name="Text 32"/>
          <p:cNvSpPr/>
          <p:nvPr/>
        </p:nvSpPr>
        <p:spPr>
          <a:xfrm>
            <a:off x="8458200" y="1737360"/>
            <a:ext cx="3063240" cy="100584"/>
          </a:xfrm>
          <a:prstGeom prst="rect">
            <a:avLst/>
          </a:prstGeom>
          <a:noFill/>
          <a:ln/>
        </p:spPr>
        <p:txBody>
          <a:bodyPr wrap="square" lIns="508" tIns="508" rIns="508" bIns="508" rtlCol="0" anchor="ctr">
            <a:normAutofit/>
          </a:bodyPr>
          <a:lstStyle/>
          <a:p>
            <a:pPr marL="0" indent="0" algn="ctr">
              <a:buNone/>
            </a:pPr>
            <a:r>
              <a:rPr lang="en-US" sz="870" b="1" dirty="0">
                <a:solidFill>
                  <a:srgbClr val="FFFFFF"/>
                </a:solidFill>
              </a:rPr>
              <a:t>DAYS 61–90</a:t>
            </a:r>
            <a:endParaRPr lang="en-US" sz="870" dirty="0"/>
          </a:p>
        </p:txBody>
      </p:sp>
      <p:sp>
        <p:nvSpPr>
          <p:cNvPr id="35" name="Text 33"/>
          <p:cNvSpPr/>
          <p:nvPr/>
        </p:nvSpPr>
        <p:spPr>
          <a:xfrm>
            <a:off x="8503920" y="2267712"/>
            <a:ext cx="2926080" cy="164592"/>
          </a:xfrm>
          <a:prstGeom prst="rect">
            <a:avLst/>
          </a:prstGeom>
          <a:noFill/>
          <a:ln/>
        </p:spPr>
        <p:txBody>
          <a:bodyPr wrap="square" lIns="0" tIns="0" rIns="0" bIns="0" rtlCol="0" anchor="ctr">
            <a:normAutofit/>
          </a:bodyPr>
          <a:lstStyle/>
          <a:p>
            <a:pPr marL="0" indent="0" algn="ctr">
              <a:buNone/>
            </a:pPr>
            <a:r>
              <a:rPr lang="en-US" sz="1500" b="1" dirty="0">
                <a:solidFill>
                  <a:srgbClr val="16A34A"/>
                </a:solidFill>
              </a:rPr>
              <a:t>Certification &amp; Scale</a:t>
            </a:r>
            <a:endParaRPr lang="en-US" sz="1500" dirty="0"/>
          </a:p>
        </p:txBody>
      </p:sp>
      <p:sp>
        <p:nvSpPr>
          <p:cNvPr id="36" name="Text 34"/>
          <p:cNvSpPr/>
          <p:nvPr/>
        </p:nvSpPr>
        <p:spPr>
          <a:xfrm>
            <a:off x="8641080" y="2907792"/>
            <a:ext cx="146304" cy="182880"/>
          </a:xfrm>
          <a:prstGeom prst="rect">
            <a:avLst/>
          </a:prstGeom>
          <a:noFill/>
          <a:ln/>
        </p:spPr>
        <p:txBody>
          <a:bodyPr wrap="square" lIns="0" tIns="0" rIns="0" bIns="0" rtlCol="0" anchor="ctr"/>
          <a:lstStyle/>
          <a:p>
            <a:pPr marL="0" indent="0">
              <a:buNone/>
            </a:pPr>
            <a:r>
              <a:rPr lang="en-US" sz="1000" b="1" dirty="0">
                <a:solidFill>
                  <a:srgbClr val="16A34A"/>
                </a:solidFill>
              </a:rPr>
              <a:t>•</a:t>
            </a:r>
            <a:endParaRPr lang="en-US" sz="1000" dirty="0"/>
          </a:p>
        </p:txBody>
      </p:sp>
      <p:sp>
        <p:nvSpPr>
          <p:cNvPr id="37" name="Text 35"/>
          <p:cNvSpPr/>
          <p:nvPr/>
        </p:nvSpPr>
        <p:spPr>
          <a:xfrm>
            <a:off x="8842248" y="2898648"/>
            <a:ext cx="2788920" cy="237744"/>
          </a:xfrm>
          <a:prstGeom prst="rect">
            <a:avLst/>
          </a:prstGeom>
          <a:noFill/>
          <a:ln/>
        </p:spPr>
        <p:txBody>
          <a:bodyPr wrap="square" lIns="0" tIns="0" rIns="0" bIns="0" rtlCol="0" anchor="ctr">
            <a:normAutofit/>
          </a:bodyPr>
          <a:lstStyle/>
          <a:p>
            <a:pPr marL="0" indent="0">
              <a:buNone/>
            </a:pPr>
            <a:r>
              <a:rPr lang="en-US" sz="1000" dirty="0">
                <a:solidFill>
                  <a:srgbClr val="111827"/>
                </a:solidFill>
              </a:rPr>
              <a:t>Certify pilot tool versions</a:t>
            </a:r>
            <a:endParaRPr lang="en-US" sz="1000" dirty="0"/>
          </a:p>
        </p:txBody>
      </p:sp>
      <p:sp>
        <p:nvSpPr>
          <p:cNvPr id="38" name="Text 36"/>
          <p:cNvSpPr/>
          <p:nvPr/>
        </p:nvSpPr>
        <p:spPr>
          <a:xfrm>
            <a:off x="8641080" y="3319272"/>
            <a:ext cx="146304" cy="182880"/>
          </a:xfrm>
          <a:prstGeom prst="rect">
            <a:avLst/>
          </a:prstGeom>
          <a:noFill/>
          <a:ln/>
        </p:spPr>
        <p:txBody>
          <a:bodyPr wrap="square" lIns="0" tIns="0" rIns="0" bIns="0" rtlCol="0" anchor="ctr"/>
          <a:lstStyle/>
          <a:p>
            <a:pPr marL="0" indent="0">
              <a:buNone/>
            </a:pPr>
            <a:r>
              <a:rPr lang="en-US" sz="1000" b="1" dirty="0">
                <a:solidFill>
                  <a:srgbClr val="16A34A"/>
                </a:solidFill>
              </a:rPr>
              <a:t>•</a:t>
            </a:r>
            <a:endParaRPr lang="en-US" sz="1000" dirty="0"/>
          </a:p>
        </p:txBody>
      </p:sp>
      <p:sp>
        <p:nvSpPr>
          <p:cNvPr id="39" name="Text 37"/>
          <p:cNvSpPr/>
          <p:nvPr/>
        </p:nvSpPr>
        <p:spPr>
          <a:xfrm>
            <a:off x="8842248" y="3310128"/>
            <a:ext cx="2788920" cy="237744"/>
          </a:xfrm>
          <a:prstGeom prst="rect">
            <a:avLst/>
          </a:prstGeom>
          <a:noFill/>
          <a:ln/>
        </p:spPr>
        <p:txBody>
          <a:bodyPr wrap="square" lIns="0" tIns="0" rIns="0" bIns="0" rtlCol="0" anchor="ctr">
            <a:normAutofit/>
          </a:bodyPr>
          <a:lstStyle/>
          <a:p>
            <a:pPr marL="0" indent="0">
              <a:buNone/>
            </a:pPr>
            <a:r>
              <a:rPr lang="en-US" sz="1000" dirty="0">
                <a:solidFill>
                  <a:srgbClr val="111827"/>
                </a:solidFill>
              </a:rPr>
              <a:t>Operationalize metrics dashboard</a:t>
            </a:r>
            <a:endParaRPr lang="en-US" sz="1000" dirty="0"/>
          </a:p>
        </p:txBody>
      </p:sp>
      <p:sp>
        <p:nvSpPr>
          <p:cNvPr id="40" name="Text 38"/>
          <p:cNvSpPr/>
          <p:nvPr/>
        </p:nvSpPr>
        <p:spPr>
          <a:xfrm>
            <a:off x="8641080" y="3730752"/>
            <a:ext cx="146304" cy="182880"/>
          </a:xfrm>
          <a:prstGeom prst="rect">
            <a:avLst/>
          </a:prstGeom>
          <a:noFill/>
          <a:ln/>
        </p:spPr>
        <p:txBody>
          <a:bodyPr wrap="square" lIns="0" tIns="0" rIns="0" bIns="0" rtlCol="0" anchor="ctr"/>
          <a:lstStyle/>
          <a:p>
            <a:pPr marL="0" indent="0">
              <a:buNone/>
            </a:pPr>
            <a:r>
              <a:rPr lang="en-US" sz="1000" b="1" dirty="0">
                <a:solidFill>
                  <a:srgbClr val="16A34A"/>
                </a:solidFill>
              </a:rPr>
              <a:t>•</a:t>
            </a:r>
            <a:endParaRPr lang="en-US" sz="1000" dirty="0"/>
          </a:p>
        </p:txBody>
      </p:sp>
      <p:sp>
        <p:nvSpPr>
          <p:cNvPr id="41" name="Text 39"/>
          <p:cNvSpPr/>
          <p:nvPr/>
        </p:nvSpPr>
        <p:spPr>
          <a:xfrm>
            <a:off x="8842248" y="3721608"/>
            <a:ext cx="2788920" cy="237744"/>
          </a:xfrm>
          <a:prstGeom prst="rect">
            <a:avLst/>
          </a:prstGeom>
          <a:noFill/>
          <a:ln/>
        </p:spPr>
        <p:txBody>
          <a:bodyPr wrap="square" lIns="0" tIns="0" rIns="0" bIns="0" rtlCol="0" anchor="ctr">
            <a:normAutofit/>
          </a:bodyPr>
          <a:lstStyle/>
          <a:p>
            <a:pPr marL="0" indent="0">
              <a:buNone/>
            </a:pPr>
            <a:r>
              <a:rPr lang="en-US" sz="1000" dirty="0">
                <a:solidFill>
                  <a:srgbClr val="111827"/>
                </a:solidFill>
              </a:rPr>
              <a:t>Formalize governance cadence</a:t>
            </a:r>
            <a:endParaRPr lang="en-US" sz="1000" dirty="0"/>
          </a:p>
        </p:txBody>
      </p:sp>
      <p:sp>
        <p:nvSpPr>
          <p:cNvPr id="42" name="Text 40"/>
          <p:cNvSpPr/>
          <p:nvPr/>
        </p:nvSpPr>
        <p:spPr>
          <a:xfrm>
            <a:off x="8641080" y="4142232"/>
            <a:ext cx="146304" cy="182880"/>
          </a:xfrm>
          <a:prstGeom prst="rect">
            <a:avLst/>
          </a:prstGeom>
          <a:noFill/>
          <a:ln/>
        </p:spPr>
        <p:txBody>
          <a:bodyPr wrap="square" lIns="0" tIns="0" rIns="0" bIns="0" rtlCol="0" anchor="ctr"/>
          <a:lstStyle/>
          <a:p>
            <a:pPr marL="0" indent="0">
              <a:buNone/>
            </a:pPr>
            <a:r>
              <a:rPr lang="en-US" sz="1000" b="1" dirty="0">
                <a:solidFill>
                  <a:srgbClr val="16A34A"/>
                </a:solidFill>
              </a:rPr>
              <a:t>•</a:t>
            </a:r>
            <a:endParaRPr lang="en-US" sz="1000" dirty="0"/>
          </a:p>
        </p:txBody>
      </p:sp>
      <p:sp>
        <p:nvSpPr>
          <p:cNvPr id="43" name="Text 41"/>
          <p:cNvSpPr/>
          <p:nvPr/>
        </p:nvSpPr>
        <p:spPr>
          <a:xfrm>
            <a:off x="8842248" y="4133088"/>
            <a:ext cx="2788920" cy="237744"/>
          </a:xfrm>
          <a:prstGeom prst="rect">
            <a:avLst/>
          </a:prstGeom>
          <a:noFill/>
          <a:ln/>
        </p:spPr>
        <p:txBody>
          <a:bodyPr wrap="square" lIns="0" tIns="0" rIns="0" bIns="0" rtlCol="0" anchor="ctr">
            <a:normAutofit/>
          </a:bodyPr>
          <a:lstStyle/>
          <a:p>
            <a:pPr marL="0" indent="0">
              <a:buNone/>
            </a:pPr>
            <a:r>
              <a:rPr lang="en-US" sz="1000" dirty="0">
                <a:solidFill>
                  <a:srgbClr val="111827"/>
                </a:solidFill>
              </a:rPr>
              <a:t>Prepare enterprise onboarding</a:t>
            </a:r>
            <a:endParaRPr lang="en-US" sz="1000" dirty="0"/>
          </a:p>
        </p:txBody>
      </p:sp>
      <p:sp>
        <p:nvSpPr>
          <p:cNvPr id="44" name="Text 42"/>
          <p:cNvSpPr/>
          <p:nvPr/>
        </p:nvSpPr>
        <p:spPr>
          <a:xfrm>
            <a:off x="777240" y="5833872"/>
            <a:ext cx="10652760" cy="219456"/>
          </a:xfrm>
          <a:prstGeom prst="rect">
            <a:avLst/>
          </a:prstGeom>
          <a:noFill/>
          <a:ln/>
        </p:spPr>
        <p:txBody>
          <a:bodyPr wrap="square" lIns="0" tIns="0" rIns="0" bIns="0" rtlCol="0" anchor="ctr">
            <a:normAutofit/>
          </a:bodyPr>
          <a:lstStyle/>
          <a:p>
            <a:pPr marL="0" indent="0" algn="ctr">
              <a:buNone/>
            </a:pPr>
            <a:r>
              <a:rPr lang="en-US" sz="1170" b="1" dirty="0">
                <a:solidFill>
                  <a:srgbClr val="0B1F33"/>
                </a:solidFill>
              </a:rPr>
              <a:t>Decision gate at day 90: expand MCP as the standard EDGE tool-access pattern based on pilot quality, control evidence and operational readiness.</a:t>
            </a:r>
            <a:endParaRPr lang="en-US" sz="1170" dirty="0"/>
          </a:p>
        </p:txBody>
      </p:sp>
      <p:sp>
        <p:nvSpPr>
          <p:cNvPr id="45" name="Text 43"/>
          <p:cNvSpPr/>
          <p:nvPr/>
        </p:nvSpPr>
        <p:spPr>
          <a:xfrm>
            <a:off x="502920" y="6473952"/>
            <a:ext cx="2926080" cy="182880"/>
          </a:xfrm>
          <a:prstGeom prst="rect">
            <a:avLst/>
          </a:prstGeom>
          <a:noFill/>
          <a:ln/>
        </p:spPr>
        <p:txBody>
          <a:bodyPr wrap="square" lIns="0" tIns="0" rIns="0" bIns="0" rtlCol="0" anchor="ctr"/>
          <a:lstStyle/>
          <a:p>
            <a:pPr marL="0" indent="0">
              <a:buNone/>
            </a:pPr>
            <a:r>
              <a:rPr lang="en-US" sz="780" dirty="0">
                <a:solidFill>
                  <a:srgbClr val="64748B"/>
                </a:solidFill>
              </a:rPr>
              <a:t>EDGE MCP Strategy — Tranche 3</a:t>
            </a:r>
            <a:endParaRPr lang="en-US" sz="780" dirty="0"/>
          </a:p>
        </p:txBody>
      </p:sp>
      <p:sp>
        <p:nvSpPr>
          <p:cNvPr id="46" name="Text 44"/>
          <p:cNvSpPr/>
          <p:nvPr/>
        </p:nvSpPr>
        <p:spPr>
          <a:xfrm>
            <a:off x="11338560" y="6446520"/>
            <a:ext cx="347472" cy="219456"/>
          </a:xfrm>
          <a:prstGeom prst="rect">
            <a:avLst/>
          </a:prstGeom>
          <a:noFill/>
          <a:ln/>
        </p:spPr>
        <p:txBody>
          <a:bodyPr wrap="square" lIns="0" tIns="0" rIns="0" bIns="0" rtlCol="0" anchor="ctr"/>
          <a:lstStyle/>
          <a:p>
            <a:pPr marL="0" indent="0" algn="r">
              <a:buNone/>
            </a:pPr>
            <a:r>
              <a:rPr lang="en-US" sz="850" dirty="0">
                <a:solidFill>
                  <a:srgbClr val="64748B"/>
                </a:solidFill>
              </a:rPr>
              <a:t>29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txBody>
          <a:bodyPr/>
          <a:lstStyle/>
          <a:p>
            <a:endParaRPr lang="en-US"/>
          </a:p>
        </p:txBody>
      </p:sp>
      <p:sp>
        <p:nvSpPr>
          <p:cNvPr id="3" name="Shape 1"/>
          <p:cNvSpPr/>
          <p:nvPr/>
        </p:nvSpPr>
        <p:spPr>
          <a:xfrm>
            <a:off x="0" y="0"/>
            <a:ext cx="12191695" cy="100584"/>
          </a:xfrm>
          <a:prstGeom prst="rect">
            <a:avLst/>
          </a:prstGeom>
          <a:solidFill>
            <a:srgbClr val="2563EB"/>
          </a:solidFill>
          <a:ln w="12700">
            <a:solidFill>
              <a:srgbClr val="2563EB">
                <a:alpha val="0"/>
              </a:srgbClr>
            </a:solidFill>
            <a:prstDash val="solid"/>
          </a:ln>
        </p:spPr>
        <p:txBody>
          <a:bodyPr/>
          <a:lstStyle/>
          <a:p>
            <a:endParaRPr lang="en-US"/>
          </a:p>
        </p:txBody>
      </p:sp>
      <p:sp>
        <p:nvSpPr>
          <p:cNvPr id="4" name="Text 2"/>
          <p:cNvSpPr/>
          <p:nvPr/>
        </p:nvSpPr>
        <p:spPr>
          <a:xfrm>
            <a:off x="502920" y="310896"/>
            <a:ext cx="9966960" cy="411480"/>
          </a:xfrm>
          <a:prstGeom prst="rect">
            <a:avLst/>
          </a:prstGeom>
          <a:noFill/>
          <a:ln/>
        </p:spPr>
        <p:txBody>
          <a:bodyPr wrap="square" lIns="0" tIns="0" rIns="0" bIns="0" rtlCol="0" anchor="ctr">
            <a:normAutofit/>
          </a:bodyPr>
          <a:lstStyle/>
          <a:p>
            <a:pPr marL="0" indent="0">
              <a:buNone/>
            </a:pPr>
            <a:r>
              <a:rPr lang="en-US" sz="2400" b="1" dirty="0">
                <a:solidFill>
                  <a:srgbClr val="0B1F33"/>
                </a:solidFill>
                <a:latin typeface="Aptos Display" pitchFamily="34" charset="0"/>
                <a:ea typeface="Aptos Display" pitchFamily="34" charset="-122"/>
                <a:cs typeface="Aptos Display" pitchFamily="34" charset="-120"/>
              </a:rPr>
              <a:t>Executive Decisions &amp; Close</a:t>
            </a:r>
            <a:endParaRPr lang="en-US" sz="2400" dirty="0"/>
          </a:p>
        </p:txBody>
      </p:sp>
      <p:sp>
        <p:nvSpPr>
          <p:cNvPr id="5" name="Text 3"/>
          <p:cNvSpPr/>
          <p:nvPr/>
        </p:nvSpPr>
        <p:spPr>
          <a:xfrm>
            <a:off x="521208" y="749808"/>
            <a:ext cx="10789920" cy="320040"/>
          </a:xfrm>
          <a:prstGeom prst="rect">
            <a:avLst/>
          </a:prstGeom>
          <a:noFill/>
          <a:ln/>
        </p:spPr>
        <p:txBody>
          <a:bodyPr wrap="square" lIns="0" tIns="0" rIns="0" bIns="0" rtlCol="0" anchor="ctr">
            <a:normAutofit/>
          </a:bodyPr>
          <a:lstStyle/>
          <a:p>
            <a:pPr marL="0" indent="0">
              <a:buNone/>
            </a:pPr>
            <a:r>
              <a:rPr lang="en-US" sz="1050" dirty="0">
                <a:solidFill>
                  <a:srgbClr val="64748B"/>
                </a:solidFill>
              </a:rPr>
              <a:t>The ask is to standardize, pilot and govern MCP as the EDGE enterprise tool plane.</a:t>
            </a:r>
            <a:endParaRPr lang="en-US" sz="1050" dirty="0"/>
          </a:p>
        </p:txBody>
      </p:sp>
      <p:sp>
        <p:nvSpPr>
          <p:cNvPr id="6" name="Shape 4"/>
          <p:cNvSpPr/>
          <p:nvPr/>
        </p:nvSpPr>
        <p:spPr>
          <a:xfrm>
            <a:off x="713232" y="1444752"/>
            <a:ext cx="5257800" cy="1234440"/>
          </a:xfrm>
          <a:prstGeom prst="roundRect">
            <a:avLst>
              <a:gd name="adj" fmla="val 5926"/>
            </a:avLst>
          </a:prstGeom>
          <a:solidFill>
            <a:srgbClr val="FFFFFF"/>
          </a:solidFill>
          <a:ln w="12700">
            <a:solidFill>
              <a:srgbClr val="CBD5E1"/>
            </a:solidFill>
            <a:prstDash val="solid"/>
          </a:ln>
        </p:spPr>
        <p:txBody>
          <a:bodyPr/>
          <a:lstStyle/>
          <a:p>
            <a:endParaRPr lang="en-US"/>
          </a:p>
        </p:txBody>
      </p:sp>
      <p:sp>
        <p:nvSpPr>
          <p:cNvPr id="7" name="Shape 5"/>
          <p:cNvSpPr/>
          <p:nvPr/>
        </p:nvSpPr>
        <p:spPr>
          <a:xfrm>
            <a:off x="941832" y="1773936"/>
            <a:ext cx="512064" cy="512064"/>
          </a:xfrm>
          <a:prstGeom prst="ellipse">
            <a:avLst/>
          </a:prstGeom>
          <a:solidFill>
            <a:srgbClr val="2563EB"/>
          </a:solidFill>
          <a:ln w="12700">
            <a:solidFill>
              <a:srgbClr val="2563EB">
                <a:alpha val="0"/>
              </a:srgbClr>
            </a:solidFill>
            <a:prstDash val="solid"/>
          </a:ln>
        </p:spPr>
        <p:txBody>
          <a:bodyPr/>
          <a:lstStyle/>
          <a:p>
            <a:endParaRPr lang="en-US"/>
          </a:p>
        </p:txBody>
      </p:sp>
      <p:sp>
        <p:nvSpPr>
          <p:cNvPr id="8" name="Text 6"/>
          <p:cNvSpPr/>
          <p:nvPr/>
        </p:nvSpPr>
        <p:spPr>
          <a:xfrm>
            <a:off x="941832" y="1901952"/>
            <a:ext cx="512064" cy="109728"/>
          </a:xfrm>
          <a:prstGeom prst="rect">
            <a:avLst/>
          </a:prstGeom>
          <a:noFill/>
          <a:ln/>
        </p:spPr>
        <p:txBody>
          <a:bodyPr wrap="square" lIns="508" tIns="508" rIns="508" bIns="508" rtlCol="0" anchor="ctr">
            <a:normAutofit/>
          </a:bodyPr>
          <a:lstStyle/>
          <a:p>
            <a:pPr marL="0" indent="0" algn="ctr">
              <a:buNone/>
            </a:pPr>
            <a:r>
              <a:rPr lang="en-US" sz="1000" b="1" dirty="0">
                <a:solidFill>
                  <a:srgbClr val="FFFFFF"/>
                </a:solidFill>
              </a:rPr>
              <a:t>1</a:t>
            </a:r>
            <a:endParaRPr lang="en-US" sz="1000" dirty="0"/>
          </a:p>
        </p:txBody>
      </p:sp>
      <p:sp>
        <p:nvSpPr>
          <p:cNvPr id="9" name="Text 7"/>
          <p:cNvSpPr/>
          <p:nvPr/>
        </p:nvSpPr>
        <p:spPr>
          <a:xfrm>
            <a:off x="1673352" y="1746504"/>
            <a:ext cx="3931920" cy="164592"/>
          </a:xfrm>
          <a:prstGeom prst="rect">
            <a:avLst/>
          </a:prstGeom>
          <a:noFill/>
          <a:ln/>
        </p:spPr>
        <p:txBody>
          <a:bodyPr wrap="square" lIns="0" tIns="0" rIns="0" bIns="0" rtlCol="0" anchor="ctr">
            <a:normAutofit/>
          </a:bodyPr>
          <a:lstStyle/>
          <a:p>
            <a:pPr marL="0" indent="0">
              <a:buNone/>
            </a:pPr>
            <a:r>
              <a:rPr lang="en-US" sz="1320" b="1" dirty="0">
                <a:solidFill>
                  <a:srgbClr val="0B1F33"/>
                </a:solidFill>
              </a:rPr>
              <a:t>Endorse MCP standard</a:t>
            </a:r>
            <a:endParaRPr lang="en-US" sz="1320" dirty="0"/>
          </a:p>
        </p:txBody>
      </p:sp>
      <p:sp>
        <p:nvSpPr>
          <p:cNvPr id="10" name="Text 8"/>
          <p:cNvSpPr/>
          <p:nvPr/>
        </p:nvSpPr>
        <p:spPr>
          <a:xfrm>
            <a:off x="1673352" y="2103120"/>
            <a:ext cx="3931920" cy="164592"/>
          </a:xfrm>
          <a:prstGeom prst="rect">
            <a:avLst/>
          </a:prstGeom>
          <a:noFill/>
          <a:ln/>
        </p:spPr>
        <p:txBody>
          <a:bodyPr wrap="square" lIns="0" tIns="0" rIns="0" bIns="0" rtlCol="0" anchor="ctr">
            <a:normAutofit/>
          </a:bodyPr>
          <a:lstStyle/>
          <a:p>
            <a:pPr marL="0" indent="0">
              <a:buNone/>
            </a:pPr>
            <a:r>
              <a:rPr lang="en-US" sz="900" dirty="0">
                <a:solidFill>
                  <a:srgbClr val="334155"/>
                </a:solidFill>
              </a:rPr>
              <a:t>MCP becomes the default pattern for governed agent-to-tool access in EDGE.</a:t>
            </a:r>
            <a:endParaRPr lang="en-US" sz="900" dirty="0"/>
          </a:p>
        </p:txBody>
      </p:sp>
      <p:sp>
        <p:nvSpPr>
          <p:cNvPr id="11" name="Shape 9"/>
          <p:cNvSpPr/>
          <p:nvPr/>
        </p:nvSpPr>
        <p:spPr>
          <a:xfrm>
            <a:off x="6199632" y="1444752"/>
            <a:ext cx="5257800" cy="1234440"/>
          </a:xfrm>
          <a:prstGeom prst="roundRect">
            <a:avLst>
              <a:gd name="adj" fmla="val 5926"/>
            </a:avLst>
          </a:prstGeom>
          <a:solidFill>
            <a:srgbClr val="FFFFFF"/>
          </a:solidFill>
          <a:ln w="12700">
            <a:solidFill>
              <a:srgbClr val="CBD5E1"/>
            </a:solidFill>
            <a:prstDash val="solid"/>
          </a:ln>
        </p:spPr>
        <p:txBody>
          <a:bodyPr/>
          <a:lstStyle/>
          <a:p>
            <a:endParaRPr lang="en-US"/>
          </a:p>
        </p:txBody>
      </p:sp>
      <p:sp>
        <p:nvSpPr>
          <p:cNvPr id="12" name="Shape 10"/>
          <p:cNvSpPr/>
          <p:nvPr/>
        </p:nvSpPr>
        <p:spPr>
          <a:xfrm>
            <a:off x="6428232" y="1773936"/>
            <a:ext cx="512064" cy="512064"/>
          </a:xfrm>
          <a:prstGeom prst="ellipse">
            <a:avLst/>
          </a:prstGeom>
          <a:solidFill>
            <a:srgbClr val="0F766E"/>
          </a:solidFill>
          <a:ln w="12700">
            <a:solidFill>
              <a:srgbClr val="0F766E">
                <a:alpha val="0"/>
              </a:srgbClr>
            </a:solidFill>
            <a:prstDash val="solid"/>
          </a:ln>
        </p:spPr>
        <p:txBody>
          <a:bodyPr/>
          <a:lstStyle/>
          <a:p>
            <a:endParaRPr lang="en-US"/>
          </a:p>
        </p:txBody>
      </p:sp>
      <p:sp>
        <p:nvSpPr>
          <p:cNvPr id="13" name="Text 11"/>
          <p:cNvSpPr/>
          <p:nvPr/>
        </p:nvSpPr>
        <p:spPr>
          <a:xfrm>
            <a:off x="6428232" y="1901952"/>
            <a:ext cx="512064" cy="109728"/>
          </a:xfrm>
          <a:prstGeom prst="rect">
            <a:avLst/>
          </a:prstGeom>
          <a:noFill/>
          <a:ln/>
        </p:spPr>
        <p:txBody>
          <a:bodyPr wrap="square" lIns="508" tIns="508" rIns="508" bIns="508" rtlCol="0" anchor="ctr">
            <a:normAutofit/>
          </a:bodyPr>
          <a:lstStyle/>
          <a:p>
            <a:pPr marL="0" indent="0" algn="ctr">
              <a:buNone/>
            </a:pPr>
            <a:r>
              <a:rPr lang="en-US" sz="1000" b="1" dirty="0">
                <a:solidFill>
                  <a:srgbClr val="FFFFFF"/>
                </a:solidFill>
              </a:rPr>
              <a:t>2</a:t>
            </a:r>
            <a:endParaRPr lang="en-US" sz="1000" dirty="0"/>
          </a:p>
        </p:txBody>
      </p:sp>
      <p:sp>
        <p:nvSpPr>
          <p:cNvPr id="14" name="Text 12"/>
          <p:cNvSpPr/>
          <p:nvPr/>
        </p:nvSpPr>
        <p:spPr>
          <a:xfrm>
            <a:off x="7159752" y="1746504"/>
            <a:ext cx="3931920" cy="164592"/>
          </a:xfrm>
          <a:prstGeom prst="rect">
            <a:avLst/>
          </a:prstGeom>
          <a:noFill/>
          <a:ln/>
        </p:spPr>
        <p:txBody>
          <a:bodyPr wrap="square" lIns="0" tIns="0" rIns="0" bIns="0" rtlCol="0" anchor="ctr">
            <a:normAutofit/>
          </a:bodyPr>
          <a:lstStyle/>
          <a:p>
            <a:pPr marL="0" indent="0">
              <a:buNone/>
            </a:pPr>
            <a:r>
              <a:rPr lang="en-US" sz="1320" b="1" dirty="0">
                <a:solidFill>
                  <a:srgbClr val="0B1F33"/>
                </a:solidFill>
              </a:rPr>
              <a:t>Approve two pilots</a:t>
            </a:r>
            <a:endParaRPr lang="en-US" sz="1320" dirty="0"/>
          </a:p>
        </p:txBody>
      </p:sp>
      <p:sp>
        <p:nvSpPr>
          <p:cNvPr id="15" name="Text 13"/>
          <p:cNvSpPr/>
          <p:nvPr/>
        </p:nvSpPr>
        <p:spPr>
          <a:xfrm>
            <a:off x="7159752" y="2103120"/>
            <a:ext cx="3931920" cy="164592"/>
          </a:xfrm>
          <a:prstGeom prst="rect">
            <a:avLst/>
          </a:prstGeom>
          <a:noFill/>
          <a:ln/>
        </p:spPr>
        <p:txBody>
          <a:bodyPr wrap="square" lIns="0" tIns="0" rIns="0" bIns="0" rtlCol="0" anchor="ctr">
            <a:normAutofit/>
          </a:bodyPr>
          <a:lstStyle/>
          <a:p>
            <a:pPr marL="0" indent="0">
              <a:buNone/>
            </a:pPr>
            <a:r>
              <a:rPr lang="en-US" sz="900" dirty="0">
                <a:solidFill>
                  <a:srgbClr val="334155"/>
                </a:solidFill>
              </a:rPr>
              <a:t>Fails investigation/commentary validation and QMA email routing/EDGE Assist.</a:t>
            </a:r>
            <a:endParaRPr lang="en-US" sz="900" dirty="0"/>
          </a:p>
        </p:txBody>
      </p:sp>
      <p:sp>
        <p:nvSpPr>
          <p:cNvPr id="16" name="Shape 14"/>
          <p:cNvSpPr/>
          <p:nvPr/>
        </p:nvSpPr>
        <p:spPr>
          <a:xfrm>
            <a:off x="713232" y="3154680"/>
            <a:ext cx="5257800" cy="1234440"/>
          </a:xfrm>
          <a:prstGeom prst="roundRect">
            <a:avLst>
              <a:gd name="adj" fmla="val 5926"/>
            </a:avLst>
          </a:prstGeom>
          <a:solidFill>
            <a:srgbClr val="FFFFFF"/>
          </a:solidFill>
          <a:ln w="12700">
            <a:solidFill>
              <a:srgbClr val="CBD5E1"/>
            </a:solidFill>
            <a:prstDash val="solid"/>
          </a:ln>
        </p:spPr>
        <p:txBody>
          <a:bodyPr/>
          <a:lstStyle/>
          <a:p>
            <a:endParaRPr lang="en-US"/>
          </a:p>
        </p:txBody>
      </p:sp>
      <p:sp>
        <p:nvSpPr>
          <p:cNvPr id="17" name="Shape 15"/>
          <p:cNvSpPr/>
          <p:nvPr/>
        </p:nvSpPr>
        <p:spPr>
          <a:xfrm>
            <a:off x="941832" y="3483864"/>
            <a:ext cx="512064" cy="512064"/>
          </a:xfrm>
          <a:prstGeom prst="ellipse">
            <a:avLst/>
          </a:prstGeom>
          <a:solidFill>
            <a:srgbClr val="D97706"/>
          </a:solidFill>
          <a:ln w="12700">
            <a:solidFill>
              <a:srgbClr val="D97706">
                <a:alpha val="0"/>
              </a:srgbClr>
            </a:solidFill>
            <a:prstDash val="solid"/>
          </a:ln>
        </p:spPr>
        <p:txBody>
          <a:bodyPr/>
          <a:lstStyle/>
          <a:p>
            <a:endParaRPr lang="en-US"/>
          </a:p>
        </p:txBody>
      </p:sp>
      <p:sp>
        <p:nvSpPr>
          <p:cNvPr id="18" name="Text 16"/>
          <p:cNvSpPr/>
          <p:nvPr/>
        </p:nvSpPr>
        <p:spPr>
          <a:xfrm>
            <a:off x="941832" y="3611880"/>
            <a:ext cx="512064" cy="109728"/>
          </a:xfrm>
          <a:prstGeom prst="rect">
            <a:avLst/>
          </a:prstGeom>
          <a:noFill/>
          <a:ln/>
        </p:spPr>
        <p:txBody>
          <a:bodyPr wrap="square" lIns="508" tIns="508" rIns="508" bIns="508" rtlCol="0" anchor="ctr">
            <a:normAutofit/>
          </a:bodyPr>
          <a:lstStyle/>
          <a:p>
            <a:pPr marL="0" indent="0" algn="ctr">
              <a:buNone/>
            </a:pPr>
            <a:r>
              <a:rPr lang="en-US" sz="1000" b="1" dirty="0">
                <a:solidFill>
                  <a:srgbClr val="FFFFFF"/>
                </a:solidFill>
              </a:rPr>
              <a:t>3</a:t>
            </a:r>
            <a:endParaRPr lang="en-US" sz="1000" dirty="0"/>
          </a:p>
        </p:txBody>
      </p:sp>
      <p:sp>
        <p:nvSpPr>
          <p:cNvPr id="19" name="Text 17"/>
          <p:cNvSpPr/>
          <p:nvPr/>
        </p:nvSpPr>
        <p:spPr>
          <a:xfrm>
            <a:off x="1673352" y="3456432"/>
            <a:ext cx="3931920" cy="164592"/>
          </a:xfrm>
          <a:prstGeom prst="rect">
            <a:avLst/>
          </a:prstGeom>
          <a:noFill/>
          <a:ln/>
        </p:spPr>
        <p:txBody>
          <a:bodyPr wrap="square" lIns="0" tIns="0" rIns="0" bIns="0" rtlCol="0" anchor="ctr">
            <a:normAutofit/>
          </a:bodyPr>
          <a:lstStyle/>
          <a:p>
            <a:pPr marL="0" indent="0">
              <a:buNone/>
            </a:pPr>
            <a:r>
              <a:rPr lang="en-US" sz="1320" b="1" dirty="0">
                <a:solidFill>
                  <a:srgbClr val="0B1F33"/>
                </a:solidFill>
              </a:rPr>
              <a:t>Adopt control model</a:t>
            </a:r>
            <a:endParaRPr lang="en-US" sz="1320" dirty="0"/>
          </a:p>
        </p:txBody>
      </p:sp>
      <p:sp>
        <p:nvSpPr>
          <p:cNvPr id="20" name="Text 18"/>
          <p:cNvSpPr/>
          <p:nvPr/>
        </p:nvSpPr>
        <p:spPr>
          <a:xfrm>
            <a:off x="1673352" y="3813048"/>
            <a:ext cx="3931920" cy="164592"/>
          </a:xfrm>
          <a:prstGeom prst="rect">
            <a:avLst/>
          </a:prstGeom>
          <a:noFill/>
          <a:ln/>
        </p:spPr>
        <p:txBody>
          <a:bodyPr wrap="square" lIns="0" tIns="0" rIns="0" bIns="0" rtlCol="0" anchor="ctr">
            <a:normAutofit/>
          </a:bodyPr>
          <a:lstStyle/>
          <a:p>
            <a:pPr marL="0" indent="0">
              <a:buNone/>
            </a:pPr>
            <a:r>
              <a:rPr lang="en-US" sz="900" dirty="0">
                <a:solidFill>
                  <a:srgbClr val="334155"/>
                </a:solidFill>
              </a:rPr>
              <a:t>Risk tiers, read/write separation, HIL gates and scoped credentials.</a:t>
            </a:r>
            <a:endParaRPr lang="en-US" sz="900" dirty="0"/>
          </a:p>
        </p:txBody>
      </p:sp>
      <p:sp>
        <p:nvSpPr>
          <p:cNvPr id="21" name="Shape 19"/>
          <p:cNvSpPr/>
          <p:nvPr/>
        </p:nvSpPr>
        <p:spPr>
          <a:xfrm>
            <a:off x="6199632" y="3154680"/>
            <a:ext cx="5257800" cy="1234440"/>
          </a:xfrm>
          <a:prstGeom prst="roundRect">
            <a:avLst>
              <a:gd name="adj" fmla="val 5926"/>
            </a:avLst>
          </a:prstGeom>
          <a:solidFill>
            <a:srgbClr val="FFFFFF"/>
          </a:solidFill>
          <a:ln w="12700">
            <a:solidFill>
              <a:srgbClr val="CBD5E1"/>
            </a:solidFill>
            <a:prstDash val="solid"/>
          </a:ln>
        </p:spPr>
        <p:txBody>
          <a:bodyPr/>
          <a:lstStyle/>
          <a:p>
            <a:endParaRPr lang="en-US"/>
          </a:p>
        </p:txBody>
      </p:sp>
      <p:sp>
        <p:nvSpPr>
          <p:cNvPr id="22" name="Shape 20"/>
          <p:cNvSpPr/>
          <p:nvPr/>
        </p:nvSpPr>
        <p:spPr>
          <a:xfrm>
            <a:off x="6428232" y="3483864"/>
            <a:ext cx="512064" cy="512064"/>
          </a:xfrm>
          <a:prstGeom prst="ellipse">
            <a:avLst/>
          </a:prstGeom>
          <a:solidFill>
            <a:srgbClr val="6D28D9"/>
          </a:solidFill>
          <a:ln w="12700">
            <a:solidFill>
              <a:srgbClr val="6D28D9">
                <a:alpha val="0"/>
              </a:srgbClr>
            </a:solidFill>
            <a:prstDash val="solid"/>
          </a:ln>
        </p:spPr>
        <p:txBody>
          <a:bodyPr/>
          <a:lstStyle/>
          <a:p>
            <a:endParaRPr lang="en-US"/>
          </a:p>
        </p:txBody>
      </p:sp>
      <p:sp>
        <p:nvSpPr>
          <p:cNvPr id="23" name="Text 21"/>
          <p:cNvSpPr/>
          <p:nvPr/>
        </p:nvSpPr>
        <p:spPr>
          <a:xfrm>
            <a:off x="6428232" y="3611880"/>
            <a:ext cx="512064" cy="109728"/>
          </a:xfrm>
          <a:prstGeom prst="rect">
            <a:avLst/>
          </a:prstGeom>
          <a:noFill/>
          <a:ln/>
        </p:spPr>
        <p:txBody>
          <a:bodyPr wrap="square" lIns="508" tIns="508" rIns="508" bIns="508" rtlCol="0" anchor="ctr">
            <a:normAutofit/>
          </a:bodyPr>
          <a:lstStyle/>
          <a:p>
            <a:pPr marL="0" indent="0" algn="ctr">
              <a:buNone/>
            </a:pPr>
            <a:r>
              <a:rPr lang="en-US" sz="1000" b="1" dirty="0">
                <a:solidFill>
                  <a:srgbClr val="FFFFFF"/>
                </a:solidFill>
              </a:rPr>
              <a:t>4</a:t>
            </a:r>
            <a:endParaRPr lang="en-US" sz="1000" dirty="0"/>
          </a:p>
        </p:txBody>
      </p:sp>
      <p:sp>
        <p:nvSpPr>
          <p:cNvPr id="24" name="Text 22"/>
          <p:cNvSpPr/>
          <p:nvPr/>
        </p:nvSpPr>
        <p:spPr>
          <a:xfrm>
            <a:off x="7159752" y="3456432"/>
            <a:ext cx="3931920" cy="164592"/>
          </a:xfrm>
          <a:prstGeom prst="rect">
            <a:avLst/>
          </a:prstGeom>
          <a:noFill/>
          <a:ln/>
        </p:spPr>
        <p:txBody>
          <a:bodyPr wrap="square" lIns="0" tIns="0" rIns="0" bIns="0" rtlCol="0" anchor="ctr">
            <a:normAutofit/>
          </a:bodyPr>
          <a:lstStyle/>
          <a:p>
            <a:pPr marL="0" indent="0">
              <a:buNone/>
            </a:pPr>
            <a:r>
              <a:rPr lang="en-US" sz="1320" b="1" dirty="0">
                <a:solidFill>
                  <a:srgbClr val="0B1F33"/>
                </a:solidFill>
              </a:rPr>
              <a:t>Create operating cadence</a:t>
            </a:r>
            <a:endParaRPr lang="en-US" sz="1320" dirty="0"/>
          </a:p>
        </p:txBody>
      </p:sp>
      <p:sp>
        <p:nvSpPr>
          <p:cNvPr id="25" name="Text 23"/>
          <p:cNvSpPr/>
          <p:nvPr/>
        </p:nvSpPr>
        <p:spPr>
          <a:xfrm>
            <a:off x="7159752" y="3813048"/>
            <a:ext cx="3931920" cy="164592"/>
          </a:xfrm>
          <a:prstGeom prst="rect">
            <a:avLst/>
          </a:prstGeom>
          <a:noFill/>
          <a:ln/>
        </p:spPr>
        <p:txBody>
          <a:bodyPr wrap="square" lIns="0" tIns="0" rIns="0" bIns="0" rtlCol="0" anchor="ctr">
            <a:normAutofit/>
          </a:bodyPr>
          <a:lstStyle/>
          <a:p>
            <a:pPr marL="0" indent="0">
              <a:buNone/>
            </a:pPr>
            <a:r>
              <a:rPr lang="en-US" sz="900" dirty="0">
                <a:solidFill>
                  <a:srgbClr val="334155"/>
                </a:solidFill>
              </a:rPr>
              <a:t>Registry review, certification gates, metrics and governance forum.</a:t>
            </a:r>
            <a:endParaRPr lang="en-US" sz="900" dirty="0"/>
          </a:p>
        </p:txBody>
      </p:sp>
      <p:sp>
        <p:nvSpPr>
          <p:cNvPr id="26" name="Shape 24"/>
          <p:cNvSpPr/>
          <p:nvPr/>
        </p:nvSpPr>
        <p:spPr>
          <a:xfrm>
            <a:off x="914400" y="5349240"/>
            <a:ext cx="10332720" cy="640080"/>
          </a:xfrm>
          <a:prstGeom prst="roundRect">
            <a:avLst>
              <a:gd name="adj" fmla="val 11429"/>
            </a:avLst>
          </a:prstGeom>
          <a:solidFill>
            <a:srgbClr val="0B1F33"/>
          </a:solidFill>
          <a:ln w="12700">
            <a:solidFill>
              <a:srgbClr val="0B1F33"/>
            </a:solidFill>
            <a:prstDash val="solid"/>
          </a:ln>
        </p:spPr>
        <p:txBody>
          <a:bodyPr/>
          <a:lstStyle/>
          <a:p>
            <a:endParaRPr lang="en-US"/>
          </a:p>
        </p:txBody>
      </p:sp>
      <p:sp>
        <p:nvSpPr>
          <p:cNvPr id="27" name="Text 25"/>
          <p:cNvSpPr/>
          <p:nvPr/>
        </p:nvSpPr>
        <p:spPr>
          <a:xfrm>
            <a:off x="1143000" y="5559552"/>
            <a:ext cx="9875520" cy="164592"/>
          </a:xfrm>
          <a:prstGeom prst="rect">
            <a:avLst/>
          </a:prstGeom>
          <a:noFill/>
          <a:ln/>
        </p:spPr>
        <p:txBody>
          <a:bodyPr wrap="square" lIns="0" tIns="0" rIns="0" bIns="0" rtlCol="0" anchor="ctr">
            <a:normAutofit/>
          </a:bodyPr>
          <a:lstStyle/>
          <a:p>
            <a:pPr marL="0" indent="0" algn="ctr">
              <a:buNone/>
            </a:pPr>
            <a:r>
              <a:rPr lang="en-US" sz="1250" b="1" dirty="0">
                <a:solidFill>
                  <a:srgbClr val="FFFFFF"/>
                </a:solidFill>
              </a:rPr>
              <a:t>Bottom line: MCP is the governed capability layer that lets EDGE agents act with enterprise control, evidence and reuse.</a:t>
            </a:r>
            <a:endParaRPr lang="en-US" sz="1250" dirty="0"/>
          </a:p>
        </p:txBody>
      </p:sp>
      <p:sp>
        <p:nvSpPr>
          <p:cNvPr id="28" name="Text 26"/>
          <p:cNvSpPr/>
          <p:nvPr/>
        </p:nvSpPr>
        <p:spPr>
          <a:xfrm>
            <a:off x="502920" y="6473952"/>
            <a:ext cx="2926080" cy="182880"/>
          </a:xfrm>
          <a:prstGeom prst="rect">
            <a:avLst/>
          </a:prstGeom>
          <a:noFill/>
          <a:ln/>
        </p:spPr>
        <p:txBody>
          <a:bodyPr wrap="square" lIns="0" tIns="0" rIns="0" bIns="0" rtlCol="0" anchor="ctr"/>
          <a:lstStyle/>
          <a:p>
            <a:pPr marL="0" indent="0">
              <a:buNone/>
            </a:pPr>
            <a:r>
              <a:rPr lang="en-US" sz="780" dirty="0">
                <a:solidFill>
                  <a:srgbClr val="64748B"/>
                </a:solidFill>
              </a:rPr>
              <a:t>EDGE MCP Strategy — Tranche 3</a:t>
            </a:r>
            <a:endParaRPr lang="en-US" sz="780" dirty="0"/>
          </a:p>
        </p:txBody>
      </p:sp>
      <p:sp>
        <p:nvSpPr>
          <p:cNvPr id="29" name="Text 27"/>
          <p:cNvSpPr/>
          <p:nvPr/>
        </p:nvSpPr>
        <p:spPr>
          <a:xfrm>
            <a:off x="11338560" y="6446520"/>
            <a:ext cx="347472" cy="219456"/>
          </a:xfrm>
          <a:prstGeom prst="rect">
            <a:avLst/>
          </a:prstGeom>
          <a:noFill/>
          <a:ln/>
        </p:spPr>
        <p:txBody>
          <a:bodyPr wrap="square" lIns="0" tIns="0" rIns="0" bIns="0" rtlCol="0" anchor="ctr"/>
          <a:lstStyle/>
          <a:p>
            <a:pPr marL="0" indent="0" algn="r">
              <a:buNone/>
            </a:pPr>
            <a:r>
              <a:rPr lang="en-US" sz="850" dirty="0">
                <a:solidFill>
                  <a:srgbClr val="64748B"/>
                </a:solidFill>
              </a:rPr>
              <a:t>30</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1914</Words>
  <Application>Microsoft Macintosh PowerPoint</Application>
  <PresentationFormat>Widescreen</PresentationFormat>
  <Paragraphs>258</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Citi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MCP Strategy for EDGE — Tranche 3</dc:title>
  <dc:subject>Enterprise MCP Strategy for EDGE — Tranche 3</dc:subject>
  <dc:creator>OpenAI</dc:creator>
  <cp:lastModifiedBy>OMSA Class</cp:lastModifiedBy>
  <cp:revision>2</cp:revision>
  <dcterms:created xsi:type="dcterms:W3CDTF">2026-09-04T10:59:32Z</dcterms:created>
  <dcterms:modified xsi:type="dcterms:W3CDTF">2026-09-04T11:01:11Z</dcterms:modified>
</cp:coreProperties>
</file>