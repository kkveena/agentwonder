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63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and context: McKinsey State of AI 2025 describes broad AI adoption but most companies still early in scaling value: https://www.mckinsey.com/capabilities/quantumblack/our-insights/the-state-of-ai. Reuters summarizes Gartner's agentic AI outlook including concerns over ROI and autonomous decision/application adoption projections: https://www.reuters.com/business/over-40-agentic-ai-projects-will-be-scrapped-by-2027-gartner-says-2025-06-25/. Google DeepMind paper frames AGI progress by performance, generality, and autonomy: https://deepmind.google/research/publications/66938/. OpenAI describes AGI as systems that can solve human-level problems / generally smarter-than-human systems in mission-oriented materials: https://openai.com/.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is an internal maturity model tailored to the user's team journey. Recommended talk track: We have a working L1 delivery foundation in BI, STR and FX Confirms; L2 is the semantic RAG/context layer with Global Context and EDGE Assist; L3 adds tools, agentic calls, summarization and workflow integration; L4 creates model adaptation capability through fine-tuning/distillation/calibration; L5 is where the team moves into own SLMs and domain transformers for time-series prediction and anomaly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BRIEFING · AI TRENDS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industry direction: from GenAI copilots to AGI‑oriented systems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97280"/>
            <a:ext cx="111099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1280160"/>
            <a:ext cx="1325880" cy="201168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76072" y="1572768"/>
            <a:ext cx="69494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industry is not waiting for “true AGI.” Value is shifting now to governed AI systems that can reason, retrieve, use tools, execute workflows, and learn from feedback.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3504" y="239572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 remains a directional horizon; enterprise advantage comes from building the capability stack that compounds toward autonomy.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909560" y="129844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 framing for executives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09560" y="1609344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AGI progress as three dimensions — not a single switch.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36992" y="2084832"/>
            <a:ext cx="1051560" cy="713232"/>
          </a:xfrm>
          <a:prstGeom prst="rect">
            <a:avLst/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25712" y="2084832"/>
            <a:ext cx="1051560" cy="713232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4432" y="2084832"/>
            <a:ext cx="1051560" cy="713232"/>
          </a:xfrm>
          <a:prstGeom prst="rect">
            <a:avLst/>
          </a:prstGeom>
          <a:solidFill>
            <a:srgbClr val="EDE9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36992" y="2980944"/>
            <a:ext cx="3383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Implication: fund capabilities that increase autonomy safely — observability, guardrails, human review, and domain evaluation.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76072" y="32186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capability frontier — practical enterprise sequence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4517136"/>
            <a:ext cx="56692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4224528"/>
            <a:ext cx="14173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475569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4663440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&amp; copilots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4078224" y="4517136"/>
            <a:ext cx="56692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24912" y="4224528"/>
            <a:ext cx="1417320" cy="347472"/>
          </a:xfrm>
          <a:prstGeom prst="rect">
            <a:avLst/>
          </a:prstGeom>
          <a:solidFill>
            <a:srgbClr val="E0F2FE"/>
          </a:solidFill>
          <a:ln w="8890">
            <a:solidFill>
              <a:srgbClr val="1D4ED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24912" y="4663440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+ context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6144768" y="4517136"/>
            <a:ext cx="56692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91456" y="4224528"/>
            <a:ext cx="1417320" cy="347472"/>
          </a:xfrm>
          <a:prstGeom prst="rect">
            <a:avLst/>
          </a:prstGeom>
          <a:solidFill>
            <a:srgbClr val="DCFCE7"/>
          </a:solidFill>
          <a:ln w="8890">
            <a:solidFill>
              <a:srgbClr val="0F766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91456" y="4663440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agents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8211312" y="4517136"/>
            <a:ext cx="56692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4224528"/>
            <a:ext cx="1417320" cy="347472"/>
          </a:xfrm>
          <a:prstGeom prst="rect">
            <a:avLst/>
          </a:prstGeom>
          <a:solidFill>
            <a:srgbClr val="FEF3C7"/>
          </a:solidFill>
          <a:ln w="889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663440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+ evals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8924544" y="4224528"/>
            <a:ext cx="1417320" cy="347472"/>
          </a:xfrm>
          <a:prstGeom prst="rect">
            <a:avLst/>
          </a:prstGeom>
          <a:solidFill>
            <a:srgbClr val="EDE9FE"/>
          </a:solidFill>
          <a:ln w="8890">
            <a:solidFill>
              <a:srgbClr val="6D28D9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24544" y="4663440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AGI‑oriented horizon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658368" y="5358384"/>
            <a:ext cx="685800" cy="256032"/>
          </a:xfrm>
          <a:prstGeom prst="rect">
            <a:avLst/>
          </a:prstGeom>
          <a:solidFill>
            <a:srgbClr val="071A2E"/>
          </a:solidFill>
          <a:ln>
            <a:solidFill>
              <a:srgbClr val="071A2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1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444752" y="534924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adoption is broad; scaled value is still the differentiator.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4160520" y="5358384"/>
            <a:ext cx="685800" cy="256032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2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937760" y="534924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is moving from demos into workstreams, but ROI discipline matters.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8065008" y="5358384"/>
            <a:ext cx="685800" cy="256032"/>
          </a:xfrm>
          <a:prstGeom prst="rect">
            <a:avLst/>
          </a:prstGeom>
          <a:solidFill>
            <a:srgbClr val="6D28D9"/>
          </a:solidFill>
          <a:ln>
            <a:solidFill>
              <a:srgbClr val="6D28D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3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833104" y="534924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Winning teams build domain data, evals, tools, and model adaptation together.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McKinsey State of AI 2025; Gartner / Reuters agentic AI outlook; Google DeepMind “Levels of AGI”; OpenAI AGI mission statements.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MATURITY MODEL · FROM PROMPTS TO DOMAIN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team journey: enterprise AI maturity ladder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097280"/>
            <a:ext cx="111099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1417320" cy="219456"/>
          </a:xfrm>
          <a:prstGeom prst="rect">
            <a:avLst/>
          </a:prstGeom>
          <a:solidFill>
            <a:srgbClr val="071A2E"/>
          </a:solidFill>
          <a:ln>
            <a:solidFill>
              <a:srgbClr val="071A2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north star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99669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from “AI that answers” to governed workflow intelligence that senses context, acts through tools, and improves with domain feedback.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49808" y="5074920"/>
            <a:ext cx="1993392" cy="1060704"/>
          </a:xfrm>
          <a:prstGeom prst="rect">
            <a:avLst/>
          </a:prstGeom>
          <a:solidFill>
            <a:srgbClr val="E0F2FE"/>
          </a:solidFill>
          <a:ln w="11430">
            <a:solidFill>
              <a:srgbClr val="1D4ED8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 </a:t>
            </a:r>
            <a:r>
              <a:rPr lang="en-US" sz="87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delivery foundation
</a:t>
            </a:r>
            <a:r>
              <a:rPr lang="en-US" sz="87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engineering • LLM pipelines • end‑to‑end processing with observability
</a:t>
            </a:r>
            <a:r>
              <a:rPr lang="en-US" sz="87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BI, STR, FX Confirms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1801368" y="6135624"/>
            <a:ext cx="2020824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16352" y="4343400"/>
            <a:ext cx="1993392" cy="1060704"/>
          </a:xfrm>
          <a:prstGeom prst="rect">
            <a:avLst/>
          </a:prstGeom>
          <a:solidFill>
            <a:srgbClr val="DCFCE7"/>
          </a:solidFill>
          <a:ln w="11430">
            <a:solidFill>
              <a:srgbClr val="0F766E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 </a:t>
            </a:r>
            <a:r>
              <a:rPr lang="en-US" sz="87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RAG + context
</a:t>
            </a:r>
            <a:r>
              <a:rPr lang="en-US" sz="87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retrieval, external context, semantic grounding, traceable evidence
</a:t>
            </a:r>
            <a:r>
              <a:rPr lang="en-US" sz="87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Global Context, EDGE Assist context layer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867912" y="5404104"/>
            <a:ext cx="2020824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82896" y="3611880"/>
            <a:ext cx="1993392" cy="1060704"/>
          </a:xfrm>
          <a:prstGeom prst="rect">
            <a:avLst/>
          </a:prstGeom>
          <a:solidFill>
            <a:srgbClr val="FEF3C7"/>
          </a:solidFill>
          <a:ln w="11430">
            <a:solidFill>
              <a:srgbClr val="F59E0B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 </a:t>
            </a:r>
            <a:r>
              <a:rPr lang="en-US" sz="87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agentic calls
</a:t>
            </a:r>
            <a:r>
              <a:rPr lang="en-US" sz="87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Summarization, tool execution, workflow orchestration, human‑in‑the‑loop controls
</a:t>
            </a:r>
            <a:r>
              <a:rPr lang="en-US" sz="87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Assist spans L2 → L3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934456" y="4672584"/>
            <a:ext cx="2020824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2880360"/>
            <a:ext cx="1993392" cy="1060704"/>
          </a:xfrm>
          <a:prstGeom prst="rect">
            <a:avLst/>
          </a:prstGeom>
          <a:solidFill>
            <a:srgbClr val="FFEDD5"/>
          </a:solidFill>
          <a:ln w="11430">
            <a:solidFill>
              <a:srgbClr val="EA580C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 </a:t>
            </a:r>
            <a:r>
              <a:rPr lang="en-US" sz="87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adaptation
</a:t>
            </a:r>
            <a:r>
              <a:rPr lang="en-US" sz="87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Fine‑tuning / LoRA, domain labeling, teacher–student distillation, calibrated confidence
</a:t>
            </a:r>
            <a:r>
              <a:rPr lang="en-US" sz="87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Roadmap: tune LLMs for domain tasks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001000" y="3941064"/>
            <a:ext cx="2020824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15984" y="2148840"/>
            <a:ext cx="1993392" cy="1060704"/>
          </a:xfrm>
          <a:prstGeom prst="rect">
            <a:avLst/>
          </a:prstGeom>
          <a:solidFill>
            <a:srgbClr val="EDE9FE"/>
          </a:solidFill>
          <a:ln w="11430">
            <a:solidFill>
              <a:srgbClr val="6D28D9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L5  </a:t>
            </a:r>
            <a:r>
              <a:rPr lang="en-US" sz="870" b="1" dirty="0">
                <a:solidFill>
                  <a:srgbClr val="07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SLM + predictive AI
</a:t>
            </a:r>
            <a:r>
              <a:rPr lang="en-US" sz="87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SLMs; transformer models for time‑series prediction and anomaly detection
</a:t>
            </a:r>
            <a:r>
              <a:rPr lang="en-US" sz="87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domain intelligence at scale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49808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compounding path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9808" y="26243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rung adds a reusable enterprise capability — not a one‑off demo. The goal is a governed AI platform that can handle complex operations workflows with measurable quality and control.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7351776" y="55046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tells leadership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51776" y="5815584"/>
            <a:ext cx="3703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ask: keep scaling Levels 1–3 while selectively funding Levels 4–5 where domain advantage is material.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framing based on current team portfolio and roadmap: BI, STR, FX Confirms, Global Context, EDGE Assist, fine‑tuning, SLM / transformer forecasting.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Macintosh PowerPoint</Application>
  <PresentationFormat>Widescreen</PresentationFormat>
  <Paragraphs>50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Industry Trends + Team Journey</dc:title>
  <dc:subject>AI industry trends and team maturity journey</dc:subject>
  <dc:creator>OpenAI</dc:creator>
  <cp:lastModifiedBy>OMSA Class</cp:lastModifiedBy>
  <cp:revision>2</cp:revision>
  <dcterms:created xsi:type="dcterms:W3CDTF">2026-04-28T02:24:44Z</dcterms:created>
  <dcterms:modified xsi:type="dcterms:W3CDTF">2026-04-28T02:27:25Z</dcterms:modified>
</cp:coreProperties>
</file>