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c3c87d962940dc" /><Relationship Type="http://schemas.openxmlformats.org/officeDocument/2006/relationships/extended-properties" Target="/docProps/app.xml" Id="R11257e4d08c94b14" /><Relationship Type="http://schemas.openxmlformats.org/officeDocument/2006/relationships/officeDocument" Target="/ppt/presentation.xml" Id="Rf0c680ceb548483e" /></Relationships>
</file>

<file path=ppt/presentation.xml><?xml version="1.0" encoding="utf-8"?>
<p:presentation xmlns:p="http://schemas.openxmlformats.org/presentationml/2006/main">
  <p:sldMasterIdLst>
    <p:sldMasterId xmlns:r="http://schemas.openxmlformats.org/officeDocument/2006/relationships" id="2147483648" r:id="Ree53fc3da9cb4087"/>
  </p:sldMasterIdLst>
  <p:notesMasterIdLst>
    <p:notesMasterId xmlns:r="http://schemas.openxmlformats.org/officeDocument/2006/relationships" r:id="R161c703984f548f8"/>
  </p:notesMasterIdLst>
  <p:sldIdLst>
    <p:sldId xmlns:r="http://schemas.openxmlformats.org/officeDocument/2006/relationships" id="256" r:id="R09c78e9129c844d1"/>
    <p:sldId xmlns:r="http://schemas.openxmlformats.org/officeDocument/2006/relationships" id="257" r:id="Rfffdda308a4243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a281bfb04b4245" /><Relationship Type="http://schemas.openxmlformats.org/officeDocument/2006/relationships/slideMaster" Target="/ppt/slideMasters/slideMaster1.xml" Id="Ree53fc3da9cb4087" /><Relationship Type="http://schemas.openxmlformats.org/officeDocument/2006/relationships/notesMaster" Target="/ppt/notesMasters/notesMaster1.xml" Id="R161c703984f548f8" /><Relationship Type="http://schemas.openxmlformats.org/officeDocument/2006/relationships/presProps" Target="/ppt/presProps.xml" Id="R2b199ad18f7242b2" /><Relationship Type="http://schemas.openxmlformats.org/officeDocument/2006/relationships/tableStyles" Target="/ppt/tableStyles.xml" Id="R0f8b049a77854485" /><Relationship Type="http://schemas.openxmlformats.org/officeDocument/2006/relationships/slide" Target="/ppt/slides/slide1.xml" Id="R09c78e9129c844d1" /><Relationship Type="http://schemas.openxmlformats.org/officeDocument/2006/relationships/slide" Target="/ppt/slides/slide2.xml" Id="Rfffdda308a4243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2a1530ef2b4b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6ed9515d484682" /><Relationship Type="http://schemas.openxmlformats.org/officeDocument/2006/relationships/notesMaster" Target="/ppt/notesMasters/notesMaster1.xml" Id="R085e32e5297346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41d3abcefe4461" /><Relationship Type="http://schemas.openxmlformats.org/officeDocument/2006/relationships/notesMaster" Target="/ppt/notesMasters/notesMaster1.xml" Id="Ra6874bc2884b4c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 MOT should own the domain-agent product because ownership follows business logic and resolution accountability. This does not mean every Operations analyst writes production code. Operations and SMEs define policy, evidence, exception paths and acceptance criteria. MOT engineers encode these requirements in prompts, tools, skills, deterministic components and evaluations, then deploy and monitor the package. In the Fails agent, roughly 70 to 75 percent of behavior comes from deterministic domain logic and sequential agents. The LLM performs roughly 25 to 30 percent of the work, mainly classification, synthesis and commentary. Evals are also domain logic because they decide whether evidence is sufficient, whether policy permits an action, and when the workflow must escalate to a human.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message: the operating model is federated. GRU remains authoritative for detecting and publishing the break. MOT owns the end-to-end investigation-to-action lifecycle because it owns the systems, domain logic and operational resolution path. Operations analysts and SMEs remain on the loop. Their review can reveal an incorrect policy rule or ambiguity, which MOT must ratify with the business and encode into rules, prompts and evaluations. Conversation AI should sit beside the workflow as a decision-support layer. It can inspect approved tool responses and the event trajectory, then explain evidence and confidence to the analyst. It never grants authority. In the Fails example, ATM supplies the fail break; MOT agents triage it, query the relevant systems, create analyst review tasks, draft correspondence, and send only after the required approval. The resolution and feedback return to the break ecosystem. Platform engineering owns the reusable runtime, not the domain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922165f2ec4a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08df4debeff4259" /><Relationship Type="http://schemas.openxmlformats.org/officeDocument/2006/relationships/slideLayout" Target="/ppt/slideLayouts/slideLayout1.xml" Id="R978ca62c504149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8ca62c504149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eb039ab5d6451f" /><Relationship Type="http://schemas.openxmlformats.org/officeDocument/2006/relationships/notesSlide" Target="/ppt/notesSlides/notesSlide1.xml" Id="Rea57ee6abeff48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c08c5609824a9c" /><Relationship Type="http://schemas.openxmlformats.org/officeDocument/2006/relationships/notesSlide" Target="/ppt/notesSlides/notesSlide2.xml" Id="R0e005a99f5dc4f7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slide-1-title">
            <a:extLst xmlns:a="http://schemas.openxmlformats.org/drawingml/2006/main">
              <a:ext uri="{FF2B5EF4-FFF2-40B4-BE49-F238E27FC236}">
                <a16:creationId xmlns:a16="http://schemas.microsoft.com/office/drawing/2014/main" id="{58F8EFF3-7E53-4C05-82BB-E1F0843F6774}"/>
              </a:ext>
            </a:extLst>
          </p:cNvPr>
          <p:cNvSpPr>
            <a:spLocks xmlns:a="http://schemas.openxmlformats.org/drawingml/2006/main" noGrp="1"/>
          </p:cNvSpPr>
          <p:nvPr/>
        </p:nvSpPr>
        <p:spPr>
          <a:xfrm xmlns:a="http://schemas.openxmlformats.org/drawingml/2006/main">
            <a:off x="609600" y="4000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000" b="0">
                <a:solidFill>
                  <a:srgbClr val="0057B8"/>
                </a:solidFill>
                <a:latin typeface="Nimbus Sans"/>
                <a:ea typeface="Nimbus Sans"/>
                <a:cs typeface="Nimbus Sans"/>
              </a:defRPr>
            </a:pPr>
            <a:r>
              <a:rPr sz="3000" b="0">
                <a:solidFill>
                  <a:srgbClr val="0057B8"/>
                </a:solidFill>
                <a:latin typeface="Nimbus Sans"/>
                <a:ea typeface="Nimbus Sans"/>
                <a:cs typeface="Nimbus Sans"/>
              </a:rPr>
              <a:t>Domain ownership of operational agents</a:t>
            </a:r>
          </a:p>
        </p:txBody>
      </p:sp>
      <p:sp>
        <p:nvSpPr>
          <p:cNvPr id="2" name="slide-1-subtitle">
            <a:extLst xmlns:a="http://schemas.openxmlformats.org/drawingml/2006/main">
              <a:ext uri="{FF2B5EF4-FFF2-40B4-BE49-F238E27FC236}">
                <a16:creationId xmlns:a16="http://schemas.microsoft.com/office/drawing/2014/main" id="{23600AF0-38BB-42E6-9047-9B72EBA6675A}"/>
              </a:ext>
            </a:extLst>
          </p:cNvPr>
          <p:cNvSpPr>
            <a:spLocks xmlns:a="http://schemas.openxmlformats.org/drawingml/2006/main" noGrp="1"/>
          </p:cNvSpPr>
          <p:nvPr/>
        </p:nvSpPr>
        <p:spPr>
          <a:xfrm xmlns:a="http://schemas.openxmlformats.org/drawingml/2006/main">
            <a:off x="628650" y="96202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C6A78"/>
                </a:solidFill>
                <a:latin typeface="Nimbus Sans"/>
                <a:ea typeface="Nimbus Sans"/>
                <a:cs typeface="Nimbus Sans"/>
              </a:defRPr>
            </a:pPr>
            <a:r>
              <a:rPr sz="1500" b="0">
                <a:solidFill>
                  <a:srgbClr val="5C6A78"/>
                </a:solidFill>
                <a:latin typeface="Nimbus Sans"/>
                <a:ea typeface="Nimbus Sans"/>
                <a:cs typeface="Nimbus Sans"/>
              </a:rPr>
              <a:t>MOT owns the business logic that investigates, recommends and resolves breaks</a:t>
            </a:r>
          </a:p>
        </p:txBody>
      </p:sp>
      <p:sp>
        <p:nvSpPr>
          <p:cNvPr id="3" name="">
            <a:extLst xmlns:a="http://schemas.openxmlformats.org/drawingml/2006/main">
              <a:ext uri="{FF2B5EF4-FFF2-40B4-BE49-F238E27FC236}">
                <a16:creationId xmlns:a16="http://schemas.microsoft.com/office/drawing/2014/main" id="{744F721F-273E-4E1F-8CD9-2C39D19878F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57B8"/>
          </a:solidFill>
          <a:ln xmlns:a="http://schemas.openxmlformats.org/drawingml/2006/main" w="0">
            <a:solidFill>
              <a:srgbClr val="0057B8"/>
            </a:solidFill>
          </a:ln>
        </p:spPr>
      </p:sp>
      <p:sp>
        <p:nvSpPr>
          <p:cNvPr id="4" name="">
            <a:extLst xmlns:a="http://schemas.openxmlformats.org/drawingml/2006/main">
              <a:ext uri="{FF2B5EF4-FFF2-40B4-BE49-F238E27FC236}">
                <a16:creationId xmlns:a16="http://schemas.microsoft.com/office/drawing/2014/main" id="{A80EA0E9-8EE6-41A4-997A-50F67150223C}"/>
              </a:ext>
            </a:extLst>
          </p:cNvPr>
          <p:cNvSpPr>
            <a:spLocks xmlns:a="http://schemas.openxmlformats.org/drawingml/2006/main" noGrp="1"/>
          </p:cNvSpPr>
          <p:nvPr/>
        </p:nvSpPr>
        <p:spPr>
          <a:xfrm xmlns:a="http://schemas.openxmlformats.org/drawingml/2006/main">
            <a:off x="11163300" y="4667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125" b="1">
                <a:solidFill>
                  <a:srgbClr val="5C6A78"/>
                </a:solidFill>
                <a:latin typeface="Nimbus Sans"/>
                <a:ea typeface="Nimbus Sans"/>
                <a:cs typeface="Nimbus Sans"/>
              </a:defRPr>
            </a:pPr>
            <a:r>
              <a:rPr sz="1125" b="1">
                <a:solidFill>
                  <a:srgbClr val="5C6A78"/>
                </a:solidFill>
                <a:latin typeface="Nimbus Sans"/>
                <a:ea typeface="Nimbus Sans"/>
                <a:cs typeface="Nimbus Sans"/>
              </a:rPr>
              <a:t>01</a:t>
            </a:r>
          </a:p>
        </p:txBody>
      </p:sp>
      <p:sp>
        <p:nvSpPr>
          <p:cNvPr id="5" name="">
            <a:extLst xmlns:a="http://schemas.openxmlformats.org/drawingml/2006/main">
              <a:ext uri="{FF2B5EF4-FFF2-40B4-BE49-F238E27FC236}">
                <a16:creationId xmlns:a16="http://schemas.microsoft.com/office/drawing/2014/main" id="{CCC17FB9-A9A1-4DB5-A8AC-AADA08B7B0C1}"/>
              </a:ext>
            </a:extLst>
          </p:cNvPr>
          <p:cNvSpPr>
            <a:spLocks xmlns:a="http://schemas.openxmlformats.org/drawingml/2006/main" noGrp="1"/>
          </p:cNvSpPr>
          <p:nvPr/>
        </p:nvSpPr>
        <p:spPr>
          <a:xfrm xmlns:a="http://schemas.openxmlformats.org/drawingml/2006/main">
            <a:off x="628650" y="647700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00000"/>
              </a:lnSpc>
              <a:buNone/>
              <a:defRPr sz="1575" b="1">
                <a:solidFill>
                  <a:srgbClr val="0057B8"/>
                </a:solidFill>
                <a:latin typeface="Nimbus Sans"/>
                <a:ea typeface="Nimbus Sans"/>
                <a:cs typeface="Nimbus Sans"/>
              </a:defRPr>
            </a:pPr>
            <a:r>
              <a:rPr sz="1575" b="1">
                <a:solidFill>
                  <a:srgbClr val="0057B8"/>
                </a:solidFill>
                <a:latin typeface="Nimbus Sans"/>
                <a:ea typeface="Nimbus Sans"/>
                <a:cs typeface="Nimbus Sans"/>
              </a:rPr>
              <a:t>citi</a:t>
            </a:r>
          </a:p>
        </p:txBody>
      </p:sp>
      <p:sp>
        <p:nvSpPr>
          <p:cNvPr id="6" name="">
            <a:extLst xmlns:a="http://schemas.openxmlformats.org/drawingml/2006/main">
              <a:ext uri="{FF2B5EF4-FFF2-40B4-BE49-F238E27FC236}">
                <a16:creationId xmlns:a16="http://schemas.microsoft.com/office/drawing/2014/main" id="{A9893E99-E15B-48E1-BA74-95941754A847}"/>
              </a:ext>
            </a:extLst>
          </p:cNvPr>
          <p:cNvSpPr>
            <a:spLocks xmlns:a="http://schemas.openxmlformats.org/drawingml/2006/main" noGrp="1"/>
          </p:cNvSpPr>
          <p:nvPr/>
        </p:nvSpPr>
        <p:spPr>
          <a:xfrm xmlns:a="http://schemas.openxmlformats.org/drawingml/2006/main">
            <a:off x="8686800" y="64960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975" b="0">
                <a:solidFill>
                  <a:srgbClr val="5C6A78"/>
                </a:solidFill>
                <a:latin typeface="Nimbus Sans"/>
                <a:ea typeface="Nimbus Sans"/>
                <a:cs typeface="Nimbus Sans"/>
              </a:defRPr>
            </a:pPr>
            <a:r>
              <a:rPr sz="975" b="0">
                <a:solidFill>
                  <a:srgbClr val="5C6A78"/>
                </a:solidFill>
                <a:latin typeface="Nimbus Sans"/>
                <a:ea typeface="Nimbus Sans"/>
                <a:cs typeface="Nimbus Sans"/>
              </a:rPr>
              <a:t>Market Operations Technology</a:t>
            </a:r>
          </a:p>
        </p:txBody>
      </p:sp>
      <p:sp>
        <p:nvSpPr>
          <p:cNvPr id="7" name="">
            <a:extLst xmlns:a="http://schemas.openxmlformats.org/drawingml/2006/main">
              <a:ext uri="{FF2B5EF4-FFF2-40B4-BE49-F238E27FC236}">
                <a16:creationId xmlns:a16="http://schemas.microsoft.com/office/drawing/2014/main" id="{99D9F9BF-5622-4859-95C4-A8EF3B822B20}"/>
              </a:ext>
            </a:extLst>
          </p:cNvPr>
          <p:cNvSpPr>
            <a:spLocks xmlns:a="http://schemas.openxmlformats.org/drawingml/2006/main" noGrp="1"/>
          </p:cNvSpPr>
          <p:nvPr/>
        </p:nvSpPr>
        <p:spPr>
          <a:xfrm xmlns:a="http://schemas.openxmlformats.org/drawingml/2006/main">
            <a:off x="628650" y="1428750"/>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1">
                <a:solidFill>
                  <a:srgbClr val="007E87"/>
                </a:solidFill>
                <a:latin typeface="Nimbus Sans"/>
                <a:ea typeface="Nimbus Sans"/>
                <a:cs typeface="Nimbus Sans"/>
              </a:defRPr>
            </a:pPr>
            <a:r>
              <a:rPr sz="1125" b="1">
                <a:solidFill>
                  <a:srgbClr val="007E87"/>
                </a:solidFill>
                <a:latin typeface="Nimbus Sans"/>
                <a:ea typeface="Nimbus Sans"/>
                <a:cs typeface="Nimbus Sans"/>
              </a:rPr>
              <a:t>THE AGENT IS A GOVERNED DOMAIN PRODUCT</a:t>
            </a:r>
          </a:p>
        </p:txBody>
      </p:sp>
      <p:sp>
        <p:nvSpPr>
          <p:cNvPr id="8" name="">
            <a:extLst xmlns:a="http://schemas.openxmlformats.org/drawingml/2006/main">
              <a:ext uri="{FF2B5EF4-FFF2-40B4-BE49-F238E27FC236}">
                <a16:creationId xmlns:a16="http://schemas.microsoft.com/office/drawing/2014/main" id="{D2246531-F9BE-426C-A232-B619EBA50224}"/>
              </a:ext>
            </a:extLst>
          </p:cNvPr>
          <p:cNvSpPr>
            <a:spLocks xmlns:a="http://schemas.openxmlformats.org/drawingml/2006/main" noGrp="1"/>
          </p:cNvSpPr>
          <p:nvPr/>
        </p:nvSpPr>
        <p:spPr>
          <a:xfrm xmlns:a="http://schemas.openxmlformats.org/drawingml/2006/main">
            <a:off x="628650" y="1724025"/>
            <a:ext cx="10915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289"/>
          </a:bodyPr>
          <a:lstStyle xmlns:a="http://schemas.openxmlformats.org/drawingml/2006/main"/>
          <a:p xmlns:a="http://schemas.openxmlformats.org/drawingml/2006/main">
            <a:pPr algn="l">
              <a:lnSpc>
                <a:spcPct val="108000"/>
              </a:lnSpc>
              <a:buNone/>
              <a:defRPr sz="1725" b="1">
                <a:solidFill>
                  <a:srgbClr val="172333"/>
                </a:solidFill>
                <a:latin typeface="Nimbus Sans"/>
                <a:ea typeface="Nimbus Sans"/>
                <a:cs typeface="Nimbus Sans"/>
              </a:defRPr>
            </a:pPr>
            <a:r>
              <a:rPr sz="1725" b="1">
                <a:solidFill>
                  <a:srgbClr val="172333"/>
                </a:solidFill>
                <a:latin typeface="Nimbus Sans"/>
                <a:ea typeface="Nimbus Sans"/>
                <a:cs typeface="Nimbus Sans"/>
              </a:rPr>
              <a:t>Production behavior comes from policy, data contracts, deterministic workflows and controls. The LLM handles the smaller set of tasks that require language interpretation.</a:t>
            </a:r>
          </a:p>
        </p:txBody>
      </p:sp>
      <p:sp>
        <p:nvSpPr>
          <p:cNvPr id="9" name="deterministic-share">
            <a:extLst xmlns:a="http://schemas.openxmlformats.org/drawingml/2006/main">
              <a:ext uri="{FF2B5EF4-FFF2-40B4-BE49-F238E27FC236}">
                <a16:creationId xmlns:a16="http://schemas.microsoft.com/office/drawing/2014/main" id="{0E0A4EA2-AA79-449D-AFF9-C712FAB0E647}"/>
              </a:ext>
            </a:extLst>
          </p:cNvPr>
          <p:cNvSpPr>
            <a:spLocks xmlns:a="http://schemas.openxmlformats.org/drawingml/2006/main" noGrp="1"/>
          </p:cNvSpPr>
          <p:nvPr/>
        </p:nvSpPr>
        <p:spPr>
          <a:xfrm xmlns:a="http://schemas.openxmlformats.org/drawingml/2006/main">
            <a:off x="628650" y="2505075"/>
            <a:ext cx="7848600" cy="876300"/>
          </a:xfrm>
          <a:prstGeom xmlns:a="http://schemas.openxmlformats.org/drawingml/2006/main" prst="roundRect">
            <a:avLst>
              <a:gd name="adj" fmla="val 13043"/>
            </a:avLst>
          </a:prstGeom>
          <a:solidFill xmlns:a="http://schemas.openxmlformats.org/drawingml/2006/main">
            <a:srgbClr val="0A2342"/>
          </a:solidFill>
          <a:ln xmlns:a="http://schemas.openxmlformats.org/drawingml/2006/main" w="11430">
            <a:solidFill>
              <a:srgbClr val="0A2342"/>
            </a:solidFill>
            <a:prstDash val="solid"/>
          </a:ln>
        </p:spPr>
      </p:sp>
      <p:sp>
        <p:nvSpPr>
          <p:cNvPr id="10" name="llm-share">
            <a:extLst xmlns:a="http://schemas.openxmlformats.org/drawingml/2006/main">
              <a:ext uri="{FF2B5EF4-FFF2-40B4-BE49-F238E27FC236}">
                <a16:creationId xmlns:a16="http://schemas.microsoft.com/office/drawing/2014/main" id="{D1F46771-F49B-4928-82FD-A894BC5A2E3B}"/>
              </a:ext>
            </a:extLst>
          </p:cNvPr>
          <p:cNvSpPr>
            <a:spLocks xmlns:a="http://schemas.openxmlformats.org/drawingml/2006/main" noGrp="1"/>
          </p:cNvSpPr>
          <p:nvPr/>
        </p:nvSpPr>
        <p:spPr>
          <a:xfrm xmlns:a="http://schemas.openxmlformats.org/drawingml/2006/main">
            <a:off x="8572500" y="2505075"/>
            <a:ext cx="2971800" cy="876300"/>
          </a:xfrm>
          <a:prstGeom xmlns:a="http://schemas.openxmlformats.org/drawingml/2006/main" prst="roundRect">
            <a:avLst>
              <a:gd name="adj" fmla="val 13043"/>
            </a:avLst>
          </a:prstGeom>
          <a:solidFill xmlns:a="http://schemas.openxmlformats.org/drawingml/2006/main">
            <a:srgbClr val="1677D2"/>
          </a:solidFill>
          <a:ln xmlns:a="http://schemas.openxmlformats.org/drawingml/2006/main" w="11430">
            <a:solidFill>
              <a:srgbClr val="1677D2"/>
            </a:solidFill>
            <a:prstDash val="solid"/>
          </a:ln>
        </p:spPr>
      </p:sp>
      <p:sp>
        <p:nvSpPr>
          <p:cNvPr id="11" name="">
            <a:extLst xmlns:a="http://schemas.openxmlformats.org/drawingml/2006/main">
              <a:ext uri="{FF2B5EF4-FFF2-40B4-BE49-F238E27FC236}">
                <a16:creationId xmlns:a16="http://schemas.microsoft.com/office/drawing/2014/main" id="{55A9886E-03C6-4F51-8B6B-843156781325}"/>
              </a:ext>
            </a:extLst>
          </p:cNvPr>
          <p:cNvSpPr>
            <a:spLocks xmlns:a="http://schemas.openxmlformats.org/drawingml/2006/main" noGrp="1"/>
          </p:cNvSpPr>
          <p:nvPr/>
        </p:nvSpPr>
        <p:spPr>
          <a:xfrm xmlns:a="http://schemas.openxmlformats.org/drawingml/2006/main">
            <a:off x="838200" y="263842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0000"/>
              </a:lnSpc>
              <a:buNone/>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70-75%</a:t>
            </a:r>
          </a:p>
        </p:txBody>
      </p:sp>
      <p:sp>
        <p:nvSpPr>
          <p:cNvPr id="12" name="">
            <a:extLst xmlns:a="http://schemas.openxmlformats.org/drawingml/2006/main">
              <a:ext uri="{FF2B5EF4-FFF2-40B4-BE49-F238E27FC236}">
                <a16:creationId xmlns:a16="http://schemas.microsoft.com/office/drawing/2014/main" id="{48D94A20-30F5-48CE-9190-FF2AEDDA5281}"/>
              </a:ext>
            </a:extLst>
          </p:cNvPr>
          <p:cNvSpPr>
            <a:spLocks xmlns:a="http://schemas.openxmlformats.org/drawingml/2006/main" noGrp="1"/>
          </p:cNvSpPr>
          <p:nvPr/>
        </p:nvSpPr>
        <p:spPr>
          <a:xfrm xmlns:a="http://schemas.openxmlformats.org/drawingml/2006/main">
            <a:off x="2133600" y="26670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FFFFF"/>
                </a:solidFill>
                <a:latin typeface="Nimbus Sans"/>
                <a:ea typeface="Nimbus Sans"/>
                <a:cs typeface="Nimbus Sans"/>
              </a:defRPr>
            </a:pPr>
            <a:r>
              <a:rPr sz="1500" b="1">
                <a:solidFill>
                  <a:srgbClr val="FFFFFF"/>
                </a:solidFill>
                <a:latin typeface="Nimbus Sans"/>
                <a:ea typeface="Nimbus Sans"/>
                <a:cs typeface="Nimbus Sans"/>
              </a:rPr>
              <a:t>Deterministic domain logic</a:t>
            </a:r>
          </a:p>
        </p:txBody>
      </p:sp>
      <p:sp>
        <p:nvSpPr>
          <p:cNvPr id="13" name="">
            <a:extLst xmlns:a="http://schemas.openxmlformats.org/drawingml/2006/main">
              <a:ext uri="{FF2B5EF4-FFF2-40B4-BE49-F238E27FC236}">
                <a16:creationId xmlns:a16="http://schemas.microsoft.com/office/drawing/2014/main" id="{3326E93C-FF42-4286-BFE9-9FD470BEC4F1}"/>
              </a:ext>
            </a:extLst>
          </p:cNvPr>
          <p:cNvSpPr>
            <a:spLocks xmlns:a="http://schemas.openxmlformats.org/drawingml/2006/main" noGrp="1"/>
          </p:cNvSpPr>
          <p:nvPr/>
        </p:nvSpPr>
        <p:spPr>
          <a:xfrm xmlns:a="http://schemas.openxmlformats.org/drawingml/2006/main">
            <a:off x="838200" y="3009900"/>
            <a:ext cx="7334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0">
                <a:solidFill>
                  <a:srgbClr val="DCEAF7"/>
                </a:solidFill>
                <a:latin typeface="Nimbus Sans"/>
                <a:ea typeface="Nimbus Sans"/>
                <a:cs typeface="Nimbus Sans"/>
              </a:defRPr>
            </a:pPr>
            <a:r>
              <a:rPr sz="1125" b="0">
                <a:solidFill>
                  <a:srgbClr val="DCEAF7"/>
                </a:solidFill>
                <a:latin typeface="Nimbus Sans"/>
                <a:ea typeface="Nimbus Sans"/>
                <a:cs typeface="Nimbus Sans"/>
              </a:rPr>
              <a:t>Rules, reconciliations, source queries, sequencing, policy checks and governed write-back</a:t>
            </a:r>
          </a:p>
        </p:txBody>
      </p:sp>
      <p:sp>
        <p:nvSpPr>
          <p:cNvPr id="14" name="">
            <a:extLst xmlns:a="http://schemas.openxmlformats.org/drawingml/2006/main">
              <a:ext uri="{FF2B5EF4-FFF2-40B4-BE49-F238E27FC236}">
                <a16:creationId xmlns:a16="http://schemas.microsoft.com/office/drawing/2014/main" id="{4D9A7369-1617-4601-9C51-B857546B67DD}"/>
              </a:ext>
            </a:extLst>
          </p:cNvPr>
          <p:cNvSpPr>
            <a:spLocks xmlns:a="http://schemas.openxmlformats.org/drawingml/2006/main" noGrp="1"/>
          </p:cNvSpPr>
          <p:nvPr/>
        </p:nvSpPr>
        <p:spPr>
          <a:xfrm xmlns:a="http://schemas.openxmlformats.org/drawingml/2006/main">
            <a:off x="8763000" y="2638425"/>
            <a:ext cx="1123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0000"/>
              </a:lnSpc>
              <a:buNone/>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25-30%</a:t>
            </a:r>
          </a:p>
        </p:txBody>
      </p:sp>
      <p:sp>
        <p:nvSpPr>
          <p:cNvPr id="15" name="">
            <a:extLst xmlns:a="http://schemas.openxmlformats.org/drawingml/2006/main">
              <a:ext uri="{FF2B5EF4-FFF2-40B4-BE49-F238E27FC236}">
                <a16:creationId xmlns:a16="http://schemas.microsoft.com/office/drawing/2014/main" id="{254A5C33-15C9-4583-BEC6-802385CE0B52}"/>
              </a:ext>
            </a:extLst>
          </p:cNvPr>
          <p:cNvSpPr>
            <a:spLocks xmlns:a="http://schemas.openxmlformats.org/drawingml/2006/main" noGrp="1"/>
          </p:cNvSpPr>
          <p:nvPr/>
        </p:nvSpPr>
        <p:spPr>
          <a:xfrm xmlns:a="http://schemas.openxmlformats.org/drawingml/2006/main">
            <a:off x="9877425" y="2676525"/>
            <a:ext cx="142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LLM reasoning</a:t>
            </a:r>
          </a:p>
        </p:txBody>
      </p:sp>
      <p:sp>
        <p:nvSpPr>
          <p:cNvPr id="16" name="">
            <a:extLst xmlns:a="http://schemas.openxmlformats.org/drawingml/2006/main">
              <a:ext uri="{FF2B5EF4-FFF2-40B4-BE49-F238E27FC236}">
                <a16:creationId xmlns:a16="http://schemas.microsoft.com/office/drawing/2014/main" id="{9D9587D2-37BE-4F4A-B27D-EC50CB27DCEC}"/>
              </a:ext>
            </a:extLst>
          </p:cNvPr>
          <p:cNvSpPr>
            <a:spLocks xmlns:a="http://schemas.openxmlformats.org/drawingml/2006/main" noGrp="1"/>
          </p:cNvSpPr>
          <p:nvPr/>
        </p:nvSpPr>
        <p:spPr>
          <a:xfrm xmlns:a="http://schemas.openxmlformats.org/drawingml/2006/main">
            <a:off x="8763000" y="3009900"/>
            <a:ext cx="2552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77550"/>
          </a:bodyPr>
          <a:lstStyle xmlns:a="http://schemas.openxmlformats.org/drawingml/2006/main"/>
          <a:p xmlns:a="http://schemas.openxmlformats.org/drawingml/2006/main">
            <a:pPr algn="l">
              <a:lnSpc>
                <a:spcPct val="100000"/>
              </a:lnSpc>
              <a:buNone/>
              <a:defRPr sz="1088" b="0">
                <a:solidFill>
                  <a:srgbClr val="E8F3FF"/>
                </a:solidFill>
                <a:latin typeface="Nimbus Sans"/>
                <a:ea typeface="Nimbus Sans"/>
                <a:cs typeface="Nimbus Sans"/>
              </a:defRPr>
            </a:pPr>
            <a:r>
              <a:rPr sz="1088" b="0">
                <a:solidFill>
                  <a:srgbClr val="E8F3FF"/>
                </a:solidFill>
                <a:latin typeface="Nimbus Sans"/>
                <a:ea typeface="Nimbus Sans"/>
                <a:cs typeface="Nimbus Sans"/>
              </a:rPr>
              <a:t>Classification, synthesis, commentary and ambiguous exceptions</a:t>
            </a:r>
          </a:p>
        </p:txBody>
      </p:sp>
      <p:sp>
        <p:nvSpPr>
          <p:cNvPr id="17" name="">
            <a:extLst xmlns:a="http://schemas.openxmlformats.org/drawingml/2006/main">
              <a:ext uri="{FF2B5EF4-FFF2-40B4-BE49-F238E27FC236}">
                <a16:creationId xmlns:a16="http://schemas.microsoft.com/office/drawing/2014/main" id="{ECD7449D-BA93-48D2-8BBD-53032A95A4EA}"/>
              </a:ext>
            </a:extLst>
          </p:cNvPr>
          <p:cNvSpPr>
            <a:spLocks xmlns:a="http://schemas.openxmlformats.org/drawingml/2006/main" noGrp="1"/>
          </p:cNvSpPr>
          <p:nvPr/>
        </p:nvSpPr>
        <p:spPr>
          <a:xfrm xmlns:a="http://schemas.openxmlformats.org/drawingml/2006/main">
            <a:off x="628650" y="371475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057B8"/>
                </a:solidFill>
                <a:latin typeface="Nimbus Sans"/>
                <a:ea typeface="Nimbus Sans"/>
                <a:cs typeface="Nimbus Sans"/>
              </a:defRPr>
            </a:pPr>
            <a:r>
              <a:rPr sz="1500" b="1">
                <a:solidFill>
                  <a:srgbClr val="0057B8"/>
                </a:solidFill>
                <a:latin typeface="Nimbus Sans"/>
                <a:ea typeface="Nimbus Sans"/>
                <a:cs typeface="Nimbus Sans"/>
              </a:rPr>
              <a:t>One versioned agent package</a:t>
            </a:r>
          </a:p>
        </p:txBody>
      </p:sp>
      <p:sp>
        <p:nvSpPr>
          <p:cNvPr id="18" name="">
            <a:extLst xmlns:a="http://schemas.openxmlformats.org/drawingml/2006/main">
              <a:ext uri="{FF2B5EF4-FFF2-40B4-BE49-F238E27FC236}">
                <a16:creationId xmlns:a16="http://schemas.microsoft.com/office/drawing/2014/main" id="{A284D750-E388-422A-8603-AD0290F45AD2}"/>
              </a:ext>
            </a:extLst>
          </p:cNvPr>
          <p:cNvSpPr>
            <a:spLocks xmlns:a="http://schemas.openxmlformats.org/drawingml/2006/main" noGrp="1"/>
          </p:cNvSpPr>
          <p:nvPr/>
        </p:nvSpPr>
        <p:spPr>
          <a:xfrm xmlns:a="http://schemas.openxmlformats.org/drawingml/2006/main">
            <a:off x="628650" y="4105275"/>
            <a:ext cx="1924050" cy="876300"/>
          </a:xfrm>
          <a:prstGeom xmlns:a="http://schemas.openxmlformats.org/drawingml/2006/main" prst="roundRect">
            <a:avLst>
              <a:gd name="adj" fmla="val 13043"/>
            </a:avLst>
          </a:prstGeom>
          <a:solidFill xmlns:a="http://schemas.openxmlformats.org/drawingml/2006/main">
            <a:srgbClr val="F3F7FB"/>
          </a:solidFill>
          <a:ln xmlns:a="http://schemas.openxmlformats.org/drawingml/2006/main" w="11430">
            <a:solidFill>
              <a:srgbClr val="0057B8"/>
            </a:solidFill>
            <a:prstDash val="solid"/>
          </a:ln>
        </p:spPr>
      </p:sp>
      <p:sp>
        <p:nvSpPr>
          <p:cNvPr id="19" name="">
            <a:extLst xmlns:a="http://schemas.openxmlformats.org/drawingml/2006/main">
              <a:ext uri="{FF2B5EF4-FFF2-40B4-BE49-F238E27FC236}">
                <a16:creationId xmlns:a16="http://schemas.microsoft.com/office/drawing/2014/main" id="{74109698-C7EF-4AE4-A707-5870EDDD59B0}"/>
              </a:ext>
            </a:extLst>
          </p:cNvPr>
          <p:cNvSpPr>
            <a:spLocks xmlns:a="http://schemas.openxmlformats.org/drawingml/2006/main" noGrp="1"/>
          </p:cNvSpPr>
          <p:nvPr/>
        </p:nvSpPr>
        <p:spPr>
          <a:xfrm xmlns:a="http://schemas.openxmlformats.org/drawingml/2006/main">
            <a:off x="742950" y="4219575"/>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057B8"/>
                </a:solidFill>
                <a:latin typeface="Nimbus Sans"/>
                <a:ea typeface="Nimbus Sans"/>
                <a:cs typeface="Nimbus Sans"/>
              </a:defRPr>
            </a:pPr>
            <a:r>
              <a:rPr sz="1275" b="1">
                <a:solidFill>
                  <a:srgbClr val="0057B8"/>
                </a:solidFill>
                <a:latin typeface="Nimbus Sans"/>
                <a:ea typeface="Nimbus Sans"/>
                <a:cs typeface="Nimbus Sans"/>
              </a:rPr>
              <a:t>Prompts and context</a:t>
            </a:r>
          </a:p>
        </p:txBody>
      </p:sp>
      <p:sp>
        <p:nvSpPr>
          <p:cNvPr id="20" name="">
            <a:extLst xmlns:a="http://schemas.openxmlformats.org/drawingml/2006/main">
              <a:ext uri="{FF2B5EF4-FFF2-40B4-BE49-F238E27FC236}">
                <a16:creationId xmlns:a16="http://schemas.microsoft.com/office/drawing/2014/main" id="{12B5E143-9985-4EEF-8933-EB4BF0A0C25D}"/>
              </a:ext>
            </a:extLst>
          </p:cNvPr>
          <p:cNvSpPr>
            <a:spLocks xmlns:a="http://schemas.openxmlformats.org/drawingml/2006/main" noGrp="1"/>
          </p:cNvSpPr>
          <p:nvPr/>
        </p:nvSpPr>
        <p:spPr>
          <a:xfrm xmlns:a="http://schemas.openxmlformats.org/drawingml/2006/main">
            <a:off x="762000" y="45148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050" b="0">
                <a:solidFill>
                  <a:srgbClr val="172333"/>
                </a:solidFill>
                <a:latin typeface="Nimbus Sans"/>
                <a:ea typeface="Nimbus Sans"/>
                <a:cs typeface="Nimbus Sans"/>
              </a:defRPr>
            </a:pPr>
            <a:r>
              <a:rPr sz="1050" b="0">
                <a:solidFill>
                  <a:srgbClr val="172333"/>
                </a:solidFill>
                <a:latin typeface="Nimbus Sans"/>
                <a:ea typeface="Nimbus Sans"/>
                <a:cs typeface="Nimbus Sans"/>
              </a:rPr>
              <a:t>Business intent and case evidence</a:t>
            </a:r>
          </a:p>
        </p:txBody>
      </p:sp>
      <p:sp>
        <p:nvSpPr>
          <p:cNvPr id="21" name="">
            <a:extLst xmlns:a="http://schemas.openxmlformats.org/drawingml/2006/main">
              <a:ext uri="{FF2B5EF4-FFF2-40B4-BE49-F238E27FC236}">
                <a16:creationId xmlns:a16="http://schemas.microsoft.com/office/drawing/2014/main" id="{055C77CF-CD61-45DB-BAAA-D39753272A57}"/>
              </a:ext>
            </a:extLst>
          </p:cNvPr>
          <p:cNvSpPr>
            <a:spLocks xmlns:a="http://schemas.openxmlformats.org/drawingml/2006/main" noGrp="1"/>
          </p:cNvSpPr>
          <p:nvPr/>
        </p:nvSpPr>
        <p:spPr>
          <a:xfrm xmlns:a="http://schemas.openxmlformats.org/drawingml/2006/main">
            <a:off x="2762250" y="4105275"/>
            <a:ext cx="1924050" cy="876300"/>
          </a:xfrm>
          <a:prstGeom xmlns:a="http://schemas.openxmlformats.org/drawingml/2006/main" prst="roundRect">
            <a:avLst>
              <a:gd name="adj" fmla="val 13043"/>
            </a:avLst>
          </a:prstGeom>
          <a:solidFill xmlns:a="http://schemas.openxmlformats.org/drawingml/2006/main">
            <a:srgbClr val="EAF7F6"/>
          </a:solidFill>
          <a:ln xmlns:a="http://schemas.openxmlformats.org/drawingml/2006/main" w="11430">
            <a:solidFill>
              <a:srgbClr val="007E87"/>
            </a:solidFill>
            <a:prstDash val="solid"/>
          </a:ln>
        </p:spPr>
      </p:sp>
      <p:sp>
        <p:nvSpPr>
          <p:cNvPr id="22" name="">
            <a:extLst xmlns:a="http://schemas.openxmlformats.org/drawingml/2006/main">
              <a:ext uri="{FF2B5EF4-FFF2-40B4-BE49-F238E27FC236}">
                <a16:creationId xmlns:a16="http://schemas.microsoft.com/office/drawing/2014/main" id="{7492FABE-57E3-4CA4-8770-CE7B967A877E}"/>
              </a:ext>
            </a:extLst>
          </p:cNvPr>
          <p:cNvSpPr>
            <a:spLocks xmlns:a="http://schemas.openxmlformats.org/drawingml/2006/main" noGrp="1"/>
          </p:cNvSpPr>
          <p:nvPr/>
        </p:nvSpPr>
        <p:spPr>
          <a:xfrm xmlns:a="http://schemas.openxmlformats.org/drawingml/2006/main">
            <a:off x="2876550" y="4219575"/>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07E87"/>
                </a:solidFill>
                <a:latin typeface="Nimbus Sans"/>
                <a:ea typeface="Nimbus Sans"/>
                <a:cs typeface="Nimbus Sans"/>
              </a:defRPr>
            </a:pPr>
            <a:r>
              <a:rPr sz="1275" b="1">
                <a:solidFill>
                  <a:srgbClr val="007E87"/>
                </a:solidFill>
                <a:latin typeface="Nimbus Sans"/>
                <a:ea typeface="Nimbus Sans"/>
                <a:cs typeface="Nimbus Sans"/>
              </a:rPr>
              <a:t>Skills and tools</a:t>
            </a:r>
          </a:p>
        </p:txBody>
      </p:sp>
      <p:sp>
        <p:nvSpPr>
          <p:cNvPr id="23" name="">
            <a:extLst xmlns:a="http://schemas.openxmlformats.org/drawingml/2006/main">
              <a:ext uri="{FF2B5EF4-FFF2-40B4-BE49-F238E27FC236}">
                <a16:creationId xmlns:a16="http://schemas.microsoft.com/office/drawing/2014/main" id="{DDEA71F7-6416-4223-8EDF-54ED4B8FDAE4}"/>
              </a:ext>
            </a:extLst>
          </p:cNvPr>
          <p:cNvSpPr>
            <a:spLocks xmlns:a="http://schemas.openxmlformats.org/drawingml/2006/main" noGrp="1"/>
          </p:cNvSpPr>
          <p:nvPr/>
        </p:nvSpPr>
        <p:spPr>
          <a:xfrm xmlns:a="http://schemas.openxmlformats.org/drawingml/2006/main">
            <a:off x="2895600" y="45148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050" b="0">
                <a:solidFill>
                  <a:srgbClr val="172333"/>
                </a:solidFill>
                <a:latin typeface="Nimbus Sans"/>
                <a:ea typeface="Nimbus Sans"/>
                <a:cs typeface="Nimbus Sans"/>
              </a:defRPr>
            </a:pPr>
            <a:r>
              <a:rPr sz="1050" b="0">
                <a:solidFill>
                  <a:srgbClr val="172333"/>
                </a:solidFill>
                <a:latin typeface="Nimbus Sans"/>
                <a:ea typeface="Nimbus Sans"/>
                <a:cs typeface="Nimbus Sans"/>
              </a:rPr>
              <a:t>Approved access to systems and data</a:t>
            </a:r>
          </a:p>
        </p:txBody>
      </p:sp>
      <p:sp>
        <p:nvSpPr>
          <p:cNvPr id="24" name="">
            <a:extLst xmlns:a="http://schemas.openxmlformats.org/drawingml/2006/main">
              <a:ext uri="{FF2B5EF4-FFF2-40B4-BE49-F238E27FC236}">
                <a16:creationId xmlns:a16="http://schemas.microsoft.com/office/drawing/2014/main" id="{E5A1C7A4-03B8-4A49-A539-B6076FB336F3}"/>
              </a:ext>
            </a:extLst>
          </p:cNvPr>
          <p:cNvSpPr>
            <a:spLocks xmlns:a="http://schemas.openxmlformats.org/drawingml/2006/main" noGrp="1"/>
          </p:cNvSpPr>
          <p:nvPr/>
        </p:nvSpPr>
        <p:spPr>
          <a:xfrm xmlns:a="http://schemas.openxmlformats.org/drawingml/2006/main">
            <a:off x="4895850" y="4105275"/>
            <a:ext cx="1924050" cy="876300"/>
          </a:xfrm>
          <a:prstGeom xmlns:a="http://schemas.openxmlformats.org/drawingml/2006/main" prst="roundRect">
            <a:avLst>
              <a:gd name="adj" fmla="val 13043"/>
            </a:avLst>
          </a:prstGeom>
          <a:solidFill xmlns:a="http://schemas.openxmlformats.org/drawingml/2006/main">
            <a:srgbClr val="EEF1F6"/>
          </a:solidFill>
          <a:ln xmlns:a="http://schemas.openxmlformats.org/drawingml/2006/main" w="11430">
            <a:solidFill>
              <a:srgbClr val="0A2342"/>
            </a:solidFill>
            <a:prstDash val="solid"/>
          </a:ln>
        </p:spPr>
      </p:sp>
      <p:sp>
        <p:nvSpPr>
          <p:cNvPr id="25" name="">
            <a:extLst xmlns:a="http://schemas.openxmlformats.org/drawingml/2006/main">
              <a:ext uri="{FF2B5EF4-FFF2-40B4-BE49-F238E27FC236}">
                <a16:creationId xmlns:a16="http://schemas.microsoft.com/office/drawing/2014/main" id="{BB2D65E2-DF30-4A86-8FCD-4C23B43B6927}"/>
              </a:ext>
            </a:extLst>
          </p:cNvPr>
          <p:cNvSpPr>
            <a:spLocks xmlns:a="http://schemas.openxmlformats.org/drawingml/2006/main" noGrp="1"/>
          </p:cNvSpPr>
          <p:nvPr/>
        </p:nvSpPr>
        <p:spPr>
          <a:xfrm xmlns:a="http://schemas.openxmlformats.org/drawingml/2006/main">
            <a:off x="5010150" y="4219575"/>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0A2342"/>
                </a:solidFill>
                <a:latin typeface="Nimbus Sans"/>
                <a:ea typeface="Nimbus Sans"/>
                <a:cs typeface="Nimbus Sans"/>
              </a:defRPr>
            </a:pPr>
            <a:r>
              <a:rPr sz="1275" b="1">
                <a:solidFill>
                  <a:srgbClr val="0A2342"/>
                </a:solidFill>
                <a:latin typeface="Nimbus Sans"/>
                <a:ea typeface="Nimbus Sans"/>
                <a:cs typeface="Nimbus Sans"/>
              </a:rPr>
              <a:t>Deterministic agents</a:t>
            </a:r>
          </a:p>
        </p:txBody>
      </p:sp>
      <p:sp>
        <p:nvSpPr>
          <p:cNvPr id="26" name="">
            <a:extLst xmlns:a="http://schemas.openxmlformats.org/drawingml/2006/main">
              <a:ext uri="{FF2B5EF4-FFF2-40B4-BE49-F238E27FC236}">
                <a16:creationId xmlns:a16="http://schemas.microsoft.com/office/drawing/2014/main" id="{48FB7F48-5140-43CC-B4DC-A7FFD1EA1243}"/>
              </a:ext>
            </a:extLst>
          </p:cNvPr>
          <p:cNvSpPr>
            <a:spLocks xmlns:a="http://schemas.openxmlformats.org/drawingml/2006/main" noGrp="1"/>
          </p:cNvSpPr>
          <p:nvPr/>
        </p:nvSpPr>
        <p:spPr>
          <a:xfrm xmlns:a="http://schemas.openxmlformats.org/drawingml/2006/main">
            <a:off x="5029200" y="45148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050" b="0">
                <a:solidFill>
                  <a:srgbClr val="172333"/>
                </a:solidFill>
                <a:latin typeface="Nimbus Sans"/>
                <a:ea typeface="Nimbus Sans"/>
                <a:cs typeface="Nimbus Sans"/>
              </a:defRPr>
            </a:pPr>
            <a:r>
              <a:rPr sz="1050" b="0">
                <a:solidFill>
                  <a:srgbClr val="172333"/>
                </a:solidFill>
                <a:latin typeface="Nimbus Sans"/>
                <a:ea typeface="Nimbus Sans"/>
                <a:cs typeface="Nimbus Sans"/>
              </a:rPr>
              <a:t>Sequential and parallel domain code</a:t>
            </a:r>
          </a:p>
        </p:txBody>
      </p:sp>
      <p:sp>
        <p:nvSpPr>
          <p:cNvPr id="27" name="">
            <a:extLst xmlns:a="http://schemas.openxmlformats.org/drawingml/2006/main">
              <a:ext uri="{FF2B5EF4-FFF2-40B4-BE49-F238E27FC236}">
                <a16:creationId xmlns:a16="http://schemas.microsoft.com/office/drawing/2014/main" id="{84A29D18-AFEE-4E80-B023-9E0AF53D4E17}"/>
              </a:ext>
            </a:extLst>
          </p:cNvPr>
          <p:cNvSpPr>
            <a:spLocks xmlns:a="http://schemas.openxmlformats.org/drawingml/2006/main" noGrp="1"/>
          </p:cNvSpPr>
          <p:nvPr/>
        </p:nvSpPr>
        <p:spPr>
          <a:xfrm xmlns:a="http://schemas.openxmlformats.org/drawingml/2006/main">
            <a:off x="7029450" y="4105275"/>
            <a:ext cx="1924050" cy="876300"/>
          </a:xfrm>
          <a:prstGeom xmlns:a="http://schemas.openxmlformats.org/drawingml/2006/main" prst="roundRect">
            <a:avLst>
              <a:gd name="adj" fmla="val 13043"/>
            </a:avLst>
          </a:prstGeom>
          <a:solidFill xmlns:a="http://schemas.openxmlformats.org/drawingml/2006/main">
            <a:srgbClr val="FFF4E8"/>
          </a:solidFill>
          <a:ln xmlns:a="http://schemas.openxmlformats.org/drawingml/2006/main" w="11430">
            <a:solidFill>
              <a:srgbClr val="C66A1B"/>
            </a:solidFill>
            <a:prstDash val="solid"/>
          </a:ln>
        </p:spPr>
      </p:sp>
      <p:sp>
        <p:nvSpPr>
          <p:cNvPr id="28" name="">
            <a:extLst xmlns:a="http://schemas.openxmlformats.org/drawingml/2006/main">
              <a:ext uri="{FF2B5EF4-FFF2-40B4-BE49-F238E27FC236}">
                <a16:creationId xmlns:a16="http://schemas.microsoft.com/office/drawing/2014/main" id="{69EC131E-DFDE-48C5-98FC-5C773A73AE61}"/>
              </a:ext>
            </a:extLst>
          </p:cNvPr>
          <p:cNvSpPr>
            <a:spLocks xmlns:a="http://schemas.openxmlformats.org/drawingml/2006/main" noGrp="1"/>
          </p:cNvSpPr>
          <p:nvPr/>
        </p:nvSpPr>
        <p:spPr>
          <a:xfrm xmlns:a="http://schemas.openxmlformats.org/drawingml/2006/main">
            <a:off x="7143750" y="4219575"/>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66A1B"/>
                </a:solidFill>
                <a:latin typeface="Nimbus Sans"/>
                <a:ea typeface="Nimbus Sans"/>
                <a:cs typeface="Nimbus Sans"/>
              </a:defRPr>
            </a:pPr>
            <a:r>
              <a:rPr sz="1275" b="1">
                <a:solidFill>
                  <a:srgbClr val="C66A1B"/>
                </a:solidFill>
                <a:latin typeface="Nimbus Sans"/>
                <a:ea typeface="Nimbus Sans"/>
                <a:cs typeface="Nimbus Sans"/>
              </a:rPr>
              <a:t>Evals and guardrails</a:t>
            </a:r>
          </a:p>
        </p:txBody>
      </p:sp>
      <p:sp>
        <p:nvSpPr>
          <p:cNvPr id="29" name="">
            <a:extLst xmlns:a="http://schemas.openxmlformats.org/drawingml/2006/main">
              <a:ext uri="{FF2B5EF4-FFF2-40B4-BE49-F238E27FC236}">
                <a16:creationId xmlns:a16="http://schemas.microsoft.com/office/drawing/2014/main" id="{0EFD1228-CC43-4CEA-A3DC-0A23F324FBE1}"/>
              </a:ext>
            </a:extLst>
          </p:cNvPr>
          <p:cNvSpPr>
            <a:spLocks xmlns:a="http://schemas.openxmlformats.org/drawingml/2006/main" noGrp="1"/>
          </p:cNvSpPr>
          <p:nvPr/>
        </p:nvSpPr>
        <p:spPr>
          <a:xfrm xmlns:a="http://schemas.openxmlformats.org/drawingml/2006/main">
            <a:off x="7162800" y="45148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050" b="0">
                <a:solidFill>
                  <a:srgbClr val="172333"/>
                </a:solidFill>
                <a:latin typeface="Nimbus Sans"/>
                <a:ea typeface="Nimbus Sans"/>
                <a:cs typeface="Nimbus Sans"/>
              </a:defRPr>
            </a:pPr>
            <a:r>
              <a:rPr sz="1050" b="0">
                <a:solidFill>
                  <a:srgbClr val="172333"/>
                </a:solidFill>
                <a:latin typeface="Nimbus Sans"/>
                <a:ea typeface="Nimbus Sans"/>
                <a:cs typeface="Nimbus Sans"/>
              </a:rPr>
              <a:t>Fact checks, policy tests and thresholds</a:t>
            </a:r>
          </a:p>
        </p:txBody>
      </p:sp>
      <p:sp>
        <p:nvSpPr>
          <p:cNvPr id="30" name="">
            <a:extLst xmlns:a="http://schemas.openxmlformats.org/drawingml/2006/main">
              <a:ext uri="{FF2B5EF4-FFF2-40B4-BE49-F238E27FC236}">
                <a16:creationId xmlns:a16="http://schemas.microsoft.com/office/drawing/2014/main" id="{0E4C7A22-69C9-4037-B57D-17812BE5E528}"/>
              </a:ext>
            </a:extLst>
          </p:cNvPr>
          <p:cNvSpPr>
            <a:spLocks xmlns:a="http://schemas.openxmlformats.org/drawingml/2006/main" noGrp="1"/>
          </p:cNvSpPr>
          <p:nvPr/>
        </p:nvSpPr>
        <p:spPr>
          <a:xfrm xmlns:a="http://schemas.openxmlformats.org/drawingml/2006/main">
            <a:off x="9163050" y="4105275"/>
            <a:ext cx="1924050" cy="876300"/>
          </a:xfrm>
          <a:prstGeom xmlns:a="http://schemas.openxmlformats.org/drawingml/2006/main" prst="roundRect">
            <a:avLst>
              <a:gd name="adj" fmla="val 13043"/>
            </a:avLst>
          </a:prstGeom>
          <a:solidFill xmlns:a="http://schemas.openxmlformats.org/drawingml/2006/main">
            <a:srgbClr val="FCEEEE"/>
          </a:solidFill>
          <a:ln xmlns:a="http://schemas.openxmlformats.org/drawingml/2006/main" w="11430">
            <a:solidFill>
              <a:srgbClr val="C43B34"/>
            </a:solidFill>
            <a:prstDash val="solid"/>
          </a:ln>
        </p:spPr>
      </p:sp>
      <p:sp>
        <p:nvSpPr>
          <p:cNvPr id="31" name="">
            <a:extLst xmlns:a="http://schemas.openxmlformats.org/drawingml/2006/main">
              <a:ext uri="{FF2B5EF4-FFF2-40B4-BE49-F238E27FC236}">
                <a16:creationId xmlns:a16="http://schemas.microsoft.com/office/drawing/2014/main" id="{6FE6D25E-BD08-455A-9339-B8619E4693F9}"/>
              </a:ext>
            </a:extLst>
          </p:cNvPr>
          <p:cNvSpPr>
            <a:spLocks xmlns:a="http://schemas.openxmlformats.org/drawingml/2006/main" noGrp="1"/>
          </p:cNvSpPr>
          <p:nvPr/>
        </p:nvSpPr>
        <p:spPr>
          <a:xfrm xmlns:a="http://schemas.openxmlformats.org/drawingml/2006/main">
            <a:off x="9277350" y="4219575"/>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275" b="1">
                <a:solidFill>
                  <a:srgbClr val="C43B34"/>
                </a:solidFill>
                <a:latin typeface="Nimbus Sans"/>
                <a:ea typeface="Nimbus Sans"/>
                <a:cs typeface="Nimbus Sans"/>
              </a:defRPr>
            </a:pPr>
            <a:r>
              <a:rPr sz="1275" b="1">
                <a:solidFill>
                  <a:srgbClr val="C43B34"/>
                </a:solidFill>
                <a:latin typeface="Nimbus Sans"/>
                <a:ea typeface="Nimbus Sans"/>
                <a:cs typeface="Nimbus Sans"/>
              </a:rPr>
              <a:t>Human decision</a:t>
            </a:r>
          </a:p>
        </p:txBody>
      </p:sp>
      <p:sp>
        <p:nvSpPr>
          <p:cNvPr id="32" name="">
            <a:extLst xmlns:a="http://schemas.openxmlformats.org/drawingml/2006/main">
              <a:ext uri="{FF2B5EF4-FFF2-40B4-BE49-F238E27FC236}">
                <a16:creationId xmlns:a16="http://schemas.microsoft.com/office/drawing/2014/main" id="{8D9B5CEC-9D0F-4DD4-9A94-E18F0CB30B0E}"/>
              </a:ext>
            </a:extLst>
          </p:cNvPr>
          <p:cNvSpPr>
            <a:spLocks xmlns:a="http://schemas.openxmlformats.org/drawingml/2006/main" noGrp="1"/>
          </p:cNvSpPr>
          <p:nvPr/>
        </p:nvSpPr>
        <p:spPr>
          <a:xfrm xmlns:a="http://schemas.openxmlformats.org/drawingml/2006/main">
            <a:off x="9296400" y="4514850"/>
            <a:ext cx="1657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050" b="0">
                <a:solidFill>
                  <a:srgbClr val="172333"/>
                </a:solidFill>
                <a:latin typeface="Nimbus Sans"/>
                <a:ea typeface="Nimbus Sans"/>
                <a:cs typeface="Nimbus Sans"/>
              </a:defRPr>
            </a:pPr>
            <a:r>
              <a:rPr sz="1050" b="0">
                <a:solidFill>
                  <a:srgbClr val="172333"/>
                </a:solidFill>
                <a:latin typeface="Nimbus Sans"/>
                <a:ea typeface="Nimbus Sans"/>
                <a:cs typeface="Nimbus Sans"/>
              </a:rPr>
              <a:t>Approval, correction and final action</a:t>
            </a:r>
          </a:p>
        </p:txBody>
      </p:sp>
      <p:cxnSp>
        <p:nvCxnSpPr>
          <p:cNvPr id="77" name=""/>
          <p:cNvCxnSpPr>
            <a:stCxn xmlns:a="http://schemas.openxmlformats.org/drawingml/2006/main" id="18" idx="3"/>
            <a:endCxn xmlns:a="http://schemas.openxmlformats.org/drawingml/2006/main" id="21" idx="1"/>
          </p:cNvCxnSpPr>
          <p:nvPr/>
        </p:nvCxnSpPr>
        <p:spPr>
          <a:xfrm xmlns:a="http://schemas.openxmlformats.org/drawingml/2006/main">
            <a:off x="2552700" y="4543425"/>
            <a:ext cx="209550" cy="0"/>
          </a:xfrm>
          <a:prstGeom xmlns:a="http://schemas.openxmlformats.org/drawingml/2006/main" prst="straightConnector1">
            <a:avLst/>
          </a:prstGeom>
          <a:ln xmlns:a="http://schemas.openxmlformats.org/drawingml/2006/main" w="14288">
            <a:solidFill>
              <a:srgbClr val="5C6A78"/>
            </a:solidFill>
            <a:prstDash val="solid"/>
          </a:ln>
        </p:spPr>
      </p:cxnSp>
      <p:cxnSp>
        <p:nvCxnSpPr>
          <p:cNvPr id="78" name=""/>
          <p:cNvCxnSpPr>
            <a:stCxn xmlns:a="http://schemas.openxmlformats.org/drawingml/2006/main" id="21" idx="3"/>
            <a:endCxn xmlns:a="http://schemas.openxmlformats.org/drawingml/2006/main" id="24" idx="1"/>
          </p:cNvCxnSpPr>
          <p:nvPr/>
        </p:nvCxnSpPr>
        <p:spPr>
          <a:xfrm xmlns:a="http://schemas.openxmlformats.org/drawingml/2006/main">
            <a:off x="4686300" y="4543425"/>
            <a:ext cx="209550" cy="0"/>
          </a:xfrm>
          <a:prstGeom xmlns:a="http://schemas.openxmlformats.org/drawingml/2006/main" prst="straightConnector1">
            <a:avLst/>
          </a:prstGeom>
          <a:ln xmlns:a="http://schemas.openxmlformats.org/drawingml/2006/main" w="14288">
            <a:solidFill>
              <a:srgbClr val="5C6A78"/>
            </a:solidFill>
            <a:prstDash val="solid"/>
          </a:ln>
        </p:spPr>
      </p:cxnSp>
      <p:cxnSp>
        <p:nvCxnSpPr>
          <p:cNvPr id="79" name=""/>
          <p:cNvCxnSpPr>
            <a:stCxn xmlns:a="http://schemas.openxmlformats.org/drawingml/2006/main" id="24" idx="3"/>
            <a:endCxn xmlns:a="http://schemas.openxmlformats.org/drawingml/2006/main" id="27" idx="1"/>
          </p:cNvCxnSpPr>
          <p:nvPr/>
        </p:nvCxnSpPr>
        <p:spPr>
          <a:xfrm xmlns:a="http://schemas.openxmlformats.org/drawingml/2006/main">
            <a:off x="6819900" y="4543425"/>
            <a:ext cx="209550" cy="0"/>
          </a:xfrm>
          <a:prstGeom xmlns:a="http://schemas.openxmlformats.org/drawingml/2006/main" prst="straightConnector1">
            <a:avLst/>
          </a:prstGeom>
          <a:ln xmlns:a="http://schemas.openxmlformats.org/drawingml/2006/main" w="14288">
            <a:solidFill>
              <a:srgbClr val="5C6A78"/>
            </a:solidFill>
            <a:prstDash val="solid"/>
          </a:ln>
        </p:spPr>
      </p:cxnSp>
      <p:cxnSp>
        <p:nvCxnSpPr>
          <p:cNvPr id="80" name=""/>
          <p:cNvCxnSpPr>
            <a:stCxn xmlns:a="http://schemas.openxmlformats.org/drawingml/2006/main" id="27" idx="3"/>
            <a:endCxn xmlns:a="http://schemas.openxmlformats.org/drawingml/2006/main" id="30" idx="1"/>
          </p:cNvCxnSpPr>
          <p:nvPr/>
        </p:nvCxnSpPr>
        <p:spPr>
          <a:xfrm xmlns:a="http://schemas.openxmlformats.org/drawingml/2006/main">
            <a:off x="8953500" y="4543425"/>
            <a:ext cx="209550" cy="0"/>
          </a:xfrm>
          <a:prstGeom xmlns:a="http://schemas.openxmlformats.org/drawingml/2006/main" prst="straightConnector1">
            <a:avLst/>
          </a:prstGeom>
          <a:ln xmlns:a="http://schemas.openxmlformats.org/drawingml/2006/main" w="14288">
            <a:solidFill>
              <a:srgbClr val="5C6A78"/>
            </a:solidFill>
            <a:prstDash val="solid"/>
          </a:ln>
        </p:spPr>
      </p:cxnSp>
      <p:sp>
        <p:nvSpPr>
          <p:cNvPr id="37" name="">
            <a:extLst xmlns:a="http://schemas.openxmlformats.org/drawingml/2006/main">
              <a:ext uri="{FF2B5EF4-FFF2-40B4-BE49-F238E27FC236}">
                <a16:creationId xmlns:a16="http://schemas.microsoft.com/office/drawing/2014/main" id="{DBA01013-E38D-4020-BBBD-200D51131ED1}"/>
              </a:ext>
            </a:extLst>
          </p:cNvPr>
          <p:cNvSpPr>
            <a:spLocks xmlns:a="http://schemas.openxmlformats.org/drawingml/2006/main" noGrp="1"/>
          </p:cNvSpPr>
          <p:nvPr/>
        </p:nvSpPr>
        <p:spPr>
          <a:xfrm xmlns:a="http://schemas.openxmlformats.org/drawingml/2006/main">
            <a:off x="4210050" y="5314950"/>
            <a:ext cx="0" cy="742950"/>
          </a:xfrm>
          <a:prstGeom xmlns:a="http://schemas.openxmlformats.org/drawingml/2006/main" prst="line">
            <a:avLst/>
          </a:prstGeom>
          <a:noFill xmlns:a="http://schemas.openxmlformats.org/drawingml/2006/main"/>
          <a:ln xmlns:a="http://schemas.openxmlformats.org/drawingml/2006/main" w="9525">
            <a:solidFill>
              <a:srgbClr val="CBD6E2"/>
            </a:solidFill>
            <a:prstDash val="solid"/>
          </a:ln>
        </p:spPr>
      </p:sp>
      <p:sp>
        <p:nvSpPr>
          <p:cNvPr id="38" name="">
            <a:extLst xmlns:a="http://schemas.openxmlformats.org/drawingml/2006/main">
              <a:ext uri="{FF2B5EF4-FFF2-40B4-BE49-F238E27FC236}">
                <a16:creationId xmlns:a16="http://schemas.microsoft.com/office/drawing/2014/main" id="{A99B61D6-70BA-4767-9D37-F8AE5C7BEC76}"/>
              </a:ext>
            </a:extLst>
          </p:cNvPr>
          <p:cNvSpPr>
            <a:spLocks xmlns:a="http://schemas.openxmlformats.org/drawingml/2006/main" noGrp="1"/>
          </p:cNvSpPr>
          <p:nvPr/>
        </p:nvSpPr>
        <p:spPr>
          <a:xfrm xmlns:a="http://schemas.openxmlformats.org/drawingml/2006/main">
            <a:off x="7943850" y="5314950"/>
            <a:ext cx="0" cy="742950"/>
          </a:xfrm>
          <a:prstGeom xmlns:a="http://schemas.openxmlformats.org/drawingml/2006/main" prst="line">
            <a:avLst/>
          </a:prstGeom>
          <a:noFill xmlns:a="http://schemas.openxmlformats.org/drawingml/2006/main"/>
          <a:ln xmlns:a="http://schemas.openxmlformats.org/drawingml/2006/main" w="9525">
            <a:solidFill>
              <a:srgbClr val="CBD6E2"/>
            </a:solidFill>
            <a:prstDash val="solid"/>
          </a:ln>
        </p:spPr>
      </p:sp>
      <p:sp>
        <p:nvSpPr>
          <p:cNvPr id="39" name="">
            <a:extLst xmlns:a="http://schemas.openxmlformats.org/drawingml/2006/main">
              <a:ext uri="{FF2B5EF4-FFF2-40B4-BE49-F238E27FC236}">
                <a16:creationId xmlns:a16="http://schemas.microsoft.com/office/drawing/2014/main" id="{8B9DC56E-5643-4248-8E6D-FA2CBC5F5E61}"/>
              </a:ext>
            </a:extLst>
          </p:cNvPr>
          <p:cNvSpPr>
            <a:spLocks xmlns:a="http://schemas.openxmlformats.org/drawingml/2006/main" noGrp="1"/>
          </p:cNvSpPr>
          <p:nvPr/>
        </p:nvSpPr>
        <p:spPr>
          <a:xfrm xmlns:a="http://schemas.openxmlformats.org/drawingml/2006/main">
            <a:off x="628650" y="53816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057B8"/>
                </a:solidFill>
                <a:latin typeface="Nimbus Sans"/>
                <a:ea typeface="Nimbus Sans"/>
                <a:cs typeface="Nimbus Sans"/>
              </a:defRPr>
            </a:pPr>
            <a:r>
              <a:rPr sz="1350" b="1">
                <a:solidFill>
                  <a:srgbClr val="0057B8"/>
                </a:solidFill>
                <a:latin typeface="Nimbus Sans"/>
                <a:ea typeface="Nimbus Sans"/>
                <a:cs typeface="Nimbus Sans"/>
              </a:rPr>
              <a:t>Domain knowledge</a:t>
            </a:r>
          </a:p>
        </p:txBody>
      </p:sp>
      <p:sp>
        <p:nvSpPr>
          <p:cNvPr id="40" name="">
            <a:extLst xmlns:a="http://schemas.openxmlformats.org/drawingml/2006/main">
              <a:ext uri="{FF2B5EF4-FFF2-40B4-BE49-F238E27FC236}">
                <a16:creationId xmlns:a16="http://schemas.microsoft.com/office/drawing/2014/main" id="{1B45AA4A-B0F8-4B43-BD4B-3CF1EC60CB45}"/>
              </a:ext>
            </a:extLst>
          </p:cNvPr>
          <p:cNvSpPr>
            <a:spLocks xmlns:a="http://schemas.openxmlformats.org/drawingml/2006/main" noGrp="1"/>
          </p:cNvSpPr>
          <p:nvPr/>
        </p:nvSpPr>
        <p:spPr>
          <a:xfrm xmlns:a="http://schemas.openxmlformats.org/drawingml/2006/main">
            <a:off x="628650" y="56483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63" b="0">
                <a:solidFill>
                  <a:srgbClr val="172333"/>
                </a:solidFill>
                <a:latin typeface="Nimbus Sans"/>
                <a:ea typeface="Nimbus Sans"/>
                <a:cs typeface="Nimbus Sans"/>
              </a:defRPr>
            </a:pPr>
            <a:r>
              <a:rPr sz="1163" b="0">
                <a:solidFill>
                  <a:srgbClr val="172333"/>
                </a:solidFill>
                <a:latin typeface="Nimbus Sans"/>
                <a:ea typeface="Nimbus Sans"/>
                <a:cs typeface="Nimbus Sans"/>
              </a:rPr>
              <a:t>MOT owns the systems, data meaning and resolution logic behind the break.</a:t>
            </a:r>
          </a:p>
        </p:txBody>
      </p:sp>
      <p:sp>
        <p:nvSpPr>
          <p:cNvPr id="41" name="">
            <a:extLst xmlns:a="http://schemas.openxmlformats.org/drawingml/2006/main">
              <a:ext uri="{FF2B5EF4-FFF2-40B4-BE49-F238E27FC236}">
                <a16:creationId xmlns:a16="http://schemas.microsoft.com/office/drawing/2014/main" id="{3DD8E103-5287-43FF-A74F-5B484703A35A}"/>
              </a:ext>
            </a:extLst>
          </p:cNvPr>
          <p:cNvSpPr>
            <a:spLocks xmlns:a="http://schemas.openxmlformats.org/drawingml/2006/main" noGrp="1"/>
          </p:cNvSpPr>
          <p:nvPr/>
        </p:nvSpPr>
        <p:spPr>
          <a:xfrm xmlns:a="http://schemas.openxmlformats.org/drawingml/2006/main">
            <a:off x="4495800" y="5381625"/>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057B8"/>
                </a:solidFill>
                <a:latin typeface="Nimbus Sans"/>
                <a:ea typeface="Nimbus Sans"/>
                <a:cs typeface="Nimbus Sans"/>
              </a:defRPr>
            </a:pPr>
            <a:r>
              <a:rPr sz="1350" b="1">
                <a:solidFill>
                  <a:srgbClr val="0057B8"/>
                </a:solidFill>
                <a:latin typeface="Nimbus Sans"/>
                <a:ea typeface="Nimbus Sans"/>
                <a:cs typeface="Nimbus Sans"/>
              </a:rPr>
              <a:t>Operational accountability</a:t>
            </a:r>
          </a:p>
        </p:txBody>
      </p:sp>
      <p:sp>
        <p:nvSpPr>
          <p:cNvPr id="42" name="">
            <a:extLst xmlns:a="http://schemas.openxmlformats.org/drawingml/2006/main">
              <a:ext uri="{FF2B5EF4-FFF2-40B4-BE49-F238E27FC236}">
                <a16:creationId xmlns:a16="http://schemas.microsoft.com/office/drawing/2014/main" id="{7FCF2726-A920-47D9-AFC9-BCE74A08B8E0}"/>
              </a:ext>
            </a:extLst>
          </p:cNvPr>
          <p:cNvSpPr>
            <a:spLocks xmlns:a="http://schemas.openxmlformats.org/drawingml/2006/main" noGrp="1"/>
          </p:cNvSpPr>
          <p:nvPr/>
        </p:nvSpPr>
        <p:spPr>
          <a:xfrm xmlns:a="http://schemas.openxmlformats.org/drawingml/2006/main">
            <a:off x="4495800" y="5648325"/>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63" b="0">
                <a:solidFill>
                  <a:srgbClr val="172333"/>
                </a:solidFill>
                <a:latin typeface="Nimbus Sans"/>
                <a:ea typeface="Nimbus Sans"/>
                <a:cs typeface="Nimbus Sans"/>
              </a:defRPr>
            </a:pPr>
            <a:r>
              <a:rPr sz="1163" b="0">
                <a:solidFill>
                  <a:srgbClr val="172333"/>
                </a:solidFill>
                <a:latin typeface="Nimbus Sans"/>
                <a:ea typeface="Nimbus Sans"/>
                <a:cs typeface="Nimbus Sans"/>
              </a:rPr>
              <a:t>The owner that investigates and closes the break must own the agent's behavior.</a:t>
            </a:r>
          </a:p>
        </p:txBody>
      </p:sp>
      <p:sp>
        <p:nvSpPr>
          <p:cNvPr id="43" name="">
            <a:extLst xmlns:a="http://schemas.openxmlformats.org/drawingml/2006/main">
              <a:ext uri="{FF2B5EF4-FFF2-40B4-BE49-F238E27FC236}">
                <a16:creationId xmlns:a16="http://schemas.microsoft.com/office/drawing/2014/main" id="{F4D90BBA-B54E-401E-9397-A93595A3F88F}"/>
              </a:ext>
            </a:extLst>
          </p:cNvPr>
          <p:cNvSpPr>
            <a:spLocks xmlns:a="http://schemas.openxmlformats.org/drawingml/2006/main" noGrp="1"/>
          </p:cNvSpPr>
          <p:nvPr/>
        </p:nvSpPr>
        <p:spPr>
          <a:xfrm xmlns:a="http://schemas.openxmlformats.org/drawingml/2006/main">
            <a:off x="8229600" y="5381625"/>
            <a:ext cx="3314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057B8"/>
                </a:solidFill>
                <a:latin typeface="Nimbus Sans"/>
                <a:ea typeface="Nimbus Sans"/>
                <a:cs typeface="Nimbus Sans"/>
              </a:defRPr>
            </a:pPr>
            <a:r>
              <a:rPr sz="1350" b="1">
                <a:solidFill>
                  <a:srgbClr val="0057B8"/>
                </a:solidFill>
                <a:latin typeface="Nimbus Sans"/>
                <a:ea typeface="Nimbus Sans"/>
                <a:cs typeface="Nimbus Sans"/>
              </a:rPr>
              <a:t>Continuous change</a:t>
            </a:r>
          </a:p>
        </p:txBody>
      </p:sp>
      <p:sp>
        <p:nvSpPr>
          <p:cNvPr id="44" name="">
            <a:extLst xmlns:a="http://schemas.openxmlformats.org/drawingml/2006/main">
              <a:ext uri="{FF2B5EF4-FFF2-40B4-BE49-F238E27FC236}">
                <a16:creationId xmlns:a16="http://schemas.microsoft.com/office/drawing/2014/main" id="{CF409572-A818-4DE7-A770-0A742F635106}"/>
              </a:ext>
            </a:extLst>
          </p:cNvPr>
          <p:cNvSpPr>
            <a:spLocks xmlns:a="http://schemas.openxmlformats.org/drawingml/2006/main" noGrp="1"/>
          </p:cNvSpPr>
          <p:nvPr/>
        </p:nvSpPr>
        <p:spPr>
          <a:xfrm xmlns:a="http://schemas.openxmlformats.org/drawingml/2006/main">
            <a:off x="8229600" y="5648325"/>
            <a:ext cx="331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63" b="0">
                <a:solidFill>
                  <a:srgbClr val="172333"/>
                </a:solidFill>
                <a:latin typeface="Nimbus Sans"/>
                <a:ea typeface="Nimbus Sans"/>
                <a:cs typeface="Nimbus Sans"/>
              </a:defRPr>
            </a:pPr>
            <a:r>
              <a:rPr sz="1163" b="0">
                <a:solidFill>
                  <a:srgbClr val="172333"/>
                </a:solidFill>
                <a:latin typeface="Nimbus Sans"/>
                <a:ea typeface="Nimbus Sans"/>
                <a:cs typeface="Nimbus Sans"/>
              </a:rPr>
              <a:t>Policy, exceptions and human feedback require rapid updates to rules and evaluations.</a:t>
            </a:r>
          </a:p>
        </p:txBody>
      </p:sp>
    </p:spTree>
    <p:extLst>
      <p:ext uri="{BB962C8B-B14F-4D97-AF65-F5344CB8AC3E}">
        <p14:creationId xmlns:p14="http://schemas.microsoft.com/office/powerpoint/2010/main" val="17538740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slide-2-title">
            <a:extLst xmlns:a="http://schemas.openxmlformats.org/drawingml/2006/main">
              <a:ext uri="{FF2B5EF4-FFF2-40B4-BE49-F238E27FC236}">
                <a16:creationId xmlns:a16="http://schemas.microsoft.com/office/drawing/2014/main" id="{4166EFF7-4CD9-40E7-A7B6-EB86F3265F32}"/>
              </a:ext>
            </a:extLst>
          </p:cNvPr>
          <p:cNvSpPr>
            <a:spLocks xmlns:a="http://schemas.openxmlformats.org/drawingml/2006/main" noGrp="1"/>
          </p:cNvSpPr>
          <p:nvPr/>
        </p:nvSpPr>
        <p:spPr>
          <a:xfrm xmlns:a="http://schemas.openxmlformats.org/drawingml/2006/main">
            <a:off x="609600" y="40005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3000" b="0">
                <a:solidFill>
                  <a:srgbClr val="0057B8"/>
                </a:solidFill>
                <a:latin typeface="Nimbus Sans"/>
                <a:ea typeface="Nimbus Sans"/>
                <a:cs typeface="Nimbus Sans"/>
              </a:defRPr>
            </a:pPr>
            <a:r>
              <a:rPr sz="3000" b="0">
                <a:solidFill>
                  <a:srgbClr val="0057B8"/>
                </a:solidFill>
                <a:latin typeface="Nimbus Sans"/>
                <a:ea typeface="Nimbus Sans"/>
                <a:cs typeface="Nimbus Sans"/>
              </a:rPr>
              <a:t>Federated operating model for break resolution</a:t>
            </a:r>
          </a:p>
        </p:txBody>
      </p:sp>
      <p:sp>
        <p:nvSpPr>
          <p:cNvPr id="2" name="slide-2-subtitle">
            <a:extLst xmlns:a="http://schemas.openxmlformats.org/drawingml/2006/main">
              <a:ext uri="{FF2B5EF4-FFF2-40B4-BE49-F238E27FC236}">
                <a16:creationId xmlns:a16="http://schemas.microsoft.com/office/drawing/2014/main" id="{38A459A2-7FC0-4E65-903A-EE3B78B0B413}"/>
              </a:ext>
            </a:extLst>
          </p:cNvPr>
          <p:cNvSpPr>
            <a:spLocks xmlns:a="http://schemas.openxmlformats.org/drawingml/2006/main" noGrp="1"/>
          </p:cNvSpPr>
          <p:nvPr/>
        </p:nvSpPr>
        <p:spPr>
          <a:xfrm xmlns:a="http://schemas.openxmlformats.org/drawingml/2006/main">
            <a:off x="628650" y="962025"/>
            <a:ext cx="1062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500" b="0">
                <a:solidFill>
                  <a:srgbClr val="5C6A78"/>
                </a:solidFill>
                <a:latin typeface="Nimbus Sans"/>
                <a:ea typeface="Nimbus Sans"/>
                <a:cs typeface="Nimbus Sans"/>
              </a:defRPr>
            </a:pPr>
            <a:r>
              <a:rPr sz="1500" b="0">
                <a:solidFill>
                  <a:srgbClr val="5C6A78"/>
                </a:solidFill>
                <a:latin typeface="Nimbus Sans"/>
                <a:ea typeface="Nimbus Sans"/>
                <a:cs typeface="Nimbus Sans"/>
              </a:rPr>
              <a:t>GRU owns the break source; MOT owns investigation through action; shared engineering supplies the runtime</a:t>
            </a:r>
          </a:p>
        </p:txBody>
      </p:sp>
      <p:sp>
        <p:nvSpPr>
          <p:cNvPr id="3" name="">
            <a:extLst xmlns:a="http://schemas.openxmlformats.org/drawingml/2006/main">
              <a:ext uri="{FF2B5EF4-FFF2-40B4-BE49-F238E27FC236}">
                <a16:creationId xmlns:a16="http://schemas.microsoft.com/office/drawing/2014/main" id="{EB92927C-C915-4CDD-A911-D9C8AF4E7DD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57B8"/>
          </a:solidFill>
          <a:ln xmlns:a="http://schemas.openxmlformats.org/drawingml/2006/main" w="0">
            <a:solidFill>
              <a:srgbClr val="0057B8"/>
            </a:solidFill>
          </a:ln>
        </p:spPr>
      </p:sp>
      <p:sp>
        <p:nvSpPr>
          <p:cNvPr id="4" name="">
            <a:extLst xmlns:a="http://schemas.openxmlformats.org/drawingml/2006/main">
              <a:ext uri="{FF2B5EF4-FFF2-40B4-BE49-F238E27FC236}">
                <a16:creationId xmlns:a16="http://schemas.microsoft.com/office/drawing/2014/main" id="{F80663B8-5B11-4CFF-8A8B-881C376F8027}"/>
              </a:ext>
            </a:extLst>
          </p:cNvPr>
          <p:cNvSpPr>
            <a:spLocks xmlns:a="http://schemas.openxmlformats.org/drawingml/2006/main" noGrp="1"/>
          </p:cNvSpPr>
          <p:nvPr/>
        </p:nvSpPr>
        <p:spPr>
          <a:xfrm xmlns:a="http://schemas.openxmlformats.org/drawingml/2006/main">
            <a:off x="11163300" y="4667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125" b="1">
                <a:solidFill>
                  <a:srgbClr val="5C6A78"/>
                </a:solidFill>
                <a:latin typeface="Nimbus Sans"/>
                <a:ea typeface="Nimbus Sans"/>
                <a:cs typeface="Nimbus Sans"/>
              </a:defRPr>
            </a:pPr>
            <a:r>
              <a:rPr sz="1125" b="1">
                <a:solidFill>
                  <a:srgbClr val="5C6A78"/>
                </a:solidFill>
                <a:latin typeface="Nimbus Sans"/>
                <a:ea typeface="Nimbus Sans"/>
                <a:cs typeface="Nimbus Sans"/>
              </a:rPr>
              <a:t>02</a:t>
            </a:r>
          </a:p>
        </p:txBody>
      </p:sp>
      <p:sp>
        <p:nvSpPr>
          <p:cNvPr id="5" name="">
            <a:extLst xmlns:a="http://schemas.openxmlformats.org/drawingml/2006/main">
              <a:ext uri="{FF2B5EF4-FFF2-40B4-BE49-F238E27FC236}">
                <a16:creationId xmlns:a16="http://schemas.microsoft.com/office/drawing/2014/main" id="{6DD36CDF-DA11-4E3E-97B3-BA1E47D2776E}"/>
              </a:ext>
            </a:extLst>
          </p:cNvPr>
          <p:cNvSpPr>
            <a:spLocks xmlns:a="http://schemas.openxmlformats.org/drawingml/2006/main" noGrp="1"/>
          </p:cNvSpPr>
          <p:nvPr/>
        </p:nvSpPr>
        <p:spPr>
          <a:xfrm xmlns:a="http://schemas.openxmlformats.org/drawingml/2006/main">
            <a:off x="628650" y="6477000"/>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5238"/>
          </a:bodyPr>
          <a:lstStyle xmlns:a="http://schemas.openxmlformats.org/drawingml/2006/main"/>
          <a:p xmlns:a="http://schemas.openxmlformats.org/drawingml/2006/main">
            <a:pPr algn="l">
              <a:lnSpc>
                <a:spcPct val="100000"/>
              </a:lnSpc>
              <a:buNone/>
              <a:defRPr sz="1575" b="1">
                <a:solidFill>
                  <a:srgbClr val="0057B8"/>
                </a:solidFill>
                <a:latin typeface="Nimbus Sans"/>
                <a:ea typeface="Nimbus Sans"/>
                <a:cs typeface="Nimbus Sans"/>
              </a:defRPr>
            </a:pPr>
            <a:r>
              <a:rPr sz="1575" b="1">
                <a:solidFill>
                  <a:srgbClr val="0057B8"/>
                </a:solidFill>
                <a:latin typeface="Nimbus Sans"/>
                <a:ea typeface="Nimbus Sans"/>
                <a:cs typeface="Nimbus Sans"/>
              </a:rPr>
              <a:t>citi</a:t>
            </a:r>
          </a:p>
        </p:txBody>
      </p:sp>
      <p:sp>
        <p:nvSpPr>
          <p:cNvPr id="6" name="">
            <a:extLst xmlns:a="http://schemas.openxmlformats.org/drawingml/2006/main">
              <a:ext uri="{FF2B5EF4-FFF2-40B4-BE49-F238E27FC236}">
                <a16:creationId xmlns:a16="http://schemas.microsoft.com/office/drawing/2014/main" id="{03199A47-8FD9-4C45-9FA8-55B05D240A07}"/>
              </a:ext>
            </a:extLst>
          </p:cNvPr>
          <p:cNvSpPr>
            <a:spLocks xmlns:a="http://schemas.openxmlformats.org/drawingml/2006/main" noGrp="1"/>
          </p:cNvSpPr>
          <p:nvPr/>
        </p:nvSpPr>
        <p:spPr>
          <a:xfrm xmlns:a="http://schemas.openxmlformats.org/drawingml/2006/main">
            <a:off x="8686800" y="649605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975" b="0">
                <a:solidFill>
                  <a:srgbClr val="5C6A78"/>
                </a:solidFill>
                <a:latin typeface="Nimbus Sans"/>
                <a:ea typeface="Nimbus Sans"/>
                <a:cs typeface="Nimbus Sans"/>
              </a:defRPr>
            </a:pPr>
            <a:r>
              <a:rPr sz="975" b="0">
                <a:solidFill>
                  <a:srgbClr val="5C6A78"/>
                </a:solidFill>
                <a:latin typeface="Nimbus Sans"/>
                <a:ea typeface="Nimbus Sans"/>
                <a:cs typeface="Nimbus Sans"/>
              </a:rPr>
              <a:t>Market Operations Technology</a:t>
            </a:r>
          </a:p>
        </p:txBody>
      </p:sp>
      <p:sp>
        <p:nvSpPr>
          <p:cNvPr id="7" name="">
            <a:extLst xmlns:a="http://schemas.openxmlformats.org/drawingml/2006/main">
              <a:ext uri="{FF2B5EF4-FFF2-40B4-BE49-F238E27FC236}">
                <a16:creationId xmlns:a16="http://schemas.microsoft.com/office/drawing/2014/main" id="{6C737A6C-9E80-4604-A020-800F86CB86F8}"/>
              </a:ext>
            </a:extLst>
          </p:cNvPr>
          <p:cNvSpPr>
            <a:spLocks xmlns:a="http://schemas.openxmlformats.org/drawingml/2006/main" noGrp="1"/>
          </p:cNvSpPr>
          <p:nvPr/>
        </p:nvSpPr>
        <p:spPr>
          <a:xfrm xmlns:a="http://schemas.openxmlformats.org/drawingml/2006/main">
            <a:off x="628650" y="14668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7E87"/>
                </a:solidFill>
                <a:latin typeface="Nimbus Sans"/>
                <a:ea typeface="Nimbus Sans"/>
                <a:cs typeface="Nimbus Sans"/>
              </a:defRPr>
            </a:pPr>
            <a:r>
              <a:rPr sz="1050" b="1">
                <a:solidFill>
                  <a:srgbClr val="007E87"/>
                </a:solidFill>
                <a:latin typeface="Nimbus Sans"/>
                <a:ea typeface="Nimbus Sans"/>
                <a:cs typeface="Nimbus Sans"/>
              </a:rPr>
              <a:t>BREAK AUTHORITY</a:t>
            </a:r>
          </a:p>
        </p:txBody>
      </p:sp>
      <p:sp>
        <p:nvSpPr>
          <p:cNvPr id="8" name="">
            <a:extLst xmlns:a="http://schemas.openxmlformats.org/drawingml/2006/main">
              <a:ext uri="{FF2B5EF4-FFF2-40B4-BE49-F238E27FC236}">
                <a16:creationId xmlns:a16="http://schemas.microsoft.com/office/drawing/2014/main" id="{31A8C3DC-F9F8-40A8-8AD4-0E279F1CF2CB}"/>
              </a:ext>
            </a:extLst>
          </p:cNvPr>
          <p:cNvSpPr>
            <a:spLocks xmlns:a="http://schemas.openxmlformats.org/drawingml/2006/main" noGrp="1"/>
          </p:cNvSpPr>
          <p:nvPr/>
        </p:nvSpPr>
        <p:spPr>
          <a:xfrm xmlns:a="http://schemas.openxmlformats.org/drawingml/2006/main">
            <a:off x="3038475" y="1466850"/>
            <a:ext cx="657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57B8"/>
                </a:solidFill>
                <a:latin typeface="Nimbus Sans"/>
                <a:ea typeface="Nimbus Sans"/>
                <a:cs typeface="Nimbus Sans"/>
              </a:defRPr>
            </a:pPr>
            <a:r>
              <a:rPr sz="1050" b="1">
                <a:solidFill>
                  <a:srgbClr val="0057B8"/>
                </a:solidFill>
                <a:latin typeface="Nimbus Sans"/>
                <a:ea typeface="Nimbus Sans"/>
                <a:cs typeface="Nimbus Sans"/>
              </a:rPr>
              <a:t>DOMAIN AGENT PRODUCT</a:t>
            </a:r>
          </a:p>
        </p:txBody>
      </p:sp>
      <p:sp>
        <p:nvSpPr>
          <p:cNvPr id="9" name="">
            <a:extLst xmlns:a="http://schemas.openxmlformats.org/drawingml/2006/main">
              <a:ext uri="{FF2B5EF4-FFF2-40B4-BE49-F238E27FC236}">
                <a16:creationId xmlns:a16="http://schemas.microsoft.com/office/drawing/2014/main" id="{6A41DFCB-5891-4EB3-8747-4639767DC677}"/>
              </a:ext>
            </a:extLst>
          </p:cNvPr>
          <p:cNvSpPr>
            <a:spLocks xmlns:a="http://schemas.openxmlformats.org/drawingml/2006/main" noGrp="1"/>
          </p:cNvSpPr>
          <p:nvPr/>
        </p:nvSpPr>
        <p:spPr>
          <a:xfrm xmlns:a="http://schemas.openxmlformats.org/drawingml/2006/main">
            <a:off x="9896475" y="1466850"/>
            <a:ext cx="1647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0000"/>
              </a:lnSpc>
              <a:buNone/>
              <a:defRPr sz="1050" b="1">
                <a:solidFill>
                  <a:srgbClr val="C43B34"/>
                </a:solidFill>
                <a:latin typeface="Nimbus Sans"/>
                <a:ea typeface="Nimbus Sans"/>
                <a:cs typeface="Nimbus Sans"/>
              </a:defRPr>
            </a:pPr>
            <a:r>
              <a:rPr sz="1050" b="1">
                <a:solidFill>
                  <a:srgbClr val="C43B34"/>
                </a:solidFill>
                <a:latin typeface="Nimbus Sans"/>
                <a:ea typeface="Nimbus Sans"/>
                <a:cs typeface="Nimbus Sans"/>
              </a:rPr>
              <a:t>CONTROLLED OUTCOME</a:t>
            </a:r>
          </a:p>
        </p:txBody>
      </p:sp>
      <p:sp>
        <p:nvSpPr>
          <p:cNvPr id="10" name="">
            <a:extLst xmlns:a="http://schemas.openxmlformats.org/drawingml/2006/main">
              <a:ext uri="{FF2B5EF4-FFF2-40B4-BE49-F238E27FC236}">
                <a16:creationId xmlns:a16="http://schemas.microsoft.com/office/drawing/2014/main" id="{1983E14A-E454-4DAC-82EF-E696366A15CF}"/>
              </a:ext>
            </a:extLst>
          </p:cNvPr>
          <p:cNvSpPr>
            <a:spLocks xmlns:a="http://schemas.openxmlformats.org/drawingml/2006/main" noGrp="1"/>
          </p:cNvSpPr>
          <p:nvPr/>
        </p:nvSpPr>
        <p:spPr>
          <a:xfrm xmlns:a="http://schemas.openxmlformats.org/drawingml/2006/main">
            <a:off x="628650" y="1809750"/>
            <a:ext cx="2095500" cy="971550"/>
          </a:xfrm>
          <a:prstGeom xmlns:a="http://schemas.openxmlformats.org/drawingml/2006/main" prst="roundRect">
            <a:avLst>
              <a:gd name="adj" fmla="val 11765"/>
            </a:avLst>
          </a:prstGeom>
          <a:solidFill xmlns:a="http://schemas.openxmlformats.org/drawingml/2006/main">
            <a:srgbClr val="007E87"/>
          </a:solidFill>
          <a:ln xmlns:a="http://schemas.openxmlformats.org/drawingml/2006/main" w="11430">
            <a:solidFill>
              <a:srgbClr val="007E87"/>
            </a:solidFill>
            <a:prstDash val="solid"/>
          </a:ln>
        </p:spPr>
      </p:sp>
      <p:sp>
        <p:nvSpPr>
          <p:cNvPr id="11" name="">
            <a:extLst xmlns:a="http://schemas.openxmlformats.org/drawingml/2006/main">
              <a:ext uri="{FF2B5EF4-FFF2-40B4-BE49-F238E27FC236}">
                <a16:creationId xmlns:a16="http://schemas.microsoft.com/office/drawing/2014/main" id="{8A52CB4C-385E-48B2-90F6-3D451A3BBE74}"/>
              </a:ext>
            </a:extLst>
          </p:cNvPr>
          <p:cNvSpPr>
            <a:spLocks xmlns:a="http://schemas.openxmlformats.org/drawingml/2006/main" noGrp="1"/>
          </p:cNvSpPr>
          <p:nvPr/>
        </p:nvSpPr>
        <p:spPr>
          <a:xfrm xmlns:a="http://schemas.openxmlformats.org/drawingml/2006/main">
            <a:off x="762000" y="1924050"/>
            <a:ext cx="1828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GRU Break Agent</a:t>
            </a:r>
          </a:p>
        </p:txBody>
      </p:sp>
      <p:sp>
        <p:nvSpPr>
          <p:cNvPr id="12" name="">
            <a:extLst xmlns:a="http://schemas.openxmlformats.org/drawingml/2006/main">
              <a:ext uri="{FF2B5EF4-FFF2-40B4-BE49-F238E27FC236}">
                <a16:creationId xmlns:a16="http://schemas.microsoft.com/office/drawing/2014/main" id="{6F60E9D6-7F9A-4815-8555-4CE5CAA4AD06}"/>
              </a:ext>
            </a:extLst>
          </p:cNvPr>
          <p:cNvSpPr>
            <a:spLocks xmlns:a="http://schemas.openxmlformats.org/drawingml/2006/main" noGrp="1"/>
          </p:cNvSpPr>
          <p:nvPr/>
        </p:nvSpPr>
        <p:spPr>
          <a:xfrm xmlns:a="http://schemas.openxmlformats.org/drawingml/2006/main">
            <a:off x="762000" y="2209800"/>
            <a:ext cx="1828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088" b="0">
                <a:solidFill>
                  <a:srgbClr val="FFFFFF"/>
                </a:solidFill>
                <a:latin typeface="Nimbus Sans"/>
                <a:ea typeface="Nimbus Sans"/>
                <a:cs typeface="Nimbus Sans"/>
              </a:defRPr>
            </a:pPr>
            <a:r>
              <a:rPr sz="1088" b="0">
                <a:solidFill>
                  <a:srgbClr val="FFFFFF"/>
                </a:solidFill>
                <a:latin typeface="Nimbus Sans"/>
                <a:ea typeface="Nimbus Sans"/>
                <a:cs typeface="Nimbus Sans"/>
              </a:rPr>
              <a:t>Detects the break and sends the authoritative payload</a:t>
            </a:r>
          </a:p>
        </p:txBody>
      </p:sp>
      <p:sp>
        <p:nvSpPr>
          <p:cNvPr id="13" name="">
            <a:extLst xmlns:a="http://schemas.openxmlformats.org/drawingml/2006/main">
              <a:ext uri="{FF2B5EF4-FFF2-40B4-BE49-F238E27FC236}">
                <a16:creationId xmlns:a16="http://schemas.microsoft.com/office/drawing/2014/main" id="{BE6F77C1-3E61-4796-9373-A2CBD9D3BEC2}"/>
              </a:ext>
            </a:extLst>
          </p:cNvPr>
          <p:cNvSpPr>
            <a:spLocks xmlns:a="http://schemas.openxmlformats.org/drawingml/2006/main" noGrp="1"/>
          </p:cNvSpPr>
          <p:nvPr/>
        </p:nvSpPr>
        <p:spPr>
          <a:xfrm xmlns:a="http://schemas.openxmlformats.org/drawingml/2006/main">
            <a:off x="3038475" y="1809750"/>
            <a:ext cx="1619250" cy="971550"/>
          </a:xfrm>
          <a:prstGeom xmlns:a="http://schemas.openxmlformats.org/drawingml/2006/main" prst="roundRect">
            <a:avLst>
              <a:gd name="adj" fmla="val 11765"/>
            </a:avLst>
          </a:prstGeom>
          <a:solidFill xmlns:a="http://schemas.openxmlformats.org/drawingml/2006/main">
            <a:srgbClr val="0057B8"/>
          </a:solidFill>
          <a:ln xmlns:a="http://schemas.openxmlformats.org/drawingml/2006/main" w="11430">
            <a:solidFill>
              <a:srgbClr val="0057B8"/>
            </a:solidFill>
            <a:prstDash val="solid"/>
          </a:ln>
        </p:spPr>
      </p:sp>
      <p:sp>
        <p:nvSpPr>
          <p:cNvPr id="14" name="">
            <a:extLst xmlns:a="http://schemas.openxmlformats.org/drawingml/2006/main">
              <a:ext uri="{FF2B5EF4-FFF2-40B4-BE49-F238E27FC236}">
                <a16:creationId xmlns:a16="http://schemas.microsoft.com/office/drawing/2014/main" id="{55319F4C-632B-45F7-926C-1A4534ACAE8F}"/>
              </a:ext>
            </a:extLst>
          </p:cNvPr>
          <p:cNvSpPr>
            <a:spLocks xmlns:a="http://schemas.openxmlformats.org/drawingml/2006/main" noGrp="1"/>
          </p:cNvSpPr>
          <p:nvPr/>
        </p:nvSpPr>
        <p:spPr>
          <a:xfrm xmlns:a="http://schemas.openxmlformats.org/drawingml/2006/main">
            <a:off x="3171825" y="192405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Triage</a:t>
            </a:r>
          </a:p>
        </p:txBody>
      </p:sp>
      <p:sp>
        <p:nvSpPr>
          <p:cNvPr id="15" name="">
            <a:extLst xmlns:a="http://schemas.openxmlformats.org/drawingml/2006/main">
              <a:ext uri="{FF2B5EF4-FFF2-40B4-BE49-F238E27FC236}">
                <a16:creationId xmlns:a16="http://schemas.microsoft.com/office/drawing/2014/main" id="{B1C2F5A8-523D-47EE-A0E1-8B4214A770E0}"/>
              </a:ext>
            </a:extLst>
          </p:cNvPr>
          <p:cNvSpPr>
            <a:spLocks xmlns:a="http://schemas.openxmlformats.org/drawingml/2006/main" noGrp="1"/>
          </p:cNvSpPr>
          <p:nvPr/>
        </p:nvSpPr>
        <p:spPr>
          <a:xfrm xmlns:a="http://schemas.openxmlformats.org/drawingml/2006/main">
            <a:off x="3171825" y="2209800"/>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4830"/>
          </a:bodyPr>
          <a:lstStyle xmlns:a="http://schemas.openxmlformats.org/drawingml/2006/main"/>
          <a:p xmlns:a="http://schemas.openxmlformats.org/drawingml/2006/main">
            <a:pPr algn="ctr">
              <a:lnSpc>
                <a:spcPct val="105000"/>
              </a:lnSpc>
              <a:buNone/>
              <a:defRPr sz="1088" b="0">
                <a:solidFill>
                  <a:srgbClr val="FFFFFF"/>
                </a:solidFill>
                <a:latin typeface="Nimbus Sans"/>
                <a:ea typeface="Nimbus Sans"/>
                <a:cs typeface="Nimbus Sans"/>
              </a:defRPr>
            </a:pPr>
            <a:r>
              <a:rPr sz="1088" b="0">
                <a:solidFill>
                  <a:srgbClr val="FFFFFF"/>
                </a:solidFill>
                <a:latin typeface="Nimbus Sans"/>
                <a:ea typeface="Nimbus Sans"/>
                <a:cs typeface="Nimbus Sans"/>
              </a:rPr>
              <a:t>Classify, prioritize and select the investigation path</a:t>
            </a:r>
          </a:p>
        </p:txBody>
      </p:sp>
      <p:sp>
        <p:nvSpPr>
          <p:cNvPr id="16" name="">
            <a:extLst xmlns:a="http://schemas.openxmlformats.org/drawingml/2006/main">
              <a:ext uri="{FF2B5EF4-FFF2-40B4-BE49-F238E27FC236}">
                <a16:creationId xmlns:a16="http://schemas.microsoft.com/office/drawing/2014/main" id="{7A1F3C0E-E323-470D-BD07-81B0CF6CAEAA}"/>
              </a:ext>
            </a:extLst>
          </p:cNvPr>
          <p:cNvSpPr>
            <a:spLocks xmlns:a="http://schemas.openxmlformats.org/drawingml/2006/main" noGrp="1"/>
          </p:cNvSpPr>
          <p:nvPr/>
        </p:nvSpPr>
        <p:spPr>
          <a:xfrm xmlns:a="http://schemas.openxmlformats.org/drawingml/2006/main">
            <a:off x="4810125" y="1809750"/>
            <a:ext cx="1619250" cy="971550"/>
          </a:xfrm>
          <a:prstGeom xmlns:a="http://schemas.openxmlformats.org/drawingml/2006/main" prst="roundRect">
            <a:avLst>
              <a:gd name="adj" fmla="val 11765"/>
            </a:avLst>
          </a:prstGeom>
          <a:solidFill xmlns:a="http://schemas.openxmlformats.org/drawingml/2006/main">
            <a:srgbClr val="0A2342"/>
          </a:solidFill>
          <a:ln xmlns:a="http://schemas.openxmlformats.org/drawingml/2006/main" w="11430">
            <a:solidFill>
              <a:srgbClr val="0A2342"/>
            </a:solidFill>
            <a:prstDash val="solid"/>
          </a:ln>
        </p:spPr>
      </p:sp>
      <p:sp>
        <p:nvSpPr>
          <p:cNvPr id="17" name="">
            <a:extLst xmlns:a="http://schemas.openxmlformats.org/drawingml/2006/main">
              <a:ext uri="{FF2B5EF4-FFF2-40B4-BE49-F238E27FC236}">
                <a16:creationId xmlns:a16="http://schemas.microsoft.com/office/drawing/2014/main" id="{C7C81510-FFFC-4106-80BB-560C735A4E55}"/>
              </a:ext>
            </a:extLst>
          </p:cNvPr>
          <p:cNvSpPr>
            <a:spLocks xmlns:a="http://schemas.openxmlformats.org/drawingml/2006/main" noGrp="1"/>
          </p:cNvSpPr>
          <p:nvPr/>
        </p:nvSpPr>
        <p:spPr>
          <a:xfrm xmlns:a="http://schemas.openxmlformats.org/drawingml/2006/main">
            <a:off x="4943475" y="192405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Investigate</a:t>
            </a:r>
          </a:p>
        </p:txBody>
      </p:sp>
      <p:sp>
        <p:nvSpPr>
          <p:cNvPr id="18" name="">
            <a:extLst xmlns:a="http://schemas.openxmlformats.org/drawingml/2006/main">
              <a:ext uri="{FF2B5EF4-FFF2-40B4-BE49-F238E27FC236}">
                <a16:creationId xmlns:a16="http://schemas.microsoft.com/office/drawing/2014/main" id="{5F9F190C-44D1-4178-AD06-B2DCDEF47D0E}"/>
              </a:ext>
            </a:extLst>
          </p:cNvPr>
          <p:cNvSpPr>
            <a:spLocks xmlns:a="http://schemas.openxmlformats.org/drawingml/2006/main" noGrp="1"/>
          </p:cNvSpPr>
          <p:nvPr/>
        </p:nvSpPr>
        <p:spPr>
          <a:xfrm xmlns:a="http://schemas.openxmlformats.org/drawingml/2006/main">
            <a:off x="4943475" y="2209800"/>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4830"/>
          </a:bodyPr>
          <a:lstStyle xmlns:a="http://schemas.openxmlformats.org/drawingml/2006/main"/>
          <a:p xmlns:a="http://schemas.openxmlformats.org/drawingml/2006/main">
            <a:pPr algn="ctr">
              <a:lnSpc>
                <a:spcPct val="105000"/>
              </a:lnSpc>
              <a:buNone/>
              <a:defRPr sz="1088" b="0">
                <a:solidFill>
                  <a:srgbClr val="FFFFFF"/>
                </a:solidFill>
                <a:latin typeface="Nimbus Sans"/>
                <a:ea typeface="Nimbus Sans"/>
                <a:cs typeface="Nimbus Sans"/>
              </a:defRPr>
            </a:pPr>
            <a:r>
              <a:rPr sz="1088" b="0">
                <a:solidFill>
                  <a:srgbClr val="FFFFFF"/>
                </a:solidFill>
                <a:latin typeface="Nimbus Sans"/>
                <a:ea typeface="Nimbus Sans"/>
                <a:cs typeface="Nimbus Sans"/>
              </a:rPr>
              <a:t>Call tools, compare evidence and run domain checks</a:t>
            </a:r>
          </a:p>
        </p:txBody>
      </p:sp>
      <p:sp>
        <p:nvSpPr>
          <p:cNvPr id="19" name="">
            <a:extLst xmlns:a="http://schemas.openxmlformats.org/drawingml/2006/main">
              <a:ext uri="{FF2B5EF4-FFF2-40B4-BE49-F238E27FC236}">
                <a16:creationId xmlns:a16="http://schemas.microsoft.com/office/drawing/2014/main" id="{628845C9-F0D8-4A30-98F2-5608083907B0}"/>
              </a:ext>
            </a:extLst>
          </p:cNvPr>
          <p:cNvSpPr>
            <a:spLocks xmlns:a="http://schemas.openxmlformats.org/drawingml/2006/main" noGrp="1"/>
          </p:cNvSpPr>
          <p:nvPr/>
        </p:nvSpPr>
        <p:spPr>
          <a:xfrm xmlns:a="http://schemas.openxmlformats.org/drawingml/2006/main">
            <a:off x="6581775" y="1809750"/>
            <a:ext cx="1619250" cy="971550"/>
          </a:xfrm>
          <a:prstGeom xmlns:a="http://schemas.openxmlformats.org/drawingml/2006/main" prst="roundRect">
            <a:avLst>
              <a:gd name="adj" fmla="val 11765"/>
            </a:avLst>
          </a:prstGeom>
          <a:solidFill xmlns:a="http://schemas.openxmlformats.org/drawingml/2006/main">
            <a:srgbClr val="0057B8"/>
          </a:solidFill>
          <a:ln xmlns:a="http://schemas.openxmlformats.org/drawingml/2006/main" w="11430">
            <a:solidFill>
              <a:srgbClr val="0057B8"/>
            </a:solidFill>
            <a:prstDash val="solid"/>
          </a:ln>
        </p:spPr>
      </p:sp>
      <p:sp>
        <p:nvSpPr>
          <p:cNvPr id="20" name="">
            <a:extLst xmlns:a="http://schemas.openxmlformats.org/drawingml/2006/main">
              <a:ext uri="{FF2B5EF4-FFF2-40B4-BE49-F238E27FC236}">
                <a16:creationId xmlns:a16="http://schemas.microsoft.com/office/drawing/2014/main" id="{4E350F28-1E42-4E49-86DF-44F3A3BE6C76}"/>
              </a:ext>
            </a:extLst>
          </p:cNvPr>
          <p:cNvSpPr>
            <a:spLocks xmlns:a="http://schemas.openxmlformats.org/drawingml/2006/main" noGrp="1"/>
          </p:cNvSpPr>
          <p:nvPr/>
        </p:nvSpPr>
        <p:spPr>
          <a:xfrm xmlns:a="http://schemas.openxmlformats.org/drawingml/2006/main">
            <a:off x="6715125" y="192405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Analyze</a:t>
            </a:r>
          </a:p>
        </p:txBody>
      </p:sp>
      <p:sp>
        <p:nvSpPr>
          <p:cNvPr id="21" name="">
            <a:extLst xmlns:a="http://schemas.openxmlformats.org/drawingml/2006/main">
              <a:ext uri="{FF2B5EF4-FFF2-40B4-BE49-F238E27FC236}">
                <a16:creationId xmlns:a16="http://schemas.microsoft.com/office/drawing/2014/main" id="{39673988-EDA9-4F09-A395-A8E09682AE53}"/>
              </a:ext>
            </a:extLst>
          </p:cNvPr>
          <p:cNvSpPr>
            <a:spLocks xmlns:a="http://schemas.openxmlformats.org/drawingml/2006/main" noGrp="1"/>
          </p:cNvSpPr>
          <p:nvPr/>
        </p:nvSpPr>
        <p:spPr>
          <a:xfrm xmlns:a="http://schemas.openxmlformats.org/drawingml/2006/main">
            <a:off x="6715125" y="2209800"/>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4139"/>
          </a:bodyPr>
          <a:lstStyle xmlns:a="http://schemas.openxmlformats.org/drawingml/2006/main"/>
          <a:p xmlns:a="http://schemas.openxmlformats.org/drawingml/2006/main">
            <a:pPr algn="ctr">
              <a:lnSpc>
                <a:spcPct val="105000"/>
              </a:lnSpc>
              <a:buNone/>
              <a:defRPr sz="1088" b="0">
                <a:solidFill>
                  <a:srgbClr val="FFFFFF"/>
                </a:solidFill>
                <a:latin typeface="Nimbus Sans"/>
                <a:ea typeface="Nimbus Sans"/>
                <a:cs typeface="Nimbus Sans"/>
              </a:defRPr>
            </a:pPr>
            <a:r>
              <a:rPr sz="1088" b="0">
                <a:solidFill>
                  <a:srgbClr val="FFFFFF"/>
                </a:solidFill>
                <a:latin typeface="Nimbus Sans"/>
                <a:ea typeface="Nimbus Sans"/>
                <a:cs typeface="Nimbus Sans"/>
              </a:rPr>
              <a:t>Explain root cause and draft the recommended resolution</a:t>
            </a:r>
          </a:p>
        </p:txBody>
      </p:sp>
      <p:sp>
        <p:nvSpPr>
          <p:cNvPr id="22" name="">
            <a:extLst xmlns:a="http://schemas.openxmlformats.org/drawingml/2006/main">
              <a:ext uri="{FF2B5EF4-FFF2-40B4-BE49-F238E27FC236}">
                <a16:creationId xmlns:a16="http://schemas.microsoft.com/office/drawing/2014/main" id="{9DEBE889-C056-4F34-B7EB-A00AE7708494}"/>
              </a:ext>
            </a:extLst>
          </p:cNvPr>
          <p:cNvSpPr>
            <a:spLocks xmlns:a="http://schemas.openxmlformats.org/drawingml/2006/main" noGrp="1"/>
          </p:cNvSpPr>
          <p:nvPr/>
        </p:nvSpPr>
        <p:spPr>
          <a:xfrm xmlns:a="http://schemas.openxmlformats.org/drawingml/2006/main">
            <a:off x="8353425" y="1809750"/>
            <a:ext cx="1524000" cy="971550"/>
          </a:xfrm>
          <a:prstGeom xmlns:a="http://schemas.openxmlformats.org/drawingml/2006/main" prst="roundRect">
            <a:avLst>
              <a:gd name="adj" fmla="val 11765"/>
            </a:avLst>
          </a:prstGeom>
          <a:solidFill xmlns:a="http://schemas.openxmlformats.org/drawingml/2006/main">
            <a:srgbClr val="C66A1B"/>
          </a:solidFill>
          <a:ln xmlns:a="http://schemas.openxmlformats.org/drawingml/2006/main" w="11430">
            <a:solidFill>
              <a:srgbClr val="C66A1B"/>
            </a:solidFill>
            <a:prstDash val="solid"/>
          </a:ln>
        </p:spPr>
      </p:sp>
      <p:sp>
        <p:nvSpPr>
          <p:cNvPr id="23" name="">
            <a:extLst xmlns:a="http://schemas.openxmlformats.org/drawingml/2006/main">
              <a:ext uri="{FF2B5EF4-FFF2-40B4-BE49-F238E27FC236}">
                <a16:creationId xmlns:a16="http://schemas.microsoft.com/office/drawing/2014/main" id="{7654B64B-BC83-453A-92ED-31CE04A78F59}"/>
              </a:ext>
            </a:extLst>
          </p:cNvPr>
          <p:cNvSpPr>
            <a:spLocks xmlns:a="http://schemas.openxmlformats.org/drawingml/2006/main" noGrp="1"/>
          </p:cNvSpPr>
          <p:nvPr/>
        </p:nvSpPr>
        <p:spPr>
          <a:xfrm xmlns:a="http://schemas.openxmlformats.org/drawingml/2006/main">
            <a:off x="8486775" y="1924050"/>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Human review</a:t>
            </a:r>
          </a:p>
        </p:txBody>
      </p:sp>
      <p:sp>
        <p:nvSpPr>
          <p:cNvPr id="24" name="">
            <a:extLst xmlns:a="http://schemas.openxmlformats.org/drawingml/2006/main">
              <a:ext uri="{FF2B5EF4-FFF2-40B4-BE49-F238E27FC236}">
                <a16:creationId xmlns:a16="http://schemas.microsoft.com/office/drawing/2014/main" id="{77B69642-9AFF-48AF-8F75-00F64A1C7098}"/>
              </a:ext>
            </a:extLst>
          </p:cNvPr>
          <p:cNvSpPr>
            <a:spLocks xmlns:a="http://schemas.openxmlformats.org/drawingml/2006/main" noGrp="1"/>
          </p:cNvSpPr>
          <p:nvPr/>
        </p:nvSpPr>
        <p:spPr>
          <a:xfrm xmlns:a="http://schemas.openxmlformats.org/drawingml/2006/main">
            <a:off x="8486775" y="2209800"/>
            <a:ext cx="1257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4830"/>
          </a:bodyPr>
          <a:lstStyle xmlns:a="http://schemas.openxmlformats.org/drawingml/2006/main"/>
          <a:p xmlns:a="http://schemas.openxmlformats.org/drawingml/2006/main">
            <a:pPr algn="ctr">
              <a:lnSpc>
                <a:spcPct val="105000"/>
              </a:lnSpc>
              <a:buNone/>
              <a:defRPr sz="1088" b="0">
                <a:solidFill>
                  <a:srgbClr val="FFFFFF"/>
                </a:solidFill>
                <a:latin typeface="Nimbus Sans"/>
                <a:ea typeface="Nimbus Sans"/>
                <a:cs typeface="Nimbus Sans"/>
              </a:defRPr>
            </a:pPr>
            <a:r>
              <a:rPr sz="1088" b="0">
                <a:solidFill>
                  <a:srgbClr val="FFFFFF"/>
                </a:solidFill>
                <a:latin typeface="Nimbus Sans"/>
                <a:ea typeface="Nimbus Sans"/>
                <a:cs typeface="Nimbus Sans"/>
              </a:rPr>
              <a:t>Approve, correct or escalate policy ambiguity</a:t>
            </a:r>
          </a:p>
        </p:txBody>
      </p:sp>
      <p:sp>
        <p:nvSpPr>
          <p:cNvPr id="25" name="">
            <a:extLst xmlns:a="http://schemas.openxmlformats.org/drawingml/2006/main">
              <a:ext uri="{FF2B5EF4-FFF2-40B4-BE49-F238E27FC236}">
                <a16:creationId xmlns:a16="http://schemas.microsoft.com/office/drawing/2014/main" id="{1648AE64-3819-4011-9954-B24C33C7BC94}"/>
              </a:ext>
            </a:extLst>
          </p:cNvPr>
          <p:cNvSpPr>
            <a:spLocks xmlns:a="http://schemas.openxmlformats.org/drawingml/2006/main" noGrp="1"/>
          </p:cNvSpPr>
          <p:nvPr/>
        </p:nvSpPr>
        <p:spPr>
          <a:xfrm xmlns:a="http://schemas.openxmlformats.org/drawingml/2006/main">
            <a:off x="10029825" y="1809750"/>
            <a:ext cx="1514475" cy="971550"/>
          </a:xfrm>
          <a:prstGeom xmlns:a="http://schemas.openxmlformats.org/drawingml/2006/main" prst="roundRect">
            <a:avLst>
              <a:gd name="adj" fmla="val 11765"/>
            </a:avLst>
          </a:prstGeom>
          <a:solidFill xmlns:a="http://schemas.openxmlformats.org/drawingml/2006/main">
            <a:srgbClr val="C43B34"/>
          </a:solidFill>
          <a:ln xmlns:a="http://schemas.openxmlformats.org/drawingml/2006/main" w="11430">
            <a:solidFill>
              <a:srgbClr val="C43B34"/>
            </a:solidFill>
            <a:prstDash val="solid"/>
          </a:ln>
        </p:spPr>
      </p:sp>
      <p:sp>
        <p:nvSpPr>
          <p:cNvPr id="26" name="">
            <a:extLst xmlns:a="http://schemas.openxmlformats.org/drawingml/2006/main">
              <a:ext uri="{FF2B5EF4-FFF2-40B4-BE49-F238E27FC236}">
                <a16:creationId xmlns:a16="http://schemas.microsoft.com/office/drawing/2014/main" id="{51ABDE18-3D10-472B-A63D-8F7773179D46}"/>
              </a:ext>
            </a:extLst>
          </p:cNvPr>
          <p:cNvSpPr>
            <a:spLocks xmlns:a="http://schemas.openxmlformats.org/drawingml/2006/main" noGrp="1"/>
          </p:cNvSpPr>
          <p:nvPr/>
        </p:nvSpPr>
        <p:spPr>
          <a:xfrm xmlns:a="http://schemas.openxmlformats.org/drawingml/2006/main">
            <a:off x="10163175" y="1924050"/>
            <a:ext cx="1247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0000"/>
              </a:lnSpc>
              <a:buNone/>
              <a:defRPr sz="1425" b="1">
                <a:solidFill>
                  <a:srgbClr val="FFFFFF"/>
                </a:solidFill>
                <a:latin typeface="Nimbus Sans"/>
                <a:ea typeface="Nimbus Sans"/>
                <a:cs typeface="Nimbus Sans"/>
              </a:defRPr>
            </a:pPr>
            <a:r>
              <a:rPr sz="1425" b="1">
                <a:solidFill>
                  <a:srgbClr val="FFFFFF"/>
                </a:solidFill>
                <a:latin typeface="Nimbus Sans"/>
                <a:ea typeface="Nimbus Sans"/>
                <a:cs typeface="Nimbus Sans"/>
              </a:rPr>
              <a:t>Act and close</a:t>
            </a:r>
          </a:p>
        </p:txBody>
      </p:sp>
      <p:sp>
        <p:nvSpPr>
          <p:cNvPr id="27" name="">
            <a:extLst xmlns:a="http://schemas.openxmlformats.org/drawingml/2006/main">
              <a:ext uri="{FF2B5EF4-FFF2-40B4-BE49-F238E27FC236}">
                <a16:creationId xmlns:a16="http://schemas.microsoft.com/office/drawing/2014/main" id="{0804253C-192B-4A2E-BC8D-A9E699061906}"/>
              </a:ext>
            </a:extLst>
          </p:cNvPr>
          <p:cNvSpPr>
            <a:spLocks xmlns:a="http://schemas.openxmlformats.org/drawingml/2006/main" noGrp="1"/>
          </p:cNvSpPr>
          <p:nvPr/>
        </p:nvSpPr>
        <p:spPr>
          <a:xfrm xmlns:a="http://schemas.openxmlformats.org/drawingml/2006/main">
            <a:off x="10163175" y="2209800"/>
            <a:ext cx="12477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4830"/>
          </a:bodyPr>
          <a:lstStyle xmlns:a="http://schemas.openxmlformats.org/drawingml/2006/main"/>
          <a:p xmlns:a="http://schemas.openxmlformats.org/drawingml/2006/main">
            <a:pPr algn="ctr">
              <a:lnSpc>
                <a:spcPct val="105000"/>
              </a:lnSpc>
              <a:buNone/>
              <a:defRPr sz="1088" b="0">
                <a:solidFill>
                  <a:srgbClr val="FFFFFF"/>
                </a:solidFill>
                <a:latin typeface="Nimbus Sans"/>
                <a:ea typeface="Nimbus Sans"/>
                <a:cs typeface="Nimbus Sans"/>
              </a:defRPr>
            </a:pPr>
            <a:r>
              <a:rPr sz="1088" b="0">
                <a:solidFill>
                  <a:srgbClr val="FFFFFF"/>
                </a:solidFill>
                <a:latin typeface="Nimbus Sans"/>
                <a:ea typeface="Nimbus Sans"/>
                <a:cs typeface="Nimbus Sans"/>
              </a:rPr>
              <a:t>Execute the approved action and return feedback</a:t>
            </a:r>
          </a:p>
        </p:txBody>
      </p:sp>
      <p:cxnSp>
        <p:nvCxnSpPr>
          <p:cNvPr id="81" name=""/>
          <p:cNvCxnSpPr>
            <a:stCxn xmlns:a="http://schemas.openxmlformats.org/drawingml/2006/main" id="10" idx="3"/>
            <a:endCxn xmlns:a="http://schemas.openxmlformats.org/drawingml/2006/main" id="13" idx="1"/>
          </p:cNvCxnSpPr>
          <p:nvPr/>
        </p:nvCxnSpPr>
        <p:spPr>
          <a:xfrm xmlns:a="http://schemas.openxmlformats.org/drawingml/2006/main">
            <a:off x="2724150" y="2295525"/>
            <a:ext cx="314325" cy="0"/>
          </a:xfrm>
          <a:prstGeom xmlns:a="http://schemas.openxmlformats.org/drawingml/2006/main" prst="straightConnector1">
            <a:avLst/>
          </a:prstGeom>
          <a:ln xmlns:a="http://schemas.openxmlformats.org/drawingml/2006/main" w="17145">
            <a:solidFill>
              <a:srgbClr val="5C6A78"/>
            </a:solidFill>
            <a:prstDash val="solid"/>
            <a:tailEnd type="triangle" w="sm" len="sm"/>
          </a:ln>
        </p:spPr>
      </p:cxnSp>
      <p:cxnSp>
        <p:nvCxnSpPr>
          <p:cNvPr id="82" name=""/>
          <p:cNvCxnSpPr>
            <a:stCxn xmlns:a="http://schemas.openxmlformats.org/drawingml/2006/main" id="13" idx="3"/>
            <a:endCxn xmlns:a="http://schemas.openxmlformats.org/drawingml/2006/main" id="16" idx="1"/>
          </p:cNvCxnSpPr>
          <p:nvPr/>
        </p:nvCxnSpPr>
        <p:spPr>
          <a:xfrm xmlns:a="http://schemas.openxmlformats.org/drawingml/2006/main">
            <a:off x="4657725" y="2295525"/>
            <a:ext cx="152400" cy="0"/>
          </a:xfrm>
          <a:prstGeom xmlns:a="http://schemas.openxmlformats.org/drawingml/2006/main" prst="straightConnector1">
            <a:avLst/>
          </a:prstGeom>
          <a:ln xmlns:a="http://schemas.openxmlformats.org/drawingml/2006/main" w="17145">
            <a:solidFill>
              <a:srgbClr val="5C6A78"/>
            </a:solidFill>
            <a:prstDash val="solid"/>
            <a:tailEnd type="triangle" w="sm" len="sm"/>
          </a:ln>
        </p:spPr>
      </p:cxnSp>
      <p:cxnSp>
        <p:nvCxnSpPr>
          <p:cNvPr id="83" name=""/>
          <p:cNvCxnSpPr>
            <a:stCxn xmlns:a="http://schemas.openxmlformats.org/drawingml/2006/main" id="16" idx="3"/>
            <a:endCxn xmlns:a="http://schemas.openxmlformats.org/drawingml/2006/main" id="19" idx="1"/>
          </p:cNvCxnSpPr>
          <p:nvPr/>
        </p:nvCxnSpPr>
        <p:spPr>
          <a:xfrm xmlns:a="http://schemas.openxmlformats.org/drawingml/2006/main">
            <a:off x="6429375" y="2295525"/>
            <a:ext cx="152400" cy="0"/>
          </a:xfrm>
          <a:prstGeom xmlns:a="http://schemas.openxmlformats.org/drawingml/2006/main" prst="straightConnector1">
            <a:avLst/>
          </a:prstGeom>
          <a:ln xmlns:a="http://schemas.openxmlformats.org/drawingml/2006/main" w="17145">
            <a:solidFill>
              <a:srgbClr val="5C6A78"/>
            </a:solidFill>
            <a:prstDash val="solid"/>
            <a:tailEnd type="triangle" w="sm" len="sm"/>
          </a:ln>
        </p:spPr>
      </p:cxnSp>
      <p:cxnSp>
        <p:nvCxnSpPr>
          <p:cNvPr id="84" name=""/>
          <p:cNvCxnSpPr>
            <a:stCxn xmlns:a="http://schemas.openxmlformats.org/drawingml/2006/main" id="19" idx="3"/>
            <a:endCxn xmlns:a="http://schemas.openxmlformats.org/drawingml/2006/main" id="22" idx="1"/>
          </p:cNvCxnSpPr>
          <p:nvPr/>
        </p:nvCxnSpPr>
        <p:spPr>
          <a:xfrm xmlns:a="http://schemas.openxmlformats.org/drawingml/2006/main">
            <a:off x="8201025" y="2295525"/>
            <a:ext cx="152400" cy="0"/>
          </a:xfrm>
          <a:prstGeom xmlns:a="http://schemas.openxmlformats.org/drawingml/2006/main" prst="straightConnector1">
            <a:avLst/>
          </a:prstGeom>
          <a:ln xmlns:a="http://schemas.openxmlformats.org/drawingml/2006/main" w="17145">
            <a:solidFill>
              <a:srgbClr val="5C6A78"/>
            </a:solidFill>
            <a:prstDash val="solid"/>
            <a:tailEnd type="triangle" w="sm" len="sm"/>
          </a:ln>
        </p:spPr>
      </p:cxnSp>
      <p:cxnSp>
        <p:nvCxnSpPr>
          <p:cNvPr id="85" name=""/>
          <p:cNvCxnSpPr>
            <a:stCxn xmlns:a="http://schemas.openxmlformats.org/drawingml/2006/main" id="22" idx="3"/>
            <a:endCxn xmlns:a="http://schemas.openxmlformats.org/drawingml/2006/main" id="25" idx="1"/>
          </p:cNvCxnSpPr>
          <p:nvPr/>
        </p:nvCxnSpPr>
        <p:spPr>
          <a:xfrm xmlns:a="http://schemas.openxmlformats.org/drawingml/2006/main">
            <a:off x="9877425" y="2295525"/>
            <a:ext cx="152400" cy="0"/>
          </a:xfrm>
          <a:prstGeom xmlns:a="http://schemas.openxmlformats.org/drawingml/2006/main" prst="straightConnector1">
            <a:avLst/>
          </a:prstGeom>
          <a:ln xmlns:a="http://schemas.openxmlformats.org/drawingml/2006/main" w="17145">
            <a:solidFill>
              <a:srgbClr val="5C6A78"/>
            </a:solidFill>
            <a:prstDash val="solid"/>
            <a:tailEnd type="triangle" w="sm" len="sm"/>
          </a:ln>
        </p:spPr>
      </p:cxnSp>
      <p:sp>
        <p:nvSpPr>
          <p:cNvPr id="33" name="">
            <a:extLst xmlns:a="http://schemas.openxmlformats.org/drawingml/2006/main">
              <a:ext uri="{FF2B5EF4-FFF2-40B4-BE49-F238E27FC236}">
                <a16:creationId xmlns:a16="http://schemas.microsoft.com/office/drawing/2014/main" id="{4F201302-27B3-4D71-A002-8BC4677ABA36}"/>
              </a:ext>
            </a:extLst>
          </p:cNvPr>
          <p:cNvSpPr>
            <a:spLocks xmlns:a="http://schemas.openxmlformats.org/drawingml/2006/main" noGrp="1"/>
          </p:cNvSpPr>
          <p:nvPr/>
        </p:nvSpPr>
        <p:spPr>
          <a:xfrm xmlns:a="http://schemas.openxmlformats.org/drawingml/2006/main">
            <a:off x="3038475" y="3048000"/>
            <a:ext cx="6838950" cy="742950"/>
          </a:xfrm>
          <a:prstGeom xmlns:a="http://schemas.openxmlformats.org/drawingml/2006/main" prst="roundRect">
            <a:avLst>
              <a:gd name="adj" fmla="val 15385"/>
            </a:avLst>
          </a:prstGeom>
          <a:solidFill xmlns:a="http://schemas.openxmlformats.org/drawingml/2006/main">
            <a:srgbClr val="EAF2FC"/>
          </a:solidFill>
          <a:ln xmlns:a="http://schemas.openxmlformats.org/drawingml/2006/main" w="11430">
            <a:solidFill>
              <a:srgbClr val="1677D2"/>
            </a:solidFill>
            <a:prstDash val="solid"/>
          </a:ln>
        </p:spPr>
      </p:sp>
      <p:sp>
        <p:nvSpPr>
          <p:cNvPr id="34" name="">
            <a:extLst xmlns:a="http://schemas.openxmlformats.org/drawingml/2006/main">
              <a:ext uri="{FF2B5EF4-FFF2-40B4-BE49-F238E27FC236}">
                <a16:creationId xmlns:a16="http://schemas.microsoft.com/office/drawing/2014/main" id="{E300490E-B171-44AC-AFE5-0EEB7C6274E7}"/>
              </a:ext>
            </a:extLst>
          </p:cNvPr>
          <p:cNvSpPr>
            <a:spLocks xmlns:a="http://schemas.openxmlformats.org/drawingml/2006/main" noGrp="1"/>
          </p:cNvSpPr>
          <p:nvPr/>
        </p:nvSpPr>
        <p:spPr>
          <a:xfrm xmlns:a="http://schemas.openxmlformats.org/drawingml/2006/main">
            <a:off x="3228975" y="3190875"/>
            <a:ext cx="2714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131"/>
          </a:bodyPr>
          <a:lstStyle xmlns:a="http://schemas.openxmlformats.org/drawingml/2006/main"/>
          <a:p xmlns:a="http://schemas.openxmlformats.org/drawingml/2006/main">
            <a:pPr algn="l">
              <a:lnSpc>
                <a:spcPct val="100000"/>
              </a:lnSpc>
              <a:buNone/>
              <a:defRPr sz="1350" b="1">
                <a:solidFill>
                  <a:srgbClr val="0057B8"/>
                </a:solidFill>
                <a:latin typeface="Nimbus Sans"/>
                <a:ea typeface="Nimbus Sans"/>
                <a:cs typeface="Nimbus Sans"/>
              </a:defRPr>
            </a:pPr>
            <a:r>
              <a:rPr sz="1350" b="1">
                <a:solidFill>
                  <a:srgbClr val="0057B8"/>
                </a:solidFill>
                <a:latin typeface="Nimbus Sans"/>
                <a:ea typeface="Nimbus Sans"/>
                <a:cs typeface="Nimbus Sans"/>
              </a:rPr>
              <a:t>Conversation AI decision support</a:t>
            </a:r>
          </a:p>
        </p:txBody>
      </p:sp>
      <p:sp>
        <p:nvSpPr>
          <p:cNvPr id="35" name="">
            <a:extLst xmlns:a="http://schemas.openxmlformats.org/drawingml/2006/main">
              <a:ext uri="{FF2B5EF4-FFF2-40B4-BE49-F238E27FC236}">
                <a16:creationId xmlns:a16="http://schemas.microsoft.com/office/drawing/2014/main" id="{E5C6292F-A1F8-4451-961B-DF5840C270C6}"/>
              </a:ext>
            </a:extLst>
          </p:cNvPr>
          <p:cNvSpPr>
            <a:spLocks xmlns:a="http://schemas.openxmlformats.org/drawingml/2006/main" noGrp="1"/>
          </p:cNvSpPr>
          <p:nvPr/>
        </p:nvSpPr>
        <p:spPr>
          <a:xfrm xmlns:a="http://schemas.openxmlformats.org/drawingml/2006/main">
            <a:off x="6000750" y="3162300"/>
            <a:ext cx="3667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Explains tool evidence, event trajectory and confidence to the analyst; it recommends but does not grant permission.</a:t>
            </a:r>
          </a:p>
        </p:txBody>
      </p:sp>
      <p:sp>
        <p:nvSpPr>
          <p:cNvPr id="36" name="">
            <a:extLst xmlns:a="http://schemas.openxmlformats.org/drawingml/2006/main">
              <a:ext uri="{FF2B5EF4-FFF2-40B4-BE49-F238E27FC236}">
                <a16:creationId xmlns:a16="http://schemas.microsoft.com/office/drawing/2014/main" id="{896F08FA-E232-4D22-80F4-EBD948CD5E51}"/>
              </a:ext>
            </a:extLst>
          </p:cNvPr>
          <p:cNvSpPr>
            <a:spLocks xmlns:a="http://schemas.openxmlformats.org/drawingml/2006/main" noGrp="1"/>
          </p:cNvSpPr>
          <p:nvPr/>
        </p:nvSpPr>
        <p:spPr>
          <a:xfrm xmlns:a="http://schemas.openxmlformats.org/drawingml/2006/main">
            <a:off x="628650" y="4000500"/>
            <a:ext cx="10915650" cy="571500"/>
          </a:xfrm>
          <a:prstGeom xmlns:a="http://schemas.openxmlformats.org/drawingml/2006/main" prst="roundRect">
            <a:avLst>
              <a:gd name="adj" fmla="val 16667"/>
            </a:avLst>
          </a:prstGeom>
          <a:solidFill xmlns:a="http://schemas.openxmlformats.org/drawingml/2006/main">
            <a:srgbClr val="F3F7FB"/>
          </a:solidFill>
          <a:ln xmlns:a="http://schemas.openxmlformats.org/drawingml/2006/main" w="11430">
            <a:solidFill>
              <a:srgbClr val="CBD6E2"/>
            </a:solidFill>
            <a:prstDash val="solid"/>
          </a:ln>
        </p:spPr>
      </p:sp>
      <p:sp>
        <p:nvSpPr>
          <p:cNvPr id="37" name="">
            <a:extLst xmlns:a="http://schemas.openxmlformats.org/drawingml/2006/main">
              <a:ext uri="{FF2B5EF4-FFF2-40B4-BE49-F238E27FC236}">
                <a16:creationId xmlns:a16="http://schemas.microsoft.com/office/drawing/2014/main" id="{1EBAEB3B-E544-4B1A-A395-28104BECCC42}"/>
              </a:ext>
            </a:extLst>
          </p:cNvPr>
          <p:cNvSpPr>
            <a:spLocks xmlns:a="http://schemas.openxmlformats.org/drawingml/2006/main" noGrp="1"/>
          </p:cNvSpPr>
          <p:nvPr/>
        </p:nvSpPr>
        <p:spPr>
          <a:xfrm xmlns:a="http://schemas.openxmlformats.org/drawingml/2006/main">
            <a:off x="819150" y="4162425"/>
            <a:ext cx="223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275" b="1">
                <a:solidFill>
                  <a:srgbClr val="0A2342"/>
                </a:solidFill>
                <a:latin typeface="Nimbus Sans"/>
                <a:ea typeface="Nimbus Sans"/>
                <a:cs typeface="Nimbus Sans"/>
              </a:defRPr>
            </a:pPr>
            <a:r>
              <a:rPr sz="1275" b="1">
                <a:solidFill>
                  <a:srgbClr val="0A2342"/>
                </a:solidFill>
                <a:latin typeface="Nimbus Sans"/>
                <a:ea typeface="Nimbus Sans"/>
                <a:cs typeface="Nimbus Sans"/>
              </a:rPr>
              <a:t>Shared platform engineering</a:t>
            </a:r>
          </a:p>
        </p:txBody>
      </p:sp>
      <p:sp>
        <p:nvSpPr>
          <p:cNvPr id="38" name="">
            <a:extLst xmlns:a="http://schemas.openxmlformats.org/drawingml/2006/main">
              <a:ext uri="{FF2B5EF4-FFF2-40B4-BE49-F238E27FC236}">
                <a16:creationId xmlns:a16="http://schemas.microsoft.com/office/drawing/2014/main" id="{CB154E6E-5628-4E15-B937-A2308CDD7311}"/>
              </a:ext>
            </a:extLst>
          </p:cNvPr>
          <p:cNvSpPr>
            <a:spLocks xmlns:a="http://schemas.openxmlformats.org/drawingml/2006/main" noGrp="1"/>
          </p:cNvSpPr>
          <p:nvPr/>
        </p:nvSpPr>
        <p:spPr>
          <a:xfrm xmlns:a="http://schemas.openxmlformats.org/drawingml/2006/main">
            <a:off x="3276600" y="4171950"/>
            <a:ext cx="1952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7917"/>
          </a:bodyPr>
          <a:lstStyle xmlns:a="http://schemas.openxmlformats.org/drawingml/2006/main"/>
          <a:p xmlns:a="http://schemas.openxmlformats.org/drawingml/2006/main">
            <a:pPr algn="ctr">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Secure runtime and tool access</a:t>
            </a:r>
          </a:p>
        </p:txBody>
      </p:sp>
      <p:sp>
        <p:nvSpPr>
          <p:cNvPr id="39" name="">
            <a:extLst xmlns:a="http://schemas.openxmlformats.org/drawingml/2006/main">
              <a:ext uri="{FF2B5EF4-FFF2-40B4-BE49-F238E27FC236}">
                <a16:creationId xmlns:a16="http://schemas.microsoft.com/office/drawing/2014/main" id="{B95B501E-D0B2-4ED7-9C22-85E19308FE8B}"/>
              </a:ext>
            </a:extLst>
          </p:cNvPr>
          <p:cNvSpPr>
            <a:spLocks xmlns:a="http://schemas.openxmlformats.org/drawingml/2006/main" noGrp="1"/>
          </p:cNvSpPr>
          <p:nvPr/>
        </p:nvSpPr>
        <p:spPr>
          <a:xfrm xmlns:a="http://schemas.openxmlformats.org/drawingml/2006/main">
            <a:off x="5486400" y="4171950"/>
            <a:ext cx="1952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Observability and audit trail</a:t>
            </a:r>
          </a:p>
        </p:txBody>
      </p:sp>
      <p:sp>
        <p:nvSpPr>
          <p:cNvPr id="40" name="">
            <a:extLst xmlns:a="http://schemas.openxmlformats.org/drawingml/2006/main">
              <a:ext uri="{FF2B5EF4-FFF2-40B4-BE49-F238E27FC236}">
                <a16:creationId xmlns:a16="http://schemas.microsoft.com/office/drawing/2014/main" id="{6F9F6E37-7032-411A-96B9-BE850C66D963}"/>
              </a:ext>
            </a:extLst>
          </p:cNvPr>
          <p:cNvSpPr>
            <a:spLocks xmlns:a="http://schemas.openxmlformats.org/drawingml/2006/main" noGrp="1"/>
          </p:cNvSpPr>
          <p:nvPr/>
        </p:nvSpPr>
        <p:spPr>
          <a:xfrm xmlns:a="http://schemas.openxmlformats.org/drawingml/2006/main">
            <a:off x="7696200" y="4171950"/>
            <a:ext cx="1952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CI/CD, scaling and resilience</a:t>
            </a:r>
          </a:p>
        </p:txBody>
      </p:sp>
      <p:sp>
        <p:nvSpPr>
          <p:cNvPr id="41" name="">
            <a:extLst xmlns:a="http://schemas.openxmlformats.org/drawingml/2006/main">
              <a:ext uri="{FF2B5EF4-FFF2-40B4-BE49-F238E27FC236}">
                <a16:creationId xmlns:a16="http://schemas.microsoft.com/office/drawing/2014/main" id="{339E1CDC-F223-46F8-BEBD-288199BEC130}"/>
              </a:ext>
            </a:extLst>
          </p:cNvPr>
          <p:cNvSpPr>
            <a:spLocks xmlns:a="http://schemas.openxmlformats.org/drawingml/2006/main" noGrp="1"/>
          </p:cNvSpPr>
          <p:nvPr/>
        </p:nvSpPr>
        <p:spPr>
          <a:xfrm xmlns:a="http://schemas.openxmlformats.org/drawingml/2006/main">
            <a:off x="9877425" y="4171950"/>
            <a:ext cx="1476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Common guardrails</a:t>
            </a:r>
          </a:p>
        </p:txBody>
      </p:sp>
      <p:sp>
        <p:nvSpPr>
          <p:cNvPr id="42" name="">
            <a:extLst xmlns:a="http://schemas.openxmlformats.org/drawingml/2006/main">
              <a:ext uri="{FF2B5EF4-FFF2-40B4-BE49-F238E27FC236}">
                <a16:creationId xmlns:a16="http://schemas.microsoft.com/office/drawing/2014/main" id="{0558B416-F8DF-43D0-A777-1E8074B72249}"/>
              </a:ext>
            </a:extLst>
          </p:cNvPr>
          <p:cNvSpPr>
            <a:spLocks xmlns:a="http://schemas.openxmlformats.org/drawingml/2006/main" noGrp="1"/>
          </p:cNvSpPr>
          <p:nvPr/>
        </p:nvSpPr>
        <p:spPr>
          <a:xfrm xmlns:a="http://schemas.openxmlformats.org/drawingml/2006/main">
            <a:off x="628650" y="48482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050" b="1">
                <a:solidFill>
                  <a:srgbClr val="007E87"/>
                </a:solidFill>
                <a:latin typeface="Nimbus Sans"/>
                <a:ea typeface="Nimbus Sans"/>
                <a:cs typeface="Nimbus Sans"/>
              </a:defRPr>
            </a:pPr>
            <a:r>
              <a:rPr sz="1050" b="1">
                <a:solidFill>
                  <a:srgbClr val="007E87"/>
                </a:solidFill>
                <a:latin typeface="Nimbus Sans"/>
                <a:ea typeface="Nimbus Sans"/>
                <a:cs typeface="Nimbus Sans"/>
              </a:rPr>
              <a:t>CLEAR OWNERSHIP BOUNDARIES</a:t>
            </a:r>
          </a:p>
        </p:txBody>
      </p:sp>
      <p:sp>
        <p:nvSpPr>
          <p:cNvPr id="43" name="">
            <a:extLst xmlns:a="http://schemas.openxmlformats.org/drawingml/2006/main">
              <a:ext uri="{FF2B5EF4-FFF2-40B4-BE49-F238E27FC236}">
                <a16:creationId xmlns:a16="http://schemas.microsoft.com/office/drawing/2014/main" id="{57DA485D-8602-4D6D-8CB7-5ED9B1A98A58}"/>
              </a:ext>
            </a:extLst>
          </p:cNvPr>
          <p:cNvSpPr>
            <a:spLocks xmlns:a="http://schemas.openxmlformats.org/drawingml/2006/main" noGrp="1"/>
          </p:cNvSpPr>
          <p:nvPr/>
        </p:nvSpPr>
        <p:spPr>
          <a:xfrm xmlns:a="http://schemas.openxmlformats.org/drawingml/2006/main">
            <a:off x="3324225" y="5153025"/>
            <a:ext cx="0" cy="1000125"/>
          </a:xfrm>
          <a:prstGeom xmlns:a="http://schemas.openxmlformats.org/drawingml/2006/main" prst="line">
            <a:avLst/>
          </a:prstGeom>
          <a:noFill xmlns:a="http://schemas.openxmlformats.org/drawingml/2006/main"/>
          <a:ln xmlns:a="http://schemas.openxmlformats.org/drawingml/2006/main" w="9525">
            <a:solidFill>
              <a:srgbClr val="CBD6E2"/>
            </a:solidFill>
            <a:prstDash val="solid"/>
          </a:ln>
        </p:spPr>
      </p:sp>
      <p:sp>
        <p:nvSpPr>
          <p:cNvPr id="44" name="">
            <a:extLst xmlns:a="http://schemas.openxmlformats.org/drawingml/2006/main">
              <a:ext uri="{FF2B5EF4-FFF2-40B4-BE49-F238E27FC236}">
                <a16:creationId xmlns:a16="http://schemas.microsoft.com/office/drawing/2014/main" id="{621E0118-46F9-48D1-8CC7-57E05761F05E}"/>
              </a:ext>
            </a:extLst>
          </p:cNvPr>
          <p:cNvSpPr>
            <a:spLocks xmlns:a="http://schemas.openxmlformats.org/drawingml/2006/main" noGrp="1"/>
          </p:cNvSpPr>
          <p:nvPr/>
        </p:nvSpPr>
        <p:spPr>
          <a:xfrm xmlns:a="http://schemas.openxmlformats.org/drawingml/2006/main">
            <a:off x="6086475" y="5153025"/>
            <a:ext cx="0" cy="1000125"/>
          </a:xfrm>
          <a:prstGeom xmlns:a="http://schemas.openxmlformats.org/drawingml/2006/main" prst="line">
            <a:avLst/>
          </a:prstGeom>
          <a:noFill xmlns:a="http://schemas.openxmlformats.org/drawingml/2006/main"/>
          <a:ln xmlns:a="http://schemas.openxmlformats.org/drawingml/2006/main" w="9525">
            <a:solidFill>
              <a:srgbClr val="CBD6E2"/>
            </a:solidFill>
            <a:prstDash val="solid"/>
          </a:ln>
        </p:spPr>
      </p:sp>
      <p:sp>
        <p:nvSpPr>
          <p:cNvPr id="45" name="">
            <a:extLst xmlns:a="http://schemas.openxmlformats.org/drawingml/2006/main">
              <a:ext uri="{FF2B5EF4-FFF2-40B4-BE49-F238E27FC236}">
                <a16:creationId xmlns:a16="http://schemas.microsoft.com/office/drawing/2014/main" id="{39BE1A6C-866B-4832-BF55-5B566D130AD0}"/>
              </a:ext>
            </a:extLst>
          </p:cNvPr>
          <p:cNvSpPr>
            <a:spLocks xmlns:a="http://schemas.openxmlformats.org/drawingml/2006/main" noGrp="1"/>
          </p:cNvSpPr>
          <p:nvPr/>
        </p:nvSpPr>
        <p:spPr>
          <a:xfrm xmlns:a="http://schemas.openxmlformats.org/drawingml/2006/main">
            <a:off x="8848725" y="5153025"/>
            <a:ext cx="0" cy="1000125"/>
          </a:xfrm>
          <a:prstGeom xmlns:a="http://schemas.openxmlformats.org/drawingml/2006/main" prst="line">
            <a:avLst/>
          </a:prstGeom>
          <a:noFill xmlns:a="http://schemas.openxmlformats.org/drawingml/2006/main"/>
          <a:ln xmlns:a="http://schemas.openxmlformats.org/drawingml/2006/main" w="9525">
            <a:solidFill>
              <a:srgbClr val="CBD6E2"/>
            </a:solidFill>
            <a:prstDash val="solid"/>
          </a:ln>
        </p:spPr>
      </p:sp>
      <p:sp>
        <p:nvSpPr>
          <p:cNvPr id="46" name="">
            <a:extLst xmlns:a="http://schemas.openxmlformats.org/drawingml/2006/main">
              <a:ext uri="{FF2B5EF4-FFF2-40B4-BE49-F238E27FC236}">
                <a16:creationId xmlns:a16="http://schemas.microsoft.com/office/drawing/2014/main" id="{E1DE053C-9FF4-4506-95DF-E2808130A368}"/>
              </a:ext>
            </a:extLst>
          </p:cNvPr>
          <p:cNvSpPr>
            <a:spLocks xmlns:a="http://schemas.openxmlformats.org/drawingml/2006/main" noGrp="1"/>
          </p:cNvSpPr>
          <p:nvPr/>
        </p:nvSpPr>
        <p:spPr>
          <a:xfrm xmlns:a="http://schemas.openxmlformats.org/drawingml/2006/main">
            <a:off x="628650" y="52006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07E87"/>
                </a:solidFill>
                <a:latin typeface="Nimbus Sans"/>
                <a:ea typeface="Nimbus Sans"/>
                <a:cs typeface="Nimbus Sans"/>
              </a:defRPr>
            </a:pPr>
            <a:r>
              <a:rPr sz="1350" b="1">
                <a:solidFill>
                  <a:srgbClr val="007E87"/>
                </a:solidFill>
                <a:latin typeface="Nimbus Sans"/>
                <a:ea typeface="Nimbus Sans"/>
                <a:cs typeface="Nimbus Sans"/>
              </a:rPr>
              <a:t>GRU</a:t>
            </a:r>
          </a:p>
        </p:txBody>
      </p:sp>
      <p:sp>
        <p:nvSpPr>
          <p:cNvPr id="47" name="">
            <a:extLst xmlns:a="http://schemas.openxmlformats.org/drawingml/2006/main">
              <a:ext uri="{FF2B5EF4-FFF2-40B4-BE49-F238E27FC236}">
                <a16:creationId xmlns:a16="http://schemas.microsoft.com/office/drawing/2014/main" id="{BE351DF4-84EA-47D7-823B-76264C1BE43C}"/>
              </a:ext>
            </a:extLst>
          </p:cNvPr>
          <p:cNvSpPr>
            <a:spLocks xmlns:a="http://schemas.openxmlformats.org/drawingml/2006/main" noGrp="1"/>
          </p:cNvSpPr>
          <p:nvPr/>
        </p:nvSpPr>
        <p:spPr>
          <a:xfrm xmlns:a="http://schemas.openxmlformats.org/drawingml/2006/main">
            <a:off x="628650" y="55054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Break detection, payload quality, source schema and root-to-root contract</a:t>
            </a:r>
          </a:p>
        </p:txBody>
      </p:sp>
      <p:sp>
        <p:nvSpPr>
          <p:cNvPr id="48" name="">
            <a:extLst xmlns:a="http://schemas.openxmlformats.org/drawingml/2006/main">
              <a:ext uri="{FF2B5EF4-FFF2-40B4-BE49-F238E27FC236}">
                <a16:creationId xmlns:a16="http://schemas.microsoft.com/office/drawing/2014/main" id="{8C0733B5-0218-4AA2-BDAC-043EC6741E14}"/>
              </a:ext>
            </a:extLst>
          </p:cNvPr>
          <p:cNvSpPr>
            <a:spLocks xmlns:a="http://schemas.openxmlformats.org/drawingml/2006/main" noGrp="1"/>
          </p:cNvSpPr>
          <p:nvPr/>
        </p:nvSpPr>
        <p:spPr>
          <a:xfrm xmlns:a="http://schemas.openxmlformats.org/drawingml/2006/main">
            <a:off x="3609975" y="5200650"/>
            <a:ext cx="219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057B8"/>
                </a:solidFill>
                <a:latin typeface="Nimbus Sans"/>
                <a:ea typeface="Nimbus Sans"/>
                <a:cs typeface="Nimbus Sans"/>
              </a:defRPr>
            </a:pPr>
            <a:r>
              <a:rPr sz="1350" b="1">
                <a:solidFill>
                  <a:srgbClr val="0057B8"/>
                </a:solidFill>
                <a:latin typeface="Nimbus Sans"/>
                <a:ea typeface="Nimbus Sans"/>
                <a:cs typeface="Nimbus Sans"/>
              </a:rPr>
              <a:t>MOT</a:t>
            </a:r>
          </a:p>
        </p:txBody>
      </p:sp>
      <p:sp>
        <p:nvSpPr>
          <p:cNvPr id="49" name="">
            <a:extLst xmlns:a="http://schemas.openxmlformats.org/drawingml/2006/main">
              <a:ext uri="{FF2B5EF4-FFF2-40B4-BE49-F238E27FC236}">
                <a16:creationId xmlns:a16="http://schemas.microsoft.com/office/drawing/2014/main" id="{E09A1C2F-615C-4BD9-AABF-1FBAFCC5A61E}"/>
              </a:ext>
            </a:extLst>
          </p:cNvPr>
          <p:cNvSpPr>
            <a:spLocks xmlns:a="http://schemas.openxmlformats.org/drawingml/2006/main" noGrp="1"/>
          </p:cNvSpPr>
          <p:nvPr/>
        </p:nvSpPr>
        <p:spPr>
          <a:xfrm xmlns:a="http://schemas.openxmlformats.org/drawingml/2006/main">
            <a:off x="3609975" y="55054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Develop, deploy and monitor the agent package from investigation through resolution</a:t>
            </a:r>
          </a:p>
        </p:txBody>
      </p:sp>
      <p:sp>
        <p:nvSpPr>
          <p:cNvPr id="50" name="">
            <a:extLst xmlns:a="http://schemas.openxmlformats.org/drawingml/2006/main">
              <a:ext uri="{FF2B5EF4-FFF2-40B4-BE49-F238E27FC236}">
                <a16:creationId xmlns:a16="http://schemas.microsoft.com/office/drawing/2014/main" id="{050A3927-402E-4AAE-A1CA-692A3D7DDE40}"/>
              </a:ext>
            </a:extLst>
          </p:cNvPr>
          <p:cNvSpPr>
            <a:spLocks xmlns:a="http://schemas.openxmlformats.org/drawingml/2006/main" noGrp="1"/>
          </p:cNvSpPr>
          <p:nvPr/>
        </p:nvSpPr>
        <p:spPr>
          <a:xfrm xmlns:a="http://schemas.openxmlformats.org/drawingml/2006/main">
            <a:off x="6372225" y="5200650"/>
            <a:ext cx="219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C66A1B"/>
                </a:solidFill>
                <a:latin typeface="Nimbus Sans"/>
                <a:ea typeface="Nimbus Sans"/>
                <a:cs typeface="Nimbus Sans"/>
              </a:defRPr>
            </a:pPr>
            <a:r>
              <a:rPr sz="1350" b="1">
                <a:solidFill>
                  <a:srgbClr val="C66A1B"/>
                </a:solidFill>
                <a:latin typeface="Nimbus Sans"/>
                <a:ea typeface="Nimbus Sans"/>
                <a:cs typeface="Nimbus Sans"/>
              </a:rPr>
              <a:t>Operations and SMEs</a:t>
            </a:r>
          </a:p>
        </p:txBody>
      </p:sp>
      <p:sp>
        <p:nvSpPr>
          <p:cNvPr id="51" name="">
            <a:extLst xmlns:a="http://schemas.openxmlformats.org/drawingml/2006/main">
              <a:ext uri="{FF2B5EF4-FFF2-40B4-BE49-F238E27FC236}">
                <a16:creationId xmlns:a16="http://schemas.microsoft.com/office/drawing/2014/main" id="{2113E93F-619F-42BF-A144-2A0E0903B78C}"/>
              </a:ext>
            </a:extLst>
          </p:cNvPr>
          <p:cNvSpPr>
            <a:spLocks xmlns:a="http://schemas.openxmlformats.org/drawingml/2006/main" noGrp="1"/>
          </p:cNvSpPr>
          <p:nvPr/>
        </p:nvSpPr>
        <p:spPr>
          <a:xfrm xmlns:a="http://schemas.openxmlformats.org/drawingml/2006/main">
            <a:off x="6372225" y="55054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Define policy, review exceptions, approve actions and identify policy corrections</a:t>
            </a:r>
          </a:p>
        </p:txBody>
      </p:sp>
      <p:sp>
        <p:nvSpPr>
          <p:cNvPr id="52" name="">
            <a:extLst xmlns:a="http://schemas.openxmlformats.org/drawingml/2006/main">
              <a:ext uri="{FF2B5EF4-FFF2-40B4-BE49-F238E27FC236}">
                <a16:creationId xmlns:a16="http://schemas.microsoft.com/office/drawing/2014/main" id="{E58DC338-E21B-45C7-A0A2-3439C447A254}"/>
              </a:ext>
            </a:extLst>
          </p:cNvPr>
          <p:cNvSpPr>
            <a:spLocks xmlns:a="http://schemas.openxmlformats.org/drawingml/2006/main" noGrp="1"/>
          </p:cNvSpPr>
          <p:nvPr/>
        </p:nvSpPr>
        <p:spPr>
          <a:xfrm xmlns:a="http://schemas.openxmlformats.org/drawingml/2006/main">
            <a:off x="9134475" y="5200650"/>
            <a:ext cx="24098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350" b="1">
                <a:solidFill>
                  <a:srgbClr val="0A2342"/>
                </a:solidFill>
                <a:latin typeface="Nimbus Sans"/>
                <a:ea typeface="Nimbus Sans"/>
                <a:cs typeface="Nimbus Sans"/>
              </a:defRPr>
            </a:pPr>
            <a:r>
              <a:rPr sz="1350" b="1">
                <a:solidFill>
                  <a:srgbClr val="0A2342"/>
                </a:solidFill>
                <a:latin typeface="Nimbus Sans"/>
                <a:ea typeface="Nimbus Sans"/>
                <a:cs typeface="Nimbus Sans"/>
              </a:rPr>
              <a:t>Platform engineering</a:t>
            </a:r>
          </a:p>
        </p:txBody>
      </p:sp>
      <p:sp>
        <p:nvSpPr>
          <p:cNvPr id="53" name="">
            <a:extLst xmlns:a="http://schemas.openxmlformats.org/drawingml/2006/main">
              <a:ext uri="{FF2B5EF4-FFF2-40B4-BE49-F238E27FC236}">
                <a16:creationId xmlns:a16="http://schemas.microsoft.com/office/drawing/2014/main" id="{9E476290-81E1-4660-990C-FE39B0434915}"/>
              </a:ext>
            </a:extLst>
          </p:cNvPr>
          <p:cNvSpPr>
            <a:spLocks xmlns:a="http://schemas.openxmlformats.org/drawingml/2006/main" noGrp="1"/>
          </p:cNvSpPr>
          <p:nvPr/>
        </p:nvSpPr>
        <p:spPr>
          <a:xfrm xmlns:a="http://schemas.openxmlformats.org/drawingml/2006/main">
            <a:off x="9134475" y="5505450"/>
            <a:ext cx="24098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1125" b="0">
                <a:solidFill>
                  <a:srgbClr val="172333"/>
                </a:solidFill>
                <a:latin typeface="Nimbus Sans"/>
                <a:ea typeface="Nimbus Sans"/>
                <a:cs typeface="Nimbus Sans"/>
              </a:defRPr>
            </a:pPr>
            <a:r>
              <a:rPr sz="1125" b="0">
                <a:solidFill>
                  <a:srgbClr val="172333"/>
                </a:solidFill>
                <a:latin typeface="Nimbus Sans"/>
                <a:ea typeface="Nimbus Sans"/>
                <a:cs typeface="Nimbus Sans"/>
              </a:rPr>
              <a:t>Provide the secure runtime, infrastructure controls and reusable engineering services</a:t>
            </a:r>
          </a:p>
        </p:txBody>
      </p:sp>
    </p:spTree>
    <p:extLst>
      <p:ext uri="{BB962C8B-B14F-4D97-AF65-F5344CB8AC3E}">
        <p14:creationId xmlns:p14="http://schemas.microsoft.com/office/powerpoint/2010/main" val="1945133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2026-09-22T16:47:22.2790000Z</dcterms:created>
  <dcterms:modified xsi:type="dcterms:W3CDTF">2026-09-22T16:47:22.2790000Z</dcterms:modified>
</coreProperties>
</file>