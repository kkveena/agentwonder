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77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tranche continues the strategy foundation and goes one level deeper.
The structure follows the AWS framing: MCP tool design, MCP server hosting and MCP governance.
The important translation is that we are not adopting an AWS hosting pattern. We are using the enterprise principles and mapping them to our on-prem EDGE operating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slide turns tool design into an EDGE taxonomy.
Not all tools are equal. Some are simple read tools, some compose a full business context, and some perform actions with operational consequences.
The taxonomy is important because the same registry and governance model should not treat reference lookups and commentary publishing the same way.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minimum production standard for every MCP tool.
The tool contract should include the business purpose, owner, version, risk tier, input and output schema, when to use it, and when not to use it.
This is not bureaucracy. In agentic systems, the tool description becomes part of the model's decision-making context. Poor contracts create poor tool selection.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slide gives a simple engineering decision tree.
Simple lookup can stay granular. But if a workflow always requires multiple backend calls and business rules, we should expose a workflow-scoped MCP tool.
The more a tool moves from read to write to external impact, the more the governance controls need to increase.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AWS paper distinguishes local hosting, remote hosting and an MCP gateway. The same pattern applies on-prem.
Local MCP is fine for development and experimentation, but production should run through remotely managed domain MCP servers and an enterprise gateway.
This avoids version drift, unknown local vulnerabilities and ungoverned access to enterprise systems.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a practical on-prem topology.
Agents do not call backend systems directly. They go through the MCP gateway, which routes to domain MCP servers.
The MCP servers are owned by domain/application teams because that is where the business semantics live. The platform provides the common gateway, security integration, telemetry and policy services.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registry is more than a catalog. It is where lifecycle, ownership, entitlement and versioning become visible.
A tool should not jump from development to production. It should move through validation and certification before being exposed to production agents.
Versioning is critical because agents may be tuned or evaluated against particular tool semantics. Breaking tool changes can break agent behavior.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core security message.
The user may have access to many systems, but an agent should not inherit broad power by default. The gateway and tool layer should enforce scoped permissions.
Read and write capabilities should be separated at the tool and server level. That lets us apply different credentials, policies and approval patterns.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table helps the audience see that governance is not one-size-fits-all.
A reference lookup and a publish action should not carry the same control burden.
For EDGE, high-risk operational actions should generally use a propose-review-approve-execute pattern. This still enables automation, but with the right level of human accountability.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final point is that MCP is an operating model, not only an engineering pattern.
We need run metrics, AI metrics and governance metrics. These help us answer both operational and audit questions.
Ownership should be clear: the platform owns the gateway, registry and common controls; domain teams own the MCP server business semantics; risk and control partners help define high-risk policy gates.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F33"/>
          </a:solidFill>
          <a:ln w="12700">
            <a:solidFill>
              <a:srgbClr val="0B1F33">
                <a:alpha val="0"/>
              </a:srgbClr>
            </a:solidFill>
            <a:prstDash val="solid"/>
          </a:ln>
        </p:spPr>
        <p:txBody>
          <a:bodyPr/>
          <a:lstStyle/>
          <a:p>
            <a:endParaRPr lang="en-US"/>
          </a:p>
        </p:txBody>
      </p:sp>
      <p:sp>
        <p:nvSpPr>
          <p:cNvPr id="3" name="Shape 1"/>
          <p:cNvSpPr/>
          <p:nvPr/>
        </p:nvSpPr>
        <p:spPr>
          <a:xfrm>
            <a:off x="0" y="0"/>
            <a:ext cx="201168" cy="6858000"/>
          </a:xfrm>
          <a:prstGeom prst="rect">
            <a:avLst/>
          </a:prstGeom>
          <a:solidFill>
            <a:srgbClr val="0F766E"/>
          </a:solidFill>
          <a:ln w="12700">
            <a:solidFill>
              <a:srgbClr val="0F766E">
                <a:alpha val="0"/>
              </a:srgbClr>
            </a:solidFill>
            <a:prstDash val="solid"/>
          </a:ln>
        </p:spPr>
        <p:txBody>
          <a:bodyPr/>
          <a:lstStyle/>
          <a:p>
            <a:endParaRPr lang="en-US"/>
          </a:p>
        </p:txBody>
      </p:sp>
      <p:sp>
        <p:nvSpPr>
          <p:cNvPr id="4" name="Text 2"/>
          <p:cNvSpPr/>
          <p:nvPr/>
        </p:nvSpPr>
        <p:spPr>
          <a:xfrm>
            <a:off x="713232" y="1755648"/>
            <a:ext cx="10424160" cy="566928"/>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Tranche 2: Design, Hosting &amp; Governance</a:t>
            </a:r>
            <a:endParaRPr lang="en-US" sz="3100" dirty="0"/>
          </a:p>
        </p:txBody>
      </p:sp>
      <p:sp>
        <p:nvSpPr>
          <p:cNvPr id="5" name="Text 3"/>
          <p:cNvSpPr/>
          <p:nvPr/>
        </p:nvSpPr>
        <p:spPr>
          <a:xfrm>
            <a:off x="749808" y="2542032"/>
            <a:ext cx="9966960" cy="292608"/>
          </a:xfrm>
          <a:prstGeom prst="rect">
            <a:avLst/>
          </a:prstGeom>
          <a:noFill/>
          <a:ln/>
        </p:spPr>
        <p:txBody>
          <a:bodyPr wrap="square" lIns="0" tIns="0" rIns="0" bIns="0" rtlCol="0" anchor="ctr"/>
          <a:lstStyle/>
          <a:p>
            <a:pPr marL="0" indent="0">
              <a:buNone/>
            </a:pPr>
            <a:r>
              <a:rPr lang="en-US" sz="1420" dirty="0">
                <a:solidFill>
                  <a:srgbClr val="DDEAFE"/>
                </a:solidFill>
              </a:rPr>
              <a:t>Turning the MCP strategy into standards, on-prem topology and operating controls for EDGE</a:t>
            </a:r>
            <a:endParaRPr lang="en-US" sz="1420" dirty="0"/>
          </a:p>
        </p:txBody>
      </p:sp>
      <p:sp>
        <p:nvSpPr>
          <p:cNvPr id="6" name="Shape 4"/>
          <p:cNvSpPr/>
          <p:nvPr/>
        </p:nvSpPr>
        <p:spPr>
          <a:xfrm>
            <a:off x="749808" y="3657600"/>
            <a:ext cx="2560320" cy="658368"/>
          </a:xfrm>
          <a:prstGeom prst="roundRect">
            <a:avLst>
              <a:gd name="adj" fmla="val 8333"/>
            </a:avLst>
          </a:prstGeom>
          <a:solidFill>
            <a:srgbClr val="12385A"/>
          </a:solidFill>
          <a:ln w="12700">
            <a:solidFill>
              <a:srgbClr val="2563EB"/>
            </a:solidFill>
            <a:prstDash val="solid"/>
          </a:ln>
        </p:spPr>
        <p:txBody>
          <a:bodyPr/>
          <a:lstStyle/>
          <a:p>
            <a:endParaRPr lang="en-US"/>
          </a:p>
        </p:txBody>
      </p:sp>
      <p:sp>
        <p:nvSpPr>
          <p:cNvPr id="7" name="Shape 5"/>
          <p:cNvSpPr/>
          <p:nvPr/>
        </p:nvSpPr>
        <p:spPr>
          <a:xfrm>
            <a:off x="749808" y="3657600"/>
            <a:ext cx="82296" cy="658368"/>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914400" y="3858768"/>
            <a:ext cx="2240280" cy="146304"/>
          </a:xfrm>
          <a:prstGeom prst="rect">
            <a:avLst/>
          </a:prstGeom>
          <a:noFill/>
          <a:ln/>
        </p:spPr>
        <p:txBody>
          <a:bodyPr wrap="square" lIns="381" tIns="381" rIns="381" bIns="381" rtlCol="0" anchor="ctr">
            <a:normAutofit/>
          </a:bodyPr>
          <a:lstStyle/>
          <a:p>
            <a:pPr marL="0" indent="0" algn="ctr">
              <a:buNone/>
            </a:pPr>
            <a:r>
              <a:rPr lang="en-US" sz="1320" b="1" dirty="0">
                <a:solidFill>
                  <a:srgbClr val="FFFFFF"/>
                </a:solidFill>
              </a:rPr>
              <a:t>MCP Tool Design</a:t>
            </a:r>
            <a:endParaRPr lang="en-US" sz="1320" dirty="0"/>
          </a:p>
        </p:txBody>
      </p:sp>
      <p:sp>
        <p:nvSpPr>
          <p:cNvPr id="9" name="Shape 7"/>
          <p:cNvSpPr/>
          <p:nvPr/>
        </p:nvSpPr>
        <p:spPr>
          <a:xfrm>
            <a:off x="4023360" y="3657600"/>
            <a:ext cx="2560320" cy="658368"/>
          </a:xfrm>
          <a:prstGeom prst="roundRect">
            <a:avLst>
              <a:gd name="adj" fmla="val 8333"/>
            </a:avLst>
          </a:prstGeom>
          <a:solidFill>
            <a:srgbClr val="12385A"/>
          </a:solidFill>
          <a:ln w="12700">
            <a:solidFill>
              <a:srgbClr val="0F766E"/>
            </a:solidFill>
            <a:prstDash val="solid"/>
          </a:ln>
        </p:spPr>
        <p:txBody>
          <a:bodyPr/>
          <a:lstStyle/>
          <a:p>
            <a:endParaRPr lang="en-US"/>
          </a:p>
        </p:txBody>
      </p:sp>
      <p:sp>
        <p:nvSpPr>
          <p:cNvPr id="10" name="Shape 8"/>
          <p:cNvSpPr/>
          <p:nvPr/>
        </p:nvSpPr>
        <p:spPr>
          <a:xfrm>
            <a:off x="4023360" y="3657600"/>
            <a:ext cx="82296" cy="658368"/>
          </a:xfrm>
          <a:prstGeom prst="rect">
            <a:avLst/>
          </a:prstGeom>
          <a:solidFill>
            <a:srgbClr val="0F766E"/>
          </a:solidFill>
          <a:ln w="12700">
            <a:solidFill>
              <a:srgbClr val="0F766E">
                <a:alpha val="0"/>
              </a:srgbClr>
            </a:solidFill>
            <a:prstDash val="solid"/>
          </a:ln>
        </p:spPr>
        <p:txBody>
          <a:bodyPr/>
          <a:lstStyle/>
          <a:p>
            <a:endParaRPr lang="en-US"/>
          </a:p>
        </p:txBody>
      </p:sp>
      <p:sp>
        <p:nvSpPr>
          <p:cNvPr id="11" name="Text 9"/>
          <p:cNvSpPr/>
          <p:nvPr/>
        </p:nvSpPr>
        <p:spPr>
          <a:xfrm>
            <a:off x="4187952" y="3858768"/>
            <a:ext cx="2240280" cy="146304"/>
          </a:xfrm>
          <a:prstGeom prst="rect">
            <a:avLst/>
          </a:prstGeom>
          <a:noFill/>
          <a:ln/>
        </p:spPr>
        <p:txBody>
          <a:bodyPr wrap="square" lIns="381" tIns="381" rIns="381" bIns="381" rtlCol="0" anchor="ctr">
            <a:normAutofit/>
          </a:bodyPr>
          <a:lstStyle/>
          <a:p>
            <a:pPr marL="0" indent="0" algn="ctr">
              <a:buNone/>
            </a:pPr>
            <a:r>
              <a:rPr lang="en-US" sz="1320" b="1" dirty="0">
                <a:solidFill>
                  <a:srgbClr val="FFFFFF"/>
                </a:solidFill>
              </a:rPr>
              <a:t>MCP Server Hosting</a:t>
            </a:r>
            <a:endParaRPr lang="en-US" sz="1320" dirty="0"/>
          </a:p>
        </p:txBody>
      </p:sp>
      <p:sp>
        <p:nvSpPr>
          <p:cNvPr id="12" name="Shape 10"/>
          <p:cNvSpPr/>
          <p:nvPr/>
        </p:nvSpPr>
        <p:spPr>
          <a:xfrm>
            <a:off x="7360920" y="3657600"/>
            <a:ext cx="2560320" cy="658368"/>
          </a:xfrm>
          <a:prstGeom prst="roundRect">
            <a:avLst>
              <a:gd name="adj" fmla="val 8333"/>
            </a:avLst>
          </a:prstGeom>
          <a:solidFill>
            <a:srgbClr val="12385A"/>
          </a:solidFill>
          <a:ln w="12700">
            <a:solidFill>
              <a:srgbClr val="D97706"/>
            </a:solidFill>
            <a:prstDash val="solid"/>
          </a:ln>
        </p:spPr>
        <p:txBody>
          <a:bodyPr/>
          <a:lstStyle/>
          <a:p>
            <a:endParaRPr lang="en-US"/>
          </a:p>
        </p:txBody>
      </p:sp>
      <p:sp>
        <p:nvSpPr>
          <p:cNvPr id="13" name="Shape 11"/>
          <p:cNvSpPr/>
          <p:nvPr/>
        </p:nvSpPr>
        <p:spPr>
          <a:xfrm>
            <a:off x="7360920" y="3657600"/>
            <a:ext cx="82296" cy="658368"/>
          </a:xfrm>
          <a:prstGeom prst="rect">
            <a:avLst/>
          </a:prstGeom>
          <a:solidFill>
            <a:srgbClr val="D97706"/>
          </a:solidFill>
          <a:ln w="12700">
            <a:solidFill>
              <a:srgbClr val="D97706">
                <a:alpha val="0"/>
              </a:srgbClr>
            </a:solidFill>
            <a:prstDash val="solid"/>
          </a:ln>
        </p:spPr>
        <p:txBody>
          <a:bodyPr/>
          <a:lstStyle/>
          <a:p>
            <a:endParaRPr lang="en-US"/>
          </a:p>
        </p:txBody>
      </p:sp>
      <p:sp>
        <p:nvSpPr>
          <p:cNvPr id="14" name="Text 12"/>
          <p:cNvSpPr/>
          <p:nvPr/>
        </p:nvSpPr>
        <p:spPr>
          <a:xfrm>
            <a:off x="7525512" y="3858768"/>
            <a:ext cx="2240280" cy="146304"/>
          </a:xfrm>
          <a:prstGeom prst="rect">
            <a:avLst/>
          </a:prstGeom>
          <a:noFill/>
          <a:ln/>
        </p:spPr>
        <p:txBody>
          <a:bodyPr wrap="square" lIns="381" tIns="381" rIns="381" bIns="381" rtlCol="0" anchor="ctr">
            <a:normAutofit/>
          </a:bodyPr>
          <a:lstStyle/>
          <a:p>
            <a:pPr marL="0" indent="0" algn="ctr">
              <a:buNone/>
            </a:pPr>
            <a:r>
              <a:rPr lang="en-US" sz="1320" b="1" dirty="0">
                <a:solidFill>
                  <a:srgbClr val="FFFFFF"/>
                </a:solidFill>
              </a:rPr>
              <a:t>MCP Governance</a:t>
            </a:r>
            <a:endParaRPr lang="en-US" sz="1320" dirty="0"/>
          </a:p>
        </p:txBody>
      </p:sp>
      <p:sp>
        <p:nvSpPr>
          <p:cNvPr id="15" name="Text 13"/>
          <p:cNvSpPr/>
          <p:nvPr/>
        </p:nvSpPr>
        <p:spPr>
          <a:xfrm>
            <a:off x="758952" y="6163056"/>
            <a:ext cx="8778240" cy="182880"/>
          </a:xfrm>
          <a:prstGeom prst="rect">
            <a:avLst/>
          </a:prstGeom>
          <a:noFill/>
          <a:ln/>
        </p:spPr>
        <p:txBody>
          <a:bodyPr wrap="square" lIns="0" tIns="0" rIns="0" bIns="0" rtlCol="0" anchor="ctr"/>
          <a:lstStyle/>
          <a:p>
            <a:pPr marL="0" indent="0">
              <a:buNone/>
            </a:pPr>
            <a:r>
              <a:rPr lang="en-US" sz="850" dirty="0">
                <a:solidFill>
                  <a:srgbClr val="93C5FD"/>
                </a:solidFill>
              </a:rPr>
              <a:t>Grounded in AWS MCP strategy pillars; adapted for an on-prem regulated enterprise architecture.</a:t>
            </a:r>
            <a:endParaRPr lang="en-US" sz="850" dirty="0"/>
          </a:p>
        </p:txBody>
      </p:sp>
      <p:sp>
        <p:nvSpPr>
          <p:cNvPr id="16" name="Text 14"/>
          <p:cNvSpPr/>
          <p:nvPr/>
        </p:nvSpPr>
        <p:spPr>
          <a:xfrm>
            <a:off x="11292840" y="6355080"/>
            <a:ext cx="365760" cy="182880"/>
          </a:xfrm>
          <a:prstGeom prst="rect">
            <a:avLst/>
          </a:prstGeom>
          <a:noFill/>
          <a:ln/>
        </p:spPr>
        <p:txBody>
          <a:bodyPr wrap="square" lIns="0" tIns="0" rIns="0" bIns="0" rtlCol="0" anchor="ctr"/>
          <a:lstStyle/>
          <a:p>
            <a:pPr marL="0" indent="0" algn="r">
              <a:buNone/>
            </a:pPr>
            <a:r>
              <a:rPr lang="en-US" sz="850" dirty="0">
                <a:solidFill>
                  <a:srgbClr val="93C5FD"/>
                </a:solidFill>
              </a:rPr>
              <a:t>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MCP Tool Design: EDGE Capability Taxonomy</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Classify tools by business purpose and risk before exposing them to agents.</a:t>
            </a:r>
            <a:endParaRPr lang="en-US" sz="1050" dirty="0"/>
          </a:p>
        </p:txBody>
      </p:sp>
      <p:sp>
        <p:nvSpPr>
          <p:cNvPr id="6" name="Shape 4"/>
          <p:cNvSpPr/>
          <p:nvPr/>
        </p:nvSpPr>
        <p:spPr>
          <a:xfrm>
            <a:off x="713232" y="1417320"/>
            <a:ext cx="3337560" cy="4160520"/>
          </a:xfrm>
          <a:prstGeom prst="roundRect">
            <a:avLst>
              <a:gd name="adj" fmla="val 1644"/>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713232" y="1417320"/>
            <a:ext cx="3337560" cy="475488"/>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77824" y="1572768"/>
            <a:ext cx="2999232" cy="118872"/>
          </a:xfrm>
          <a:prstGeom prst="rect">
            <a:avLst/>
          </a:prstGeom>
          <a:noFill/>
          <a:ln/>
        </p:spPr>
        <p:txBody>
          <a:bodyPr wrap="square" lIns="381" tIns="381" rIns="381" bIns="381" rtlCol="0" anchor="ctr">
            <a:normAutofit/>
          </a:bodyPr>
          <a:lstStyle/>
          <a:p>
            <a:pPr marL="0" indent="0" algn="ctr">
              <a:buNone/>
            </a:pPr>
            <a:r>
              <a:rPr lang="en-US" sz="970" b="1" dirty="0">
                <a:solidFill>
                  <a:srgbClr val="FFFFFF"/>
                </a:solidFill>
              </a:rPr>
              <a:t>DATA READ TOOLS</a:t>
            </a:r>
            <a:endParaRPr lang="en-US" sz="970" dirty="0"/>
          </a:p>
        </p:txBody>
      </p:sp>
      <p:sp>
        <p:nvSpPr>
          <p:cNvPr id="9" name="Text 7"/>
          <p:cNvSpPr/>
          <p:nvPr/>
        </p:nvSpPr>
        <p:spPr>
          <a:xfrm>
            <a:off x="941832" y="2176272"/>
            <a:ext cx="2880360" cy="384048"/>
          </a:xfrm>
          <a:prstGeom prst="rect">
            <a:avLst/>
          </a:prstGeom>
          <a:noFill/>
          <a:ln/>
        </p:spPr>
        <p:txBody>
          <a:bodyPr wrap="square" lIns="0" tIns="0" rIns="0" bIns="0" rtlCol="0" anchor="ctr">
            <a:normAutofit/>
          </a:bodyPr>
          <a:lstStyle/>
          <a:p>
            <a:pPr marL="0" indent="0">
              <a:buNone/>
            </a:pPr>
            <a:r>
              <a:rPr lang="en-US" sz="1220" b="1" dirty="0">
                <a:solidFill>
                  <a:srgbClr val="0B1F33"/>
                </a:solidFill>
              </a:rPr>
              <a:t>Retrieve governed enterprise facts</a:t>
            </a:r>
            <a:endParaRPr lang="en-US" sz="1220" dirty="0"/>
          </a:p>
        </p:txBody>
      </p:sp>
      <p:sp>
        <p:nvSpPr>
          <p:cNvPr id="10" name="Shape 8"/>
          <p:cNvSpPr/>
          <p:nvPr/>
        </p:nvSpPr>
        <p:spPr>
          <a:xfrm>
            <a:off x="1033272" y="2944368"/>
            <a:ext cx="2697480" cy="393192"/>
          </a:xfrm>
          <a:prstGeom prst="roundRect">
            <a:avLst>
              <a:gd name="adj" fmla="val 13953"/>
            </a:avLst>
          </a:prstGeom>
          <a:solidFill>
            <a:srgbClr val="EFF6FF"/>
          </a:solidFill>
          <a:ln w="12700">
            <a:solidFill>
              <a:srgbClr val="2563EB"/>
            </a:solidFill>
            <a:prstDash val="solid"/>
          </a:ln>
        </p:spPr>
        <p:txBody>
          <a:bodyPr/>
          <a:lstStyle/>
          <a:p>
            <a:endParaRPr lang="en-US"/>
          </a:p>
        </p:txBody>
      </p:sp>
      <p:sp>
        <p:nvSpPr>
          <p:cNvPr id="11" name="Text 9"/>
          <p:cNvSpPr/>
          <p:nvPr/>
        </p:nvSpPr>
        <p:spPr>
          <a:xfrm>
            <a:off x="1124712" y="3063240"/>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2563EB"/>
                </a:solidFill>
              </a:rPr>
              <a:t>trade_position_get</a:t>
            </a:r>
            <a:endParaRPr lang="en-US" sz="860" dirty="0"/>
          </a:p>
        </p:txBody>
      </p:sp>
      <p:sp>
        <p:nvSpPr>
          <p:cNvPr id="12" name="Shape 10"/>
          <p:cNvSpPr/>
          <p:nvPr/>
        </p:nvSpPr>
        <p:spPr>
          <a:xfrm>
            <a:off x="1033272" y="3511296"/>
            <a:ext cx="2697480" cy="393192"/>
          </a:xfrm>
          <a:prstGeom prst="roundRect">
            <a:avLst>
              <a:gd name="adj" fmla="val 13953"/>
            </a:avLst>
          </a:prstGeom>
          <a:solidFill>
            <a:srgbClr val="EFF6FF"/>
          </a:solidFill>
          <a:ln w="12700">
            <a:solidFill>
              <a:srgbClr val="2563EB"/>
            </a:solidFill>
            <a:prstDash val="solid"/>
          </a:ln>
        </p:spPr>
        <p:txBody>
          <a:bodyPr/>
          <a:lstStyle/>
          <a:p>
            <a:endParaRPr lang="en-US"/>
          </a:p>
        </p:txBody>
      </p:sp>
      <p:sp>
        <p:nvSpPr>
          <p:cNvPr id="13" name="Text 11"/>
          <p:cNvSpPr/>
          <p:nvPr/>
        </p:nvSpPr>
        <p:spPr>
          <a:xfrm>
            <a:off x="1124712" y="3630168"/>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2563EB"/>
                </a:solidFill>
              </a:rPr>
              <a:t>settlement_status_get</a:t>
            </a:r>
            <a:endParaRPr lang="en-US" sz="860" dirty="0"/>
          </a:p>
        </p:txBody>
      </p:sp>
      <p:sp>
        <p:nvSpPr>
          <p:cNvPr id="14" name="Shape 12"/>
          <p:cNvSpPr/>
          <p:nvPr/>
        </p:nvSpPr>
        <p:spPr>
          <a:xfrm>
            <a:off x="1033272" y="4078224"/>
            <a:ext cx="2697480" cy="393192"/>
          </a:xfrm>
          <a:prstGeom prst="roundRect">
            <a:avLst>
              <a:gd name="adj" fmla="val 13953"/>
            </a:avLst>
          </a:prstGeom>
          <a:solidFill>
            <a:srgbClr val="EFF6FF"/>
          </a:solidFill>
          <a:ln w="12700">
            <a:solidFill>
              <a:srgbClr val="2563EB"/>
            </a:solidFill>
            <a:prstDash val="solid"/>
          </a:ln>
        </p:spPr>
        <p:txBody>
          <a:bodyPr/>
          <a:lstStyle/>
          <a:p>
            <a:endParaRPr lang="en-US"/>
          </a:p>
        </p:txBody>
      </p:sp>
      <p:sp>
        <p:nvSpPr>
          <p:cNvPr id="15" name="Text 13"/>
          <p:cNvSpPr/>
          <p:nvPr/>
        </p:nvSpPr>
        <p:spPr>
          <a:xfrm>
            <a:off x="1124712" y="4197096"/>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2563EB"/>
                </a:solidFill>
              </a:rPr>
              <a:t>reference_security_get</a:t>
            </a:r>
            <a:endParaRPr lang="en-US" sz="860" dirty="0"/>
          </a:p>
        </p:txBody>
      </p:sp>
      <p:sp>
        <p:nvSpPr>
          <p:cNvPr id="16" name="Text 14"/>
          <p:cNvSpPr/>
          <p:nvPr/>
        </p:nvSpPr>
        <p:spPr>
          <a:xfrm>
            <a:off x="987552" y="5001768"/>
            <a:ext cx="2788920" cy="164592"/>
          </a:xfrm>
          <a:prstGeom prst="rect">
            <a:avLst/>
          </a:prstGeom>
          <a:noFill/>
          <a:ln/>
        </p:spPr>
        <p:txBody>
          <a:bodyPr wrap="square" lIns="0" tIns="0" rIns="0" bIns="0" rtlCol="0" anchor="ctr"/>
          <a:lstStyle/>
          <a:p>
            <a:pPr marL="0" indent="0" algn="ctr">
              <a:buNone/>
            </a:pPr>
            <a:r>
              <a:rPr lang="en-US" sz="920" dirty="0">
                <a:solidFill>
                  <a:srgbClr val="64748B"/>
                </a:solidFill>
              </a:rPr>
              <a:t>Lower risk, high reuse</a:t>
            </a:r>
            <a:endParaRPr lang="en-US" sz="920" dirty="0"/>
          </a:p>
        </p:txBody>
      </p:sp>
      <p:sp>
        <p:nvSpPr>
          <p:cNvPr id="17" name="Shape 15"/>
          <p:cNvSpPr/>
          <p:nvPr/>
        </p:nvSpPr>
        <p:spPr>
          <a:xfrm>
            <a:off x="4507992" y="1417320"/>
            <a:ext cx="3337560" cy="4160520"/>
          </a:xfrm>
          <a:prstGeom prst="roundRect">
            <a:avLst>
              <a:gd name="adj" fmla="val 1644"/>
            </a:avLst>
          </a:prstGeom>
          <a:solidFill>
            <a:srgbClr val="FFFFFF"/>
          </a:solidFill>
          <a:ln w="12700">
            <a:solidFill>
              <a:srgbClr val="CBD5E1"/>
            </a:solidFill>
            <a:prstDash val="solid"/>
          </a:ln>
        </p:spPr>
        <p:txBody>
          <a:bodyPr/>
          <a:lstStyle/>
          <a:p>
            <a:endParaRPr lang="en-US"/>
          </a:p>
        </p:txBody>
      </p:sp>
      <p:sp>
        <p:nvSpPr>
          <p:cNvPr id="18" name="Shape 16"/>
          <p:cNvSpPr/>
          <p:nvPr/>
        </p:nvSpPr>
        <p:spPr>
          <a:xfrm>
            <a:off x="4507992" y="1417320"/>
            <a:ext cx="3337560" cy="475488"/>
          </a:xfrm>
          <a:prstGeom prst="rect">
            <a:avLst/>
          </a:prstGeom>
          <a:solidFill>
            <a:srgbClr val="0F766E"/>
          </a:solidFill>
          <a:ln w="12700">
            <a:solidFill>
              <a:srgbClr val="0F766E">
                <a:alpha val="0"/>
              </a:srgbClr>
            </a:solidFill>
            <a:prstDash val="solid"/>
          </a:ln>
        </p:spPr>
        <p:txBody>
          <a:bodyPr/>
          <a:lstStyle/>
          <a:p>
            <a:endParaRPr lang="en-US"/>
          </a:p>
        </p:txBody>
      </p:sp>
      <p:sp>
        <p:nvSpPr>
          <p:cNvPr id="19" name="Text 17"/>
          <p:cNvSpPr/>
          <p:nvPr/>
        </p:nvSpPr>
        <p:spPr>
          <a:xfrm>
            <a:off x="4672584" y="1572768"/>
            <a:ext cx="2999232" cy="118872"/>
          </a:xfrm>
          <a:prstGeom prst="rect">
            <a:avLst/>
          </a:prstGeom>
          <a:noFill/>
          <a:ln/>
        </p:spPr>
        <p:txBody>
          <a:bodyPr wrap="square" lIns="381" tIns="381" rIns="381" bIns="381" rtlCol="0" anchor="ctr">
            <a:normAutofit/>
          </a:bodyPr>
          <a:lstStyle/>
          <a:p>
            <a:pPr marL="0" indent="0" algn="ctr">
              <a:buNone/>
            </a:pPr>
            <a:r>
              <a:rPr lang="en-US" sz="970" b="1" dirty="0">
                <a:solidFill>
                  <a:srgbClr val="FFFFFF"/>
                </a:solidFill>
              </a:rPr>
              <a:t>CONTEXT WORKFLOW TOOLS</a:t>
            </a:r>
            <a:endParaRPr lang="en-US" sz="970" dirty="0"/>
          </a:p>
        </p:txBody>
      </p:sp>
      <p:sp>
        <p:nvSpPr>
          <p:cNvPr id="20" name="Text 18"/>
          <p:cNvSpPr/>
          <p:nvPr/>
        </p:nvSpPr>
        <p:spPr>
          <a:xfrm>
            <a:off x="4736592" y="2176272"/>
            <a:ext cx="2880360" cy="384048"/>
          </a:xfrm>
          <a:prstGeom prst="rect">
            <a:avLst/>
          </a:prstGeom>
          <a:noFill/>
          <a:ln/>
        </p:spPr>
        <p:txBody>
          <a:bodyPr wrap="square" lIns="0" tIns="0" rIns="0" bIns="0" rtlCol="0" anchor="ctr">
            <a:normAutofit/>
          </a:bodyPr>
          <a:lstStyle/>
          <a:p>
            <a:pPr marL="0" indent="0">
              <a:buNone/>
            </a:pPr>
            <a:r>
              <a:rPr lang="en-US" sz="1220" b="1" dirty="0">
                <a:solidFill>
                  <a:srgbClr val="0B1F33"/>
                </a:solidFill>
              </a:rPr>
              <a:t>Compose multiple systems into one task context</a:t>
            </a:r>
            <a:endParaRPr lang="en-US" sz="1220" dirty="0"/>
          </a:p>
        </p:txBody>
      </p:sp>
      <p:sp>
        <p:nvSpPr>
          <p:cNvPr id="21" name="Shape 19"/>
          <p:cNvSpPr/>
          <p:nvPr/>
        </p:nvSpPr>
        <p:spPr>
          <a:xfrm>
            <a:off x="4828032" y="2944368"/>
            <a:ext cx="2697480" cy="393192"/>
          </a:xfrm>
          <a:prstGeom prst="roundRect">
            <a:avLst>
              <a:gd name="adj" fmla="val 13953"/>
            </a:avLst>
          </a:prstGeom>
          <a:solidFill>
            <a:srgbClr val="F0FDFA"/>
          </a:solidFill>
          <a:ln w="12700">
            <a:solidFill>
              <a:srgbClr val="0F766E"/>
            </a:solidFill>
            <a:prstDash val="solid"/>
          </a:ln>
        </p:spPr>
        <p:txBody>
          <a:bodyPr/>
          <a:lstStyle/>
          <a:p>
            <a:endParaRPr lang="en-US"/>
          </a:p>
        </p:txBody>
      </p:sp>
      <p:sp>
        <p:nvSpPr>
          <p:cNvPr id="22" name="Text 20"/>
          <p:cNvSpPr/>
          <p:nvPr/>
        </p:nvSpPr>
        <p:spPr>
          <a:xfrm>
            <a:off x="4919472" y="3063240"/>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0F766E"/>
                </a:solidFill>
              </a:rPr>
              <a:t>fails_investigation_get_context</a:t>
            </a:r>
            <a:endParaRPr lang="en-US" sz="860" dirty="0"/>
          </a:p>
        </p:txBody>
      </p:sp>
      <p:sp>
        <p:nvSpPr>
          <p:cNvPr id="23" name="Shape 21"/>
          <p:cNvSpPr/>
          <p:nvPr/>
        </p:nvSpPr>
        <p:spPr>
          <a:xfrm>
            <a:off x="4828032" y="3511296"/>
            <a:ext cx="2697480" cy="393192"/>
          </a:xfrm>
          <a:prstGeom prst="roundRect">
            <a:avLst>
              <a:gd name="adj" fmla="val 13953"/>
            </a:avLst>
          </a:prstGeom>
          <a:solidFill>
            <a:srgbClr val="F0FDFA"/>
          </a:solidFill>
          <a:ln w="12700">
            <a:solidFill>
              <a:srgbClr val="0F766E"/>
            </a:solidFill>
            <a:prstDash val="solid"/>
          </a:ln>
        </p:spPr>
        <p:txBody>
          <a:bodyPr/>
          <a:lstStyle/>
          <a:p>
            <a:endParaRPr lang="en-US"/>
          </a:p>
        </p:txBody>
      </p:sp>
      <p:sp>
        <p:nvSpPr>
          <p:cNvPr id="24" name="Text 22"/>
          <p:cNvSpPr/>
          <p:nvPr/>
        </p:nvSpPr>
        <p:spPr>
          <a:xfrm>
            <a:off x="4919472" y="3630168"/>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0F766E"/>
                </a:solidFill>
              </a:rPr>
              <a:t>qma_email_context_get</a:t>
            </a:r>
            <a:endParaRPr lang="en-US" sz="860" dirty="0"/>
          </a:p>
        </p:txBody>
      </p:sp>
      <p:sp>
        <p:nvSpPr>
          <p:cNvPr id="25" name="Shape 23"/>
          <p:cNvSpPr/>
          <p:nvPr/>
        </p:nvSpPr>
        <p:spPr>
          <a:xfrm>
            <a:off x="4828032" y="4078224"/>
            <a:ext cx="2697480" cy="393192"/>
          </a:xfrm>
          <a:prstGeom prst="roundRect">
            <a:avLst>
              <a:gd name="adj" fmla="val 13953"/>
            </a:avLst>
          </a:prstGeom>
          <a:solidFill>
            <a:srgbClr val="F0FDFA"/>
          </a:solidFill>
          <a:ln w="12700">
            <a:solidFill>
              <a:srgbClr val="0F766E"/>
            </a:solidFill>
            <a:prstDash val="solid"/>
          </a:ln>
        </p:spPr>
        <p:txBody>
          <a:bodyPr/>
          <a:lstStyle/>
          <a:p>
            <a:endParaRPr lang="en-US"/>
          </a:p>
        </p:txBody>
      </p:sp>
      <p:sp>
        <p:nvSpPr>
          <p:cNvPr id="26" name="Text 24"/>
          <p:cNvSpPr/>
          <p:nvPr/>
        </p:nvSpPr>
        <p:spPr>
          <a:xfrm>
            <a:off x="4919472" y="4197096"/>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0F766E"/>
                </a:solidFill>
              </a:rPr>
              <a:t>trade_lifecycle_get</a:t>
            </a:r>
            <a:endParaRPr lang="en-US" sz="860" dirty="0"/>
          </a:p>
        </p:txBody>
      </p:sp>
      <p:sp>
        <p:nvSpPr>
          <p:cNvPr id="27" name="Text 25"/>
          <p:cNvSpPr/>
          <p:nvPr/>
        </p:nvSpPr>
        <p:spPr>
          <a:xfrm>
            <a:off x="4782312" y="5001768"/>
            <a:ext cx="2788920" cy="164592"/>
          </a:xfrm>
          <a:prstGeom prst="rect">
            <a:avLst/>
          </a:prstGeom>
          <a:noFill/>
          <a:ln/>
        </p:spPr>
        <p:txBody>
          <a:bodyPr wrap="square" lIns="0" tIns="0" rIns="0" bIns="0" rtlCol="0" anchor="ctr"/>
          <a:lstStyle/>
          <a:p>
            <a:pPr marL="0" indent="0" algn="ctr">
              <a:buNone/>
            </a:pPr>
            <a:r>
              <a:rPr lang="en-US" sz="920" dirty="0">
                <a:solidFill>
                  <a:srgbClr val="64748B"/>
                </a:solidFill>
              </a:rPr>
              <a:t>Best fit for agentic workflows</a:t>
            </a:r>
            <a:endParaRPr lang="en-US" sz="920" dirty="0"/>
          </a:p>
        </p:txBody>
      </p:sp>
      <p:sp>
        <p:nvSpPr>
          <p:cNvPr id="28" name="Shape 26"/>
          <p:cNvSpPr/>
          <p:nvPr/>
        </p:nvSpPr>
        <p:spPr>
          <a:xfrm>
            <a:off x="8302752" y="1417320"/>
            <a:ext cx="3337560" cy="4160520"/>
          </a:xfrm>
          <a:prstGeom prst="roundRect">
            <a:avLst>
              <a:gd name="adj" fmla="val 1644"/>
            </a:avLst>
          </a:prstGeom>
          <a:solidFill>
            <a:srgbClr val="FFFFFF"/>
          </a:solidFill>
          <a:ln w="12700">
            <a:solidFill>
              <a:srgbClr val="CBD5E1"/>
            </a:solidFill>
            <a:prstDash val="solid"/>
          </a:ln>
        </p:spPr>
        <p:txBody>
          <a:bodyPr/>
          <a:lstStyle/>
          <a:p>
            <a:endParaRPr lang="en-US"/>
          </a:p>
        </p:txBody>
      </p:sp>
      <p:sp>
        <p:nvSpPr>
          <p:cNvPr id="29" name="Shape 27"/>
          <p:cNvSpPr/>
          <p:nvPr/>
        </p:nvSpPr>
        <p:spPr>
          <a:xfrm>
            <a:off x="8302752" y="1417320"/>
            <a:ext cx="3337560" cy="475488"/>
          </a:xfrm>
          <a:prstGeom prst="rect">
            <a:avLst/>
          </a:prstGeom>
          <a:solidFill>
            <a:srgbClr val="D97706"/>
          </a:solidFill>
          <a:ln w="12700">
            <a:solidFill>
              <a:srgbClr val="D97706">
                <a:alpha val="0"/>
              </a:srgbClr>
            </a:solidFill>
            <a:prstDash val="solid"/>
          </a:ln>
        </p:spPr>
        <p:txBody>
          <a:bodyPr/>
          <a:lstStyle/>
          <a:p>
            <a:endParaRPr lang="en-US"/>
          </a:p>
        </p:txBody>
      </p:sp>
      <p:sp>
        <p:nvSpPr>
          <p:cNvPr id="30" name="Text 28"/>
          <p:cNvSpPr/>
          <p:nvPr/>
        </p:nvSpPr>
        <p:spPr>
          <a:xfrm>
            <a:off x="8467344" y="1572768"/>
            <a:ext cx="2999232" cy="118872"/>
          </a:xfrm>
          <a:prstGeom prst="rect">
            <a:avLst/>
          </a:prstGeom>
          <a:noFill/>
          <a:ln/>
        </p:spPr>
        <p:txBody>
          <a:bodyPr wrap="square" lIns="381" tIns="381" rIns="381" bIns="381" rtlCol="0" anchor="ctr">
            <a:normAutofit/>
          </a:bodyPr>
          <a:lstStyle/>
          <a:p>
            <a:pPr marL="0" indent="0" algn="ctr">
              <a:buNone/>
            </a:pPr>
            <a:r>
              <a:rPr lang="en-US" sz="970" b="1" dirty="0">
                <a:solidFill>
                  <a:srgbClr val="FFFFFF"/>
                </a:solidFill>
              </a:rPr>
              <a:t>ACTION TOOLS</a:t>
            </a:r>
            <a:endParaRPr lang="en-US" sz="970" dirty="0"/>
          </a:p>
        </p:txBody>
      </p:sp>
      <p:sp>
        <p:nvSpPr>
          <p:cNvPr id="31" name="Text 29"/>
          <p:cNvSpPr/>
          <p:nvPr/>
        </p:nvSpPr>
        <p:spPr>
          <a:xfrm>
            <a:off x="8531352" y="2176272"/>
            <a:ext cx="2880360" cy="384048"/>
          </a:xfrm>
          <a:prstGeom prst="rect">
            <a:avLst/>
          </a:prstGeom>
          <a:noFill/>
          <a:ln/>
        </p:spPr>
        <p:txBody>
          <a:bodyPr wrap="square" lIns="0" tIns="0" rIns="0" bIns="0" rtlCol="0" anchor="ctr">
            <a:normAutofit/>
          </a:bodyPr>
          <a:lstStyle/>
          <a:p>
            <a:pPr marL="0" indent="0">
              <a:buNone/>
            </a:pPr>
            <a:r>
              <a:rPr lang="en-US" sz="1220" b="1" dirty="0">
                <a:solidFill>
                  <a:srgbClr val="0B1F33"/>
                </a:solidFill>
              </a:rPr>
              <a:t>Create, update or publish operational outputs</a:t>
            </a:r>
            <a:endParaRPr lang="en-US" sz="1220" dirty="0"/>
          </a:p>
        </p:txBody>
      </p:sp>
      <p:sp>
        <p:nvSpPr>
          <p:cNvPr id="32" name="Shape 30"/>
          <p:cNvSpPr/>
          <p:nvPr/>
        </p:nvSpPr>
        <p:spPr>
          <a:xfrm>
            <a:off x="8622792" y="2944368"/>
            <a:ext cx="2697480" cy="393192"/>
          </a:xfrm>
          <a:prstGeom prst="roundRect">
            <a:avLst>
              <a:gd name="adj" fmla="val 13953"/>
            </a:avLst>
          </a:prstGeom>
          <a:solidFill>
            <a:srgbClr val="FFFBEB"/>
          </a:solidFill>
          <a:ln w="12700">
            <a:solidFill>
              <a:srgbClr val="D97706"/>
            </a:solidFill>
            <a:prstDash val="solid"/>
          </a:ln>
        </p:spPr>
        <p:txBody>
          <a:bodyPr/>
          <a:lstStyle/>
          <a:p>
            <a:endParaRPr lang="en-US"/>
          </a:p>
        </p:txBody>
      </p:sp>
      <p:sp>
        <p:nvSpPr>
          <p:cNvPr id="33" name="Text 31"/>
          <p:cNvSpPr/>
          <p:nvPr/>
        </p:nvSpPr>
        <p:spPr>
          <a:xfrm>
            <a:off x="8714232" y="3063240"/>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D97706"/>
                </a:solidFill>
              </a:rPr>
              <a:t>trade_commentary_publish</a:t>
            </a:r>
            <a:endParaRPr lang="en-US" sz="860" dirty="0"/>
          </a:p>
        </p:txBody>
      </p:sp>
      <p:sp>
        <p:nvSpPr>
          <p:cNvPr id="34" name="Shape 32"/>
          <p:cNvSpPr/>
          <p:nvPr/>
        </p:nvSpPr>
        <p:spPr>
          <a:xfrm>
            <a:off x="8622792" y="3511296"/>
            <a:ext cx="2697480" cy="393192"/>
          </a:xfrm>
          <a:prstGeom prst="roundRect">
            <a:avLst>
              <a:gd name="adj" fmla="val 13953"/>
            </a:avLst>
          </a:prstGeom>
          <a:solidFill>
            <a:srgbClr val="FFFBEB"/>
          </a:solidFill>
          <a:ln w="12700">
            <a:solidFill>
              <a:srgbClr val="D97706"/>
            </a:solidFill>
            <a:prstDash val="solid"/>
          </a:ln>
        </p:spPr>
        <p:txBody>
          <a:bodyPr/>
          <a:lstStyle/>
          <a:p>
            <a:endParaRPr lang="en-US"/>
          </a:p>
        </p:txBody>
      </p:sp>
      <p:sp>
        <p:nvSpPr>
          <p:cNvPr id="35" name="Text 33"/>
          <p:cNvSpPr/>
          <p:nvPr/>
        </p:nvSpPr>
        <p:spPr>
          <a:xfrm>
            <a:off x="8714232" y="3630168"/>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D97706"/>
                </a:solidFill>
              </a:rPr>
              <a:t>case_status_update</a:t>
            </a:r>
            <a:endParaRPr lang="en-US" sz="860" dirty="0"/>
          </a:p>
        </p:txBody>
      </p:sp>
      <p:sp>
        <p:nvSpPr>
          <p:cNvPr id="36" name="Shape 34"/>
          <p:cNvSpPr/>
          <p:nvPr/>
        </p:nvSpPr>
        <p:spPr>
          <a:xfrm>
            <a:off x="8622792" y="4078224"/>
            <a:ext cx="2697480" cy="393192"/>
          </a:xfrm>
          <a:prstGeom prst="roundRect">
            <a:avLst>
              <a:gd name="adj" fmla="val 13953"/>
            </a:avLst>
          </a:prstGeom>
          <a:solidFill>
            <a:srgbClr val="FFFBEB"/>
          </a:solidFill>
          <a:ln w="12700">
            <a:solidFill>
              <a:srgbClr val="D97706"/>
            </a:solidFill>
            <a:prstDash val="solid"/>
          </a:ln>
        </p:spPr>
        <p:txBody>
          <a:bodyPr/>
          <a:lstStyle/>
          <a:p>
            <a:endParaRPr lang="en-US"/>
          </a:p>
        </p:txBody>
      </p:sp>
      <p:sp>
        <p:nvSpPr>
          <p:cNvPr id="37" name="Text 35"/>
          <p:cNvSpPr/>
          <p:nvPr/>
        </p:nvSpPr>
        <p:spPr>
          <a:xfrm>
            <a:off x="8714232" y="4197096"/>
            <a:ext cx="2514600" cy="109728"/>
          </a:xfrm>
          <a:prstGeom prst="rect">
            <a:avLst/>
          </a:prstGeom>
          <a:noFill/>
          <a:ln/>
        </p:spPr>
        <p:txBody>
          <a:bodyPr wrap="square" lIns="381" tIns="381" rIns="381" bIns="381" rtlCol="0" anchor="ctr">
            <a:normAutofit/>
          </a:bodyPr>
          <a:lstStyle/>
          <a:p>
            <a:pPr marL="0" indent="0" algn="ctr">
              <a:buNone/>
            </a:pPr>
            <a:r>
              <a:rPr lang="en-US" sz="860" b="1" dirty="0">
                <a:solidFill>
                  <a:srgbClr val="D97706"/>
                </a:solidFill>
              </a:rPr>
              <a:t>qma_email_draft_create</a:t>
            </a:r>
            <a:endParaRPr lang="en-US" sz="860" dirty="0"/>
          </a:p>
        </p:txBody>
      </p:sp>
      <p:sp>
        <p:nvSpPr>
          <p:cNvPr id="38" name="Text 36"/>
          <p:cNvSpPr/>
          <p:nvPr/>
        </p:nvSpPr>
        <p:spPr>
          <a:xfrm>
            <a:off x="8577072" y="5001768"/>
            <a:ext cx="2788920" cy="164592"/>
          </a:xfrm>
          <a:prstGeom prst="rect">
            <a:avLst/>
          </a:prstGeom>
          <a:noFill/>
          <a:ln/>
        </p:spPr>
        <p:txBody>
          <a:bodyPr wrap="square" lIns="0" tIns="0" rIns="0" bIns="0" rtlCol="0" anchor="ctr"/>
          <a:lstStyle/>
          <a:p>
            <a:pPr marL="0" indent="0" algn="ctr">
              <a:buNone/>
            </a:pPr>
            <a:r>
              <a:rPr lang="en-US" sz="920" dirty="0">
                <a:solidFill>
                  <a:srgbClr val="64748B"/>
                </a:solidFill>
              </a:rPr>
              <a:t>Requires policy + HIL gates</a:t>
            </a:r>
            <a:endParaRPr lang="en-US" sz="920" dirty="0"/>
          </a:p>
        </p:txBody>
      </p:sp>
      <p:sp>
        <p:nvSpPr>
          <p:cNvPr id="39" name="Text 37"/>
          <p:cNvSpPr/>
          <p:nvPr/>
        </p:nvSpPr>
        <p:spPr>
          <a:xfrm>
            <a:off x="685800" y="5989320"/>
            <a:ext cx="10789920" cy="228600"/>
          </a:xfrm>
          <a:prstGeom prst="rect">
            <a:avLst/>
          </a:prstGeom>
          <a:noFill/>
          <a:ln/>
        </p:spPr>
        <p:txBody>
          <a:bodyPr wrap="square" lIns="0" tIns="0" rIns="0" bIns="0" rtlCol="0" anchor="ctr"/>
          <a:lstStyle/>
          <a:p>
            <a:pPr marL="0" indent="0">
              <a:buNone/>
            </a:pPr>
            <a:r>
              <a:rPr lang="en-US" sz="1150" b="1" dirty="0">
                <a:solidFill>
                  <a:srgbClr val="0B1F33"/>
                </a:solidFill>
              </a:rPr>
              <a:t>EDGE principle: start with business capability classification, then design the schema, risk tier and entitlement model.</a:t>
            </a:r>
            <a:endParaRPr lang="en-US" sz="1150" dirty="0"/>
          </a:p>
        </p:txBody>
      </p:sp>
      <p:sp>
        <p:nvSpPr>
          <p:cNvPr id="40" name="Text 38"/>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41" name="Text 39"/>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Tool Contract: What Every MCP Tool Must Declare</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A production MCP tool needs an enterprise contract, not just a function signature.</a:t>
            </a:r>
            <a:endParaRPr lang="en-US" sz="1050" dirty="0"/>
          </a:p>
        </p:txBody>
      </p:sp>
      <p:sp>
        <p:nvSpPr>
          <p:cNvPr id="6" name="Shape 4"/>
          <p:cNvSpPr/>
          <p:nvPr/>
        </p:nvSpPr>
        <p:spPr>
          <a:xfrm>
            <a:off x="685800" y="1207008"/>
            <a:ext cx="512064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685800" y="1298448"/>
            <a:ext cx="5120640" cy="219456"/>
          </a:xfrm>
          <a:prstGeom prst="rect">
            <a:avLst/>
          </a:prstGeom>
          <a:noFill/>
          <a:ln/>
        </p:spPr>
        <p:txBody>
          <a:bodyPr wrap="square" lIns="0" tIns="0" rIns="0" bIns="0" rtlCol="0" anchor="ctr"/>
          <a:lstStyle/>
          <a:p>
            <a:pPr marL="0" indent="0">
              <a:buNone/>
            </a:pPr>
            <a:r>
              <a:rPr lang="en-US" sz="1000" b="1" dirty="0">
                <a:solidFill>
                  <a:srgbClr val="2563EB"/>
                </a:solidFill>
              </a:rPr>
              <a:t>MANDATORY TOOL CONTRACT</a:t>
            </a:r>
            <a:endParaRPr lang="en-US" sz="1000" dirty="0"/>
          </a:p>
        </p:txBody>
      </p:sp>
      <p:sp>
        <p:nvSpPr>
          <p:cNvPr id="8" name="Shape 6"/>
          <p:cNvSpPr/>
          <p:nvPr/>
        </p:nvSpPr>
        <p:spPr>
          <a:xfrm>
            <a:off x="777240" y="1664208"/>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9" name="Text 7"/>
          <p:cNvSpPr/>
          <p:nvPr/>
        </p:nvSpPr>
        <p:spPr>
          <a:xfrm>
            <a:off x="914400" y="1773936"/>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Purpose</a:t>
            </a:r>
            <a:endParaRPr lang="en-US" sz="940" dirty="0"/>
          </a:p>
        </p:txBody>
      </p:sp>
      <p:sp>
        <p:nvSpPr>
          <p:cNvPr id="10" name="Text 8"/>
          <p:cNvSpPr/>
          <p:nvPr/>
        </p:nvSpPr>
        <p:spPr>
          <a:xfrm>
            <a:off x="914400" y="1956816"/>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Clear business outcome</a:t>
            </a:r>
            <a:endParaRPr lang="en-US" sz="790" dirty="0"/>
          </a:p>
        </p:txBody>
      </p:sp>
      <p:sp>
        <p:nvSpPr>
          <p:cNvPr id="11" name="Shape 9"/>
          <p:cNvSpPr/>
          <p:nvPr/>
        </p:nvSpPr>
        <p:spPr>
          <a:xfrm>
            <a:off x="3154680" y="1664208"/>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12" name="Text 10"/>
          <p:cNvSpPr/>
          <p:nvPr/>
        </p:nvSpPr>
        <p:spPr>
          <a:xfrm>
            <a:off x="3291840" y="1773936"/>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Owner</a:t>
            </a:r>
            <a:endParaRPr lang="en-US" sz="940" dirty="0"/>
          </a:p>
        </p:txBody>
      </p:sp>
      <p:sp>
        <p:nvSpPr>
          <p:cNvPr id="13" name="Text 11"/>
          <p:cNvSpPr/>
          <p:nvPr/>
        </p:nvSpPr>
        <p:spPr>
          <a:xfrm>
            <a:off x="3291840" y="1956816"/>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App/team + support path</a:t>
            </a:r>
            <a:endParaRPr lang="en-US" sz="790" dirty="0"/>
          </a:p>
        </p:txBody>
      </p:sp>
      <p:sp>
        <p:nvSpPr>
          <p:cNvPr id="14" name="Shape 12"/>
          <p:cNvSpPr/>
          <p:nvPr/>
        </p:nvSpPr>
        <p:spPr>
          <a:xfrm>
            <a:off x="777240" y="2414016"/>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15" name="Text 13"/>
          <p:cNvSpPr/>
          <p:nvPr/>
        </p:nvSpPr>
        <p:spPr>
          <a:xfrm>
            <a:off x="914400" y="2523744"/>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Version</a:t>
            </a:r>
            <a:endParaRPr lang="en-US" sz="940" dirty="0"/>
          </a:p>
        </p:txBody>
      </p:sp>
      <p:sp>
        <p:nvSpPr>
          <p:cNvPr id="16" name="Text 14"/>
          <p:cNvSpPr/>
          <p:nvPr/>
        </p:nvSpPr>
        <p:spPr>
          <a:xfrm>
            <a:off x="914400" y="2706624"/>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Semantic version + lifecycle state</a:t>
            </a:r>
            <a:endParaRPr lang="en-US" sz="790" dirty="0"/>
          </a:p>
        </p:txBody>
      </p:sp>
      <p:sp>
        <p:nvSpPr>
          <p:cNvPr id="17" name="Shape 15"/>
          <p:cNvSpPr/>
          <p:nvPr/>
        </p:nvSpPr>
        <p:spPr>
          <a:xfrm>
            <a:off x="3154680" y="2414016"/>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18" name="Text 16"/>
          <p:cNvSpPr/>
          <p:nvPr/>
        </p:nvSpPr>
        <p:spPr>
          <a:xfrm>
            <a:off x="3291840" y="2523744"/>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Risk tier</a:t>
            </a:r>
            <a:endParaRPr lang="en-US" sz="940" dirty="0"/>
          </a:p>
        </p:txBody>
      </p:sp>
      <p:sp>
        <p:nvSpPr>
          <p:cNvPr id="19" name="Text 17"/>
          <p:cNvSpPr/>
          <p:nvPr/>
        </p:nvSpPr>
        <p:spPr>
          <a:xfrm>
            <a:off x="3291840" y="2706624"/>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Read/write + control level</a:t>
            </a:r>
            <a:endParaRPr lang="en-US" sz="790" dirty="0"/>
          </a:p>
        </p:txBody>
      </p:sp>
      <p:sp>
        <p:nvSpPr>
          <p:cNvPr id="20" name="Shape 18"/>
          <p:cNvSpPr/>
          <p:nvPr/>
        </p:nvSpPr>
        <p:spPr>
          <a:xfrm>
            <a:off x="777240" y="3163824"/>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21" name="Text 19"/>
          <p:cNvSpPr/>
          <p:nvPr/>
        </p:nvSpPr>
        <p:spPr>
          <a:xfrm>
            <a:off x="914400" y="3273552"/>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When to use</a:t>
            </a:r>
            <a:endParaRPr lang="en-US" sz="940" dirty="0"/>
          </a:p>
        </p:txBody>
      </p:sp>
      <p:sp>
        <p:nvSpPr>
          <p:cNvPr id="22" name="Text 20"/>
          <p:cNvSpPr/>
          <p:nvPr/>
        </p:nvSpPr>
        <p:spPr>
          <a:xfrm>
            <a:off x="914400" y="3456432"/>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Positive selection guidance</a:t>
            </a:r>
            <a:endParaRPr lang="en-US" sz="790" dirty="0"/>
          </a:p>
        </p:txBody>
      </p:sp>
      <p:sp>
        <p:nvSpPr>
          <p:cNvPr id="23" name="Shape 21"/>
          <p:cNvSpPr/>
          <p:nvPr/>
        </p:nvSpPr>
        <p:spPr>
          <a:xfrm>
            <a:off x="3154680" y="3163824"/>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24" name="Text 22"/>
          <p:cNvSpPr/>
          <p:nvPr/>
        </p:nvSpPr>
        <p:spPr>
          <a:xfrm>
            <a:off x="3291840" y="3273552"/>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When not to use</a:t>
            </a:r>
            <a:endParaRPr lang="en-US" sz="940" dirty="0"/>
          </a:p>
        </p:txBody>
      </p:sp>
      <p:sp>
        <p:nvSpPr>
          <p:cNvPr id="25" name="Text 23"/>
          <p:cNvSpPr/>
          <p:nvPr/>
        </p:nvSpPr>
        <p:spPr>
          <a:xfrm>
            <a:off x="3291840" y="3456432"/>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Prevent wrong tool calls</a:t>
            </a:r>
            <a:endParaRPr lang="en-US" sz="790" dirty="0"/>
          </a:p>
        </p:txBody>
      </p:sp>
      <p:sp>
        <p:nvSpPr>
          <p:cNvPr id="26" name="Shape 24"/>
          <p:cNvSpPr/>
          <p:nvPr/>
        </p:nvSpPr>
        <p:spPr>
          <a:xfrm>
            <a:off x="777240" y="3913632"/>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27" name="Text 25"/>
          <p:cNvSpPr/>
          <p:nvPr/>
        </p:nvSpPr>
        <p:spPr>
          <a:xfrm>
            <a:off x="914400" y="4023360"/>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Input schema</a:t>
            </a:r>
            <a:endParaRPr lang="en-US" sz="940" dirty="0"/>
          </a:p>
        </p:txBody>
      </p:sp>
      <p:sp>
        <p:nvSpPr>
          <p:cNvPr id="28" name="Text 26"/>
          <p:cNvSpPr/>
          <p:nvPr/>
        </p:nvSpPr>
        <p:spPr>
          <a:xfrm>
            <a:off x="914400" y="4206240"/>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Typed, validated parameters</a:t>
            </a:r>
            <a:endParaRPr lang="en-US" sz="790" dirty="0"/>
          </a:p>
        </p:txBody>
      </p:sp>
      <p:sp>
        <p:nvSpPr>
          <p:cNvPr id="29" name="Shape 27"/>
          <p:cNvSpPr/>
          <p:nvPr/>
        </p:nvSpPr>
        <p:spPr>
          <a:xfrm>
            <a:off x="3154680" y="3913632"/>
            <a:ext cx="2148840" cy="512064"/>
          </a:xfrm>
          <a:prstGeom prst="roundRect">
            <a:avLst>
              <a:gd name="adj" fmla="val 10714"/>
            </a:avLst>
          </a:prstGeom>
          <a:solidFill>
            <a:srgbClr val="FFFFFF"/>
          </a:solidFill>
          <a:ln w="12700">
            <a:solidFill>
              <a:srgbClr val="CBD5E1"/>
            </a:solidFill>
            <a:prstDash val="solid"/>
          </a:ln>
        </p:spPr>
        <p:txBody>
          <a:bodyPr/>
          <a:lstStyle/>
          <a:p>
            <a:endParaRPr lang="en-US"/>
          </a:p>
        </p:txBody>
      </p:sp>
      <p:sp>
        <p:nvSpPr>
          <p:cNvPr id="30" name="Text 28"/>
          <p:cNvSpPr/>
          <p:nvPr/>
        </p:nvSpPr>
        <p:spPr>
          <a:xfrm>
            <a:off x="3291840" y="4023360"/>
            <a:ext cx="1874520" cy="118872"/>
          </a:xfrm>
          <a:prstGeom prst="rect">
            <a:avLst/>
          </a:prstGeom>
          <a:noFill/>
          <a:ln/>
        </p:spPr>
        <p:txBody>
          <a:bodyPr wrap="square" lIns="0" tIns="0" rIns="0" bIns="0" rtlCol="0" anchor="ctr"/>
          <a:lstStyle/>
          <a:p>
            <a:pPr marL="0" indent="0">
              <a:buNone/>
            </a:pPr>
            <a:r>
              <a:rPr lang="en-US" sz="940" b="1" dirty="0">
                <a:solidFill>
                  <a:srgbClr val="0B1F33"/>
                </a:solidFill>
              </a:rPr>
              <a:t>Output schema</a:t>
            </a:r>
            <a:endParaRPr lang="en-US" sz="940" dirty="0"/>
          </a:p>
        </p:txBody>
      </p:sp>
      <p:sp>
        <p:nvSpPr>
          <p:cNvPr id="31" name="Text 29"/>
          <p:cNvSpPr/>
          <p:nvPr/>
        </p:nvSpPr>
        <p:spPr>
          <a:xfrm>
            <a:off x="3291840" y="4206240"/>
            <a:ext cx="1874520" cy="109728"/>
          </a:xfrm>
          <a:prstGeom prst="rect">
            <a:avLst/>
          </a:prstGeom>
          <a:noFill/>
          <a:ln/>
        </p:spPr>
        <p:txBody>
          <a:bodyPr wrap="square" lIns="0" tIns="0" rIns="0" bIns="0" rtlCol="0" anchor="ctr">
            <a:normAutofit/>
          </a:bodyPr>
          <a:lstStyle/>
          <a:p>
            <a:pPr marL="0" indent="0">
              <a:buNone/>
            </a:pPr>
            <a:r>
              <a:rPr lang="en-US" sz="790" dirty="0">
                <a:solidFill>
                  <a:srgbClr val="64748B"/>
                </a:solidFill>
              </a:rPr>
              <a:t>Structured response + evidence</a:t>
            </a:r>
            <a:endParaRPr lang="en-US" sz="790" dirty="0"/>
          </a:p>
        </p:txBody>
      </p:sp>
      <p:sp>
        <p:nvSpPr>
          <p:cNvPr id="32" name="Shape 30"/>
          <p:cNvSpPr/>
          <p:nvPr/>
        </p:nvSpPr>
        <p:spPr>
          <a:xfrm>
            <a:off x="6492240" y="1207008"/>
            <a:ext cx="4617720" cy="54864"/>
          </a:xfrm>
          <a:prstGeom prst="rect">
            <a:avLst/>
          </a:prstGeom>
          <a:solidFill>
            <a:srgbClr val="0F766E"/>
          </a:solidFill>
          <a:ln w="12700">
            <a:solidFill>
              <a:srgbClr val="0F766E">
                <a:alpha val="0"/>
              </a:srgbClr>
            </a:solidFill>
            <a:prstDash val="solid"/>
          </a:ln>
        </p:spPr>
        <p:txBody>
          <a:bodyPr/>
          <a:lstStyle/>
          <a:p>
            <a:endParaRPr lang="en-US"/>
          </a:p>
        </p:txBody>
      </p:sp>
      <p:sp>
        <p:nvSpPr>
          <p:cNvPr id="33" name="Text 31"/>
          <p:cNvSpPr/>
          <p:nvPr/>
        </p:nvSpPr>
        <p:spPr>
          <a:xfrm>
            <a:off x="6492240" y="1298448"/>
            <a:ext cx="4617720" cy="219456"/>
          </a:xfrm>
          <a:prstGeom prst="rect">
            <a:avLst/>
          </a:prstGeom>
          <a:noFill/>
          <a:ln/>
        </p:spPr>
        <p:txBody>
          <a:bodyPr wrap="square" lIns="0" tIns="0" rIns="0" bIns="0" rtlCol="0" anchor="ctr"/>
          <a:lstStyle/>
          <a:p>
            <a:pPr marL="0" indent="0">
              <a:buNone/>
            </a:pPr>
            <a:r>
              <a:rPr lang="en-US" sz="1000" b="1" dirty="0">
                <a:solidFill>
                  <a:srgbClr val="0F766E"/>
                </a:solidFill>
              </a:rPr>
              <a:t>EXAMPLE: FAILS INVESTIGATION CONTEXT TOOL</a:t>
            </a:r>
            <a:endParaRPr lang="en-US" sz="1000" dirty="0"/>
          </a:p>
        </p:txBody>
      </p:sp>
      <p:sp>
        <p:nvSpPr>
          <p:cNvPr id="34" name="Shape 32"/>
          <p:cNvSpPr/>
          <p:nvPr/>
        </p:nvSpPr>
        <p:spPr>
          <a:xfrm>
            <a:off x="6537960" y="1700784"/>
            <a:ext cx="4617720" cy="3611880"/>
          </a:xfrm>
          <a:prstGeom prst="roundRect">
            <a:avLst>
              <a:gd name="adj" fmla="val 1519"/>
            </a:avLst>
          </a:prstGeom>
          <a:solidFill>
            <a:srgbClr val="FFFFFF"/>
          </a:solidFill>
          <a:ln w="12700">
            <a:solidFill>
              <a:srgbClr val="99F6E4"/>
            </a:solidFill>
            <a:prstDash val="solid"/>
          </a:ln>
        </p:spPr>
        <p:txBody>
          <a:bodyPr/>
          <a:lstStyle/>
          <a:p>
            <a:endParaRPr lang="en-US"/>
          </a:p>
        </p:txBody>
      </p:sp>
      <p:sp>
        <p:nvSpPr>
          <p:cNvPr id="35" name="Text 33"/>
          <p:cNvSpPr/>
          <p:nvPr/>
        </p:nvSpPr>
        <p:spPr>
          <a:xfrm>
            <a:off x="6839712" y="1965960"/>
            <a:ext cx="4023360" cy="228600"/>
          </a:xfrm>
          <a:prstGeom prst="rect">
            <a:avLst/>
          </a:prstGeom>
          <a:noFill/>
          <a:ln/>
        </p:spPr>
        <p:txBody>
          <a:bodyPr wrap="square" lIns="0" tIns="0" rIns="0" bIns="0" rtlCol="0" anchor="ctr"/>
          <a:lstStyle/>
          <a:p>
            <a:pPr marL="0" indent="0">
              <a:buNone/>
            </a:pPr>
            <a:r>
              <a:rPr lang="en-US" sz="1550" b="1" dirty="0">
                <a:solidFill>
                  <a:srgbClr val="0F766E"/>
                </a:solidFill>
              </a:rPr>
              <a:t>fails_investigation_get_context</a:t>
            </a:r>
            <a:endParaRPr lang="en-US" sz="1550" dirty="0"/>
          </a:p>
        </p:txBody>
      </p:sp>
      <p:sp>
        <p:nvSpPr>
          <p:cNvPr id="36" name="Text 34"/>
          <p:cNvSpPr/>
          <p:nvPr/>
        </p:nvSpPr>
        <p:spPr>
          <a:xfrm>
            <a:off x="6812280" y="2578608"/>
            <a:ext cx="914400" cy="146304"/>
          </a:xfrm>
          <a:prstGeom prst="rect">
            <a:avLst/>
          </a:prstGeom>
          <a:noFill/>
          <a:ln/>
        </p:spPr>
        <p:txBody>
          <a:bodyPr wrap="square" lIns="0" tIns="0" rIns="0" bIns="0" rtlCol="0" anchor="ctr"/>
          <a:lstStyle/>
          <a:p>
            <a:pPr marL="0" indent="0">
              <a:buNone/>
            </a:pPr>
            <a:r>
              <a:rPr lang="en-US" sz="880" b="1" dirty="0">
                <a:solidFill>
                  <a:srgbClr val="0B1F33"/>
                </a:solidFill>
              </a:rPr>
              <a:t>Inputs</a:t>
            </a:r>
            <a:endParaRPr lang="en-US" sz="880" dirty="0"/>
          </a:p>
        </p:txBody>
      </p:sp>
      <p:sp>
        <p:nvSpPr>
          <p:cNvPr id="37" name="Text 35"/>
          <p:cNvSpPr/>
          <p:nvPr/>
        </p:nvSpPr>
        <p:spPr>
          <a:xfrm>
            <a:off x="7818120" y="2578608"/>
            <a:ext cx="3017520" cy="164592"/>
          </a:xfrm>
          <a:prstGeom prst="rect">
            <a:avLst/>
          </a:prstGeom>
          <a:noFill/>
          <a:ln/>
        </p:spPr>
        <p:txBody>
          <a:bodyPr wrap="square" lIns="0" tIns="0" rIns="0" bIns="0" rtlCol="0" anchor="ctr">
            <a:normAutofit/>
          </a:bodyPr>
          <a:lstStyle/>
          <a:p>
            <a:pPr marL="0" indent="0">
              <a:buNone/>
            </a:pPr>
            <a:r>
              <a:rPr lang="en-US" sz="880" dirty="0">
                <a:solidFill>
                  <a:srgbClr val="334155"/>
                </a:solidFill>
              </a:rPr>
              <a:t>CUSIP, as_of_date, desk, optional case_id</a:t>
            </a:r>
            <a:endParaRPr lang="en-US" sz="880" dirty="0"/>
          </a:p>
        </p:txBody>
      </p:sp>
      <p:sp>
        <p:nvSpPr>
          <p:cNvPr id="38" name="Text 36"/>
          <p:cNvSpPr/>
          <p:nvPr/>
        </p:nvSpPr>
        <p:spPr>
          <a:xfrm>
            <a:off x="6812280" y="2990088"/>
            <a:ext cx="914400" cy="146304"/>
          </a:xfrm>
          <a:prstGeom prst="rect">
            <a:avLst/>
          </a:prstGeom>
          <a:noFill/>
          <a:ln/>
        </p:spPr>
        <p:txBody>
          <a:bodyPr wrap="square" lIns="0" tIns="0" rIns="0" bIns="0" rtlCol="0" anchor="ctr"/>
          <a:lstStyle/>
          <a:p>
            <a:pPr marL="0" indent="0">
              <a:buNone/>
            </a:pPr>
            <a:r>
              <a:rPr lang="en-US" sz="880" b="1" dirty="0">
                <a:solidFill>
                  <a:srgbClr val="0B1F33"/>
                </a:solidFill>
              </a:rPr>
              <a:t>Returns</a:t>
            </a:r>
            <a:endParaRPr lang="en-US" sz="880" dirty="0"/>
          </a:p>
        </p:txBody>
      </p:sp>
      <p:sp>
        <p:nvSpPr>
          <p:cNvPr id="39" name="Text 37"/>
          <p:cNvSpPr/>
          <p:nvPr/>
        </p:nvSpPr>
        <p:spPr>
          <a:xfrm>
            <a:off x="7818120" y="2990088"/>
            <a:ext cx="3017520" cy="164592"/>
          </a:xfrm>
          <a:prstGeom prst="rect">
            <a:avLst/>
          </a:prstGeom>
          <a:noFill/>
          <a:ln/>
        </p:spPr>
        <p:txBody>
          <a:bodyPr wrap="square" lIns="0" tIns="0" rIns="0" bIns="0" rtlCol="0" anchor="ctr">
            <a:normAutofit/>
          </a:bodyPr>
          <a:lstStyle/>
          <a:p>
            <a:pPr marL="0" indent="0">
              <a:buNone/>
            </a:pPr>
            <a:r>
              <a:rPr lang="en-US" sz="880" dirty="0">
                <a:solidFill>
                  <a:srgbClr val="334155"/>
                </a:solidFill>
              </a:rPr>
              <a:t>position, settlement, trade and reference context</a:t>
            </a:r>
            <a:endParaRPr lang="en-US" sz="880" dirty="0"/>
          </a:p>
        </p:txBody>
      </p:sp>
      <p:sp>
        <p:nvSpPr>
          <p:cNvPr id="40" name="Text 38"/>
          <p:cNvSpPr/>
          <p:nvPr/>
        </p:nvSpPr>
        <p:spPr>
          <a:xfrm>
            <a:off x="6812280" y="3401568"/>
            <a:ext cx="914400" cy="146304"/>
          </a:xfrm>
          <a:prstGeom prst="rect">
            <a:avLst/>
          </a:prstGeom>
          <a:noFill/>
          <a:ln/>
        </p:spPr>
        <p:txBody>
          <a:bodyPr wrap="square" lIns="0" tIns="0" rIns="0" bIns="0" rtlCol="0" anchor="ctr"/>
          <a:lstStyle/>
          <a:p>
            <a:pPr marL="0" indent="0">
              <a:buNone/>
            </a:pPr>
            <a:r>
              <a:rPr lang="en-US" sz="880" b="1" dirty="0">
                <a:solidFill>
                  <a:srgbClr val="0B1F33"/>
                </a:solidFill>
              </a:rPr>
              <a:t>Evidence</a:t>
            </a:r>
            <a:endParaRPr lang="en-US" sz="880" dirty="0"/>
          </a:p>
        </p:txBody>
      </p:sp>
      <p:sp>
        <p:nvSpPr>
          <p:cNvPr id="41" name="Text 39"/>
          <p:cNvSpPr/>
          <p:nvPr/>
        </p:nvSpPr>
        <p:spPr>
          <a:xfrm>
            <a:off x="7818120" y="3401568"/>
            <a:ext cx="3017520" cy="164592"/>
          </a:xfrm>
          <a:prstGeom prst="rect">
            <a:avLst/>
          </a:prstGeom>
          <a:noFill/>
          <a:ln/>
        </p:spPr>
        <p:txBody>
          <a:bodyPr wrap="square" lIns="0" tIns="0" rIns="0" bIns="0" rtlCol="0" anchor="ctr">
            <a:normAutofit/>
          </a:bodyPr>
          <a:lstStyle/>
          <a:p>
            <a:pPr marL="0" indent="0">
              <a:buNone/>
            </a:pPr>
            <a:r>
              <a:rPr lang="en-US" sz="880" dirty="0">
                <a:solidFill>
                  <a:srgbClr val="334155"/>
                </a:solidFill>
              </a:rPr>
              <a:t>system source, timestamp, lineage id</a:t>
            </a:r>
            <a:endParaRPr lang="en-US" sz="880" dirty="0"/>
          </a:p>
        </p:txBody>
      </p:sp>
      <p:sp>
        <p:nvSpPr>
          <p:cNvPr id="42" name="Text 40"/>
          <p:cNvSpPr/>
          <p:nvPr/>
        </p:nvSpPr>
        <p:spPr>
          <a:xfrm>
            <a:off x="6812280" y="3813048"/>
            <a:ext cx="914400" cy="146304"/>
          </a:xfrm>
          <a:prstGeom prst="rect">
            <a:avLst/>
          </a:prstGeom>
          <a:noFill/>
          <a:ln/>
        </p:spPr>
        <p:txBody>
          <a:bodyPr wrap="square" lIns="0" tIns="0" rIns="0" bIns="0" rtlCol="0" anchor="ctr"/>
          <a:lstStyle/>
          <a:p>
            <a:pPr marL="0" indent="0">
              <a:buNone/>
            </a:pPr>
            <a:r>
              <a:rPr lang="en-US" sz="880" b="1" dirty="0">
                <a:solidFill>
                  <a:srgbClr val="0B1F33"/>
                </a:solidFill>
              </a:rPr>
              <a:t>Controls</a:t>
            </a:r>
            <a:endParaRPr lang="en-US" sz="880" dirty="0"/>
          </a:p>
        </p:txBody>
      </p:sp>
      <p:sp>
        <p:nvSpPr>
          <p:cNvPr id="43" name="Text 41"/>
          <p:cNvSpPr/>
          <p:nvPr/>
        </p:nvSpPr>
        <p:spPr>
          <a:xfrm>
            <a:off x="7818120" y="3813048"/>
            <a:ext cx="3017520" cy="164592"/>
          </a:xfrm>
          <a:prstGeom prst="rect">
            <a:avLst/>
          </a:prstGeom>
          <a:noFill/>
          <a:ln/>
        </p:spPr>
        <p:txBody>
          <a:bodyPr wrap="square" lIns="0" tIns="0" rIns="0" bIns="0" rtlCol="0" anchor="ctr">
            <a:normAutofit/>
          </a:bodyPr>
          <a:lstStyle/>
          <a:p>
            <a:pPr marL="0" indent="0">
              <a:buNone/>
            </a:pPr>
            <a:r>
              <a:rPr lang="en-US" sz="880" dirty="0">
                <a:solidFill>
                  <a:srgbClr val="334155"/>
                </a:solidFill>
              </a:rPr>
              <a:t>L1 read; entitlement checked at gateway</a:t>
            </a:r>
            <a:endParaRPr lang="en-US" sz="880" dirty="0"/>
          </a:p>
        </p:txBody>
      </p:sp>
      <p:sp>
        <p:nvSpPr>
          <p:cNvPr id="44" name="Text 42"/>
          <p:cNvSpPr/>
          <p:nvPr/>
        </p:nvSpPr>
        <p:spPr>
          <a:xfrm>
            <a:off x="6812280" y="4224528"/>
            <a:ext cx="914400" cy="146304"/>
          </a:xfrm>
          <a:prstGeom prst="rect">
            <a:avLst/>
          </a:prstGeom>
          <a:noFill/>
          <a:ln/>
        </p:spPr>
        <p:txBody>
          <a:bodyPr wrap="square" lIns="0" tIns="0" rIns="0" bIns="0" rtlCol="0" anchor="ctr"/>
          <a:lstStyle/>
          <a:p>
            <a:pPr marL="0" indent="0">
              <a:buNone/>
            </a:pPr>
            <a:r>
              <a:rPr lang="en-US" sz="880" b="1" dirty="0">
                <a:solidFill>
                  <a:srgbClr val="0B1F33"/>
                </a:solidFill>
              </a:rPr>
              <a:t>Error model</a:t>
            </a:r>
            <a:endParaRPr lang="en-US" sz="880" dirty="0"/>
          </a:p>
        </p:txBody>
      </p:sp>
      <p:sp>
        <p:nvSpPr>
          <p:cNvPr id="45" name="Text 43"/>
          <p:cNvSpPr/>
          <p:nvPr/>
        </p:nvSpPr>
        <p:spPr>
          <a:xfrm>
            <a:off x="7818120" y="4224528"/>
            <a:ext cx="3017520" cy="164592"/>
          </a:xfrm>
          <a:prstGeom prst="rect">
            <a:avLst/>
          </a:prstGeom>
          <a:noFill/>
          <a:ln/>
        </p:spPr>
        <p:txBody>
          <a:bodyPr wrap="square" lIns="0" tIns="0" rIns="0" bIns="0" rtlCol="0" anchor="ctr">
            <a:normAutofit/>
          </a:bodyPr>
          <a:lstStyle/>
          <a:p>
            <a:pPr marL="0" indent="0">
              <a:buNone/>
            </a:pPr>
            <a:r>
              <a:rPr lang="en-US" sz="880" dirty="0">
                <a:solidFill>
                  <a:srgbClr val="334155"/>
                </a:solidFill>
              </a:rPr>
              <a:t>not_found, unauthorized, stale_data, backend_timeout</a:t>
            </a:r>
            <a:endParaRPr lang="en-US" sz="880" dirty="0"/>
          </a:p>
        </p:txBody>
      </p:sp>
      <p:sp>
        <p:nvSpPr>
          <p:cNvPr id="46" name="Text 44"/>
          <p:cNvSpPr/>
          <p:nvPr/>
        </p:nvSpPr>
        <p:spPr>
          <a:xfrm>
            <a:off x="6812280" y="4700016"/>
            <a:ext cx="1463040" cy="146304"/>
          </a:xfrm>
          <a:prstGeom prst="rect">
            <a:avLst/>
          </a:prstGeom>
          <a:noFill/>
          <a:ln/>
        </p:spPr>
        <p:txBody>
          <a:bodyPr wrap="square" lIns="0" tIns="0" rIns="0" bIns="0" rtlCol="0" anchor="ctr"/>
          <a:lstStyle/>
          <a:p>
            <a:pPr marL="0" indent="0">
              <a:buNone/>
            </a:pPr>
            <a:r>
              <a:rPr lang="en-US" sz="950" b="1" dirty="0">
                <a:solidFill>
                  <a:srgbClr val="2563EB"/>
                </a:solidFill>
              </a:rPr>
              <a:t>Why this matters</a:t>
            </a:r>
            <a:endParaRPr lang="en-US" sz="950" dirty="0"/>
          </a:p>
        </p:txBody>
      </p:sp>
      <p:sp>
        <p:nvSpPr>
          <p:cNvPr id="47" name="Text 45"/>
          <p:cNvSpPr/>
          <p:nvPr/>
        </p:nvSpPr>
        <p:spPr>
          <a:xfrm>
            <a:off x="6812280" y="4910328"/>
            <a:ext cx="3794760" cy="182880"/>
          </a:xfrm>
          <a:prstGeom prst="rect">
            <a:avLst/>
          </a:prstGeom>
          <a:noFill/>
          <a:ln/>
        </p:spPr>
        <p:txBody>
          <a:bodyPr wrap="square" lIns="0" tIns="0" rIns="0" bIns="0" rtlCol="0" anchor="ctr">
            <a:normAutofit/>
          </a:bodyPr>
          <a:lstStyle/>
          <a:p>
            <a:pPr marL="0" indent="0">
              <a:buNone/>
            </a:pPr>
            <a:r>
              <a:rPr lang="en-US" sz="880" dirty="0">
                <a:solidFill>
                  <a:srgbClr val="334155"/>
                </a:solidFill>
              </a:rPr>
              <a:t>Tool definitions are part of model behavior. Good contracts improve tool selection, reduce hallucinated parameters and make audits possible.</a:t>
            </a:r>
            <a:endParaRPr lang="en-US" sz="880" dirty="0"/>
          </a:p>
        </p:txBody>
      </p:sp>
      <p:sp>
        <p:nvSpPr>
          <p:cNvPr id="48" name="Text 46"/>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49" name="Text 47"/>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Tool Granularity: Decide Before You Build</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The right granularity reduces LLM burden while preserving transparency and control.</a:t>
            </a:r>
            <a:endParaRPr lang="en-US" sz="1050" dirty="0"/>
          </a:p>
        </p:txBody>
      </p:sp>
      <p:sp>
        <p:nvSpPr>
          <p:cNvPr id="6" name="Shape 4"/>
          <p:cNvSpPr/>
          <p:nvPr/>
        </p:nvSpPr>
        <p:spPr>
          <a:xfrm>
            <a:off x="777240" y="1234440"/>
            <a:ext cx="1060704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7" name="Text 5"/>
          <p:cNvSpPr/>
          <p:nvPr/>
        </p:nvSpPr>
        <p:spPr>
          <a:xfrm>
            <a:off x="777240" y="1325880"/>
            <a:ext cx="10607040" cy="219456"/>
          </a:xfrm>
          <a:prstGeom prst="rect">
            <a:avLst/>
          </a:prstGeom>
          <a:noFill/>
          <a:ln/>
        </p:spPr>
        <p:txBody>
          <a:bodyPr wrap="square" lIns="0" tIns="0" rIns="0" bIns="0" rtlCol="0" anchor="ctr"/>
          <a:lstStyle/>
          <a:p>
            <a:pPr marL="0" indent="0">
              <a:buNone/>
            </a:pPr>
            <a:r>
              <a:rPr lang="en-US" sz="1000" b="1" dirty="0">
                <a:solidFill>
                  <a:srgbClr val="2563EB"/>
                </a:solidFill>
              </a:rPr>
              <a:t>DECISION PATH</a:t>
            </a:r>
            <a:endParaRPr lang="en-US" sz="1000" dirty="0"/>
          </a:p>
        </p:txBody>
      </p:sp>
      <p:sp>
        <p:nvSpPr>
          <p:cNvPr id="8" name="Shape 6"/>
          <p:cNvSpPr/>
          <p:nvPr/>
        </p:nvSpPr>
        <p:spPr>
          <a:xfrm>
            <a:off x="914400" y="1847088"/>
            <a:ext cx="2011680" cy="566928"/>
          </a:xfrm>
          <a:prstGeom prst="roundRect">
            <a:avLst>
              <a:gd name="adj" fmla="val 9677"/>
            </a:avLst>
          </a:prstGeom>
          <a:solidFill>
            <a:srgbClr val="EFF6FF"/>
          </a:solidFill>
          <a:ln w="12700">
            <a:solidFill>
              <a:srgbClr val="2563EB"/>
            </a:solidFill>
            <a:prstDash val="solid"/>
          </a:ln>
        </p:spPr>
        <p:txBody>
          <a:bodyPr/>
          <a:lstStyle/>
          <a:p>
            <a:endParaRPr lang="en-US"/>
          </a:p>
        </p:txBody>
      </p:sp>
      <p:sp>
        <p:nvSpPr>
          <p:cNvPr id="9" name="Text 7"/>
          <p:cNvSpPr/>
          <p:nvPr/>
        </p:nvSpPr>
        <p:spPr>
          <a:xfrm>
            <a:off x="1051560" y="2011680"/>
            <a:ext cx="1737360" cy="137160"/>
          </a:xfrm>
          <a:prstGeom prst="rect">
            <a:avLst/>
          </a:prstGeom>
          <a:noFill/>
          <a:ln/>
        </p:spPr>
        <p:txBody>
          <a:bodyPr wrap="square" lIns="381" tIns="381" rIns="381" bIns="381" rtlCol="0" anchor="ctr">
            <a:normAutofit/>
          </a:bodyPr>
          <a:lstStyle/>
          <a:p>
            <a:pPr marL="0" indent="0" algn="ctr">
              <a:buNone/>
            </a:pPr>
            <a:r>
              <a:rPr lang="en-US" sz="950" b="1" dirty="0">
                <a:solidFill>
                  <a:srgbClr val="2563EB"/>
                </a:solidFill>
              </a:rPr>
              <a:t>Is the task a simple lookup?</a:t>
            </a:r>
            <a:endParaRPr lang="en-US" sz="950" dirty="0"/>
          </a:p>
        </p:txBody>
      </p:sp>
      <p:sp>
        <p:nvSpPr>
          <p:cNvPr id="10" name="Shape 8"/>
          <p:cNvSpPr/>
          <p:nvPr/>
        </p:nvSpPr>
        <p:spPr>
          <a:xfrm>
            <a:off x="2971800" y="2130552"/>
            <a:ext cx="658368" cy="0"/>
          </a:xfrm>
          <a:prstGeom prst="line">
            <a:avLst/>
          </a:prstGeom>
          <a:noFill/>
          <a:ln w="12700">
            <a:solidFill>
              <a:srgbClr val="64748B"/>
            </a:solidFill>
            <a:prstDash val="solid"/>
            <a:headEnd type="none"/>
            <a:tailEnd type="triangle"/>
          </a:ln>
        </p:spPr>
        <p:txBody>
          <a:bodyPr/>
          <a:lstStyle/>
          <a:p>
            <a:endParaRPr lang="en-US"/>
          </a:p>
        </p:txBody>
      </p:sp>
      <p:sp>
        <p:nvSpPr>
          <p:cNvPr id="11" name="Shape 9"/>
          <p:cNvSpPr/>
          <p:nvPr/>
        </p:nvSpPr>
        <p:spPr>
          <a:xfrm>
            <a:off x="3703320" y="1847088"/>
            <a:ext cx="2148840" cy="566928"/>
          </a:xfrm>
          <a:prstGeom prst="roundRect">
            <a:avLst>
              <a:gd name="adj" fmla="val 9677"/>
            </a:avLst>
          </a:prstGeom>
          <a:solidFill>
            <a:srgbClr val="F0FDFA"/>
          </a:solidFill>
          <a:ln w="12700">
            <a:solidFill>
              <a:srgbClr val="0F766E"/>
            </a:solidFill>
            <a:prstDash val="solid"/>
          </a:ln>
        </p:spPr>
        <p:txBody>
          <a:bodyPr/>
          <a:lstStyle/>
          <a:p>
            <a:endParaRPr lang="en-US"/>
          </a:p>
        </p:txBody>
      </p:sp>
      <p:sp>
        <p:nvSpPr>
          <p:cNvPr id="12" name="Text 10"/>
          <p:cNvSpPr/>
          <p:nvPr/>
        </p:nvSpPr>
        <p:spPr>
          <a:xfrm>
            <a:off x="3840480" y="2011680"/>
            <a:ext cx="1874520" cy="137160"/>
          </a:xfrm>
          <a:prstGeom prst="rect">
            <a:avLst/>
          </a:prstGeom>
          <a:noFill/>
          <a:ln/>
        </p:spPr>
        <p:txBody>
          <a:bodyPr wrap="square" lIns="381" tIns="381" rIns="381" bIns="381" rtlCol="0" anchor="ctr">
            <a:normAutofit/>
          </a:bodyPr>
          <a:lstStyle/>
          <a:p>
            <a:pPr marL="0" indent="0" algn="ctr">
              <a:buNone/>
            </a:pPr>
            <a:r>
              <a:rPr lang="en-US" sz="950" b="1" dirty="0">
                <a:solidFill>
                  <a:srgbClr val="0F766E"/>
                </a:solidFill>
              </a:rPr>
              <a:t>Does it require 3+ backend calls?</a:t>
            </a:r>
            <a:endParaRPr lang="en-US" sz="950" dirty="0"/>
          </a:p>
        </p:txBody>
      </p:sp>
      <p:sp>
        <p:nvSpPr>
          <p:cNvPr id="13" name="Shape 11"/>
          <p:cNvSpPr/>
          <p:nvPr/>
        </p:nvSpPr>
        <p:spPr>
          <a:xfrm>
            <a:off x="5897880" y="2130552"/>
            <a:ext cx="749808" cy="0"/>
          </a:xfrm>
          <a:prstGeom prst="line">
            <a:avLst/>
          </a:prstGeom>
          <a:noFill/>
          <a:ln w="12700">
            <a:solidFill>
              <a:srgbClr val="64748B"/>
            </a:solidFill>
            <a:prstDash val="solid"/>
            <a:headEnd type="none"/>
            <a:tailEnd type="triangle"/>
          </a:ln>
        </p:spPr>
        <p:txBody>
          <a:bodyPr/>
          <a:lstStyle/>
          <a:p>
            <a:endParaRPr lang="en-US"/>
          </a:p>
        </p:txBody>
      </p:sp>
      <p:sp>
        <p:nvSpPr>
          <p:cNvPr id="14" name="Shape 12"/>
          <p:cNvSpPr/>
          <p:nvPr/>
        </p:nvSpPr>
        <p:spPr>
          <a:xfrm>
            <a:off x="6720840" y="1847088"/>
            <a:ext cx="2148840" cy="566928"/>
          </a:xfrm>
          <a:prstGeom prst="roundRect">
            <a:avLst>
              <a:gd name="adj" fmla="val 9677"/>
            </a:avLst>
          </a:prstGeom>
          <a:solidFill>
            <a:srgbClr val="FFFBEB"/>
          </a:solidFill>
          <a:ln w="12700">
            <a:solidFill>
              <a:srgbClr val="D97706"/>
            </a:solidFill>
            <a:prstDash val="solid"/>
          </a:ln>
        </p:spPr>
        <p:txBody>
          <a:bodyPr/>
          <a:lstStyle/>
          <a:p>
            <a:endParaRPr lang="en-US"/>
          </a:p>
        </p:txBody>
      </p:sp>
      <p:sp>
        <p:nvSpPr>
          <p:cNvPr id="15" name="Text 13"/>
          <p:cNvSpPr/>
          <p:nvPr/>
        </p:nvSpPr>
        <p:spPr>
          <a:xfrm>
            <a:off x="6858000" y="2011680"/>
            <a:ext cx="1874520" cy="137160"/>
          </a:xfrm>
          <a:prstGeom prst="rect">
            <a:avLst/>
          </a:prstGeom>
          <a:noFill/>
          <a:ln/>
        </p:spPr>
        <p:txBody>
          <a:bodyPr wrap="square" lIns="381" tIns="381" rIns="381" bIns="381" rtlCol="0" anchor="ctr">
            <a:normAutofit/>
          </a:bodyPr>
          <a:lstStyle/>
          <a:p>
            <a:pPr marL="0" indent="0" algn="ctr">
              <a:buNone/>
            </a:pPr>
            <a:r>
              <a:rPr lang="en-US" sz="950" b="1" dirty="0">
                <a:solidFill>
                  <a:srgbClr val="D97706"/>
                </a:solidFill>
              </a:rPr>
              <a:t>Does it change enterprise state?</a:t>
            </a:r>
            <a:endParaRPr lang="en-US" sz="950" dirty="0"/>
          </a:p>
        </p:txBody>
      </p:sp>
      <p:sp>
        <p:nvSpPr>
          <p:cNvPr id="16" name="Shape 14"/>
          <p:cNvSpPr/>
          <p:nvPr/>
        </p:nvSpPr>
        <p:spPr>
          <a:xfrm>
            <a:off x="8915400" y="2130552"/>
            <a:ext cx="475488" cy="0"/>
          </a:xfrm>
          <a:prstGeom prst="line">
            <a:avLst/>
          </a:prstGeom>
          <a:noFill/>
          <a:ln w="12700">
            <a:solidFill>
              <a:srgbClr val="64748B"/>
            </a:solidFill>
            <a:prstDash val="solid"/>
            <a:headEnd type="none"/>
            <a:tailEnd type="triangle"/>
          </a:ln>
        </p:spPr>
        <p:txBody>
          <a:bodyPr/>
          <a:lstStyle/>
          <a:p>
            <a:endParaRPr lang="en-US"/>
          </a:p>
        </p:txBody>
      </p:sp>
      <p:sp>
        <p:nvSpPr>
          <p:cNvPr id="17" name="Shape 15"/>
          <p:cNvSpPr/>
          <p:nvPr/>
        </p:nvSpPr>
        <p:spPr>
          <a:xfrm>
            <a:off x="9464040" y="1847088"/>
            <a:ext cx="2148840" cy="566928"/>
          </a:xfrm>
          <a:prstGeom prst="roundRect">
            <a:avLst>
              <a:gd name="adj" fmla="val 9677"/>
            </a:avLst>
          </a:prstGeom>
          <a:solidFill>
            <a:srgbClr val="FEF2F2"/>
          </a:solidFill>
          <a:ln w="12700">
            <a:solidFill>
              <a:srgbClr val="DC2626"/>
            </a:solidFill>
            <a:prstDash val="solid"/>
          </a:ln>
        </p:spPr>
        <p:txBody>
          <a:bodyPr/>
          <a:lstStyle/>
          <a:p>
            <a:endParaRPr lang="en-US"/>
          </a:p>
        </p:txBody>
      </p:sp>
      <p:sp>
        <p:nvSpPr>
          <p:cNvPr id="18" name="Text 16"/>
          <p:cNvSpPr/>
          <p:nvPr/>
        </p:nvSpPr>
        <p:spPr>
          <a:xfrm>
            <a:off x="9601200" y="2011680"/>
            <a:ext cx="1874520" cy="137160"/>
          </a:xfrm>
          <a:prstGeom prst="rect">
            <a:avLst/>
          </a:prstGeom>
          <a:noFill/>
          <a:ln/>
        </p:spPr>
        <p:txBody>
          <a:bodyPr wrap="square" lIns="381" tIns="381" rIns="381" bIns="381" rtlCol="0" anchor="ctr">
            <a:normAutofit/>
          </a:bodyPr>
          <a:lstStyle/>
          <a:p>
            <a:pPr marL="0" indent="0" algn="ctr">
              <a:buNone/>
            </a:pPr>
            <a:r>
              <a:rPr lang="en-US" sz="950" b="1" dirty="0">
                <a:solidFill>
                  <a:srgbClr val="DC2626"/>
                </a:solidFill>
              </a:rPr>
              <a:t>Does it trigger external impact?</a:t>
            </a:r>
            <a:endParaRPr lang="en-US" sz="950" dirty="0"/>
          </a:p>
        </p:txBody>
      </p:sp>
      <p:sp>
        <p:nvSpPr>
          <p:cNvPr id="19" name="Shape 17"/>
          <p:cNvSpPr/>
          <p:nvPr/>
        </p:nvSpPr>
        <p:spPr>
          <a:xfrm>
            <a:off x="1920240" y="2468880"/>
            <a:ext cx="182880" cy="722376"/>
          </a:xfrm>
          <a:prstGeom prst="line">
            <a:avLst/>
          </a:prstGeom>
          <a:noFill/>
          <a:ln w="11430">
            <a:solidFill>
              <a:srgbClr val="2563EB"/>
            </a:solidFill>
            <a:prstDash val="solid"/>
            <a:headEnd type="none"/>
            <a:tailEnd type="triangle"/>
          </a:ln>
        </p:spPr>
        <p:txBody>
          <a:bodyPr/>
          <a:lstStyle/>
          <a:p>
            <a:endParaRPr lang="en-US"/>
          </a:p>
        </p:txBody>
      </p:sp>
      <p:sp>
        <p:nvSpPr>
          <p:cNvPr id="20" name="Shape 18"/>
          <p:cNvSpPr/>
          <p:nvPr/>
        </p:nvSpPr>
        <p:spPr>
          <a:xfrm>
            <a:off x="960120" y="3246120"/>
            <a:ext cx="2331720" cy="822960"/>
          </a:xfrm>
          <a:prstGeom prst="roundRect">
            <a:avLst>
              <a:gd name="adj" fmla="val 6667"/>
            </a:avLst>
          </a:prstGeom>
          <a:solidFill>
            <a:srgbClr val="EFF6FF"/>
          </a:solidFill>
          <a:ln w="12700">
            <a:solidFill>
              <a:srgbClr val="2563EB"/>
            </a:solidFill>
            <a:prstDash val="solid"/>
          </a:ln>
        </p:spPr>
        <p:txBody>
          <a:bodyPr/>
          <a:lstStyle/>
          <a:p>
            <a:endParaRPr lang="en-US"/>
          </a:p>
        </p:txBody>
      </p:sp>
      <p:sp>
        <p:nvSpPr>
          <p:cNvPr id="21" name="Text 19"/>
          <p:cNvSpPr/>
          <p:nvPr/>
        </p:nvSpPr>
        <p:spPr>
          <a:xfrm>
            <a:off x="1069848" y="3429000"/>
            <a:ext cx="2103120" cy="128016"/>
          </a:xfrm>
          <a:prstGeom prst="rect">
            <a:avLst/>
          </a:prstGeom>
          <a:noFill/>
          <a:ln/>
        </p:spPr>
        <p:txBody>
          <a:bodyPr wrap="square" lIns="381" tIns="381" rIns="381" bIns="381" rtlCol="0" anchor="ctr">
            <a:normAutofit/>
          </a:bodyPr>
          <a:lstStyle/>
          <a:p>
            <a:pPr marL="0" indent="0" algn="ctr">
              <a:buNone/>
            </a:pPr>
            <a:r>
              <a:rPr lang="en-US" sz="1040" b="1" dirty="0">
                <a:solidFill>
                  <a:srgbClr val="2563EB"/>
                </a:solidFill>
              </a:rPr>
              <a:t>Use granular read tool</a:t>
            </a:r>
            <a:endParaRPr lang="en-US" sz="1040" dirty="0"/>
          </a:p>
        </p:txBody>
      </p:sp>
      <p:sp>
        <p:nvSpPr>
          <p:cNvPr id="22" name="Text 20"/>
          <p:cNvSpPr/>
          <p:nvPr/>
        </p:nvSpPr>
        <p:spPr>
          <a:xfrm>
            <a:off x="1124712" y="3730752"/>
            <a:ext cx="2011680" cy="11887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Example: reference_security_get</a:t>
            </a:r>
            <a:endParaRPr lang="en-US" sz="760" dirty="0"/>
          </a:p>
        </p:txBody>
      </p:sp>
      <p:sp>
        <p:nvSpPr>
          <p:cNvPr id="23" name="Shape 21"/>
          <p:cNvSpPr/>
          <p:nvPr/>
        </p:nvSpPr>
        <p:spPr>
          <a:xfrm>
            <a:off x="4777740" y="2468880"/>
            <a:ext cx="22860" cy="722376"/>
          </a:xfrm>
          <a:prstGeom prst="line">
            <a:avLst/>
          </a:prstGeom>
          <a:noFill/>
          <a:ln w="11430">
            <a:solidFill>
              <a:srgbClr val="0F766E"/>
            </a:solidFill>
            <a:prstDash val="solid"/>
            <a:headEnd type="none"/>
            <a:tailEnd type="triangle"/>
          </a:ln>
        </p:spPr>
        <p:txBody>
          <a:bodyPr/>
          <a:lstStyle/>
          <a:p>
            <a:endParaRPr lang="en-US"/>
          </a:p>
        </p:txBody>
      </p:sp>
      <p:sp>
        <p:nvSpPr>
          <p:cNvPr id="24" name="Shape 22"/>
          <p:cNvSpPr/>
          <p:nvPr/>
        </p:nvSpPr>
        <p:spPr>
          <a:xfrm>
            <a:off x="3657600" y="3246120"/>
            <a:ext cx="2331720" cy="822960"/>
          </a:xfrm>
          <a:prstGeom prst="roundRect">
            <a:avLst>
              <a:gd name="adj" fmla="val 6667"/>
            </a:avLst>
          </a:prstGeom>
          <a:solidFill>
            <a:srgbClr val="F0FDFA"/>
          </a:solidFill>
          <a:ln w="12700">
            <a:solidFill>
              <a:srgbClr val="0F766E"/>
            </a:solidFill>
            <a:prstDash val="solid"/>
          </a:ln>
        </p:spPr>
        <p:txBody>
          <a:bodyPr/>
          <a:lstStyle/>
          <a:p>
            <a:endParaRPr lang="en-US"/>
          </a:p>
        </p:txBody>
      </p:sp>
      <p:sp>
        <p:nvSpPr>
          <p:cNvPr id="25" name="Text 23"/>
          <p:cNvSpPr/>
          <p:nvPr/>
        </p:nvSpPr>
        <p:spPr>
          <a:xfrm>
            <a:off x="3767328" y="3429000"/>
            <a:ext cx="2103120" cy="128016"/>
          </a:xfrm>
          <a:prstGeom prst="rect">
            <a:avLst/>
          </a:prstGeom>
          <a:noFill/>
          <a:ln/>
        </p:spPr>
        <p:txBody>
          <a:bodyPr wrap="square" lIns="381" tIns="381" rIns="381" bIns="381" rtlCol="0" anchor="ctr">
            <a:normAutofit/>
          </a:bodyPr>
          <a:lstStyle/>
          <a:p>
            <a:pPr marL="0" indent="0" algn="ctr">
              <a:buNone/>
            </a:pPr>
            <a:r>
              <a:rPr lang="en-US" sz="1040" b="1" dirty="0">
                <a:solidFill>
                  <a:srgbClr val="0F766E"/>
                </a:solidFill>
              </a:rPr>
              <a:t>Use workflow context tool</a:t>
            </a:r>
            <a:endParaRPr lang="en-US" sz="1040" dirty="0"/>
          </a:p>
        </p:txBody>
      </p:sp>
      <p:sp>
        <p:nvSpPr>
          <p:cNvPr id="26" name="Text 24"/>
          <p:cNvSpPr/>
          <p:nvPr/>
        </p:nvSpPr>
        <p:spPr>
          <a:xfrm>
            <a:off x="3822192" y="3730752"/>
            <a:ext cx="2011680" cy="11887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Example: fails_investigation_get_context</a:t>
            </a:r>
            <a:endParaRPr lang="en-US" sz="760" dirty="0"/>
          </a:p>
        </p:txBody>
      </p:sp>
      <p:sp>
        <p:nvSpPr>
          <p:cNvPr id="27" name="Shape 25"/>
          <p:cNvSpPr/>
          <p:nvPr/>
        </p:nvSpPr>
        <p:spPr>
          <a:xfrm>
            <a:off x="7795260" y="2468880"/>
            <a:ext cx="0" cy="722376"/>
          </a:xfrm>
          <a:prstGeom prst="line">
            <a:avLst/>
          </a:prstGeom>
          <a:noFill/>
          <a:ln w="11430">
            <a:solidFill>
              <a:srgbClr val="D97706"/>
            </a:solidFill>
            <a:prstDash val="solid"/>
            <a:headEnd type="none"/>
            <a:tailEnd type="triangle"/>
          </a:ln>
        </p:spPr>
        <p:txBody>
          <a:bodyPr/>
          <a:lstStyle/>
          <a:p>
            <a:endParaRPr lang="en-US"/>
          </a:p>
        </p:txBody>
      </p:sp>
      <p:sp>
        <p:nvSpPr>
          <p:cNvPr id="28" name="Shape 26"/>
          <p:cNvSpPr/>
          <p:nvPr/>
        </p:nvSpPr>
        <p:spPr>
          <a:xfrm>
            <a:off x="6629400" y="3246120"/>
            <a:ext cx="2331720" cy="822960"/>
          </a:xfrm>
          <a:prstGeom prst="roundRect">
            <a:avLst>
              <a:gd name="adj" fmla="val 6667"/>
            </a:avLst>
          </a:prstGeom>
          <a:solidFill>
            <a:srgbClr val="FFFBEB"/>
          </a:solidFill>
          <a:ln w="12700">
            <a:solidFill>
              <a:srgbClr val="D97706"/>
            </a:solidFill>
            <a:prstDash val="solid"/>
          </a:ln>
        </p:spPr>
        <p:txBody>
          <a:bodyPr/>
          <a:lstStyle/>
          <a:p>
            <a:endParaRPr lang="en-US"/>
          </a:p>
        </p:txBody>
      </p:sp>
      <p:sp>
        <p:nvSpPr>
          <p:cNvPr id="29" name="Text 27"/>
          <p:cNvSpPr/>
          <p:nvPr/>
        </p:nvSpPr>
        <p:spPr>
          <a:xfrm>
            <a:off x="6739128" y="3429000"/>
            <a:ext cx="2103120" cy="128016"/>
          </a:xfrm>
          <a:prstGeom prst="rect">
            <a:avLst/>
          </a:prstGeom>
          <a:noFill/>
          <a:ln/>
        </p:spPr>
        <p:txBody>
          <a:bodyPr wrap="square" lIns="381" tIns="381" rIns="381" bIns="381" rtlCol="0" anchor="ctr">
            <a:normAutofit/>
          </a:bodyPr>
          <a:lstStyle/>
          <a:p>
            <a:pPr marL="0" indent="0" algn="ctr">
              <a:buNone/>
            </a:pPr>
            <a:r>
              <a:rPr lang="en-US" sz="1040" b="1" dirty="0">
                <a:solidFill>
                  <a:srgbClr val="D97706"/>
                </a:solidFill>
              </a:rPr>
              <a:t>Use action tool + controls</a:t>
            </a:r>
            <a:endParaRPr lang="en-US" sz="1040" dirty="0"/>
          </a:p>
        </p:txBody>
      </p:sp>
      <p:sp>
        <p:nvSpPr>
          <p:cNvPr id="30" name="Text 28"/>
          <p:cNvSpPr/>
          <p:nvPr/>
        </p:nvSpPr>
        <p:spPr>
          <a:xfrm>
            <a:off x="6793992" y="3730752"/>
            <a:ext cx="2011680" cy="11887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Example: case_status_update</a:t>
            </a:r>
            <a:endParaRPr lang="en-US" sz="760" dirty="0"/>
          </a:p>
        </p:txBody>
      </p:sp>
      <p:sp>
        <p:nvSpPr>
          <p:cNvPr id="31" name="Shape 29"/>
          <p:cNvSpPr/>
          <p:nvPr/>
        </p:nvSpPr>
        <p:spPr>
          <a:xfrm>
            <a:off x="10538460" y="2468880"/>
            <a:ext cx="0" cy="722376"/>
          </a:xfrm>
          <a:prstGeom prst="line">
            <a:avLst/>
          </a:prstGeom>
          <a:noFill/>
          <a:ln w="11430">
            <a:solidFill>
              <a:srgbClr val="DC2626"/>
            </a:solidFill>
            <a:prstDash val="solid"/>
            <a:headEnd type="none"/>
            <a:tailEnd type="triangle"/>
          </a:ln>
        </p:spPr>
        <p:txBody>
          <a:bodyPr/>
          <a:lstStyle/>
          <a:p>
            <a:endParaRPr lang="en-US"/>
          </a:p>
        </p:txBody>
      </p:sp>
      <p:sp>
        <p:nvSpPr>
          <p:cNvPr id="32" name="Shape 30"/>
          <p:cNvSpPr/>
          <p:nvPr/>
        </p:nvSpPr>
        <p:spPr>
          <a:xfrm>
            <a:off x="9235440" y="3246120"/>
            <a:ext cx="2331720" cy="822960"/>
          </a:xfrm>
          <a:prstGeom prst="roundRect">
            <a:avLst>
              <a:gd name="adj" fmla="val 6667"/>
            </a:avLst>
          </a:prstGeom>
          <a:solidFill>
            <a:srgbClr val="FEF2F2"/>
          </a:solidFill>
          <a:ln w="12700">
            <a:solidFill>
              <a:srgbClr val="DC2626"/>
            </a:solidFill>
            <a:prstDash val="solid"/>
          </a:ln>
        </p:spPr>
        <p:txBody>
          <a:bodyPr/>
          <a:lstStyle/>
          <a:p>
            <a:endParaRPr lang="en-US"/>
          </a:p>
        </p:txBody>
      </p:sp>
      <p:sp>
        <p:nvSpPr>
          <p:cNvPr id="33" name="Text 31"/>
          <p:cNvSpPr/>
          <p:nvPr/>
        </p:nvSpPr>
        <p:spPr>
          <a:xfrm>
            <a:off x="9345168" y="3429000"/>
            <a:ext cx="2103120" cy="128016"/>
          </a:xfrm>
          <a:prstGeom prst="rect">
            <a:avLst/>
          </a:prstGeom>
          <a:noFill/>
          <a:ln/>
        </p:spPr>
        <p:txBody>
          <a:bodyPr wrap="square" lIns="381" tIns="381" rIns="381" bIns="381" rtlCol="0" anchor="ctr">
            <a:normAutofit/>
          </a:bodyPr>
          <a:lstStyle/>
          <a:p>
            <a:pPr marL="0" indent="0" algn="ctr">
              <a:buNone/>
            </a:pPr>
            <a:r>
              <a:rPr lang="en-US" sz="1040" b="1" dirty="0">
                <a:solidFill>
                  <a:srgbClr val="DC2626"/>
                </a:solidFill>
              </a:rPr>
              <a:t>Require HIL / elevated policy</a:t>
            </a:r>
            <a:endParaRPr lang="en-US" sz="1040" dirty="0"/>
          </a:p>
        </p:txBody>
      </p:sp>
      <p:sp>
        <p:nvSpPr>
          <p:cNvPr id="34" name="Text 32"/>
          <p:cNvSpPr/>
          <p:nvPr/>
        </p:nvSpPr>
        <p:spPr>
          <a:xfrm>
            <a:off x="9400032" y="3730752"/>
            <a:ext cx="2011680" cy="11887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Example: send_instruction</a:t>
            </a:r>
            <a:endParaRPr lang="en-US" sz="760" dirty="0"/>
          </a:p>
        </p:txBody>
      </p:sp>
      <p:sp>
        <p:nvSpPr>
          <p:cNvPr id="35" name="Text 33"/>
          <p:cNvSpPr/>
          <p:nvPr/>
        </p:nvSpPr>
        <p:spPr>
          <a:xfrm>
            <a:off x="868680" y="5166360"/>
            <a:ext cx="1097280" cy="201168"/>
          </a:xfrm>
          <a:prstGeom prst="rect">
            <a:avLst/>
          </a:prstGeom>
          <a:noFill/>
          <a:ln/>
        </p:spPr>
        <p:txBody>
          <a:bodyPr wrap="square" lIns="0" tIns="0" rIns="0" bIns="0" rtlCol="0" anchor="ctr"/>
          <a:lstStyle/>
          <a:p>
            <a:pPr marL="0" indent="0">
              <a:buNone/>
            </a:pPr>
            <a:r>
              <a:rPr lang="en-US" sz="1100" b="1" dirty="0">
                <a:solidFill>
                  <a:srgbClr val="2563EB"/>
                </a:solidFill>
              </a:rPr>
              <a:t>Guardrail</a:t>
            </a:r>
            <a:endParaRPr lang="en-US" sz="1100" dirty="0"/>
          </a:p>
        </p:txBody>
      </p:sp>
      <p:sp>
        <p:nvSpPr>
          <p:cNvPr id="36" name="Text 34"/>
          <p:cNvSpPr/>
          <p:nvPr/>
        </p:nvSpPr>
        <p:spPr>
          <a:xfrm>
            <a:off x="868680" y="5468112"/>
            <a:ext cx="10058400" cy="256032"/>
          </a:xfrm>
          <a:prstGeom prst="rect">
            <a:avLst/>
          </a:prstGeom>
          <a:noFill/>
          <a:ln/>
        </p:spPr>
        <p:txBody>
          <a:bodyPr wrap="square" lIns="0" tIns="0" rIns="0" bIns="0" rtlCol="0" anchor="ctr">
            <a:normAutofit/>
          </a:bodyPr>
          <a:lstStyle/>
          <a:p>
            <a:pPr marL="0" indent="0">
              <a:buNone/>
            </a:pPr>
            <a:r>
              <a:rPr lang="en-US" sz="1420" b="1" dirty="0">
                <a:solidFill>
                  <a:srgbClr val="0B1F33"/>
                </a:solidFill>
              </a:rPr>
              <a:t>Do not force the LLM to perform deterministic orchestration that can be safely handled inside a governed MCP capability.</a:t>
            </a:r>
            <a:endParaRPr lang="en-US" sz="1420" dirty="0"/>
          </a:p>
        </p:txBody>
      </p:sp>
      <p:sp>
        <p:nvSpPr>
          <p:cNvPr id="37" name="Text 35"/>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38" name="Text 36"/>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MCP Server Hosting Model</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Use local hosting for development; use remote managed MCP servers and a gateway for production.</a:t>
            </a:r>
            <a:endParaRPr lang="en-US" sz="1050" dirty="0"/>
          </a:p>
        </p:txBody>
      </p:sp>
      <p:sp>
        <p:nvSpPr>
          <p:cNvPr id="6" name="Shape 4"/>
          <p:cNvSpPr/>
          <p:nvPr/>
        </p:nvSpPr>
        <p:spPr>
          <a:xfrm>
            <a:off x="777240" y="1600200"/>
            <a:ext cx="3246120" cy="3611880"/>
          </a:xfrm>
          <a:prstGeom prst="roundRect">
            <a:avLst>
              <a:gd name="adj" fmla="val 1690"/>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777240" y="1600200"/>
            <a:ext cx="3246120" cy="457200"/>
          </a:xfrm>
          <a:prstGeom prst="rect">
            <a:avLst/>
          </a:prstGeom>
          <a:solidFill>
            <a:srgbClr val="334155"/>
          </a:solidFill>
          <a:ln w="12700">
            <a:solidFill>
              <a:srgbClr val="334155">
                <a:alpha val="0"/>
              </a:srgbClr>
            </a:solidFill>
            <a:prstDash val="solid"/>
          </a:ln>
        </p:spPr>
        <p:txBody>
          <a:bodyPr/>
          <a:lstStyle/>
          <a:p>
            <a:endParaRPr lang="en-US"/>
          </a:p>
        </p:txBody>
      </p:sp>
      <p:sp>
        <p:nvSpPr>
          <p:cNvPr id="8" name="Text 6"/>
          <p:cNvSpPr/>
          <p:nvPr/>
        </p:nvSpPr>
        <p:spPr>
          <a:xfrm>
            <a:off x="914400" y="1755648"/>
            <a:ext cx="2926080" cy="109728"/>
          </a:xfrm>
          <a:prstGeom prst="rect">
            <a:avLst/>
          </a:prstGeom>
          <a:noFill/>
          <a:ln/>
        </p:spPr>
        <p:txBody>
          <a:bodyPr wrap="square" lIns="381" tIns="381" rIns="381" bIns="381" rtlCol="0" anchor="ctr">
            <a:normAutofit/>
          </a:bodyPr>
          <a:lstStyle/>
          <a:p>
            <a:pPr marL="0" indent="0" algn="ctr">
              <a:buNone/>
            </a:pPr>
            <a:r>
              <a:rPr lang="en-US" sz="980" b="1" dirty="0">
                <a:solidFill>
                  <a:srgbClr val="FFFFFF"/>
                </a:solidFill>
              </a:rPr>
              <a:t>LOCAL MCP</a:t>
            </a:r>
            <a:endParaRPr lang="en-US" sz="980" dirty="0"/>
          </a:p>
        </p:txBody>
      </p:sp>
      <p:sp>
        <p:nvSpPr>
          <p:cNvPr id="9" name="Text 7"/>
          <p:cNvSpPr/>
          <p:nvPr/>
        </p:nvSpPr>
        <p:spPr>
          <a:xfrm>
            <a:off x="1033272" y="2350008"/>
            <a:ext cx="2697480" cy="228600"/>
          </a:xfrm>
          <a:prstGeom prst="rect">
            <a:avLst/>
          </a:prstGeom>
          <a:noFill/>
          <a:ln/>
        </p:spPr>
        <p:txBody>
          <a:bodyPr wrap="square" lIns="0" tIns="0" rIns="0" bIns="0" rtlCol="0" anchor="ctr">
            <a:normAutofit/>
          </a:bodyPr>
          <a:lstStyle/>
          <a:p>
            <a:pPr marL="0" indent="0" algn="ctr">
              <a:buNone/>
            </a:pPr>
            <a:r>
              <a:rPr lang="en-US" sz="1250" b="1" dirty="0">
                <a:solidFill>
                  <a:srgbClr val="0B1F33"/>
                </a:solidFill>
              </a:rPr>
              <a:t>Developer laptop / sandbox</a:t>
            </a:r>
            <a:endParaRPr lang="en-US" sz="1250" dirty="0"/>
          </a:p>
        </p:txBody>
      </p:sp>
      <p:sp>
        <p:nvSpPr>
          <p:cNvPr id="10" name="Text 8"/>
          <p:cNvSpPr/>
          <p:nvPr/>
        </p:nvSpPr>
        <p:spPr>
          <a:xfrm>
            <a:off x="1161288" y="2935224"/>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11" name="Text 9"/>
          <p:cNvSpPr/>
          <p:nvPr/>
        </p:nvSpPr>
        <p:spPr>
          <a:xfrm>
            <a:off x="1362456" y="2926080"/>
            <a:ext cx="2468880" cy="274320"/>
          </a:xfrm>
          <a:prstGeom prst="rect">
            <a:avLst/>
          </a:prstGeom>
          <a:noFill/>
          <a:ln/>
        </p:spPr>
        <p:txBody>
          <a:bodyPr wrap="square" lIns="0" tIns="0" rIns="0" bIns="0" rtlCol="0" anchor="ctr">
            <a:normAutofit/>
          </a:bodyPr>
          <a:lstStyle/>
          <a:p>
            <a:pPr marL="0" indent="0">
              <a:buNone/>
            </a:pPr>
            <a:r>
              <a:rPr lang="en-US" sz="1040" dirty="0">
                <a:solidFill>
                  <a:srgbClr val="334155"/>
                </a:solidFill>
              </a:rPr>
              <a:t>Fast prototyping</a:t>
            </a:r>
            <a:endParaRPr lang="en-US" sz="1040" dirty="0"/>
          </a:p>
        </p:txBody>
      </p:sp>
      <p:sp>
        <p:nvSpPr>
          <p:cNvPr id="12" name="Text 10"/>
          <p:cNvSpPr/>
          <p:nvPr/>
        </p:nvSpPr>
        <p:spPr>
          <a:xfrm>
            <a:off x="1161288" y="3328416"/>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13" name="Text 11"/>
          <p:cNvSpPr/>
          <p:nvPr/>
        </p:nvSpPr>
        <p:spPr>
          <a:xfrm>
            <a:off x="1362456" y="3319272"/>
            <a:ext cx="2468880" cy="274320"/>
          </a:xfrm>
          <a:prstGeom prst="rect">
            <a:avLst/>
          </a:prstGeom>
          <a:noFill/>
          <a:ln/>
        </p:spPr>
        <p:txBody>
          <a:bodyPr wrap="square" lIns="0" tIns="0" rIns="0" bIns="0" rtlCol="0" anchor="ctr">
            <a:normAutofit/>
          </a:bodyPr>
          <a:lstStyle/>
          <a:p>
            <a:pPr marL="0" indent="0">
              <a:buNone/>
            </a:pPr>
            <a:r>
              <a:rPr lang="en-US" sz="1040" dirty="0">
                <a:solidFill>
                  <a:srgbClr val="334155"/>
                </a:solidFill>
              </a:rPr>
              <a:t>No production data</a:t>
            </a:r>
            <a:endParaRPr lang="en-US" sz="1040" dirty="0"/>
          </a:p>
        </p:txBody>
      </p:sp>
      <p:sp>
        <p:nvSpPr>
          <p:cNvPr id="14" name="Text 12"/>
          <p:cNvSpPr/>
          <p:nvPr/>
        </p:nvSpPr>
        <p:spPr>
          <a:xfrm>
            <a:off x="1161288" y="3721608"/>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15" name="Text 13"/>
          <p:cNvSpPr/>
          <p:nvPr/>
        </p:nvSpPr>
        <p:spPr>
          <a:xfrm>
            <a:off x="1362456" y="3712464"/>
            <a:ext cx="2468880" cy="274320"/>
          </a:xfrm>
          <a:prstGeom prst="rect">
            <a:avLst/>
          </a:prstGeom>
          <a:noFill/>
          <a:ln/>
        </p:spPr>
        <p:txBody>
          <a:bodyPr wrap="square" lIns="0" tIns="0" rIns="0" bIns="0" rtlCol="0" anchor="ctr">
            <a:normAutofit/>
          </a:bodyPr>
          <a:lstStyle/>
          <a:p>
            <a:pPr marL="0" indent="0">
              <a:buNone/>
            </a:pPr>
            <a:r>
              <a:rPr lang="en-US" sz="1040" dirty="0">
                <a:solidFill>
                  <a:srgbClr val="334155"/>
                </a:solidFill>
              </a:rPr>
              <a:t>Not approved for enterprise runtime</a:t>
            </a:r>
            <a:endParaRPr lang="en-US" sz="1040" dirty="0"/>
          </a:p>
        </p:txBody>
      </p:sp>
      <p:sp>
        <p:nvSpPr>
          <p:cNvPr id="16" name="Shape 14"/>
          <p:cNvSpPr/>
          <p:nvPr/>
        </p:nvSpPr>
        <p:spPr>
          <a:xfrm>
            <a:off x="4114800" y="3383280"/>
            <a:ext cx="411480" cy="0"/>
          </a:xfrm>
          <a:prstGeom prst="line">
            <a:avLst/>
          </a:prstGeom>
          <a:noFill/>
          <a:ln w="13970">
            <a:solidFill>
              <a:srgbClr val="64748B"/>
            </a:solidFill>
            <a:prstDash val="solid"/>
            <a:headEnd type="none"/>
            <a:tailEnd type="triangle"/>
          </a:ln>
        </p:spPr>
        <p:txBody>
          <a:bodyPr/>
          <a:lstStyle/>
          <a:p>
            <a:endParaRPr lang="en-US"/>
          </a:p>
        </p:txBody>
      </p:sp>
      <p:sp>
        <p:nvSpPr>
          <p:cNvPr id="17" name="Shape 15"/>
          <p:cNvSpPr/>
          <p:nvPr/>
        </p:nvSpPr>
        <p:spPr>
          <a:xfrm>
            <a:off x="4572000" y="1600200"/>
            <a:ext cx="3246120" cy="3611880"/>
          </a:xfrm>
          <a:prstGeom prst="roundRect">
            <a:avLst>
              <a:gd name="adj" fmla="val 1690"/>
            </a:avLst>
          </a:prstGeom>
          <a:solidFill>
            <a:srgbClr val="FFFFFF"/>
          </a:solidFill>
          <a:ln w="12700">
            <a:solidFill>
              <a:srgbClr val="CBD5E1"/>
            </a:solidFill>
            <a:prstDash val="solid"/>
          </a:ln>
        </p:spPr>
        <p:txBody>
          <a:bodyPr/>
          <a:lstStyle/>
          <a:p>
            <a:endParaRPr lang="en-US"/>
          </a:p>
        </p:txBody>
      </p:sp>
      <p:sp>
        <p:nvSpPr>
          <p:cNvPr id="18" name="Shape 16"/>
          <p:cNvSpPr/>
          <p:nvPr/>
        </p:nvSpPr>
        <p:spPr>
          <a:xfrm>
            <a:off x="4572000" y="1600200"/>
            <a:ext cx="3246120" cy="457200"/>
          </a:xfrm>
          <a:prstGeom prst="rect">
            <a:avLst/>
          </a:prstGeom>
          <a:solidFill>
            <a:srgbClr val="0F766E"/>
          </a:solidFill>
          <a:ln w="12700">
            <a:solidFill>
              <a:srgbClr val="0F766E">
                <a:alpha val="0"/>
              </a:srgbClr>
            </a:solidFill>
            <a:prstDash val="solid"/>
          </a:ln>
        </p:spPr>
        <p:txBody>
          <a:bodyPr/>
          <a:lstStyle/>
          <a:p>
            <a:endParaRPr lang="en-US"/>
          </a:p>
        </p:txBody>
      </p:sp>
      <p:sp>
        <p:nvSpPr>
          <p:cNvPr id="19" name="Text 17"/>
          <p:cNvSpPr/>
          <p:nvPr/>
        </p:nvSpPr>
        <p:spPr>
          <a:xfrm>
            <a:off x="4709160" y="1755648"/>
            <a:ext cx="2926080" cy="109728"/>
          </a:xfrm>
          <a:prstGeom prst="rect">
            <a:avLst/>
          </a:prstGeom>
          <a:noFill/>
          <a:ln/>
        </p:spPr>
        <p:txBody>
          <a:bodyPr wrap="square" lIns="381" tIns="381" rIns="381" bIns="381" rtlCol="0" anchor="ctr">
            <a:normAutofit/>
          </a:bodyPr>
          <a:lstStyle/>
          <a:p>
            <a:pPr marL="0" indent="0" algn="ctr">
              <a:buNone/>
            </a:pPr>
            <a:r>
              <a:rPr lang="en-US" sz="980" b="1" dirty="0">
                <a:solidFill>
                  <a:srgbClr val="FFFFFF"/>
                </a:solidFill>
              </a:rPr>
              <a:t>DOMAIN MCP SERVER</a:t>
            </a:r>
            <a:endParaRPr lang="en-US" sz="980" dirty="0"/>
          </a:p>
        </p:txBody>
      </p:sp>
      <p:sp>
        <p:nvSpPr>
          <p:cNvPr id="20" name="Text 18"/>
          <p:cNvSpPr/>
          <p:nvPr/>
        </p:nvSpPr>
        <p:spPr>
          <a:xfrm>
            <a:off x="4828032" y="2350008"/>
            <a:ext cx="2697480" cy="228600"/>
          </a:xfrm>
          <a:prstGeom prst="rect">
            <a:avLst/>
          </a:prstGeom>
          <a:noFill/>
          <a:ln/>
        </p:spPr>
        <p:txBody>
          <a:bodyPr wrap="square" lIns="0" tIns="0" rIns="0" bIns="0" rtlCol="0" anchor="ctr">
            <a:normAutofit/>
          </a:bodyPr>
          <a:lstStyle/>
          <a:p>
            <a:pPr marL="0" indent="0" algn="ctr">
              <a:buNone/>
            </a:pPr>
            <a:r>
              <a:rPr lang="en-US" sz="1250" b="1" dirty="0">
                <a:solidFill>
                  <a:srgbClr val="0B1F33"/>
                </a:solidFill>
              </a:rPr>
              <a:t>Owned by application/domain team</a:t>
            </a:r>
            <a:endParaRPr lang="en-US" sz="1250" dirty="0"/>
          </a:p>
        </p:txBody>
      </p:sp>
      <p:sp>
        <p:nvSpPr>
          <p:cNvPr id="21" name="Text 19"/>
          <p:cNvSpPr/>
          <p:nvPr/>
        </p:nvSpPr>
        <p:spPr>
          <a:xfrm>
            <a:off x="4956048" y="2935224"/>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22" name="Text 20"/>
          <p:cNvSpPr/>
          <p:nvPr/>
        </p:nvSpPr>
        <p:spPr>
          <a:xfrm>
            <a:off x="5157216" y="2926080"/>
            <a:ext cx="2468880" cy="274320"/>
          </a:xfrm>
          <a:prstGeom prst="rect">
            <a:avLst/>
          </a:prstGeom>
          <a:noFill/>
          <a:ln/>
        </p:spPr>
        <p:txBody>
          <a:bodyPr wrap="square" lIns="0" tIns="0" rIns="0" bIns="0" rtlCol="0" anchor="ctr">
            <a:normAutofit/>
          </a:bodyPr>
          <a:lstStyle/>
          <a:p>
            <a:pPr marL="0" indent="0">
              <a:buNone/>
            </a:pPr>
            <a:r>
              <a:rPr lang="en-US" sz="1040" dirty="0">
                <a:solidFill>
                  <a:srgbClr val="0F766E"/>
                </a:solidFill>
              </a:rPr>
              <a:t>Trade MCP</a:t>
            </a:r>
            <a:endParaRPr lang="en-US" sz="1040" dirty="0"/>
          </a:p>
        </p:txBody>
      </p:sp>
      <p:sp>
        <p:nvSpPr>
          <p:cNvPr id="23" name="Text 21"/>
          <p:cNvSpPr/>
          <p:nvPr/>
        </p:nvSpPr>
        <p:spPr>
          <a:xfrm>
            <a:off x="4956048" y="3328416"/>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24" name="Text 22"/>
          <p:cNvSpPr/>
          <p:nvPr/>
        </p:nvSpPr>
        <p:spPr>
          <a:xfrm>
            <a:off x="5157216" y="3319272"/>
            <a:ext cx="2468880" cy="274320"/>
          </a:xfrm>
          <a:prstGeom prst="rect">
            <a:avLst/>
          </a:prstGeom>
          <a:noFill/>
          <a:ln/>
        </p:spPr>
        <p:txBody>
          <a:bodyPr wrap="square" lIns="0" tIns="0" rIns="0" bIns="0" rtlCol="0" anchor="ctr">
            <a:normAutofit/>
          </a:bodyPr>
          <a:lstStyle/>
          <a:p>
            <a:pPr marL="0" indent="0">
              <a:buNone/>
            </a:pPr>
            <a:r>
              <a:rPr lang="en-US" sz="1040" dirty="0">
                <a:solidFill>
                  <a:srgbClr val="0F766E"/>
                </a:solidFill>
              </a:rPr>
              <a:t>Reference MCP</a:t>
            </a:r>
            <a:endParaRPr lang="en-US" sz="1040" dirty="0"/>
          </a:p>
        </p:txBody>
      </p:sp>
      <p:sp>
        <p:nvSpPr>
          <p:cNvPr id="25" name="Text 23"/>
          <p:cNvSpPr/>
          <p:nvPr/>
        </p:nvSpPr>
        <p:spPr>
          <a:xfrm>
            <a:off x="4956048" y="3721608"/>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26" name="Text 24"/>
          <p:cNvSpPr/>
          <p:nvPr/>
        </p:nvSpPr>
        <p:spPr>
          <a:xfrm>
            <a:off x="5157216" y="3712464"/>
            <a:ext cx="2468880" cy="274320"/>
          </a:xfrm>
          <a:prstGeom prst="rect">
            <a:avLst/>
          </a:prstGeom>
          <a:noFill/>
          <a:ln/>
        </p:spPr>
        <p:txBody>
          <a:bodyPr wrap="square" lIns="0" tIns="0" rIns="0" bIns="0" rtlCol="0" anchor="ctr">
            <a:normAutofit/>
          </a:bodyPr>
          <a:lstStyle/>
          <a:p>
            <a:pPr marL="0" indent="0">
              <a:buNone/>
            </a:pPr>
            <a:r>
              <a:rPr lang="en-US" sz="1040" dirty="0">
                <a:solidFill>
                  <a:srgbClr val="0F766E"/>
                </a:solidFill>
              </a:rPr>
              <a:t>QMA MCP</a:t>
            </a:r>
            <a:endParaRPr lang="en-US" sz="1040" dirty="0"/>
          </a:p>
        </p:txBody>
      </p:sp>
      <p:sp>
        <p:nvSpPr>
          <p:cNvPr id="27" name="Shape 25"/>
          <p:cNvSpPr/>
          <p:nvPr/>
        </p:nvSpPr>
        <p:spPr>
          <a:xfrm>
            <a:off x="7909560" y="3383280"/>
            <a:ext cx="411480" cy="0"/>
          </a:xfrm>
          <a:prstGeom prst="line">
            <a:avLst/>
          </a:prstGeom>
          <a:noFill/>
          <a:ln w="13970">
            <a:solidFill>
              <a:srgbClr val="64748B"/>
            </a:solidFill>
            <a:prstDash val="solid"/>
            <a:headEnd type="none"/>
            <a:tailEnd type="triangle"/>
          </a:ln>
        </p:spPr>
        <p:txBody>
          <a:bodyPr/>
          <a:lstStyle/>
          <a:p>
            <a:endParaRPr lang="en-US"/>
          </a:p>
        </p:txBody>
      </p:sp>
      <p:sp>
        <p:nvSpPr>
          <p:cNvPr id="28" name="Shape 26"/>
          <p:cNvSpPr/>
          <p:nvPr/>
        </p:nvSpPr>
        <p:spPr>
          <a:xfrm>
            <a:off x="8366760" y="1600200"/>
            <a:ext cx="3246120" cy="3611880"/>
          </a:xfrm>
          <a:prstGeom prst="roundRect">
            <a:avLst>
              <a:gd name="adj" fmla="val 1690"/>
            </a:avLst>
          </a:prstGeom>
          <a:solidFill>
            <a:srgbClr val="FFFFFF"/>
          </a:solidFill>
          <a:ln w="12700">
            <a:solidFill>
              <a:srgbClr val="CBD5E1"/>
            </a:solidFill>
            <a:prstDash val="solid"/>
          </a:ln>
        </p:spPr>
        <p:txBody>
          <a:bodyPr/>
          <a:lstStyle/>
          <a:p>
            <a:endParaRPr lang="en-US"/>
          </a:p>
        </p:txBody>
      </p:sp>
      <p:sp>
        <p:nvSpPr>
          <p:cNvPr id="29" name="Shape 27"/>
          <p:cNvSpPr/>
          <p:nvPr/>
        </p:nvSpPr>
        <p:spPr>
          <a:xfrm>
            <a:off x="8366760" y="1600200"/>
            <a:ext cx="3246120" cy="457200"/>
          </a:xfrm>
          <a:prstGeom prst="rect">
            <a:avLst/>
          </a:prstGeom>
          <a:solidFill>
            <a:srgbClr val="6D28D9"/>
          </a:solidFill>
          <a:ln w="12700">
            <a:solidFill>
              <a:srgbClr val="6D28D9">
                <a:alpha val="0"/>
              </a:srgbClr>
            </a:solidFill>
            <a:prstDash val="solid"/>
          </a:ln>
        </p:spPr>
        <p:txBody>
          <a:bodyPr/>
          <a:lstStyle/>
          <a:p>
            <a:endParaRPr lang="en-US"/>
          </a:p>
        </p:txBody>
      </p:sp>
      <p:sp>
        <p:nvSpPr>
          <p:cNvPr id="30" name="Text 28"/>
          <p:cNvSpPr/>
          <p:nvPr/>
        </p:nvSpPr>
        <p:spPr>
          <a:xfrm>
            <a:off x="8503920" y="1755648"/>
            <a:ext cx="2926080" cy="109728"/>
          </a:xfrm>
          <a:prstGeom prst="rect">
            <a:avLst/>
          </a:prstGeom>
          <a:noFill/>
          <a:ln/>
        </p:spPr>
        <p:txBody>
          <a:bodyPr wrap="square" lIns="381" tIns="381" rIns="381" bIns="381" rtlCol="0" anchor="ctr">
            <a:normAutofit/>
          </a:bodyPr>
          <a:lstStyle/>
          <a:p>
            <a:pPr marL="0" indent="0" algn="ctr">
              <a:buNone/>
            </a:pPr>
            <a:r>
              <a:rPr lang="en-US" sz="980" b="1" dirty="0">
                <a:solidFill>
                  <a:srgbClr val="FFFFFF"/>
                </a:solidFill>
              </a:rPr>
              <a:t>ENTERPRISE MCP GATEWAY</a:t>
            </a:r>
            <a:endParaRPr lang="en-US" sz="980" dirty="0"/>
          </a:p>
        </p:txBody>
      </p:sp>
      <p:sp>
        <p:nvSpPr>
          <p:cNvPr id="31" name="Text 29"/>
          <p:cNvSpPr/>
          <p:nvPr/>
        </p:nvSpPr>
        <p:spPr>
          <a:xfrm>
            <a:off x="8622792" y="2350008"/>
            <a:ext cx="2697480" cy="228600"/>
          </a:xfrm>
          <a:prstGeom prst="rect">
            <a:avLst/>
          </a:prstGeom>
          <a:noFill/>
          <a:ln/>
        </p:spPr>
        <p:txBody>
          <a:bodyPr wrap="square" lIns="0" tIns="0" rIns="0" bIns="0" rtlCol="0" anchor="ctr">
            <a:normAutofit/>
          </a:bodyPr>
          <a:lstStyle/>
          <a:p>
            <a:pPr marL="0" indent="0" algn="ctr">
              <a:buNone/>
            </a:pPr>
            <a:r>
              <a:rPr lang="en-US" sz="1250" b="1" dirty="0">
                <a:solidFill>
                  <a:srgbClr val="0B1F33"/>
                </a:solidFill>
              </a:rPr>
              <a:t>Shared access point for agents</a:t>
            </a:r>
            <a:endParaRPr lang="en-US" sz="1250" dirty="0"/>
          </a:p>
        </p:txBody>
      </p:sp>
      <p:sp>
        <p:nvSpPr>
          <p:cNvPr id="32" name="Text 30"/>
          <p:cNvSpPr/>
          <p:nvPr/>
        </p:nvSpPr>
        <p:spPr>
          <a:xfrm>
            <a:off x="8750808" y="2935224"/>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33" name="Text 31"/>
          <p:cNvSpPr/>
          <p:nvPr/>
        </p:nvSpPr>
        <p:spPr>
          <a:xfrm>
            <a:off x="8951976" y="2926080"/>
            <a:ext cx="2468880" cy="274320"/>
          </a:xfrm>
          <a:prstGeom prst="rect">
            <a:avLst/>
          </a:prstGeom>
          <a:noFill/>
          <a:ln/>
        </p:spPr>
        <p:txBody>
          <a:bodyPr wrap="square" lIns="0" tIns="0" rIns="0" bIns="0" rtlCol="0" anchor="ctr">
            <a:normAutofit/>
          </a:bodyPr>
          <a:lstStyle/>
          <a:p>
            <a:pPr marL="0" indent="0">
              <a:buNone/>
            </a:pPr>
            <a:r>
              <a:rPr lang="en-US" sz="1040" dirty="0">
                <a:solidFill>
                  <a:srgbClr val="6D28D9"/>
                </a:solidFill>
              </a:rPr>
              <a:t>AuthN/AuthZ</a:t>
            </a:r>
            <a:endParaRPr lang="en-US" sz="1040" dirty="0"/>
          </a:p>
        </p:txBody>
      </p:sp>
      <p:sp>
        <p:nvSpPr>
          <p:cNvPr id="34" name="Text 32"/>
          <p:cNvSpPr/>
          <p:nvPr/>
        </p:nvSpPr>
        <p:spPr>
          <a:xfrm>
            <a:off x="8750808" y="3328416"/>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35" name="Text 33"/>
          <p:cNvSpPr/>
          <p:nvPr/>
        </p:nvSpPr>
        <p:spPr>
          <a:xfrm>
            <a:off x="8951976" y="3319272"/>
            <a:ext cx="2468880" cy="274320"/>
          </a:xfrm>
          <a:prstGeom prst="rect">
            <a:avLst/>
          </a:prstGeom>
          <a:noFill/>
          <a:ln/>
        </p:spPr>
        <p:txBody>
          <a:bodyPr wrap="square" lIns="0" tIns="0" rIns="0" bIns="0" rtlCol="0" anchor="ctr">
            <a:normAutofit/>
          </a:bodyPr>
          <a:lstStyle/>
          <a:p>
            <a:pPr marL="0" indent="0">
              <a:buNone/>
            </a:pPr>
            <a:r>
              <a:rPr lang="en-US" sz="1040" dirty="0">
                <a:solidFill>
                  <a:srgbClr val="6D28D9"/>
                </a:solidFill>
              </a:rPr>
              <a:t>Discovery/routing</a:t>
            </a:r>
            <a:endParaRPr lang="en-US" sz="1040" dirty="0"/>
          </a:p>
        </p:txBody>
      </p:sp>
      <p:sp>
        <p:nvSpPr>
          <p:cNvPr id="36" name="Text 34"/>
          <p:cNvSpPr/>
          <p:nvPr/>
        </p:nvSpPr>
        <p:spPr>
          <a:xfrm>
            <a:off x="8750808" y="3721608"/>
            <a:ext cx="146304" cy="164592"/>
          </a:xfrm>
          <a:prstGeom prst="rect">
            <a:avLst/>
          </a:prstGeom>
          <a:noFill/>
          <a:ln/>
        </p:spPr>
        <p:txBody>
          <a:bodyPr wrap="square" lIns="0" tIns="0" rIns="0" bIns="0" rtlCol="0" anchor="ctr"/>
          <a:lstStyle/>
          <a:p>
            <a:pPr marL="0" indent="0">
              <a:buNone/>
            </a:pPr>
            <a:r>
              <a:rPr lang="en-US" sz="1040" b="1" dirty="0">
                <a:solidFill>
                  <a:srgbClr val="2563EB"/>
                </a:solidFill>
              </a:rPr>
              <a:t>•</a:t>
            </a:r>
            <a:endParaRPr lang="en-US" sz="1040" dirty="0"/>
          </a:p>
        </p:txBody>
      </p:sp>
      <p:sp>
        <p:nvSpPr>
          <p:cNvPr id="37" name="Text 35"/>
          <p:cNvSpPr/>
          <p:nvPr/>
        </p:nvSpPr>
        <p:spPr>
          <a:xfrm>
            <a:off x="8951976" y="3712464"/>
            <a:ext cx="2468880" cy="274320"/>
          </a:xfrm>
          <a:prstGeom prst="rect">
            <a:avLst/>
          </a:prstGeom>
          <a:noFill/>
          <a:ln/>
        </p:spPr>
        <p:txBody>
          <a:bodyPr wrap="square" lIns="0" tIns="0" rIns="0" bIns="0" rtlCol="0" anchor="ctr">
            <a:normAutofit/>
          </a:bodyPr>
          <a:lstStyle/>
          <a:p>
            <a:pPr marL="0" indent="0">
              <a:buNone/>
            </a:pPr>
            <a:r>
              <a:rPr lang="en-US" sz="1040" dirty="0">
                <a:solidFill>
                  <a:srgbClr val="6D28D9"/>
                </a:solidFill>
              </a:rPr>
              <a:t>Telemetry/rate limits</a:t>
            </a:r>
            <a:endParaRPr lang="en-US" sz="1040" dirty="0"/>
          </a:p>
        </p:txBody>
      </p:sp>
      <p:sp>
        <p:nvSpPr>
          <p:cNvPr id="38" name="Text 36"/>
          <p:cNvSpPr/>
          <p:nvPr/>
        </p:nvSpPr>
        <p:spPr>
          <a:xfrm>
            <a:off x="868680" y="5577840"/>
            <a:ext cx="1828800" cy="182880"/>
          </a:xfrm>
          <a:prstGeom prst="rect">
            <a:avLst/>
          </a:prstGeom>
          <a:noFill/>
          <a:ln/>
        </p:spPr>
        <p:txBody>
          <a:bodyPr wrap="square" lIns="0" tIns="0" rIns="0" bIns="0" rtlCol="0" anchor="ctr"/>
          <a:lstStyle/>
          <a:p>
            <a:pPr marL="0" indent="0">
              <a:buNone/>
            </a:pPr>
            <a:r>
              <a:rPr lang="en-US" sz="1050" b="1" dirty="0">
                <a:solidFill>
                  <a:srgbClr val="2563EB"/>
                </a:solidFill>
              </a:rPr>
              <a:t>Production posture</a:t>
            </a:r>
            <a:endParaRPr lang="en-US" sz="1050" dirty="0"/>
          </a:p>
        </p:txBody>
      </p:sp>
      <p:sp>
        <p:nvSpPr>
          <p:cNvPr id="39" name="Text 37"/>
          <p:cNvSpPr/>
          <p:nvPr/>
        </p:nvSpPr>
        <p:spPr>
          <a:xfrm>
            <a:off x="868680" y="5852160"/>
            <a:ext cx="10241280" cy="237744"/>
          </a:xfrm>
          <a:prstGeom prst="rect">
            <a:avLst/>
          </a:prstGeom>
          <a:noFill/>
          <a:ln/>
        </p:spPr>
        <p:txBody>
          <a:bodyPr wrap="square" lIns="0" tIns="0" rIns="0" bIns="0" rtlCol="0" anchor="ctr">
            <a:normAutofit/>
          </a:bodyPr>
          <a:lstStyle/>
          <a:p>
            <a:pPr marL="0" indent="0">
              <a:buNone/>
            </a:pPr>
            <a:r>
              <a:rPr lang="en-US" sz="1280" b="1" dirty="0">
                <a:solidFill>
                  <a:srgbClr val="0B1F33"/>
                </a:solidFill>
              </a:rPr>
              <a:t>EDGE agents should call a centrally governed endpoint, not arbitrary local MCP servers or unmanaged tool processes.</a:t>
            </a:r>
            <a:endParaRPr lang="en-US" sz="1280" dirty="0"/>
          </a:p>
        </p:txBody>
      </p:sp>
      <p:sp>
        <p:nvSpPr>
          <p:cNvPr id="40" name="Text 38"/>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41" name="Text 39"/>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On-Prem Deployment Topology</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Keep the topology simple: agent runtime → gateway → domain MCP servers → enterprise systems.</a:t>
            </a:r>
            <a:endParaRPr lang="en-US" sz="1050" dirty="0"/>
          </a:p>
        </p:txBody>
      </p:sp>
      <p:sp>
        <p:nvSpPr>
          <p:cNvPr id="6" name="Shape 4"/>
          <p:cNvSpPr/>
          <p:nvPr/>
        </p:nvSpPr>
        <p:spPr>
          <a:xfrm>
            <a:off x="2194560" y="3063240"/>
            <a:ext cx="1051560" cy="0"/>
          </a:xfrm>
          <a:prstGeom prst="line">
            <a:avLst/>
          </a:prstGeom>
          <a:noFill/>
          <a:ln w="15240">
            <a:solidFill>
              <a:srgbClr val="64748B"/>
            </a:solidFill>
            <a:prstDash val="solid"/>
            <a:headEnd type="none"/>
            <a:tailEnd type="triangle"/>
          </a:ln>
        </p:spPr>
        <p:txBody>
          <a:bodyPr/>
          <a:lstStyle/>
          <a:p>
            <a:endParaRPr lang="en-US"/>
          </a:p>
        </p:txBody>
      </p:sp>
      <p:sp>
        <p:nvSpPr>
          <p:cNvPr id="7" name="Shape 5"/>
          <p:cNvSpPr/>
          <p:nvPr/>
        </p:nvSpPr>
        <p:spPr>
          <a:xfrm>
            <a:off x="5257800" y="3063240"/>
            <a:ext cx="1188720" cy="0"/>
          </a:xfrm>
          <a:prstGeom prst="line">
            <a:avLst/>
          </a:prstGeom>
          <a:noFill/>
          <a:ln w="11430">
            <a:solidFill>
              <a:srgbClr val="0F766E"/>
            </a:solidFill>
            <a:prstDash val="solid"/>
            <a:headEnd type="none"/>
            <a:tailEnd type="triangle"/>
          </a:ln>
        </p:spPr>
        <p:txBody>
          <a:bodyPr/>
          <a:lstStyle/>
          <a:p>
            <a:endParaRPr lang="en-US"/>
          </a:p>
        </p:txBody>
      </p:sp>
      <p:sp>
        <p:nvSpPr>
          <p:cNvPr id="8" name="Shape 6"/>
          <p:cNvSpPr/>
          <p:nvPr/>
        </p:nvSpPr>
        <p:spPr>
          <a:xfrm>
            <a:off x="5257800" y="3063240"/>
            <a:ext cx="1188720" cy="0"/>
          </a:xfrm>
          <a:prstGeom prst="line">
            <a:avLst/>
          </a:prstGeom>
          <a:noFill/>
          <a:ln w="11430">
            <a:solidFill>
              <a:srgbClr val="0F766E"/>
            </a:solidFill>
            <a:prstDash val="solid"/>
            <a:headEnd type="none"/>
            <a:tailEnd type="triangle"/>
          </a:ln>
        </p:spPr>
        <p:txBody>
          <a:bodyPr/>
          <a:lstStyle/>
          <a:p>
            <a:endParaRPr lang="en-US"/>
          </a:p>
        </p:txBody>
      </p:sp>
      <p:sp>
        <p:nvSpPr>
          <p:cNvPr id="9" name="Shape 7"/>
          <p:cNvSpPr/>
          <p:nvPr/>
        </p:nvSpPr>
        <p:spPr>
          <a:xfrm>
            <a:off x="5257800" y="3063240"/>
            <a:ext cx="1188720" cy="868680"/>
          </a:xfrm>
          <a:prstGeom prst="line">
            <a:avLst/>
          </a:prstGeom>
          <a:noFill/>
          <a:ln w="11430">
            <a:solidFill>
              <a:srgbClr val="0F766E"/>
            </a:solidFill>
            <a:prstDash val="solid"/>
            <a:headEnd type="none"/>
            <a:tailEnd type="triangle"/>
          </a:ln>
        </p:spPr>
        <p:txBody>
          <a:bodyPr/>
          <a:lstStyle/>
          <a:p>
            <a:endParaRPr lang="en-US"/>
          </a:p>
        </p:txBody>
      </p:sp>
      <p:sp>
        <p:nvSpPr>
          <p:cNvPr id="10" name="Shape 8"/>
          <p:cNvSpPr/>
          <p:nvPr/>
        </p:nvSpPr>
        <p:spPr>
          <a:xfrm>
            <a:off x="8366760" y="2194560"/>
            <a:ext cx="1097280" cy="0"/>
          </a:xfrm>
          <a:prstGeom prst="line">
            <a:avLst/>
          </a:prstGeom>
          <a:noFill/>
          <a:ln w="11430">
            <a:solidFill>
              <a:srgbClr val="64748B"/>
            </a:solidFill>
            <a:prstDash val="solid"/>
            <a:headEnd type="none"/>
            <a:tailEnd type="triangle"/>
          </a:ln>
        </p:spPr>
        <p:txBody>
          <a:bodyPr/>
          <a:lstStyle/>
          <a:p>
            <a:endParaRPr lang="en-US"/>
          </a:p>
        </p:txBody>
      </p:sp>
      <p:sp>
        <p:nvSpPr>
          <p:cNvPr id="11" name="Shape 9"/>
          <p:cNvSpPr/>
          <p:nvPr/>
        </p:nvSpPr>
        <p:spPr>
          <a:xfrm>
            <a:off x="8366760" y="3063240"/>
            <a:ext cx="1097280" cy="0"/>
          </a:xfrm>
          <a:prstGeom prst="line">
            <a:avLst/>
          </a:prstGeom>
          <a:noFill/>
          <a:ln w="11430">
            <a:solidFill>
              <a:srgbClr val="64748B"/>
            </a:solidFill>
            <a:prstDash val="solid"/>
            <a:headEnd type="none"/>
            <a:tailEnd type="triangle"/>
          </a:ln>
        </p:spPr>
        <p:txBody>
          <a:bodyPr/>
          <a:lstStyle/>
          <a:p>
            <a:endParaRPr lang="en-US"/>
          </a:p>
        </p:txBody>
      </p:sp>
      <p:sp>
        <p:nvSpPr>
          <p:cNvPr id="12" name="Shape 10"/>
          <p:cNvSpPr/>
          <p:nvPr/>
        </p:nvSpPr>
        <p:spPr>
          <a:xfrm>
            <a:off x="8366760" y="3931920"/>
            <a:ext cx="1097280" cy="0"/>
          </a:xfrm>
          <a:prstGeom prst="line">
            <a:avLst/>
          </a:prstGeom>
          <a:noFill/>
          <a:ln w="11430">
            <a:solidFill>
              <a:srgbClr val="64748B"/>
            </a:solidFill>
            <a:prstDash val="solid"/>
            <a:headEnd type="none"/>
            <a:tailEnd type="triangle"/>
          </a:ln>
        </p:spPr>
        <p:txBody>
          <a:bodyPr/>
          <a:lstStyle/>
          <a:p>
            <a:endParaRPr lang="en-US"/>
          </a:p>
        </p:txBody>
      </p:sp>
      <p:sp>
        <p:nvSpPr>
          <p:cNvPr id="13" name="Shape 11"/>
          <p:cNvSpPr/>
          <p:nvPr/>
        </p:nvSpPr>
        <p:spPr>
          <a:xfrm>
            <a:off x="777240" y="2423160"/>
            <a:ext cx="1417320" cy="1280160"/>
          </a:xfrm>
          <a:prstGeom prst="roundRect">
            <a:avLst>
              <a:gd name="adj" fmla="val 4286"/>
            </a:avLst>
          </a:prstGeom>
          <a:solidFill>
            <a:srgbClr val="EFF6FF"/>
          </a:solidFill>
          <a:ln w="12700">
            <a:solidFill>
              <a:srgbClr val="93C5FD"/>
            </a:solidFill>
            <a:prstDash val="solid"/>
          </a:ln>
        </p:spPr>
        <p:txBody>
          <a:bodyPr/>
          <a:lstStyle/>
          <a:p>
            <a:endParaRPr lang="en-US"/>
          </a:p>
        </p:txBody>
      </p:sp>
      <p:sp>
        <p:nvSpPr>
          <p:cNvPr id="14" name="Text 12"/>
          <p:cNvSpPr/>
          <p:nvPr/>
        </p:nvSpPr>
        <p:spPr>
          <a:xfrm>
            <a:off x="896112" y="2788920"/>
            <a:ext cx="1188720" cy="292608"/>
          </a:xfrm>
          <a:prstGeom prst="rect">
            <a:avLst/>
          </a:prstGeom>
          <a:noFill/>
          <a:ln/>
        </p:spPr>
        <p:txBody>
          <a:bodyPr wrap="square" lIns="381" tIns="381" rIns="381" bIns="381" rtlCol="0" anchor="ctr">
            <a:normAutofit/>
          </a:bodyPr>
          <a:lstStyle/>
          <a:p>
            <a:pPr marL="0" indent="0" algn="ctr">
              <a:buNone/>
            </a:pPr>
            <a:r>
              <a:rPr lang="en-US" sz="1150" b="1" dirty="0">
                <a:solidFill>
                  <a:srgbClr val="2563EB"/>
                </a:solidFill>
              </a:rPr>
              <a:t>Agent Runtime</a:t>
            </a:r>
            <a:endParaRPr lang="en-US" sz="1150" dirty="0"/>
          </a:p>
          <a:p>
            <a:pPr marL="0" indent="0" algn="ctr">
              <a:buNone/>
            </a:pPr>
            <a:r>
              <a:rPr lang="en-US" sz="1150" b="1" dirty="0">
                <a:solidFill>
                  <a:srgbClr val="2563EB"/>
                </a:solidFill>
              </a:rPr>
              <a:t>EDGE / Other</a:t>
            </a:r>
            <a:endParaRPr lang="en-US" sz="1150" dirty="0"/>
          </a:p>
        </p:txBody>
      </p:sp>
      <p:sp>
        <p:nvSpPr>
          <p:cNvPr id="15" name="Shape 13"/>
          <p:cNvSpPr/>
          <p:nvPr/>
        </p:nvSpPr>
        <p:spPr>
          <a:xfrm>
            <a:off x="3246120" y="2011680"/>
            <a:ext cx="2011680" cy="2103120"/>
          </a:xfrm>
          <a:prstGeom prst="roundRect">
            <a:avLst>
              <a:gd name="adj" fmla="val 2727"/>
            </a:avLst>
          </a:prstGeom>
          <a:solidFill>
            <a:srgbClr val="F5F3FF"/>
          </a:solidFill>
          <a:ln w="12700">
            <a:solidFill>
              <a:srgbClr val="C4B5FD"/>
            </a:solidFill>
            <a:prstDash val="solid"/>
          </a:ln>
        </p:spPr>
        <p:txBody>
          <a:bodyPr/>
          <a:lstStyle/>
          <a:p>
            <a:endParaRPr lang="en-US"/>
          </a:p>
        </p:txBody>
      </p:sp>
      <p:sp>
        <p:nvSpPr>
          <p:cNvPr id="16" name="Text 14"/>
          <p:cNvSpPr/>
          <p:nvPr/>
        </p:nvSpPr>
        <p:spPr>
          <a:xfrm>
            <a:off x="3429000" y="2487168"/>
            <a:ext cx="1645920" cy="329184"/>
          </a:xfrm>
          <a:prstGeom prst="rect">
            <a:avLst/>
          </a:prstGeom>
          <a:noFill/>
          <a:ln/>
        </p:spPr>
        <p:txBody>
          <a:bodyPr wrap="square" lIns="381" tIns="381" rIns="381" bIns="381" rtlCol="0" anchor="ctr">
            <a:normAutofit/>
          </a:bodyPr>
          <a:lstStyle/>
          <a:p>
            <a:pPr marL="0" indent="0" algn="ctr">
              <a:buNone/>
            </a:pPr>
            <a:r>
              <a:rPr lang="en-US" sz="1500" b="1" dirty="0">
                <a:solidFill>
                  <a:srgbClr val="6D28D9"/>
                </a:solidFill>
              </a:rPr>
              <a:t>Enterprise</a:t>
            </a:r>
            <a:endParaRPr lang="en-US" sz="1500" dirty="0"/>
          </a:p>
          <a:p>
            <a:pPr marL="0" indent="0" algn="ctr">
              <a:buNone/>
            </a:pPr>
            <a:r>
              <a:rPr lang="en-US" sz="1500" b="1" dirty="0">
                <a:solidFill>
                  <a:srgbClr val="6D28D9"/>
                </a:solidFill>
              </a:rPr>
              <a:t>MCP Gateway</a:t>
            </a:r>
            <a:endParaRPr lang="en-US" sz="1500" dirty="0"/>
          </a:p>
        </p:txBody>
      </p:sp>
      <p:sp>
        <p:nvSpPr>
          <p:cNvPr id="17" name="Text 15"/>
          <p:cNvSpPr/>
          <p:nvPr/>
        </p:nvSpPr>
        <p:spPr>
          <a:xfrm>
            <a:off x="3675888" y="3127248"/>
            <a:ext cx="1234440" cy="109728"/>
          </a:xfrm>
          <a:prstGeom prst="rect">
            <a:avLst/>
          </a:prstGeom>
          <a:noFill/>
          <a:ln/>
        </p:spPr>
        <p:txBody>
          <a:bodyPr wrap="square" lIns="0" tIns="0" rIns="0" bIns="0" rtlCol="0" anchor="ctr"/>
          <a:lstStyle/>
          <a:p>
            <a:pPr marL="0" indent="0" algn="ctr">
              <a:buNone/>
            </a:pPr>
            <a:r>
              <a:rPr lang="en-US" sz="750" dirty="0">
                <a:solidFill>
                  <a:srgbClr val="334155"/>
                </a:solidFill>
              </a:rPr>
              <a:t>policy check</a:t>
            </a:r>
            <a:endParaRPr lang="en-US" sz="750" dirty="0"/>
          </a:p>
        </p:txBody>
      </p:sp>
      <p:sp>
        <p:nvSpPr>
          <p:cNvPr id="18" name="Text 16"/>
          <p:cNvSpPr/>
          <p:nvPr/>
        </p:nvSpPr>
        <p:spPr>
          <a:xfrm>
            <a:off x="3675888" y="3328416"/>
            <a:ext cx="1234440" cy="109728"/>
          </a:xfrm>
          <a:prstGeom prst="rect">
            <a:avLst/>
          </a:prstGeom>
          <a:noFill/>
          <a:ln/>
        </p:spPr>
        <p:txBody>
          <a:bodyPr wrap="square" lIns="0" tIns="0" rIns="0" bIns="0" rtlCol="0" anchor="ctr"/>
          <a:lstStyle/>
          <a:p>
            <a:pPr marL="0" indent="0" algn="ctr">
              <a:buNone/>
            </a:pPr>
            <a:r>
              <a:rPr lang="en-US" sz="750" dirty="0">
                <a:solidFill>
                  <a:srgbClr val="334155"/>
                </a:solidFill>
              </a:rPr>
              <a:t>tool discovery</a:t>
            </a:r>
            <a:endParaRPr lang="en-US" sz="750" dirty="0"/>
          </a:p>
        </p:txBody>
      </p:sp>
      <p:sp>
        <p:nvSpPr>
          <p:cNvPr id="19" name="Text 17"/>
          <p:cNvSpPr/>
          <p:nvPr/>
        </p:nvSpPr>
        <p:spPr>
          <a:xfrm>
            <a:off x="3675888" y="3529584"/>
            <a:ext cx="1234440" cy="109728"/>
          </a:xfrm>
          <a:prstGeom prst="rect">
            <a:avLst/>
          </a:prstGeom>
          <a:noFill/>
          <a:ln/>
        </p:spPr>
        <p:txBody>
          <a:bodyPr wrap="square" lIns="0" tIns="0" rIns="0" bIns="0" rtlCol="0" anchor="ctr"/>
          <a:lstStyle/>
          <a:p>
            <a:pPr marL="0" indent="0" algn="ctr">
              <a:buNone/>
            </a:pPr>
            <a:r>
              <a:rPr lang="en-US" sz="750" dirty="0">
                <a:solidFill>
                  <a:srgbClr val="334155"/>
                </a:solidFill>
              </a:rPr>
              <a:t>routing</a:t>
            </a:r>
            <a:endParaRPr lang="en-US" sz="750" dirty="0"/>
          </a:p>
        </p:txBody>
      </p:sp>
      <p:sp>
        <p:nvSpPr>
          <p:cNvPr id="20" name="Text 18"/>
          <p:cNvSpPr/>
          <p:nvPr/>
        </p:nvSpPr>
        <p:spPr>
          <a:xfrm>
            <a:off x="3675888" y="3730752"/>
            <a:ext cx="1234440" cy="109728"/>
          </a:xfrm>
          <a:prstGeom prst="rect">
            <a:avLst/>
          </a:prstGeom>
          <a:noFill/>
          <a:ln/>
        </p:spPr>
        <p:txBody>
          <a:bodyPr wrap="square" lIns="0" tIns="0" rIns="0" bIns="0" rtlCol="0" anchor="ctr"/>
          <a:lstStyle/>
          <a:p>
            <a:pPr marL="0" indent="0" algn="ctr">
              <a:buNone/>
            </a:pPr>
            <a:r>
              <a:rPr lang="en-US" sz="750" dirty="0">
                <a:solidFill>
                  <a:srgbClr val="334155"/>
                </a:solidFill>
              </a:rPr>
              <a:t>rate limit</a:t>
            </a:r>
            <a:endParaRPr lang="en-US" sz="750" dirty="0"/>
          </a:p>
        </p:txBody>
      </p:sp>
      <p:sp>
        <p:nvSpPr>
          <p:cNvPr id="21" name="Text 19"/>
          <p:cNvSpPr/>
          <p:nvPr/>
        </p:nvSpPr>
        <p:spPr>
          <a:xfrm>
            <a:off x="3675888" y="3931920"/>
            <a:ext cx="1234440" cy="109728"/>
          </a:xfrm>
          <a:prstGeom prst="rect">
            <a:avLst/>
          </a:prstGeom>
          <a:noFill/>
          <a:ln/>
        </p:spPr>
        <p:txBody>
          <a:bodyPr wrap="square" lIns="0" tIns="0" rIns="0" bIns="0" rtlCol="0" anchor="ctr"/>
          <a:lstStyle/>
          <a:p>
            <a:pPr marL="0" indent="0" algn="ctr">
              <a:buNone/>
            </a:pPr>
            <a:r>
              <a:rPr lang="en-US" sz="750" dirty="0">
                <a:solidFill>
                  <a:srgbClr val="334155"/>
                </a:solidFill>
              </a:rPr>
              <a:t>audit event</a:t>
            </a:r>
            <a:endParaRPr lang="en-US" sz="750" dirty="0"/>
          </a:p>
        </p:txBody>
      </p:sp>
      <p:sp>
        <p:nvSpPr>
          <p:cNvPr id="22" name="Shape 20"/>
          <p:cNvSpPr/>
          <p:nvPr/>
        </p:nvSpPr>
        <p:spPr>
          <a:xfrm>
            <a:off x="6446520" y="1920240"/>
            <a:ext cx="1920240" cy="548640"/>
          </a:xfrm>
          <a:prstGeom prst="roundRect">
            <a:avLst>
              <a:gd name="adj" fmla="val 10000"/>
            </a:avLst>
          </a:prstGeom>
          <a:solidFill>
            <a:srgbClr val="FFFFFF"/>
          </a:solidFill>
          <a:ln w="12700">
            <a:solidFill>
              <a:srgbClr val="99F6E4"/>
            </a:solidFill>
            <a:prstDash val="solid"/>
          </a:ln>
        </p:spPr>
        <p:txBody>
          <a:bodyPr/>
          <a:lstStyle/>
          <a:p>
            <a:endParaRPr lang="en-US"/>
          </a:p>
        </p:txBody>
      </p:sp>
      <p:sp>
        <p:nvSpPr>
          <p:cNvPr id="23" name="Text 21"/>
          <p:cNvSpPr/>
          <p:nvPr/>
        </p:nvSpPr>
        <p:spPr>
          <a:xfrm>
            <a:off x="6556248" y="2103120"/>
            <a:ext cx="1691640" cy="118872"/>
          </a:xfrm>
          <a:prstGeom prst="rect">
            <a:avLst/>
          </a:prstGeom>
          <a:noFill/>
          <a:ln/>
        </p:spPr>
        <p:txBody>
          <a:bodyPr wrap="square" lIns="381" tIns="381" rIns="381" bIns="381" rtlCol="0" anchor="ctr">
            <a:normAutofit/>
          </a:bodyPr>
          <a:lstStyle/>
          <a:p>
            <a:pPr marL="0" indent="0" algn="ctr">
              <a:buNone/>
            </a:pPr>
            <a:r>
              <a:rPr lang="en-US" sz="920" b="1" dirty="0">
                <a:solidFill>
                  <a:srgbClr val="0F766E"/>
                </a:solidFill>
              </a:rPr>
              <a:t>Trade MCP Server</a:t>
            </a:r>
            <a:endParaRPr lang="en-US" sz="920" dirty="0"/>
          </a:p>
        </p:txBody>
      </p:sp>
      <p:sp>
        <p:nvSpPr>
          <p:cNvPr id="24" name="Shape 22"/>
          <p:cNvSpPr/>
          <p:nvPr/>
        </p:nvSpPr>
        <p:spPr>
          <a:xfrm>
            <a:off x="6446520" y="2788920"/>
            <a:ext cx="1920240" cy="548640"/>
          </a:xfrm>
          <a:prstGeom prst="roundRect">
            <a:avLst>
              <a:gd name="adj" fmla="val 10000"/>
            </a:avLst>
          </a:prstGeom>
          <a:solidFill>
            <a:srgbClr val="FFFFFF"/>
          </a:solidFill>
          <a:ln w="12700">
            <a:solidFill>
              <a:srgbClr val="99F6E4"/>
            </a:solidFill>
            <a:prstDash val="solid"/>
          </a:ln>
        </p:spPr>
        <p:txBody>
          <a:bodyPr/>
          <a:lstStyle/>
          <a:p>
            <a:endParaRPr lang="en-US"/>
          </a:p>
        </p:txBody>
      </p:sp>
      <p:sp>
        <p:nvSpPr>
          <p:cNvPr id="25" name="Text 23"/>
          <p:cNvSpPr/>
          <p:nvPr/>
        </p:nvSpPr>
        <p:spPr>
          <a:xfrm>
            <a:off x="6556248" y="2971800"/>
            <a:ext cx="1691640" cy="118872"/>
          </a:xfrm>
          <a:prstGeom prst="rect">
            <a:avLst/>
          </a:prstGeom>
          <a:noFill/>
          <a:ln/>
        </p:spPr>
        <p:txBody>
          <a:bodyPr wrap="square" lIns="381" tIns="381" rIns="381" bIns="381" rtlCol="0" anchor="ctr">
            <a:normAutofit/>
          </a:bodyPr>
          <a:lstStyle/>
          <a:p>
            <a:pPr marL="0" indent="0" algn="ctr">
              <a:buNone/>
            </a:pPr>
            <a:r>
              <a:rPr lang="en-US" sz="920" b="1" dirty="0">
                <a:solidFill>
                  <a:srgbClr val="0F766E"/>
                </a:solidFill>
              </a:rPr>
              <a:t>Reference MCP Server</a:t>
            </a:r>
            <a:endParaRPr lang="en-US" sz="920" dirty="0"/>
          </a:p>
        </p:txBody>
      </p:sp>
      <p:sp>
        <p:nvSpPr>
          <p:cNvPr id="26" name="Shape 24"/>
          <p:cNvSpPr/>
          <p:nvPr/>
        </p:nvSpPr>
        <p:spPr>
          <a:xfrm>
            <a:off x="6446520" y="3657600"/>
            <a:ext cx="1920240" cy="548640"/>
          </a:xfrm>
          <a:prstGeom prst="roundRect">
            <a:avLst>
              <a:gd name="adj" fmla="val 10000"/>
            </a:avLst>
          </a:prstGeom>
          <a:solidFill>
            <a:srgbClr val="FFFFFF"/>
          </a:solidFill>
          <a:ln w="12700">
            <a:solidFill>
              <a:srgbClr val="99F6E4"/>
            </a:solidFill>
            <a:prstDash val="solid"/>
          </a:ln>
        </p:spPr>
        <p:txBody>
          <a:bodyPr/>
          <a:lstStyle/>
          <a:p>
            <a:endParaRPr lang="en-US"/>
          </a:p>
        </p:txBody>
      </p:sp>
      <p:sp>
        <p:nvSpPr>
          <p:cNvPr id="27" name="Text 25"/>
          <p:cNvSpPr/>
          <p:nvPr/>
        </p:nvSpPr>
        <p:spPr>
          <a:xfrm>
            <a:off x="6556248" y="3840480"/>
            <a:ext cx="1691640" cy="118872"/>
          </a:xfrm>
          <a:prstGeom prst="rect">
            <a:avLst/>
          </a:prstGeom>
          <a:noFill/>
          <a:ln/>
        </p:spPr>
        <p:txBody>
          <a:bodyPr wrap="square" lIns="381" tIns="381" rIns="381" bIns="381" rtlCol="0" anchor="ctr">
            <a:normAutofit/>
          </a:bodyPr>
          <a:lstStyle/>
          <a:p>
            <a:pPr marL="0" indent="0" algn="ctr">
              <a:buNone/>
            </a:pPr>
            <a:r>
              <a:rPr lang="en-US" sz="920" b="1" dirty="0">
                <a:solidFill>
                  <a:srgbClr val="0F766E"/>
                </a:solidFill>
              </a:rPr>
              <a:t>QMA MCP Server</a:t>
            </a:r>
            <a:endParaRPr lang="en-US" sz="920" dirty="0"/>
          </a:p>
        </p:txBody>
      </p:sp>
      <p:sp>
        <p:nvSpPr>
          <p:cNvPr id="28" name="Shape 26"/>
          <p:cNvSpPr/>
          <p:nvPr/>
        </p:nvSpPr>
        <p:spPr>
          <a:xfrm>
            <a:off x="9464040" y="1920240"/>
            <a:ext cx="1783080" cy="548640"/>
          </a:xfrm>
          <a:prstGeom prst="roundRect">
            <a:avLst>
              <a:gd name="adj" fmla="val 10000"/>
            </a:avLst>
          </a:prstGeom>
          <a:solidFill>
            <a:srgbClr val="FFFFFF"/>
          </a:solidFill>
          <a:ln w="12700">
            <a:solidFill>
              <a:srgbClr val="CBD5E1"/>
            </a:solidFill>
            <a:prstDash val="solid"/>
          </a:ln>
        </p:spPr>
        <p:txBody>
          <a:bodyPr/>
          <a:lstStyle/>
          <a:p>
            <a:endParaRPr lang="en-US"/>
          </a:p>
        </p:txBody>
      </p:sp>
      <p:sp>
        <p:nvSpPr>
          <p:cNvPr id="29" name="Text 27"/>
          <p:cNvSpPr/>
          <p:nvPr/>
        </p:nvSpPr>
        <p:spPr>
          <a:xfrm>
            <a:off x="9555480" y="2103120"/>
            <a:ext cx="1600200" cy="118872"/>
          </a:xfrm>
          <a:prstGeom prst="rect">
            <a:avLst/>
          </a:prstGeom>
          <a:noFill/>
          <a:ln/>
        </p:spPr>
        <p:txBody>
          <a:bodyPr wrap="square" lIns="381" tIns="381" rIns="381" bIns="381" rtlCol="0" anchor="ctr">
            <a:normAutofit/>
          </a:bodyPr>
          <a:lstStyle/>
          <a:p>
            <a:pPr marL="0" indent="0" algn="ctr">
              <a:buNone/>
            </a:pPr>
            <a:r>
              <a:rPr lang="en-US" sz="920" b="1" dirty="0">
                <a:solidFill>
                  <a:srgbClr val="334155"/>
                </a:solidFill>
              </a:rPr>
              <a:t>Trade / Position</a:t>
            </a:r>
            <a:endParaRPr lang="en-US" sz="920" dirty="0"/>
          </a:p>
        </p:txBody>
      </p:sp>
      <p:sp>
        <p:nvSpPr>
          <p:cNvPr id="30" name="Shape 28"/>
          <p:cNvSpPr/>
          <p:nvPr/>
        </p:nvSpPr>
        <p:spPr>
          <a:xfrm>
            <a:off x="9464040" y="2788920"/>
            <a:ext cx="1783080" cy="548640"/>
          </a:xfrm>
          <a:prstGeom prst="roundRect">
            <a:avLst>
              <a:gd name="adj" fmla="val 10000"/>
            </a:avLst>
          </a:prstGeom>
          <a:solidFill>
            <a:srgbClr val="FFFFFF"/>
          </a:solidFill>
          <a:ln w="12700">
            <a:solidFill>
              <a:srgbClr val="CBD5E1"/>
            </a:solidFill>
            <a:prstDash val="solid"/>
          </a:ln>
        </p:spPr>
        <p:txBody>
          <a:bodyPr/>
          <a:lstStyle/>
          <a:p>
            <a:endParaRPr lang="en-US"/>
          </a:p>
        </p:txBody>
      </p:sp>
      <p:sp>
        <p:nvSpPr>
          <p:cNvPr id="31" name="Text 29"/>
          <p:cNvSpPr/>
          <p:nvPr/>
        </p:nvSpPr>
        <p:spPr>
          <a:xfrm>
            <a:off x="9555480" y="2971800"/>
            <a:ext cx="1600200" cy="118872"/>
          </a:xfrm>
          <a:prstGeom prst="rect">
            <a:avLst/>
          </a:prstGeom>
          <a:noFill/>
          <a:ln/>
        </p:spPr>
        <p:txBody>
          <a:bodyPr wrap="square" lIns="381" tIns="381" rIns="381" bIns="381" rtlCol="0" anchor="ctr">
            <a:normAutofit/>
          </a:bodyPr>
          <a:lstStyle/>
          <a:p>
            <a:pPr marL="0" indent="0" algn="ctr">
              <a:buNone/>
            </a:pPr>
            <a:r>
              <a:rPr lang="en-US" sz="920" b="1" dirty="0">
                <a:solidFill>
                  <a:srgbClr val="334155"/>
                </a:solidFill>
              </a:rPr>
              <a:t>Reference Data</a:t>
            </a:r>
            <a:endParaRPr lang="en-US" sz="920" dirty="0"/>
          </a:p>
        </p:txBody>
      </p:sp>
      <p:sp>
        <p:nvSpPr>
          <p:cNvPr id="32" name="Shape 30"/>
          <p:cNvSpPr/>
          <p:nvPr/>
        </p:nvSpPr>
        <p:spPr>
          <a:xfrm>
            <a:off x="9464040" y="3657600"/>
            <a:ext cx="1783080" cy="548640"/>
          </a:xfrm>
          <a:prstGeom prst="roundRect">
            <a:avLst>
              <a:gd name="adj" fmla="val 10000"/>
            </a:avLst>
          </a:prstGeom>
          <a:solidFill>
            <a:srgbClr val="FFFFFF"/>
          </a:solidFill>
          <a:ln w="12700">
            <a:solidFill>
              <a:srgbClr val="CBD5E1"/>
            </a:solidFill>
            <a:prstDash val="solid"/>
          </a:ln>
        </p:spPr>
        <p:txBody>
          <a:bodyPr/>
          <a:lstStyle/>
          <a:p>
            <a:endParaRPr lang="en-US"/>
          </a:p>
        </p:txBody>
      </p:sp>
      <p:sp>
        <p:nvSpPr>
          <p:cNvPr id="33" name="Text 31"/>
          <p:cNvSpPr/>
          <p:nvPr/>
        </p:nvSpPr>
        <p:spPr>
          <a:xfrm>
            <a:off x="9555480" y="3840480"/>
            <a:ext cx="1600200" cy="118872"/>
          </a:xfrm>
          <a:prstGeom prst="rect">
            <a:avLst/>
          </a:prstGeom>
          <a:noFill/>
          <a:ln/>
        </p:spPr>
        <p:txBody>
          <a:bodyPr wrap="square" lIns="381" tIns="381" rIns="381" bIns="381" rtlCol="0" anchor="ctr">
            <a:normAutofit/>
          </a:bodyPr>
          <a:lstStyle/>
          <a:p>
            <a:pPr marL="0" indent="0" algn="ctr">
              <a:buNone/>
            </a:pPr>
            <a:r>
              <a:rPr lang="en-US" sz="920" b="1" dirty="0">
                <a:solidFill>
                  <a:srgbClr val="334155"/>
                </a:solidFill>
              </a:rPr>
              <a:t>Email / Workflow</a:t>
            </a:r>
            <a:endParaRPr lang="en-US" sz="920" dirty="0"/>
          </a:p>
        </p:txBody>
      </p:sp>
      <p:sp>
        <p:nvSpPr>
          <p:cNvPr id="34" name="Shape 32"/>
          <p:cNvSpPr/>
          <p:nvPr/>
        </p:nvSpPr>
        <p:spPr>
          <a:xfrm>
            <a:off x="777240" y="5010912"/>
            <a:ext cx="10469880" cy="530352"/>
          </a:xfrm>
          <a:prstGeom prst="roundRect">
            <a:avLst>
              <a:gd name="adj" fmla="val 10345"/>
            </a:avLst>
          </a:prstGeom>
          <a:solidFill>
            <a:srgbClr val="F1F5F9"/>
          </a:solidFill>
          <a:ln w="12700">
            <a:solidFill>
              <a:srgbClr val="CBD5E1"/>
            </a:solidFill>
            <a:prstDash val="solid"/>
          </a:ln>
        </p:spPr>
        <p:txBody>
          <a:bodyPr/>
          <a:lstStyle/>
          <a:p>
            <a:endParaRPr lang="en-US"/>
          </a:p>
        </p:txBody>
      </p:sp>
      <p:sp>
        <p:nvSpPr>
          <p:cNvPr id="35" name="Text 33"/>
          <p:cNvSpPr/>
          <p:nvPr/>
        </p:nvSpPr>
        <p:spPr>
          <a:xfrm>
            <a:off x="960120" y="5193792"/>
            <a:ext cx="10104120" cy="146304"/>
          </a:xfrm>
          <a:prstGeom prst="rect">
            <a:avLst/>
          </a:prstGeom>
          <a:noFill/>
          <a:ln/>
        </p:spPr>
        <p:txBody>
          <a:bodyPr wrap="square" lIns="0" tIns="0" rIns="0" bIns="0" rtlCol="0" anchor="ctr">
            <a:normAutofit/>
          </a:bodyPr>
          <a:lstStyle/>
          <a:p>
            <a:pPr marL="0" indent="0" algn="ctr">
              <a:buNone/>
            </a:pPr>
            <a:r>
              <a:rPr lang="en-US" sz="980" b="1" dirty="0">
                <a:solidFill>
                  <a:srgbClr val="0B1F33"/>
                </a:solidFill>
              </a:rPr>
              <a:t>Shared platform services: service mesh  •  secrets vault  •  policy engine  •  logging/SIEM  •  metrics  •  golden-eval store</a:t>
            </a:r>
            <a:endParaRPr lang="en-US" sz="980" dirty="0"/>
          </a:p>
        </p:txBody>
      </p:sp>
      <p:sp>
        <p:nvSpPr>
          <p:cNvPr id="36" name="Text 34"/>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37" name="Text 35"/>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Tool Registry &amp; Versioning Lifecycle</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Tool changes should be discoverable, controlled and backward-compatible.</a:t>
            </a:r>
            <a:endParaRPr lang="en-US" sz="1050" dirty="0"/>
          </a:p>
        </p:txBody>
      </p:sp>
      <p:sp>
        <p:nvSpPr>
          <p:cNvPr id="6" name="Shape 4"/>
          <p:cNvSpPr/>
          <p:nvPr/>
        </p:nvSpPr>
        <p:spPr>
          <a:xfrm>
            <a:off x="685800" y="2057400"/>
            <a:ext cx="187452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7" name="Text 5"/>
          <p:cNvSpPr/>
          <p:nvPr/>
        </p:nvSpPr>
        <p:spPr>
          <a:xfrm>
            <a:off x="804672" y="2258568"/>
            <a:ext cx="1627632" cy="118872"/>
          </a:xfrm>
          <a:prstGeom prst="rect">
            <a:avLst/>
          </a:prstGeom>
          <a:noFill/>
          <a:ln/>
        </p:spPr>
        <p:txBody>
          <a:bodyPr wrap="square" lIns="381" tIns="381" rIns="381" bIns="381" rtlCol="0" anchor="ctr">
            <a:normAutofit/>
          </a:bodyPr>
          <a:lstStyle/>
          <a:p>
            <a:pPr marL="0" indent="0" algn="ctr">
              <a:buNone/>
            </a:pPr>
            <a:r>
              <a:rPr lang="en-US" sz="1020" b="1" dirty="0">
                <a:solidFill>
                  <a:srgbClr val="2563EB"/>
                </a:solidFill>
              </a:rPr>
              <a:t>DRAFT</a:t>
            </a:r>
            <a:endParaRPr lang="en-US" sz="1020" dirty="0"/>
          </a:p>
        </p:txBody>
      </p:sp>
      <p:sp>
        <p:nvSpPr>
          <p:cNvPr id="8" name="Text 6"/>
          <p:cNvSpPr/>
          <p:nvPr/>
        </p:nvSpPr>
        <p:spPr>
          <a:xfrm>
            <a:off x="850392" y="2560320"/>
            <a:ext cx="1536192" cy="16459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Developer creates tool contract</a:t>
            </a:r>
            <a:endParaRPr lang="en-US" sz="760" dirty="0"/>
          </a:p>
        </p:txBody>
      </p:sp>
      <p:sp>
        <p:nvSpPr>
          <p:cNvPr id="9" name="Shape 7"/>
          <p:cNvSpPr/>
          <p:nvPr/>
        </p:nvSpPr>
        <p:spPr>
          <a:xfrm>
            <a:off x="2606040" y="2514600"/>
            <a:ext cx="274320" cy="0"/>
          </a:xfrm>
          <a:prstGeom prst="line">
            <a:avLst/>
          </a:prstGeom>
          <a:noFill/>
          <a:ln w="12700">
            <a:solidFill>
              <a:srgbClr val="64748B"/>
            </a:solidFill>
            <a:prstDash val="solid"/>
            <a:headEnd type="none"/>
            <a:tailEnd type="triangle"/>
          </a:ln>
        </p:spPr>
        <p:txBody>
          <a:bodyPr/>
          <a:lstStyle/>
          <a:p>
            <a:endParaRPr lang="en-US"/>
          </a:p>
        </p:txBody>
      </p:sp>
      <p:sp>
        <p:nvSpPr>
          <p:cNvPr id="10" name="Shape 8"/>
          <p:cNvSpPr/>
          <p:nvPr/>
        </p:nvSpPr>
        <p:spPr>
          <a:xfrm>
            <a:off x="2926080" y="2057400"/>
            <a:ext cx="187452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11" name="Text 9"/>
          <p:cNvSpPr/>
          <p:nvPr/>
        </p:nvSpPr>
        <p:spPr>
          <a:xfrm>
            <a:off x="3044952" y="2258568"/>
            <a:ext cx="1627632" cy="118872"/>
          </a:xfrm>
          <a:prstGeom prst="rect">
            <a:avLst/>
          </a:prstGeom>
          <a:noFill/>
          <a:ln/>
        </p:spPr>
        <p:txBody>
          <a:bodyPr wrap="square" lIns="381" tIns="381" rIns="381" bIns="381" rtlCol="0" anchor="ctr">
            <a:normAutofit/>
          </a:bodyPr>
          <a:lstStyle/>
          <a:p>
            <a:pPr marL="0" indent="0" algn="ctr">
              <a:buNone/>
            </a:pPr>
            <a:r>
              <a:rPr lang="en-US" sz="1020" b="1" dirty="0">
                <a:solidFill>
                  <a:srgbClr val="2563EB"/>
                </a:solidFill>
              </a:rPr>
              <a:t>VALIDATED</a:t>
            </a:r>
            <a:endParaRPr lang="en-US" sz="1020" dirty="0"/>
          </a:p>
        </p:txBody>
      </p:sp>
      <p:sp>
        <p:nvSpPr>
          <p:cNvPr id="12" name="Text 10"/>
          <p:cNvSpPr/>
          <p:nvPr/>
        </p:nvSpPr>
        <p:spPr>
          <a:xfrm>
            <a:off x="3090672" y="2560320"/>
            <a:ext cx="1536192" cy="16459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Schema + unit tests pass</a:t>
            </a:r>
            <a:endParaRPr lang="en-US" sz="760" dirty="0"/>
          </a:p>
        </p:txBody>
      </p:sp>
      <p:sp>
        <p:nvSpPr>
          <p:cNvPr id="13" name="Shape 11"/>
          <p:cNvSpPr/>
          <p:nvPr/>
        </p:nvSpPr>
        <p:spPr>
          <a:xfrm>
            <a:off x="4846320" y="2514600"/>
            <a:ext cx="274320" cy="0"/>
          </a:xfrm>
          <a:prstGeom prst="line">
            <a:avLst/>
          </a:prstGeom>
          <a:noFill/>
          <a:ln w="12700">
            <a:solidFill>
              <a:srgbClr val="64748B"/>
            </a:solidFill>
            <a:prstDash val="solid"/>
            <a:headEnd type="none"/>
            <a:tailEnd type="triangle"/>
          </a:ln>
        </p:spPr>
        <p:txBody>
          <a:bodyPr/>
          <a:lstStyle/>
          <a:p>
            <a:endParaRPr lang="en-US"/>
          </a:p>
        </p:txBody>
      </p:sp>
      <p:sp>
        <p:nvSpPr>
          <p:cNvPr id="14" name="Shape 12"/>
          <p:cNvSpPr/>
          <p:nvPr/>
        </p:nvSpPr>
        <p:spPr>
          <a:xfrm>
            <a:off x="5166360" y="2057400"/>
            <a:ext cx="1874520" cy="914400"/>
          </a:xfrm>
          <a:prstGeom prst="roundRect">
            <a:avLst>
              <a:gd name="adj" fmla="val 6000"/>
            </a:avLst>
          </a:prstGeom>
          <a:solidFill>
            <a:srgbClr val="EFF6FF"/>
          </a:solidFill>
          <a:ln w="12700">
            <a:solidFill>
              <a:srgbClr val="CBD5E1"/>
            </a:solidFill>
            <a:prstDash val="solid"/>
          </a:ln>
        </p:spPr>
        <p:txBody>
          <a:bodyPr/>
          <a:lstStyle/>
          <a:p>
            <a:endParaRPr lang="en-US"/>
          </a:p>
        </p:txBody>
      </p:sp>
      <p:sp>
        <p:nvSpPr>
          <p:cNvPr id="15" name="Text 13"/>
          <p:cNvSpPr/>
          <p:nvPr/>
        </p:nvSpPr>
        <p:spPr>
          <a:xfrm>
            <a:off x="5285232" y="2258568"/>
            <a:ext cx="1627632" cy="118872"/>
          </a:xfrm>
          <a:prstGeom prst="rect">
            <a:avLst/>
          </a:prstGeom>
          <a:noFill/>
          <a:ln/>
        </p:spPr>
        <p:txBody>
          <a:bodyPr wrap="square" lIns="381" tIns="381" rIns="381" bIns="381" rtlCol="0" anchor="ctr">
            <a:normAutofit/>
          </a:bodyPr>
          <a:lstStyle/>
          <a:p>
            <a:pPr marL="0" indent="0" algn="ctr">
              <a:buNone/>
            </a:pPr>
            <a:r>
              <a:rPr lang="en-US" sz="1020" b="1" dirty="0">
                <a:solidFill>
                  <a:srgbClr val="2563EB"/>
                </a:solidFill>
              </a:rPr>
              <a:t>CERTIFIED</a:t>
            </a:r>
            <a:endParaRPr lang="en-US" sz="1020" dirty="0"/>
          </a:p>
        </p:txBody>
      </p:sp>
      <p:sp>
        <p:nvSpPr>
          <p:cNvPr id="16" name="Text 14"/>
          <p:cNvSpPr/>
          <p:nvPr/>
        </p:nvSpPr>
        <p:spPr>
          <a:xfrm>
            <a:off x="5330952" y="2560320"/>
            <a:ext cx="1536192" cy="16459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Security, evals and load tests pass</a:t>
            </a:r>
            <a:endParaRPr lang="en-US" sz="760" dirty="0"/>
          </a:p>
        </p:txBody>
      </p:sp>
      <p:sp>
        <p:nvSpPr>
          <p:cNvPr id="17" name="Shape 15"/>
          <p:cNvSpPr/>
          <p:nvPr/>
        </p:nvSpPr>
        <p:spPr>
          <a:xfrm>
            <a:off x="7086600" y="2514600"/>
            <a:ext cx="274320" cy="0"/>
          </a:xfrm>
          <a:prstGeom prst="line">
            <a:avLst/>
          </a:prstGeom>
          <a:noFill/>
          <a:ln w="12700">
            <a:solidFill>
              <a:srgbClr val="64748B"/>
            </a:solidFill>
            <a:prstDash val="solid"/>
            <a:headEnd type="none"/>
            <a:tailEnd type="triangle"/>
          </a:ln>
        </p:spPr>
        <p:txBody>
          <a:bodyPr/>
          <a:lstStyle/>
          <a:p>
            <a:endParaRPr lang="en-US"/>
          </a:p>
        </p:txBody>
      </p:sp>
      <p:sp>
        <p:nvSpPr>
          <p:cNvPr id="18" name="Shape 16"/>
          <p:cNvSpPr/>
          <p:nvPr/>
        </p:nvSpPr>
        <p:spPr>
          <a:xfrm>
            <a:off x="7406640" y="2057400"/>
            <a:ext cx="1874520" cy="914400"/>
          </a:xfrm>
          <a:prstGeom prst="roundRect">
            <a:avLst>
              <a:gd name="adj" fmla="val 6000"/>
            </a:avLst>
          </a:prstGeom>
          <a:solidFill>
            <a:srgbClr val="ECFDF5"/>
          </a:solidFill>
          <a:ln w="12700">
            <a:solidFill>
              <a:srgbClr val="86EFAC"/>
            </a:solidFill>
            <a:prstDash val="solid"/>
          </a:ln>
        </p:spPr>
        <p:txBody>
          <a:bodyPr/>
          <a:lstStyle/>
          <a:p>
            <a:endParaRPr lang="en-US"/>
          </a:p>
        </p:txBody>
      </p:sp>
      <p:sp>
        <p:nvSpPr>
          <p:cNvPr id="19" name="Text 17"/>
          <p:cNvSpPr/>
          <p:nvPr/>
        </p:nvSpPr>
        <p:spPr>
          <a:xfrm>
            <a:off x="7525512" y="2258568"/>
            <a:ext cx="1627632" cy="118872"/>
          </a:xfrm>
          <a:prstGeom prst="rect">
            <a:avLst/>
          </a:prstGeom>
          <a:noFill/>
          <a:ln/>
        </p:spPr>
        <p:txBody>
          <a:bodyPr wrap="square" lIns="381" tIns="381" rIns="381" bIns="381" rtlCol="0" anchor="ctr">
            <a:normAutofit/>
          </a:bodyPr>
          <a:lstStyle/>
          <a:p>
            <a:pPr marL="0" indent="0" algn="ctr">
              <a:buNone/>
            </a:pPr>
            <a:r>
              <a:rPr lang="en-US" sz="1020" b="1" dirty="0">
                <a:solidFill>
                  <a:srgbClr val="16A34A"/>
                </a:solidFill>
              </a:rPr>
              <a:t>PUBLISHED</a:t>
            </a:r>
            <a:endParaRPr lang="en-US" sz="1020" dirty="0"/>
          </a:p>
        </p:txBody>
      </p:sp>
      <p:sp>
        <p:nvSpPr>
          <p:cNvPr id="20" name="Text 18"/>
          <p:cNvSpPr/>
          <p:nvPr/>
        </p:nvSpPr>
        <p:spPr>
          <a:xfrm>
            <a:off x="7571232" y="2560320"/>
            <a:ext cx="1536192" cy="16459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Visible to eligible agents</a:t>
            </a:r>
            <a:endParaRPr lang="en-US" sz="760" dirty="0"/>
          </a:p>
        </p:txBody>
      </p:sp>
      <p:sp>
        <p:nvSpPr>
          <p:cNvPr id="21" name="Shape 19"/>
          <p:cNvSpPr/>
          <p:nvPr/>
        </p:nvSpPr>
        <p:spPr>
          <a:xfrm>
            <a:off x="9326880" y="2514600"/>
            <a:ext cx="274320" cy="0"/>
          </a:xfrm>
          <a:prstGeom prst="line">
            <a:avLst/>
          </a:prstGeom>
          <a:noFill/>
          <a:ln w="12700">
            <a:solidFill>
              <a:srgbClr val="64748B"/>
            </a:solidFill>
            <a:prstDash val="solid"/>
            <a:headEnd type="none"/>
            <a:tailEnd type="triangle"/>
          </a:ln>
        </p:spPr>
        <p:txBody>
          <a:bodyPr/>
          <a:lstStyle/>
          <a:p>
            <a:endParaRPr lang="en-US"/>
          </a:p>
        </p:txBody>
      </p:sp>
      <p:sp>
        <p:nvSpPr>
          <p:cNvPr id="22" name="Shape 20"/>
          <p:cNvSpPr/>
          <p:nvPr/>
        </p:nvSpPr>
        <p:spPr>
          <a:xfrm>
            <a:off x="9646920" y="2057400"/>
            <a:ext cx="1874520" cy="914400"/>
          </a:xfrm>
          <a:prstGeom prst="roundRect">
            <a:avLst>
              <a:gd name="adj" fmla="val 6000"/>
            </a:avLst>
          </a:prstGeom>
          <a:solidFill>
            <a:srgbClr val="F1F5F9"/>
          </a:solidFill>
          <a:ln w="12700">
            <a:solidFill>
              <a:srgbClr val="CBD5E1"/>
            </a:solidFill>
            <a:prstDash val="solid"/>
          </a:ln>
        </p:spPr>
        <p:txBody>
          <a:bodyPr/>
          <a:lstStyle/>
          <a:p>
            <a:endParaRPr lang="en-US"/>
          </a:p>
        </p:txBody>
      </p:sp>
      <p:sp>
        <p:nvSpPr>
          <p:cNvPr id="23" name="Text 21"/>
          <p:cNvSpPr/>
          <p:nvPr/>
        </p:nvSpPr>
        <p:spPr>
          <a:xfrm>
            <a:off x="9765792" y="2258568"/>
            <a:ext cx="1627632" cy="118872"/>
          </a:xfrm>
          <a:prstGeom prst="rect">
            <a:avLst/>
          </a:prstGeom>
          <a:noFill/>
          <a:ln/>
        </p:spPr>
        <p:txBody>
          <a:bodyPr wrap="square" lIns="381" tIns="381" rIns="381" bIns="381" rtlCol="0" anchor="ctr">
            <a:normAutofit/>
          </a:bodyPr>
          <a:lstStyle/>
          <a:p>
            <a:pPr marL="0" indent="0" algn="ctr">
              <a:buNone/>
            </a:pPr>
            <a:r>
              <a:rPr lang="en-US" sz="1020" b="1" dirty="0">
                <a:solidFill>
                  <a:srgbClr val="2563EB"/>
                </a:solidFill>
              </a:rPr>
              <a:t>DEPRECATED</a:t>
            </a:r>
            <a:endParaRPr lang="en-US" sz="1020" dirty="0"/>
          </a:p>
        </p:txBody>
      </p:sp>
      <p:sp>
        <p:nvSpPr>
          <p:cNvPr id="24" name="Text 22"/>
          <p:cNvSpPr/>
          <p:nvPr/>
        </p:nvSpPr>
        <p:spPr>
          <a:xfrm>
            <a:off x="9811512" y="2560320"/>
            <a:ext cx="1536192" cy="164592"/>
          </a:xfrm>
          <a:prstGeom prst="rect">
            <a:avLst/>
          </a:prstGeom>
          <a:noFill/>
          <a:ln/>
        </p:spPr>
        <p:txBody>
          <a:bodyPr wrap="square" lIns="0" tIns="0" rIns="0" bIns="0" rtlCol="0" anchor="ctr">
            <a:normAutofit/>
          </a:bodyPr>
          <a:lstStyle/>
          <a:p>
            <a:pPr marL="0" indent="0" algn="ctr">
              <a:buNone/>
            </a:pPr>
            <a:r>
              <a:rPr lang="en-US" sz="760" dirty="0">
                <a:solidFill>
                  <a:srgbClr val="64748B"/>
                </a:solidFill>
              </a:rPr>
              <a:t>Replacement available; sunset tracked</a:t>
            </a:r>
            <a:endParaRPr lang="en-US" sz="760" dirty="0"/>
          </a:p>
        </p:txBody>
      </p:sp>
      <p:sp>
        <p:nvSpPr>
          <p:cNvPr id="25" name="Shape 23"/>
          <p:cNvSpPr/>
          <p:nvPr/>
        </p:nvSpPr>
        <p:spPr>
          <a:xfrm>
            <a:off x="777240" y="3703320"/>
            <a:ext cx="4663440" cy="54864"/>
          </a:xfrm>
          <a:prstGeom prst="rect">
            <a:avLst/>
          </a:prstGeom>
          <a:solidFill>
            <a:srgbClr val="0F766E"/>
          </a:solidFill>
          <a:ln w="12700">
            <a:solidFill>
              <a:srgbClr val="0F766E">
                <a:alpha val="0"/>
              </a:srgbClr>
            </a:solidFill>
            <a:prstDash val="solid"/>
          </a:ln>
        </p:spPr>
        <p:txBody>
          <a:bodyPr/>
          <a:lstStyle/>
          <a:p>
            <a:endParaRPr lang="en-US"/>
          </a:p>
        </p:txBody>
      </p:sp>
      <p:sp>
        <p:nvSpPr>
          <p:cNvPr id="26" name="Text 24"/>
          <p:cNvSpPr/>
          <p:nvPr/>
        </p:nvSpPr>
        <p:spPr>
          <a:xfrm>
            <a:off x="777240" y="3794760"/>
            <a:ext cx="4663440" cy="219456"/>
          </a:xfrm>
          <a:prstGeom prst="rect">
            <a:avLst/>
          </a:prstGeom>
          <a:noFill/>
          <a:ln/>
        </p:spPr>
        <p:txBody>
          <a:bodyPr wrap="square" lIns="0" tIns="0" rIns="0" bIns="0" rtlCol="0" anchor="ctr"/>
          <a:lstStyle/>
          <a:p>
            <a:pPr marL="0" indent="0">
              <a:buNone/>
            </a:pPr>
            <a:r>
              <a:rPr lang="en-US" sz="1000" b="1" dirty="0">
                <a:solidFill>
                  <a:srgbClr val="0F766E"/>
                </a:solidFill>
              </a:rPr>
              <a:t>REGISTRY RECORD</a:t>
            </a:r>
            <a:endParaRPr lang="en-US" sz="1000" dirty="0"/>
          </a:p>
        </p:txBody>
      </p:sp>
      <p:sp>
        <p:nvSpPr>
          <p:cNvPr id="27" name="Text 25"/>
          <p:cNvSpPr/>
          <p:nvPr/>
        </p:nvSpPr>
        <p:spPr>
          <a:xfrm>
            <a:off x="868680" y="4142232"/>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28" name="Text 26"/>
          <p:cNvSpPr/>
          <p:nvPr/>
        </p:nvSpPr>
        <p:spPr>
          <a:xfrm>
            <a:off x="1069848" y="4133088"/>
            <a:ext cx="425196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Tool name + version</a:t>
            </a:r>
            <a:endParaRPr lang="en-US" sz="1060" dirty="0"/>
          </a:p>
        </p:txBody>
      </p:sp>
      <p:sp>
        <p:nvSpPr>
          <p:cNvPr id="29" name="Text 27"/>
          <p:cNvSpPr/>
          <p:nvPr/>
        </p:nvSpPr>
        <p:spPr>
          <a:xfrm>
            <a:off x="868680" y="4453128"/>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30" name="Text 28"/>
          <p:cNvSpPr/>
          <p:nvPr/>
        </p:nvSpPr>
        <p:spPr>
          <a:xfrm>
            <a:off x="1069848" y="4443984"/>
            <a:ext cx="425196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Owner and support group</a:t>
            </a:r>
            <a:endParaRPr lang="en-US" sz="1060" dirty="0"/>
          </a:p>
        </p:txBody>
      </p:sp>
      <p:sp>
        <p:nvSpPr>
          <p:cNvPr id="31" name="Text 29"/>
          <p:cNvSpPr/>
          <p:nvPr/>
        </p:nvSpPr>
        <p:spPr>
          <a:xfrm>
            <a:off x="868680" y="4764024"/>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32" name="Text 30"/>
          <p:cNvSpPr/>
          <p:nvPr/>
        </p:nvSpPr>
        <p:spPr>
          <a:xfrm>
            <a:off x="1069848" y="4754880"/>
            <a:ext cx="425196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Risk tier + read/write flag</a:t>
            </a:r>
            <a:endParaRPr lang="en-US" sz="1060" dirty="0"/>
          </a:p>
        </p:txBody>
      </p:sp>
      <p:sp>
        <p:nvSpPr>
          <p:cNvPr id="33" name="Text 31"/>
          <p:cNvSpPr/>
          <p:nvPr/>
        </p:nvSpPr>
        <p:spPr>
          <a:xfrm>
            <a:off x="868680" y="5074920"/>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34" name="Text 32"/>
          <p:cNvSpPr/>
          <p:nvPr/>
        </p:nvSpPr>
        <p:spPr>
          <a:xfrm>
            <a:off x="1069848" y="5065776"/>
            <a:ext cx="425196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Allowed agent classes</a:t>
            </a:r>
            <a:endParaRPr lang="en-US" sz="1060" dirty="0"/>
          </a:p>
        </p:txBody>
      </p:sp>
      <p:sp>
        <p:nvSpPr>
          <p:cNvPr id="35" name="Text 33"/>
          <p:cNvSpPr/>
          <p:nvPr/>
        </p:nvSpPr>
        <p:spPr>
          <a:xfrm>
            <a:off x="868680" y="5385816"/>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36" name="Text 34"/>
          <p:cNvSpPr/>
          <p:nvPr/>
        </p:nvSpPr>
        <p:spPr>
          <a:xfrm>
            <a:off x="1069848" y="5376672"/>
            <a:ext cx="425196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Input/output schemas</a:t>
            </a:r>
            <a:endParaRPr lang="en-US" sz="1060" dirty="0"/>
          </a:p>
        </p:txBody>
      </p:sp>
      <p:sp>
        <p:nvSpPr>
          <p:cNvPr id="37" name="Text 35"/>
          <p:cNvSpPr/>
          <p:nvPr/>
        </p:nvSpPr>
        <p:spPr>
          <a:xfrm>
            <a:off x="868680" y="5696712"/>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38" name="Text 36"/>
          <p:cNvSpPr/>
          <p:nvPr/>
        </p:nvSpPr>
        <p:spPr>
          <a:xfrm>
            <a:off x="1069848" y="5687568"/>
            <a:ext cx="425196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Last certification date</a:t>
            </a:r>
            <a:endParaRPr lang="en-US" sz="1060" dirty="0"/>
          </a:p>
        </p:txBody>
      </p:sp>
      <p:sp>
        <p:nvSpPr>
          <p:cNvPr id="39" name="Shape 37"/>
          <p:cNvSpPr/>
          <p:nvPr/>
        </p:nvSpPr>
        <p:spPr>
          <a:xfrm>
            <a:off x="6629400" y="3703320"/>
            <a:ext cx="4434840" cy="54864"/>
          </a:xfrm>
          <a:prstGeom prst="rect">
            <a:avLst/>
          </a:prstGeom>
          <a:solidFill>
            <a:srgbClr val="6D28D9"/>
          </a:solidFill>
          <a:ln w="12700">
            <a:solidFill>
              <a:srgbClr val="6D28D9">
                <a:alpha val="0"/>
              </a:srgbClr>
            </a:solidFill>
            <a:prstDash val="solid"/>
          </a:ln>
        </p:spPr>
        <p:txBody>
          <a:bodyPr/>
          <a:lstStyle/>
          <a:p>
            <a:endParaRPr lang="en-US"/>
          </a:p>
        </p:txBody>
      </p:sp>
      <p:sp>
        <p:nvSpPr>
          <p:cNvPr id="40" name="Text 38"/>
          <p:cNvSpPr/>
          <p:nvPr/>
        </p:nvSpPr>
        <p:spPr>
          <a:xfrm>
            <a:off x="6629400" y="3794760"/>
            <a:ext cx="4434840" cy="219456"/>
          </a:xfrm>
          <a:prstGeom prst="rect">
            <a:avLst/>
          </a:prstGeom>
          <a:noFill/>
          <a:ln/>
        </p:spPr>
        <p:txBody>
          <a:bodyPr wrap="square" lIns="0" tIns="0" rIns="0" bIns="0" rtlCol="0" anchor="ctr"/>
          <a:lstStyle/>
          <a:p>
            <a:pPr marL="0" indent="0">
              <a:buNone/>
            </a:pPr>
            <a:r>
              <a:rPr lang="en-US" sz="1000" b="1" dirty="0">
                <a:solidFill>
                  <a:srgbClr val="6D28D9"/>
                </a:solidFill>
              </a:rPr>
              <a:t>VERSIONING STANDARD</a:t>
            </a:r>
            <a:endParaRPr lang="en-US" sz="1000" dirty="0"/>
          </a:p>
        </p:txBody>
      </p:sp>
      <p:sp>
        <p:nvSpPr>
          <p:cNvPr id="41" name="Text 39"/>
          <p:cNvSpPr/>
          <p:nvPr/>
        </p:nvSpPr>
        <p:spPr>
          <a:xfrm>
            <a:off x="6720840" y="4142232"/>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42" name="Text 40"/>
          <p:cNvSpPr/>
          <p:nvPr/>
        </p:nvSpPr>
        <p:spPr>
          <a:xfrm>
            <a:off x="6922008" y="4133088"/>
            <a:ext cx="416052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Side-by-side v1/v2 where needed</a:t>
            </a:r>
            <a:endParaRPr lang="en-US" sz="1060" dirty="0"/>
          </a:p>
        </p:txBody>
      </p:sp>
      <p:sp>
        <p:nvSpPr>
          <p:cNvPr id="43" name="Text 41"/>
          <p:cNvSpPr/>
          <p:nvPr/>
        </p:nvSpPr>
        <p:spPr>
          <a:xfrm>
            <a:off x="6720840" y="4526280"/>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44" name="Text 42"/>
          <p:cNvSpPr/>
          <p:nvPr/>
        </p:nvSpPr>
        <p:spPr>
          <a:xfrm>
            <a:off x="6922008" y="4517136"/>
            <a:ext cx="416052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No breaking changes without review</a:t>
            </a:r>
            <a:endParaRPr lang="en-US" sz="1060" dirty="0"/>
          </a:p>
        </p:txBody>
      </p:sp>
      <p:sp>
        <p:nvSpPr>
          <p:cNvPr id="45" name="Text 43"/>
          <p:cNvSpPr/>
          <p:nvPr/>
        </p:nvSpPr>
        <p:spPr>
          <a:xfrm>
            <a:off x="6720840" y="4910328"/>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46" name="Text 44"/>
          <p:cNvSpPr/>
          <p:nvPr/>
        </p:nvSpPr>
        <p:spPr>
          <a:xfrm>
            <a:off x="6922008" y="4901184"/>
            <a:ext cx="416052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Deprecation window and usage tracking</a:t>
            </a:r>
            <a:endParaRPr lang="en-US" sz="1060" dirty="0"/>
          </a:p>
        </p:txBody>
      </p:sp>
      <p:sp>
        <p:nvSpPr>
          <p:cNvPr id="47" name="Text 45"/>
          <p:cNvSpPr/>
          <p:nvPr/>
        </p:nvSpPr>
        <p:spPr>
          <a:xfrm>
            <a:off x="6720840" y="5294376"/>
            <a:ext cx="146304" cy="164592"/>
          </a:xfrm>
          <a:prstGeom prst="rect">
            <a:avLst/>
          </a:prstGeom>
          <a:noFill/>
          <a:ln/>
        </p:spPr>
        <p:txBody>
          <a:bodyPr wrap="square" lIns="0" tIns="0" rIns="0" bIns="0" rtlCol="0" anchor="ctr"/>
          <a:lstStyle/>
          <a:p>
            <a:pPr marL="0" indent="0">
              <a:buNone/>
            </a:pPr>
            <a:r>
              <a:rPr lang="en-US" sz="1060" b="1" dirty="0">
                <a:solidFill>
                  <a:srgbClr val="2563EB"/>
                </a:solidFill>
              </a:rPr>
              <a:t>•</a:t>
            </a:r>
            <a:endParaRPr lang="en-US" sz="1060" dirty="0"/>
          </a:p>
        </p:txBody>
      </p:sp>
      <p:sp>
        <p:nvSpPr>
          <p:cNvPr id="48" name="Text 46"/>
          <p:cNvSpPr/>
          <p:nvPr/>
        </p:nvSpPr>
        <p:spPr>
          <a:xfrm>
            <a:off x="6922008" y="5285232"/>
            <a:ext cx="4160520" cy="274320"/>
          </a:xfrm>
          <a:prstGeom prst="rect">
            <a:avLst/>
          </a:prstGeom>
          <a:noFill/>
          <a:ln/>
        </p:spPr>
        <p:txBody>
          <a:bodyPr wrap="square" lIns="0" tIns="0" rIns="0" bIns="0" rtlCol="0" anchor="ctr">
            <a:normAutofit/>
          </a:bodyPr>
          <a:lstStyle/>
          <a:p>
            <a:pPr marL="0" indent="0">
              <a:buNone/>
            </a:pPr>
            <a:r>
              <a:rPr lang="en-US" sz="1060" dirty="0">
                <a:solidFill>
                  <a:srgbClr val="111827"/>
                </a:solidFill>
              </a:rPr>
              <a:t>Agent prompts reference approved tool versions</a:t>
            </a:r>
            <a:endParaRPr lang="en-US" sz="1060" dirty="0"/>
          </a:p>
        </p:txBody>
      </p:sp>
      <p:sp>
        <p:nvSpPr>
          <p:cNvPr id="49" name="Text 47"/>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50" name="Text 48"/>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Governance Controls: Identity &amp; Permission Boundaries</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Do not allow broad user credentials to flow unchecked through agents and tools.</a:t>
            </a:r>
            <a:endParaRPr lang="en-US" sz="1050" dirty="0"/>
          </a:p>
        </p:txBody>
      </p:sp>
      <p:sp>
        <p:nvSpPr>
          <p:cNvPr id="6" name="Shape 4"/>
          <p:cNvSpPr/>
          <p:nvPr/>
        </p:nvSpPr>
        <p:spPr>
          <a:xfrm>
            <a:off x="1920240" y="2139696"/>
            <a:ext cx="448056" cy="0"/>
          </a:xfrm>
          <a:prstGeom prst="line">
            <a:avLst/>
          </a:prstGeom>
          <a:noFill/>
          <a:ln w="12700">
            <a:solidFill>
              <a:srgbClr val="64748B"/>
            </a:solidFill>
            <a:prstDash val="solid"/>
            <a:headEnd type="none"/>
            <a:tailEnd type="triangle"/>
          </a:ln>
        </p:spPr>
        <p:txBody>
          <a:bodyPr/>
          <a:lstStyle/>
          <a:p>
            <a:endParaRPr lang="en-US"/>
          </a:p>
        </p:txBody>
      </p:sp>
      <p:sp>
        <p:nvSpPr>
          <p:cNvPr id="7" name="Shape 5"/>
          <p:cNvSpPr/>
          <p:nvPr/>
        </p:nvSpPr>
        <p:spPr>
          <a:xfrm>
            <a:off x="3520440" y="2139696"/>
            <a:ext cx="630936" cy="0"/>
          </a:xfrm>
          <a:prstGeom prst="line">
            <a:avLst/>
          </a:prstGeom>
          <a:noFill/>
          <a:ln w="12700">
            <a:solidFill>
              <a:srgbClr val="64748B"/>
            </a:solidFill>
            <a:prstDash val="solid"/>
            <a:headEnd type="none"/>
            <a:tailEnd type="triangle"/>
          </a:ln>
        </p:spPr>
        <p:txBody>
          <a:bodyPr/>
          <a:lstStyle/>
          <a:p>
            <a:endParaRPr lang="en-US"/>
          </a:p>
        </p:txBody>
      </p:sp>
      <p:sp>
        <p:nvSpPr>
          <p:cNvPr id="8" name="Shape 6"/>
          <p:cNvSpPr/>
          <p:nvPr/>
        </p:nvSpPr>
        <p:spPr>
          <a:xfrm>
            <a:off x="5303520" y="2139696"/>
            <a:ext cx="996696" cy="0"/>
          </a:xfrm>
          <a:prstGeom prst="line">
            <a:avLst/>
          </a:prstGeom>
          <a:noFill/>
          <a:ln w="12700">
            <a:solidFill>
              <a:srgbClr val="64748B"/>
            </a:solidFill>
            <a:prstDash val="solid"/>
            <a:headEnd type="none"/>
            <a:tailEnd type="triangle"/>
          </a:ln>
        </p:spPr>
        <p:txBody>
          <a:bodyPr/>
          <a:lstStyle/>
          <a:p>
            <a:endParaRPr lang="en-US"/>
          </a:p>
        </p:txBody>
      </p:sp>
      <p:sp>
        <p:nvSpPr>
          <p:cNvPr id="9" name="Shape 7"/>
          <p:cNvSpPr/>
          <p:nvPr/>
        </p:nvSpPr>
        <p:spPr>
          <a:xfrm>
            <a:off x="7452360" y="2139696"/>
            <a:ext cx="722376" cy="0"/>
          </a:xfrm>
          <a:prstGeom prst="line">
            <a:avLst/>
          </a:prstGeom>
          <a:noFill/>
          <a:ln w="12700">
            <a:solidFill>
              <a:srgbClr val="64748B"/>
            </a:solidFill>
            <a:prstDash val="solid"/>
            <a:headEnd type="none"/>
            <a:tailEnd type="triangle"/>
          </a:ln>
        </p:spPr>
        <p:txBody>
          <a:bodyPr/>
          <a:lstStyle/>
          <a:p>
            <a:endParaRPr lang="en-US"/>
          </a:p>
        </p:txBody>
      </p:sp>
      <p:sp>
        <p:nvSpPr>
          <p:cNvPr id="10" name="Shape 8"/>
          <p:cNvSpPr/>
          <p:nvPr/>
        </p:nvSpPr>
        <p:spPr>
          <a:xfrm>
            <a:off x="822960" y="1874520"/>
            <a:ext cx="1097280" cy="530352"/>
          </a:xfrm>
          <a:prstGeom prst="roundRect">
            <a:avLst>
              <a:gd name="adj" fmla="val 10345"/>
            </a:avLst>
          </a:prstGeom>
          <a:solidFill>
            <a:srgbClr val="FFFFFF"/>
          </a:solidFill>
          <a:ln w="12700">
            <a:solidFill>
              <a:srgbClr val="2563EB"/>
            </a:solidFill>
            <a:prstDash val="solid"/>
          </a:ln>
        </p:spPr>
        <p:txBody>
          <a:bodyPr/>
          <a:lstStyle/>
          <a:p>
            <a:endParaRPr lang="en-US"/>
          </a:p>
        </p:txBody>
      </p:sp>
      <p:sp>
        <p:nvSpPr>
          <p:cNvPr id="11" name="Text 9"/>
          <p:cNvSpPr/>
          <p:nvPr/>
        </p:nvSpPr>
        <p:spPr>
          <a:xfrm>
            <a:off x="822960" y="2029968"/>
            <a:ext cx="1097280" cy="118872"/>
          </a:xfrm>
          <a:prstGeom prst="rect">
            <a:avLst/>
          </a:prstGeom>
          <a:noFill/>
          <a:ln/>
        </p:spPr>
        <p:txBody>
          <a:bodyPr wrap="square" lIns="381" tIns="381" rIns="381" bIns="381" rtlCol="0" anchor="ctr">
            <a:normAutofit/>
          </a:bodyPr>
          <a:lstStyle/>
          <a:p>
            <a:pPr marL="0" indent="0" algn="ctr">
              <a:buNone/>
            </a:pPr>
            <a:r>
              <a:rPr lang="en-US" sz="950" b="1" dirty="0">
                <a:solidFill>
                  <a:srgbClr val="2563EB"/>
                </a:solidFill>
              </a:rPr>
              <a:t>User</a:t>
            </a:r>
            <a:endParaRPr lang="en-US" sz="950" dirty="0"/>
          </a:p>
        </p:txBody>
      </p:sp>
      <p:sp>
        <p:nvSpPr>
          <p:cNvPr id="12" name="Text 10"/>
          <p:cNvSpPr/>
          <p:nvPr/>
        </p:nvSpPr>
        <p:spPr>
          <a:xfrm>
            <a:off x="731520" y="2578608"/>
            <a:ext cx="1280160" cy="137160"/>
          </a:xfrm>
          <a:prstGeom prst="rect">
            <a:avLst/>
          </a:prstGeom>
          <a:noFill/>
          <a:ln/>
        </p:spPr>
        <p:txBody>
          <a:bodyPr wrap="square" lIns="0" tIns="0" rIns="0" bIns="0" rtlCol="0" anchor="ctr">
            <a:normAutofit/>
          </a:bodyPr>
          <a:lstStyle/>
          <a:p>
            <a:pPr marL="0" indent="0" algn="ctr">
              <a:buNone/>
            </a:pPr>
            <a:r>
              <a:rPr lang="en-US" sz="720" dirty="0">
                <a:solidFill>
                  <a:srgbClr val="64748B"/>
                </a:solidFill>
              </a:rPr>
              <a:t>identity</a:t>
            </a:r>
            <a:endParaRPr lang="en-US" sz="720" dirty="0"/>
          </a:p>
        </p:txBody>
      </p:sp>
      <p:sp>
        <p:nvSpPr>
          <p:cNvPr id="13" name="Shape 11"/>
          <p:cNvSpPr/>
          <p:nvPr/>
        </p:nvSpPr>
        <p:spPr>
          <a:xfrm>
            <a:off x="2423160" y="1874520"/>
            <a:ext cx="1097280" cy="530352"/>
          </a:xfrm>
          <a:prstGeom prst="roundRect">
            <a:avLst>
              <a:gd name="adj" fmla="val 10345"/>
            </a:avLst>
          </a:prstGeom>
          <a:solidFill>
            <a:srgbClr val="FFFFFF"/>
          </a:solidFill>
          <a:ln w="12700">
            <a:solidFill>
              <a:srgbClr val="0F766E"/>
            </a:solidFill>
            <a:prstDash val="solid"/>
          </a:ln>
        </p:spPr>
        <p:txBody>
          <a:bodyPr/>
          <a:lstStyle/>
          <a:p>
            <a:endParaRPr lang="en-US"/>
          </a:p>
        </p:txBody>
      </p:sp>
      <p:sp>
        <p:nvSpPr>
          <p:cNvPr id="14" name="Text 12"/>
          <p:cNvSpPr/>
          <p:nvPr/>
        </p:nvSpPr>
        <p:spPr>
          <a:xfrm>
            <a:off x="2423160" y="2029968"/>
            <a:ext cx="1097280" cy="118872"/>
          </a:xfrm>
          <a:prstGeom prst="rect">
            <a:avLst/>
          </a:prstGeom>
          <a:noFill/>
          <a:ln/>
        </p:spPr>
        <p:txBody>
          <a:bodyPr wrap="square" lIns="381" tIns="381" rIns="381" bIns="381" rtlCol="0" anchor="ctr">
            <a:normAutofit/>
          </a:bodyPr>
          <a:lstStyle/>
          <a:p>
            <a:pPr marL="0" indent="0" algn="ctr">
              <a:buNone/>
            </a:pPr>
            <a:r>
              <a:rPr lang="en-US" sz="950" b="1" dirty="0">
                <a:solidFill>
                  <a:srgbClr val="0F766E"/>
                </a:solidFill>
              </a:rPr>
              <a:t>Agent</a:t>
            </a:r>
            <a:endParaRPr lang="en-US" sz="950" dirty="0"/>
          </a:p>
        </p:txBody>
      </p:sp>
      <p:sp>
        <p:nvSpPr>
          <p:cNvPr id="15" name="Text 13"/>
          <p:cNvSpPr/>
          <p:nvPr/>
        </p:nvSpPr>
        <p:spPr>
          <a:xfrm>
            <a:off x="2331720" y="2578608"/>
            <a:ext cx="1280160" cy="137160"/>
          </a:xfrm>
          <a:prstGeom prst="rect">
            <a:avLst/>
          </a:prstGeom>
          <a:noFill/>
          <a:ln/>
        </p:spPr>
        <p:txBody>
          <a:bodyPr wrap="square" lIns="0" tIns="0" rIns="0" bIns="0" rtlCol="0" anchor="ctr">
            <a:normAutofit/>
          </a:bodyPr>
          <a:lstStyle/>
          <a:p>
            <a:pPr marL="0" indent="0" algn="ctr">
              <a:buNone/>
            </a:pPr>
            <a:r>
              <a:rPr lang="en-US" sz="720" dirty="0">
                <a:solidFill>
                  <a:srgbClr val="64748B"/>
                </a:solidFill>
              </a:rPr>
              <a:t>agent entitlement</a:t>
            </a:r>
            <a:endParaRPr lang="en-US" sz="720" dirty="0"/>
          </a:p>
        </p:txBody>
      </p:sp>
      <p:sp>
        <p:nvSpPr>
          <p:cNvPr id="16" name="Shape 14"/>
          <p:cNvSpPr/>
          <p:nvPr/>
        </p:nvSpPr>
        <p:spPr>
          <a:xfrm>
            <a:off x="4206240" y="1874520"/>
            <a:ext cx="1097280" cy="530352"/>
          </a:xfrm>
          <a:prstGeom prst="roundRect">
            <a:avLst>
              <a:gd name="adj" fmla="val 10345"/>
            </a:avLst>
          </a:prstGeom>
          <a:solidFill>
            <a:srgbClr val="FFFFFF"/>
          </a:solidFill>
          <a:ln w="12700">
            <a:solidFill>
              <a:srgbClr val="6D28D9"/>
            </a:solidFill>
            <a:prstDash val="solid"/>
          </a:ln>
        </p:spPr>
        <p:txBody>
          <a:bodyPr/>
          <a:lstStyle/>
          <a:p>
            <a:endParaRPr lang="en-US"/>
          </a:p>
        </p:txBody>
      </p:sp>
      <p:sp>
        <p:nvSpPr>
          <p:cNvPr id="17" name="Text 15"/>
          <p:cNvSpPr/>
          <p:nvPr/>
        </p:nvSpPr>
        <p:spPr>
          <a:xfrm>
            <a:off x="4206240" y="2029968"/>
            <a:ext cx="1097280" cy="118872"/>
          </a:xfrm>
          <a:prstGeom prst="rect">
            <a:avLst/>
          </a:prstGeom>
          <a:noFill/>
          <a:ln/>
        </p:spPr>
        <p:txBody>
          <a:bodyPr wrap="square" lIns="381" tIns="381" rIns="381" bIns="381" rtlCol="0" anchor="ctr">
            <a:normAutofit/>
          </a:bodyPr>
          <a:lstStyle/>
          <a:p>
            <a:pPr marL="0" indent="0" algn="ctr">
              <a:buNone/>
            </a:pPr>
            <a:r>
              <a:rPr lang="en-US" sz="950" b="1" dirty="0">
                <a:solidFill>
                  <a:srgbClr val="6D28D9"/>
                </a:solidFill>
              </a:rPr>
              <a:t>MCP Gateway</a:t>
            </a:r>
            <a:endParaRPr lang="en-US" sz="950" dirty="0"/>
          </a:p>
        </p:txBody>
      </p:sp>
      <p:sp>
        <p:nvSpPr>
          <p:cNvPr id="18" name="Text 16"/>
          <p:cNvSpPr/>
          <p:nvPr/>
        </p:nvSpPr>
        <p:spPr>
          <a:xfrm>
            <a:off x="4114800" y="2578608"/>
            <a:ext cx="1280160" cy="137160"/>
          </a:xfrm>
          <a:prstGeom prst="rect">
            <a:avLst/>
          </a:prstGeom>
          <a:noFill/>
          <a:ln/>
        </p:spPr>
        <p:txBody>
          <a:bodyPr wrap="square" lIns="0" tIns="0" rIns="0" bIns="0" rtlCol="0" anchor="ctr">
            <a:normAutofit/>
          </a:bodyPr>
          <a:lstStyle/>
          <a:p>
            <a:pPr marL="0" indent="0" algn="ctr">
              <a:buNone/>
            </a:pPr>
            <a:r>
              <a:rPr lang="en-US" sz="720" dirty="0">
                <a:solidFill>
                  <a:srgbClr val="64748B"/>
                </a:solidFill>
              </a:rPr>
              <a:t>policy decision</a:t>
            </a:r>
            <a:endParaRPr lang="en-US" sz="720" dirty="0"/>
          </a:p>
        </p:txBody>
      </p:sp>
      <p:sp>
        <p:nvSpPr>
          <p:cNvPr id="19" name="Shape 17"/>
          <p:cNvSpPr/>
          <p:nvPr/>
        </p:nvSpPr>
        <p:spPr>
          <a:xfrm>
            <a:off x="6355080" y="1874520"/>
            <a:ext cx="1097280" cy="530352"/>
          </a:xfrm>
          <a:prstGeom prst="roundRect">
            <a:avLst>
              <a:gd name="adj" fmla="val 10345"/>
            </a:avLst>
          </a:prstGeom>
          <a:solidFill>
            <a:srgbClr val="FFFFFF"/>
          </a:solidFill>
          <a:ln w="12700">
            <a:solidFill>
              <a:srgbClr val="D97706"/>
            </a:solidFill>
            <a:prstDash val="solid"/>
          </a:ln>
        </p:spPr>
        <p:txBody>
          <a:bodyPr/>
          <a:lstStyle/>
          <a:p>
            <a:endParaRPr lang="en-US"/>
          </a:p>
        </p:txBody>
      </p:sp>
      <p:sp>
        <p:nvSpPr>
          <p:cNvPr id="20" name="Text 18"/>
          <p:cNvSpPr/>
          <p:nvPr/>
        </p:nvSpPr>
        <p:spPr>
          <a:xfrm>
            <a:off x="6355080" y="2029968"/>
            <a:ext cx="1097280" cy="118872"/>
          </a:xfrm>
          <a:prstGeom prst="rect">
            <a:avLst/>
          </a:prstGeom>
          <a:noFill/>
          <a:ln/>
        </p:spPr>
        <p:txBody>
          <a:bodyPr wrap="square" lIns="381" tIns="381" rIns="381" bIns="381" rtlCol="0" anchor="ctr">
            <a:normAutofit/>
          </a:bodyPr>
          <a:lstStyle/>
          <a:p>
            <a:pPr marL="0" indent="0" algn="ctr">
              <a:buNone/>
            </a:pPr>
            <a:r>
              <a:rPr lang="en-US" sz="950" b="1" dirty="0">
                <a:solidFill>
                  <a:srgbClr val="D97706"/>
                </a:solidFill>
              </a:rPr>
              <a:t>MCP Tool</a:t>
            </a:r>
            <a:endParaRPr lang="en-US" sz="950" dirty="0"/>
          </a:p>
        </p:txBody>
      </p:sp>
      <p:sp>
        <p:nvSpPr>
          <p:cNvPr id="21" name="Text 19"/>
          <p:cNvSpPr/>
          <p:nvPr/>
        </p:nvSpPr>
        <p:spPr>
          <a:xfrm>
            <a:off x="6263640" y="2578608"/>
            <a:ext cx="1280160" cy="137160"/>
          </a:xfrm>
          <a:prstGeom prst="rect">
            <a:avLst/>
          </a:prstGeom>
          <a:noFill/>
          <a:ln/>
        </p:spPr>
        <p:txBody>
          <a:bodyPr wrap="square" lIns="0" tIns="0" rIns="0" bIns="0" rtlCol="0" anchor="ctr">
            <a:normAutofit/>
          </a:bodyPr>
          <a:lstStyle/>
          <a:p>
            <a:pPr marL="0" indent="0" algn="ctr">
              <a:buNone/>
            </a:pPr>
            <a:r>
              <a:rPr lang="en-US" sz="720" dirty="0">
                <a:solidFill>
                  <a:srgbClr val="64748B"/>
                </a:solidFill>
              </a:rPr>
              <a:t>scoped credential</a:t>
            </a:r>
            <a:endParaRPr lang="en-US" sz="720" dirty="0"/>
          </a:p>
        </p:txBody>
      </p:sp>
      <p:sp>
        <p:nvSpPr>
          <p:cNvPr id="22" name="Shape 20"/>
          <p:cNvSpPr/>
          <p:nvPr/>
        </p:nvSpPr>
        <p:spPr>
          <a:xfrm>
            <a:off x="8229600" y="1874520"/>
            <a:ext cx="1097280" cy="530352"/>
          </a:xfrm>
          <a:prstGeom prst="roundRect">
            <a:avLst>
              <a:gd name="adj" fmla="val 10345"/>
            </a:avLst>
          </a:prstGeom>
          <a:solidFill>
            <a:srgbClr val="FFFFFF"/>
          </a:solidFill>
          <a:ln w="12700">
            <a:solidFill>
              <a:srgbClr val="334155"/>
            </a:solidFill>
            <a:prstDash val="solid"/>
          </a:ln>
        </p:spPr>
        <p:txBody>
          <a:bodyPr/>
          <a:lstStyle/>
          <a:p>
            <a:endParaRPr lang="en-US"/>
          </a:p>
        </p:txBody>
      </p:sp>
      <p:sp>
        <p:nvSpPr>
          <p:cNvPr id="23" name="Text 21"/>
          <p:cNvSpPr/>
          <p:nvPr/>
        </p:nvSpPr>
        <p:spPr>
          <a:xfrm>
            <a:off x="8229600" y="2029968"/>
            <a:ext cx="1097280" cy="118872"/>
          </a:xfrm>
          <a:prstGeom prst="rect">
            <a:avLst/>
          </a:prstGeom>
          <a:noFill/>
          <a:ln/>
        </p:spPr>
        <p:txBody>
          <a:bodyPr wrap="square" lIns="381" tIns="381" rIns="381" bIns="381" rtlCol="0" anchor="ctr">
            <a:normAutofit/>
          </a:bodyPr>
          <a:lstStyle/>
          <a:p>
            <a:pPr marL="0" indent="0" algn="ctr">
              <a:buNone/>
            </a:pPr>
            <a:r>
              <a:rPr lang="en-US" sz="950" b="1" dirty="0">
                <a:solidFill>
                  <a:srgbClr val="334155"/>
                </a:solidFill>
              </a:rPr>
              <a:t>Backend</a:t>
            </a:r>
            <a:endParaRPr lang="en-US" sz="950" dirty="0"/>
          </a:p>
        </p:txBody>
      </p:sp>
      <p:sp>
        <p:nvSpPr>
          <p:cNvPr id="24" name="Text 22"/>
          <p:cNvSpPr/>
          <p:nvPr/>
        </p:nvSpPr>
        <p:spPr>
          <a:xfrm>
            <a:off x="8138160" y="2578608"/>
            <a:ext cx="1280160" cy="137160"/>
          </a:xfrm>
          <a:prstGeom prst="rect">
            <a:avLst/>
          </a:prstGeom>
          <a:noFill/>
          <a:ln/>
        </p:spPr>
        <p:txBody>
          <a:bodyPr wrap="square" lIns="0" tIns="0" rIns="0" bIns="0" rtlCol="0" anchor="ctr">
            <a:normAutofit/>
          </a:bodyPr>
          <a:lstStyle/>
          <a:p>
            <a:pPr marL="0" indent="0" algn="ctr">
              <a:buNone/>
            </a:pPr>
            <a:r>
              <a:rPr lang="en-US" sz="720" dirty="0">
                <a:solidFill>
                  <a:srgbClr val="64748B"/>
                </a:solidFill>
              </a:rPr>
              <a:t>resource permission</a:t>
            </a:r>
            <a:endParaRPr lang="en-US" sz="720" dirty="0"/>
          </a:p>
        </p:txBody>
      </p:sp>
      <p:sp>
        <p:nvSpPr>
          <p:cNvPr id="25" name="Shape 23"/>
          <p:cNvSpPr/>
          <p:nvPr/>
        </p:nvSpPr>
        <p:spPr>
          <a:xfrm>
            <a:off x="868680" y="3703320"/>
            <a:ext cx="4572000" cy="54864"/>
          </a:xfrm>
          <a:prstGeom prst="rect">
            <a:avLst/>
          </a:prstGeom>
          <a:solidFill>
            <a:srgbClr val="2563EB"/>
          </a:solidFill>
          <a:ln w="12700">
            <a:solidFill>
              <a:srgbClr val="2563EB">
                <a:alpha val="0"/>
              </a:srgbClr>
            </a:solidFill>
            <a:prstDash val="solid"/>
          </a:ln>
        </p:spPr>
        <p:txBody>
          <a:bodyPr/>
          <a:lstStyle/>
          <a:p>
            <a:endParaRPr lang="en-US"/>
          </a:p>
        </p:txBody>
      </p:sp>
      <p:sp>
        <p:nvSpPr>
          <p:cNvPr id="26" name="Text 24"/>
          <p:cNvSpPr/>
          <p:nvPr/>
        </p:nvSpPr>
        <p:spPr>
          <a:xfrm>
            <a:off x="868680" y="3794760"/>
            <a:ext cx="4572000" cy="219456"/>
          </a:xfrm>
          <a:prstGeom prst="rect">
            <a:avLst/>
          </a:prstGeom>
          <a:noFill/>
          <a:ln/>
        </p:spPr>
        <p:txBody>
          <a:bodyPr wrap="square" lIns="0" tIns="0" rIns="0" bIns="0" rtlCol="0" anchor="ctr"/>
          <a:lstStyle/>
          <a:p>
            <a:pPr marL="0" indent="0">
              <a:buNone/>
            </a:pPr>
            <a:r>
              <a:rPr lang="en-US" sz="1000" b="1" dirty="0">
                <a:solidFill>
                  <a:srgbClr val="2563EB"/>
                </a:solidFill>
              </a:rPr>
              <a:t>BOUNDARY RULES</a:t>
            </a:r>
            <a:endParaRPr lang="en-US" sz="1000" dirty="0"/>
          </a:p>
        </p:txBody>
      </p:sp>
      <p:sp>
        <p:nvSpPr>
          <p:cNvPr id="27" name="Text 25"/>
          <p:cNvSpPr/>
          <p:nvPr/>
        </p:nvSpPr>
        <p:spPr>
          <a:xfrm>
            <a:off x="914400" y="4142232"/>
            <a:ext cx="146304" cy="164592"/>
          </a:xfrm>
          <a:prstGeom prst="rect">
            <a:avLst/>
          </a:prstGeom>
          <a:noFill/>
          <a:ln/>
        </p:spPr>
        <p:txBody>
          <a:bodyPr wrap="square" lIns="0" tIns="0" rIns="0" bIns="0" rtlCol="0" anchor="ctr"/>
          <a:lstStyle/>
          <a:p>
            <a:pPr marL="0" indent="0">
              <a:buNone/>
            </a:pPr>
            <a:r>
              <a:rPr lang="en-US" sz="1080" b="1" dirty="0">
                <a:solidFill>
                  <a:srgbClr val="2563EB"/>
                </a:solidFill>
              </a:rPr>
              <a:t>•</a:t>
            </a:r>
            <a:endParaRPr lang="en-US" sz="1080" dirty="0"/>
          </a:p>
        </p:txBody>
      </p:sp>
      <p:sp>
        <p:nvSpPr>
          <p:cNvPr id="28" name="Text 26"/>
          <p:cNvSpPr/>
          <p:nvPr/>
        </p:nvSpPr>
        <p:spPr>
          <a:xfrm>
            <a:off x="1115568" y="4133088"/>
            <a:ext cx="4389120" cy="274320"/>
          </a:xfrm>
          <a:prstGeom prst="rect">
            <a:avLst/>
          </a:prstGeom>
          <a:noFill/>
          <a:ln/>
        </p:spPr>
        <p:txBody>
          <a:bodyPr wrap="square" lIns="0" tIns="0" rIns="0" bIns="0" rtlCol="0" anchor="ctr">
            <a:normAutofit/>
          </a:bodyPr>
          <a:lstStyle/>
          <a:p>
            <a:pPr marL="0" indent="0">
              <a:buNone/>
            </a:pPr>
            <a:r>
              <a:rPr lang="en-US" sz="1080" dirty="0">
                <a:solidFill>
                  <a:srgbClr val="111827"/>
                </a:solidFill>
              </a:rPr>
              <a:t>No unmanaged local MCP servers in production</a:t>
            </a:r>
            <a:endParaRPr lang="en-US" sz="1080" dirty="0"/>
          </a:p>
        </p:txBody>
      </p:sp>
      <p:sp>
        <p:nvSpPr>
          <p:cNvPr id="29" name="Text 27"/>
          <p:cNvSpPr/>
          <p:nvPr/>
        </p:nvSpPr>
        <p:spPr>
          <a:xfrm>
            <a:off x="914400" y="4535424"/>
            <a:ext cx="146304" cy="164592"/>
          </a:xfrm>
          <a:prstGeom prst="rect">
            <a:avLst/>
          </a:prstGeom>
          <a:noFill/>
          <a:ln/>
        </p:spPr>
        <p:txBody>
          <a:bodyPr wrap="square" lIns="0" tIns="0" rIns="0" bIns="0" rtlCol="0" anchor="ctr"/>
          <a:lstStyle/>
          <a:p>
            <a:pPr marL="0" indent="0">
              <a:buNone/>
            </a:pPr>
            <a:r>
              <a:rPr lang="en-US" sz="1080" b="1" dirty="0">
                <a:solidFill>
                  <a:srgbClr val="2563EB"/>
                </a:solidFill>
              </a:rPr>
              <a:t>•</a:t>
            </a:r>
            <a:endParaRPr lang="en-US" sz="1080" dirty="0"/>
          </a:p>
        </p:txBody>
      </p:sp>
      <p:sp>
        <p:nvSpPr>
          <p:cNvPr id="30" name="Text 28"/>
          <p:cNvSpPr/>
          <p:nvPr/>
        </p:nvSpPr>
        <p:spPr>
          <a:xfrm>
            <a:off x="1115568" y="4526280"/>
            <a:ext cx="4389120" cy="274320"/>
          </a:xfrm>
          <a:prstGeom prst="rect">
            <a:avLst/>
          </a:prstGeom>
          <a:noFill/>
          <a:ln/>
        </p:spPr>
        <p:txBody>
          <a:bodyPr wrap="square" lIns="0" tIns="0" rIns="0" bIns="0" rtlCol="0" anchor="ctr">
            <a:normAutofit/>
          </a:bodyPr>
          <a:lstStyle/>
          <a:p>
            <a:pPr marL="0" indent="0">
              <a:buNone/>
            </a:pPr>
            <a:r>
              <a:rPr lang="en-US" sz="1080" dirty="0">
                <a:solidFill>
                  <a:srgbClr val="111827"/>
                </a:solidFill>
              </a:rPr>
              <a:t>No broad token pass-through from user to backend</a:t>
            </a:r>
            <a:endParaRPr lang="en-US" sz="1080" dirty="0"/>
          </a:p>
        </p:txBody>
      </p:sp>
      <p:sp>
        <p:nvSpPr>
          <p:cNvPr id="31" name="Text 29"/>
          <p:cNvSpPr/>
          <p:nvPr/>
        </p:nvSpPr>
        <p:spPr>
          <a:xfrm>
            <a:off x="914400" y="4928616"/>
            <a:ext cx="146304" cy="164592"/>
          </a:xfrm>
          <a:prstGeom prst="rect">
            <a:avLst/>
          </a:prstGeom>
          <a:noFill/>
          <a:ln/>
        </p:spPr>
        <p:txBody>
          <a:bodyPr wrap="square" lIns="0" tIns="0" rIns="0" bIns="0" rtlCol="0" anchor="ctr"/>
          <a:lstStyle/>
          <a:p>
            <a:pPr marL="0" indent="0">
              <a:buNone/>
            </a:pPr>
            <a:r>
              <a:rPr lang="en-US" sz="1080" b="1" dirty="0">
                <a:solidFill>
                  <a:srgbClr val="2563EB"/>
                </a:solidFill>
              </a:rPr>
              <a:t>•</a:t>
            </a:r>
            <a:endParaRPr lang="en-US" sz="1080" dirty="0"/>
          </a:p>
        </p:txBody>
      </p:sp>
      <p:sp>
        <p:nvSpPr>
          <p:cNvPr id="32" name="Text 30"/>
          <p:cNvSpPr/>
          <p:nvPr/>
        </p:nvSpPr>
        <p:spPr>
          <a:xfrm>
            <a:off x="1115568" y="4919472"/>
            <a:ext cx="4389120" cy="274320"/>
          </a:xfrm>
          <a:prstGeom prst="rect">
            <a:avLst/>
          </a:prstGeom>
          <a:noFill/>
          <a:ln/>
        </p:spPr>
        <p:txBody>
          <a:bodyPr wrap="square" lIns="0" tIns="0" rIns="0" bIns="0" rtlCol="0" anchor="ctr">
            <a:normAutofit/>
          </a:bodyPr>
          <a:lstStyle/>
          <a:p>
            <a:pPr marL="0" indent="0">
              <a:buNone/>
            </a:pPr>
            <a:r>
              <a:rPr lang="en-US" sz="1080" dirty="0">
                <a:solidFill>
                  <a:srgbClr val="111827"/>
                </a:solidFill>
              </a:rPr>
              <a:t>Gateway enforces entitlement before tool invocation</a:t>
            </a:r>
            <a:endParaRPr lang="en-US" sz="1080" dirty="0"/>
          </a:p>
        </p:txBody>
      </p:sp>
      <p:sp>
        <p:nvSpPr>
          <p:cNvPr id="33" name="Text 31"/>
          <p:cNvSpPr/>
          <p:nvPr/>
        </p:nvSpPr>
        <p:spPr>
          <a:xfrm>
            <a:off x="914400" y="5321808"/>
            <a:ext cx="146304" cy="164592"/>
          </a:xfrm>
          <a:prstGeom prst="rect">
            <a:avLst/>
          </a:prstGeom>
          <a:noFill/>
          <a:ln/>
        </p:spPr>
        <p:txBody>
          <a:bodyPr wrap="square" lIns="0" tIns="0" rIns="0" bIns="0" rtlCol="0" anchor="ctr"/>
          <a:lstStyle/>
          <a:p>
            <a:pPr marL="0" indent="0">
              <a:buNone/>
            </a:pPr>
            <a:r>
              <a:rPr lang="en-US" sz="1080" b="1" dirty="0">
                <a:solidFill>
                  <a:srgbClr val="2563EB"/>
                </a:solidFill>
              </a:rPr>
              <a:t>•</a:t>
            </a:r>
            <a:endParaRPr lang="en-US" sz="1080" dirty="0"/>
          </a:p>
        </p:txBody>
      </p:sp>
      <p:sp>
        <p:nvSpPr>
          <p:cNvPr id="34" name="Text 32"/>
          <p:cNvSpPr/>
          <p:nvPr/>
        </p:nvSpPr>
        <p:spPr>
          <a:xfrm>
            <a:off x="1115568" y="5312664"/>
            <a:ext cx="4389120" cy="274320"/>
          </a:xfrm>
          <a:prstGeom prst="rect">
            <a:avLst/>
          </a:prstGeom>
          <a:noFill/>
          <a:ln/>
        </p:spPr>
        <p:txBody>
          <a:bodyPr wrap="square" lIns="0" tIns="0" rIns="0" bIns="0" rtlCol="0" anchor="ctr">
            <a:normAutofit/>
          </a:bodyPr>
          <a:lstStyle/>
          <a:p>
            <a:pPr marL="0" indent="0">
              <a:buNone/>
            </a:pPr>
            <a:r>
              <a:rPr lang="en-US" sz="1080" dirty="0">
                <a:solidFill>
                  <a:srgbClr val="111827"/>
                </a:solidFill>
              </a:rPr>
              <a:t>Tool obtains only scoped downstream permission</a:t>
            </a:r>
            <a:endParaRPr lang="en-US" sz="1080" dirty="0"/>
          </a:p>
        </p:txBody>
      </p:sp>
      <p:sp>
        <p:nvSpPr>
          <p:cNvPr id="35" name="Shape 33"/>
          <p:cNvSpPr/>
          <p:nvPr/>
        </p:nvSpPr>
        <p:spPr>
          <a:xfrm>
            <a:off x="6629400" y="3703320"/>
            <a:ext cx="4343400" cy="54864"/>
          </a:xfrm>
          <a:prstGeom prst="rect">
            <a:avLst/>
          </a:prstGeom>
          <a:solidFill>
            <a:srgbClr val="D97706"/>
          </a:solidFill>
          <a:ln w="12700">
            <a:solidFill>
              <a:srgbClr val="D97706">
                <a:alpha val="0"/>
              </a:srgbClr>
            </a:solidFill>
            <a:prstDash val="solid"/>
          </a:ln>
        </p:spPr>
        <p:txBody>
          <a:bodyPr/>
          <a:lstStyle/>
          <a:p>
            <a:endParaRPr lang="en-US"/>
          </a:p>
        </p:txBody>
      </p:sp>
      <p:sp>
        <p:nvSpPr>
          <p:cNvPr id="36" name="Text 34"/>
          <p:cNvSpPr/>
          <p:nvPr/>
        </p:nvSpPr>
        <p:spPr>
          <a:xfrm>
            <a:off x="6629400" y="3794760"/>
            <a:ext cx="4343400" cy="219456"/>
          </a:xfrm>
          <a:prstGeom prst="rect">
            <a:avLst/>
          </a:prstGeom>
          <a:noFill/>
          <a:ln/>
        </p:spPr>
        <p:txBody>
          <a:bodyPr wrap="square" lIns="0" tIns="0" rIns="0" bIns="0" rtlCol="0" anchor="ctr"/>
          <a:lstStyle/>
          <a:p>
            <a:pPr marL="0" indent="0">
              <a:buNone/>
            </a:pPr>
            <a:r>
              <a:rPr lang="en-US" sz="1000" b="1" dirty="0">
                <a:solidFill>
                  <a:srgbClr val="D97706"/>
                </a:solidFill>
              </a:rPr>
              <a:t>READ / WRITE SEPARATION</a:t>
            </a:r>
            <a:endParaRPr lang="en-US" sz="1000" dirty="0"/>
          </a:p>
        </p:txBody>
      </p:sp>
      <p:sp>
        <p:nvSpPr>
          <p:cNvPr id="37" name="Shape 35"/>
          <p:cNvSpPr/>
          <p:nvPr/>
        </p:nvSpPr>
        <p:spPr>
          <a:xfrm>
            <a:off x="6720840" y="4206240"/>
            <a:ext cx="1691640" cy="566928"/>
          </a:xfrm>
          <a:prstGeom prst="roundRect">
            <a:avLst>
              <a:gd name="adj" fmla="val 9677"/>
            </a:avLst>
          </a:prstGeom>
          <a:solidFill>
            <a:srgbClr val="EFF6FF"/>
          </a:solidFill>
          <a:ln w="12700">
            <a:solidFill>
              <a:srgbClr val="93C5FD"/>
            </a:solidFill>
            <a:prstDash val="solid"/>
          </a:ln>
        </p:spPr>
        <p:txBody>
          <a:bodyPr/>
          <a:lstStyle/>
          <a:p>
            <a:endParaRPr lang="en-US"/>
          </a:p>
        </p:txBody>
      </p:sp>
      <p:sp>
        <p:nvSpPr>
          <p:cNvPr id="38" name="Text 36"/>
          <p:cNvSpPr/>
          <p:nvPr/>
        </p:nvSpPr>
        <p:spPr>
          <a:xfrm>
            <a:off x="6858000" y="4407408"/>
            <a:ext cx="1417320" cy="109728"/>
          </a:xfrm>
          <a:prstGeom prst="rect">
            <a:avLst/>
          </a:prstGeom>
          <a:noFill/>
          <a:ln/>
        </p:spPr>
        <p:txBody>
          <a:bodyPr wrap="square" lIns="381" tIns="381" rIns="381" bIns="381" rtlCol="0" anchor="ctr">
            <a:normAutofit/>
          </a:bodyPr>
          <a:lstStyle/>
          <a:p>
            <a:pPr marL="0" indent="0" algn="ctr">
              <a:buNone/>
            </a:pPr>
            <a:r>
              <a:rPr lang="en-US" sz="1000" b="1" dirty="0">
                <a:solidFill>
                  <a:srgbClr val="2563EB"/>
                </a:solidFill>
              </a:rPr>
              <a:t>READ TOOLS</a:t>
            </a:r>
            <a:endParaRPr lang="en-US" sz="1000" dirty="0"/>
          </a:p>
        </p:txBody>
      </p:sp>
      <p:sp>
        <p:nvSpPr>
          <p:cNvPr id="39" name="Shape 37"/>
          <p:cNvSpPr/>
          <p:nvPr/>
        </p:nvSpPr>
        <p:spPr>
          <a:xfrm>
            <a:off x="9144000" y="4206240"/>
            <a:ext cx="1691640" cy="566928"/>
          </a:xfrm>
          <a:prstGeom prst="roundRect">
            <a:avLst>
              <a:gd name="adj" fmla="val 9677"/>
            </a:avLst>
          </a:prstGeom>
          <a:solidFill>
            <a:srgbClr val="FFFBEB"/>
          </a:solidFill>
          <a:ln w="12700">
            <a:solidFill>
              <a:srgbClr val="FCD34D"/>
            </a:solidFill>
            <a:prstDash val="solid"/>
          </a:ln>
        </p:spPr>
        <p:txBody>
          <a:bodyPr/>
          <a:lstStyle/>
          <a:p>
            <a:endParaRPr lang="en-US"/>
          </a:p>
        </p:txBody>
      </p:sp>
      <p:sp>
        <p:nvSpPr>
          <p:cNvPr id="40" name="Text 38"/>
          <p:cNvSpPr/>
          <p:nvPr/>
        </p:nvSpPr>
        <p:spPr>
          <a:xfrm>
            <a:off x="9281160" y="4407408"/>
            <a:ext cx="1417320" cy="109728"/>
          </a:xfrm>
          <a:prstGeom prst="rect">
            <a:avLst/>
          </a:prstGeom>
          <a:noFill/>
          <a:ln/>
        </p:spPr>
        <p:txBody>
          <a:bodyPr wrap="square" lIns="381" tIns="381" rIns="381" bIns="381" rtlCol="0" anchor="ctr">
            <a:normAutofit/>
          </a:bodyPr>
          <a:lstStyle/>
          <a:p>
            <a:pPr marL="0" indent="0" algn="ctr">
              <a:buNone/>
            </a:pPr>
            <a:r>
              <a:rPr lang="en-US" sz="1000" b="1" dirty="0">
                <a:solidFill>
                  <a:srgbClr val="D97706"/>
                </a:solidFill>
              </a:rPr>
              <a:t>WRITE TOOLS</a:t>
            </a:r>
            <a:endParaRPr lang="en-US" sz="1000" dirty="0"/>
          </a:p>
        </p:txBody>
      </p:sp>
      <p:sp>
        <p:nvSpPr>
          <p:cNvPr id="41" name="Shape 39"/>
          <p:cNvSpPr/>
          <p:nvPr/>
        </p:nvSpPr>
        <p:spPr>
          <a:xfrm>
            <a:off x="8439912" y="4489704"/>
            <a:ext cx="658368" cy="0"/>
          </a:xfrm>
          <a:prstGeom prst="line">
            <a:avLst/>
          </a:prstGeom>
          <a:noFill/>
          <a:ln w="12700">
            <a:solidFill>
              <a:srgbClr val="64748B"/>
            </a:solidFill>
            <a:prstDash val="solid"/>
            <a:headEnd type="none"/>
            <a:tailEnd type="triangle"/>
          </a:ln>
        </p:spPr>
        <p:txBody>
          <a:bodyPr/>
          <a:lstStyle/>
          <a:p>
            <a:endParaRPr lang="en-US"/>
          </a:p>
        </p:txBody>
      </p:sp>
      <p:sp>
        <p:nvSpPr>
          <p:cNvPr id="42" name="Text 40"/>
          <p:cNvSpPr/>
          <p:nvPr/>
        </p:nvSpPr>
        <p:spPr>
          <a:xfrm>
            <a:off x="6903720" y="5074920"/>
            <a:ext cx="3840480" cy="182880"/>
          </a:xfrm>
          <a:prstGeom prst="rect">
            <a:avLst/>
          </a:prstGeom>
          <a:noFill/>
          <a:ln/>
        </p:spPr>
        <p:txBody>
          <a:bodyPr wrap="square" lIns="0" tIns="0" rIns="0" bIns="0" rtlCol="0" anchor="ctr">
            <a:normAutofit/>
          </a:bodyPr>
          <a:lstStyle/>
          <a:p>
            <a:pPr marL="0" indent="0" algn="ctr">
              <a:buNone/>
            </a:pPr>
            <a:r>
              <a:rPr lang="en-US" sz="950" b="1" dirty="0">
                <a:solidFill>
                  <a:srgbClr val="0B1F33"/>
                </a:solidFill>
              </a:rPr>
              <a:t>Separate server groups, separate credentials, separate policy gates</a:t>
            </a:r>
            <a:endParaRPr lang="en-US" sz="950" dirty="0"/>
          </a:p>
        </p:txBody>
      </p:sp>
      <p:sp>
        <p:nvSpPr>
          <p:cNvPr id="43" name="Text 41"/>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44" name="Text 42"/>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Policy &amp; Human Controls by Tool Risk Tier</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The control intensity should increase as the tool moves from information to action.</a:t>
            </a:r>
            <a:endParaRPr lang="en-US" sz="1050" dirty="0"/>
          </a:p>
        </p:txBody>
      </p:sp>
      <p:sp>
        <p:nvSpPr>
          <p:cNvPr id="6" name="Shape 4"/>
          <p:cNvSpPr/>
          <p:nvPr/>
        </p:nvSpPr>
        <p:spPr>
          <a:xfrm>
            <a:off x="685800" y="1280160"/>
            <a:ext cx="10835640" cy="347472"/>
          </a:xfrm>
          <a:prstGeom prst="rect">
            <a:avLst/>
          </a:prstGeom>
          <a:solidFill>
            <a:srgbClr val="0B1F33"/>
          </a:solidFill>
          <a:ln w="12700">
            <a:solidFill>
              <a:srgbClr val="0B1F33">
                <a:alpha val="0"/>
              </a:srgbClr>
            </a:solidFill>
            <a:prstDash val="solid"/>
          </a:ln>
        </p:spPr>
        <p:txBody>
          <a:bodyPr/>
          <a:lstStyle/>
          <a:p>
            <a:endParaRPr lang="en-US"/>
          </a:p>
        </p:txBody>
      </p:sp>
      <p:sp>
        <p:nvSpPr>
          <p:cNvPr id="7" name="Text 5"/>
          <p:cNvSpPr/>
          <p:nvPr/>
        </p:nvSpPr>
        <p:spPr>
          <a:xfrm>
            <a:off x="868680" y="1389888"/>
            <a:ext cx="640080" cy="91440"/>
          </a:xfrm>
          <a:prstGeom prst="rect">
            <a:avLst/>
          </a:prstGeom>
          <a:noFill/>
          <a:ln/>
        </p:spPr>
        <p:txBody>
          <a:bodyPr wrap="square" lIns="0" tIns="0" rIns="0" bIns="0" rtlCol="0" anchor="ctr"/>
          <a:lstStyle/>
          <a:p>
            <a:pPr marL="0" indent="0">
              <a:buNone/>
            </a:pPr>
            <a:r>
              <a:rPr lang="en-US" sz="880" b="1" dirty="0">
                <a:solidFill>
                  <a:srgbClr val="FFFFFF"/>
                </a:solidFill>
              </a:rPr>
              <a:t>Tier</a:t>
            </a:r>
            <a:endParaRPr lang="en-US" sz="880" dirty="0"/>
          </a:p>
        </p:txBody>
      </p:sp>
      <p:sp>
        <p:nvSpPr>
          <p:cNvPr id="8" name="Text 6"/>
          <p:cNvSpPr/>
          <p:nvPr/>
        </p:nvSpPr>
        <p:spPr>
          <a:xfrm>
            <a:off x="1691640" y="1389888"/>
            <a:ext cx="2194560" cy="91440"/>
          </a:xfrm>
          <a:prstGeom prst="rect">
            <a:avLst/>
          </a:prstGeom>
          <a:noFill/>
          <a:ln/>
        </p:spPr>
        <p:txBody>
          <a:bodyPr wrap="square" lIns="0" tIns="0" rIns="0" bIns="0" rtlCol="0" anchor="ctr"/>
          <a:lstStyle/>
          <a:p>
            <a:pPr marL="0" indent="0">
              <a:buNone/>
            </a:pPr>
            <a:r>
              <a:rPr lang="en-US" sz="880" b="1" dirty="0">
                <a:solidFill>
                  <a:srgbClr val="FFFFFF"/>
                </a:solidFill>
              </a:rPr>
              <a:t>Capability</a:t>
            </a:r>
            <a:endParaRPr lang="en-US" sz="880" dirty="0"/>
          </a:p>
        </p:txBody>
      </p:sp>
      <p:sp>
        <p:nvSpPr>
          <p:cNvPr id="9" name="Text 7"/>
          <p:cNvSpPr/>
          <p:nvPr/>
        </p:nvSpPr>
        <p:spPr>
          <a:xfrm>
            <a:off x="4160520" y="1389888"/>
            <a:ext cx="2926080" cy="91440"/>
          </a:xfrm>
          <a:prstGeom prst="rect">
            <a:avLst/>
          </a:prstGeom>
          <a:noFill/>
          <a:ln/>
        </p:spPr>
        <p:txBody>
          <a:bodyPr wrap="square" lIns="0" tIns="0" rIns="0" bIns="0" rtlCol="0" anchor="ctr"/>
          <a:lstStyle/>
          <a:p>
            <a:pPr marL="0" indent="0">
              <a:buNone/>
            </a:pPr>
            <a:r>
              <a:rPr lang="en-US" sz="880" b="1" dirty="0">
                <a:solidFill>
                  <a:srgbClr val="FFFFFF"/>
                </a:solidFill>
              </a:rPr>
              <a:t>Minimum Control</a:t>
            </a:r>
            <a:endParaRPr lang="en-US" sz="880" dirty="0"/>
          </a:p>
        </p:txBody>
      </p:sp>
      <p:sp>
        <p:nvSpPr>
          <p:cNvPr id="10" name="Text 8"/>
          <p:cNvSpPr/>
          <p:nvPr/>
        </p:nvSpPr>
        <p:spPr>
          <a:xfrm>
            <a:off x="7498080" y="1389888"/>
            <a:ext cx="3474720" cy="91440"/>
          </a:xfrm>
          <a:prstGeom prst="rect">
            <a:avLst/>
          </a:prstGeom>
          <a:noFill/>
          <a:ln/>
        </p:spPr>
        <p:txBody>
          <a:bodyPr wrap="square" lIns="0" tIns="0" rIns="0" bIns="0" rtlCol="0" anchor="ctr"/>
          <a:lstStyle/>
          <a:p>
            <a:pPr marL="0" indent="0">
              <a:buNone/>
            </a:pPr>
            <a:r>
              <a:rPr lang="en-US" sz="880" b="1" dirty="0">
                <a:solidFill>
                  <a:srgbClr val="FFFFFF"/>
                </a:solidFill>
              </a:rPr>
              <a:t>EDGE Example</a:t>
            </a:r>
            <a:endParaRPr lang="en-US" sz="880" dirty="0"/>
          </a:p>
        </p:txBody>
      </p:sp>
      <p:sp>
        <p:nvSpPr>
          <p:cNvPr id="11" name="Shape 9"/>
          <p:cNvSpPr/>
          <p:nvPr/>
        </p:nvSpPr>
        <p:spPr>
          <a:xfrm>
            <a:off x="685800" y="1783080"/>
            <a:ext cx="10835640" cy="658368"/>
          </a:xfrm>
          <a:prstGeom prst="rect">
            <a:avLst/>
          </a:prstGeom>
          <a:solidFill>
            <a:srgbClr val="FFFFFF"/>
          </a:solidFill>
          <a:ln w="6350">
            <a:solidFill>
              <a:srgbClr val="E2E8F0"/>
            </a:solidFill>
            <a:prstDash val="solid"/>
          </a:ln>
        </p:spPr>
        <p:txBody>
          <a:bodyPr/>
          <a:lstStyle/>
          <a:p>
            <a:endParaRPr lang="en-US"/>
          </a:p>
        </p:txBody>
      </p:sp>
      <p:sp>
        <p:nvSpPr>
          <p:cNvPr id="12" name="Text 10"/>
          <p:cNvSpPr/>
          <p:nvPr/>
        </p:nvSpPr>
        <p:spPr>
          <a:xfrm>
            <a:off x="868680" y="1993392"/>
            <a:ext cx="384048" cy="118872"/>
          </a:xfrm>
          <a:prstGeom prst="rect">
            <a:avLst/>
          </a:prstGeom>
          <a:noFill/>
          <a:ln/>
        </p:spPr>
        <p:txBody>
          <a:bodyPr wrap="square" lIns="0" tIns="0" rIns="0" bIns="0" rtlCol="0" anchor="ctr"/>
          <a:lstStyle/>
          <a:p>
            <a:pPr marL="0" indent="0">
              <a:buNone/>
            </a:pPr>
            <a:r>
              <a:rPr lang="en-US" sz="1000" b="1" dirty="0">
                <a:solidFill>
                  <a:srgbClr val="334155"/>
                </a:solidFill>
              </a:rPr>
              <a:t>L0</a:t>
            </a:r>
            <a:endParaRPr lang="en-US" sz="1000" dirty="0"/>
          </a:p>
        </p:txBody>
      </p:sp>
      <p:sp>
        <p:nvSpPr>
          <p:cNvPr id="13" name="Text 11"/>
          <p:cNvSpPr/>
          <p:nvPr/>
        </p:nvSpPr>
        <p:spPr>
          <a:xfrm>
            <a:off x="1691640" y="1984248"/>
            <a:ext cx="2011680" cy="118872"/>
          </a:xfrm>
          <a:prstGeom prst="rect">
            <a:avLst/>
          </a:prstGeom>
          <a:noFill/>
          <a:ln/>
        </p:spPr>
        <p:txBody>
          <a:bodyPr wrap="square" lIns="0" tIns="0" rIns="0" bIns="0" rtlCol="0" anchor="ctr">
            <a:normAutofit/>
          </a:bodyPr>
          <a:lstStyle/>
          <a:p>
            <a:pPr marL="0" indent="0">
              <a:buNone/>
            </a:pPr>
            <a:r>
              <a:rPr lang="en-US" sz="950" b="1" dirty="0">
                <a:solidFill>
                  <a:srgbClr val="0B1F33"/>
                </a:solidFill>
              </a:rPr>
              <a:t>Informational</a:t>
            </a:r>
            <a:endParaRPr lang="en-US" sz="950" dirty="0"/>
          </a:p>
        </p:txBody>
      </p:sp>
      <p:sp>
        <p:nvSpPr>
          <p:cNvPr id="14" name="Text 12"/>
          <p:cNvSpPr/>
          <p:nvPr/>
        </p:nvSpPr>
        <p:spPr>
          <a:xfrm>
            <a:off x="4160520" y="1984248"/>
            <a:ext cx="283464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Allow + log</a:t>
            </a:r>
            <a:endParaRPr lang="en-US" sz="920" dirty="0"/>
          </a:p>
        </p:txBody>
      </p:sp>
      <p:sp>
        <p:nvSpPr>
          <p:cNvPr id="15" name="Text 13"/>
          <p:cNvSpPr/>
          <p:nvPr/>
        </p:nvSpPr>
        <p:spPr>
          <a:xfrm>
            <a:off x="7498080" y="1984248"/>
            <a:ext cx="324612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Model/context only; no enterprise data</a:t>
            </a:r>
            <a:endParaRPr lang="en-US" sz="920" dirty="0"/>
          </a:p>
        </p:txBody>
      </p:sp>
      <p:sp>
        <p:nvSpPr>
          <p:cNvPr id="16" name="Shape 14"/>
          <p:cNvSpPr/>
          <p:nvPr/>
        </p:nvSpPr>
        <p:spPr>
          <a:xfrm>
            <a:off x="685800" y="2496312"/>
            <a:ext cx="10835640" cy="658368"/>
          </a:xfrm>
          <a:prstGeom prst="rect">
            <a:avLst/>
          </a:prstGeom>
          <a:solidFill>
            <a:srgbClr val="F8FAFC"/>
          </a:solidFill>
          <a:ln w="6350">
            <a:solidFill>
              <a:srgbClr val="E2E8F0"/>
            </a:solidFill>
            <a:prstDash val="solid"/>
          </a:ln>
        </p:spPr>
        <p:txBody>
          <a:bodyPr/>
          <a:lstStyle/>
          <a:p>
            <a:endParaRPr lang="en-US"/>
          </a:p>
        </p:txBody>
      </p:sp>
      <p:sp>
        <p:nvSpPr>
          <p:cNvPr id="17" name="Text 15"/>
          <p:cNvSpPr/>
          <p:nvPr/>
        </p:nvSpPr>
        <p:spPr>
          <a:xfrm>
            <a:off x="868680" y="2706624"/>
            <a:ext cx="384048" cy="118872"/>
          </a:xfrm>
          <a:prstGeom prst="rect">
            <a:avLst/>
          </a:prstGeom>
          <a:noFill/>
          <a:ln/>
        </p:spPr>
        <p:txBody>
          <a:bodyPr wrap="square" lIns="0" tIns="0" rIns="0" bIns="0" rtlCol="0" anchor="ctr"/>
          <a:lstStyle/>
          <a:p>
            <a:pPr marL="0" indent="0">
              <a:buNone/>
            </a:pPr>
            <a:r>
              <a:rPr lang="en-US" sz="1000" b="1" dirty="0">
                <a:solidFill>
                  <a:srgbClr val="2563EB"/>
                </a:solidFill>
              </a:rPr>
              <a:t>L1</a:t>
            </a:r>
            <a:endParaRPr lang="en-US" sz="1000" dirty="0"/>
          </a:p>
        </p:txBody>
      </p:sp>
      <p:sp>
        <p:nvSpPr>
          <p:cNvPr id="18" name="Text 16"/>
          <p:cNvSpPr/>
          <p:nvPr/>
        </p:nvSpPr>
        <p:spPr>
          <a:xfrm>
            <a:off x="1691640" y="2697480"/>
            <a:ext cx="2011680" cy="118872"/>
          </a:xfrm>
          <a:prstGeom prst="rect">
            <a:avLst/>
          </a:prstGeom>
          <a:noFill/>
          <a:ln/>
        </p:spPr>
        <p:txBody>
          <a:bodyPr wrap="square" lIns="0" tIns="0" rIns="0" bIns="0" rtlCol="0" anchor="ctr">
            <a:normAutofit/>
          </a:bodyPr>
          <a:lstStyle/>
          <a:p>
            <a:pPr marL="0" indent="0">
              <a:buNone/>
            </a:pPr>
            <a:r>
              <a:rPr lang="en-US" sz="950" b="1" dirty="0">
                <a:solidFill>
                  <a:srgbClr val="0B1F33"/>
                </a:solidFill>
              </a:rPr>
              <a:t>Read enterprise data</a:t>
            </a:r>
            <a:endParaRPr lang="en-US" sz="950" dirty="0"/>
          </a:p>
        </p:txBody>
      </p:sp>
      <p:sp>
        <p:nvSpPr>
          <p:cNvPr id="19" name="Text 17"/>
          <p:cNvSpPr/>
          <p:nvPr/>
        </p:nvSpPr>
        <p:spPr>
          <a:xfrm>
            <a:off x="4160520" y="2697480"/>
            <a:ext cx="283464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RBAC/ABAC + masking + audit</a:t>
            </a:r>
            <a:endParaRPr lang="en-US" sz="920" dirty="0"/>
          </a:p>
        </p:txBody>
      </p:sp>
      <p:sp>
        <p:nvSpPr>
          <p:cNvPr id="20" name="Text 18"/>
          <p:cNvSpPr/>
          <p:nvPr/>
        </p:nvSpPr>
        <p:spPr>
          <a:xfrm>
            <a:off x="7498080" y="2697480"/>
            <a:ext cx="324612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Reference, position, settlement reads</a:t>
            </a:r>
            <a:endParaRPr lang="en-US" sz="920" dirty="0"/>
          </a:p>
        </p:txBody>
      </p:sp>
      <p:sp>
        <p:nvSpPr>
          <p:cNvPr id="21" name="Shape 19"/>
          <p:cNvSpPr/>
          <p:nvPr/>
        </p:nvSpPr>
        <p:spPr>
          <a:xfrm>
            <a:off x="685800" y="3209544"/>
            <a:ext cx="10835640" cy="658368"/>
          </a:xfrm>
          <a:prstGeom prst="rect">
            <a:avLst/>
          </a:prstGeom>
          <a:solidFill>
            <a:srgbClr val="FFFFFF"/>
          </a:solidFill>
          <a:ln w="6350">
            <a:solidFill>
              <a:srgbClr val="E2E8F0"/>
            </a:solidFill>
            <a:prstDash val="solid"/>
          </a:ln>
        </p:spPr>
        <p:txBody>
          <a:bodyPr/>
          <a:lstStyle/>
          <a:p>
            <a:endParaRPr lang="en-US"/>
          </a:p>
        </p:txBody>
      </p:sp>
      <p:sp>
        <p:nvSpPr>
          <p:cNvPr id="22" name="Text 20"/>
          <p:cNvSpPr/>
          <p:nvPr/>
        </p:nvSpPr>
        <p:spPr>
          <a:xfrm>
            <a:off x="868680" y="3419856"/>
            <a:ext cx="384048" cy="118872"/>
          </a:xfrm>
          <a:prstGeom prst="rect">
            <a:avLst/>
          </a:prstGeom>
          <a:noFill/>
          <a:ln/>
        </p:spPr>
        <p:txBody>
          <a:bodyPr wrap="square" lIns="0" tIns="0" rIns="0" bIns="0" rtlCol="0" anchor="ctr"/>
          <a:lstStyle/>
          <a:p>
            <a:pPr marL="0" indent="0">
              <a:buNone/>
            </a:pPr>
            <a:r>
              <a:rPr lang="en-US" sz="1000" b="1" dirty="0">
                <a:solidFill>
                  <a:srgbClr val="0F766E"/>
                </a:solidFill>
              </a:rPr>
              <a:t>L2</a:t>
            </a:r>
            <a:endParaRPr lang="en-US" sz="1000" dirty="0"/>
          </a:p>
        </p:txBody>
      </p:sp>
      <p:sp>
        <p:nvSpPr>
          <p:cNvPr id="23" name="Text 21"/>
          <p:cNvSpPr/>
          <p:nvPr/>
        </p:nvSpPr>
        <p:spPr>
          <a:xfrm>
            <a:off x="1691640" y="3410712"/>
            <a:ext cx="2011680" cy="118872"/>
          </a:xfrm>
          <a:prstGeom prst="rect">
            <a:avLst/>
          </a:prstGeom>
          <a:noFill/>
          <a:ln/>
        </p:spPr>
        <p:txBody>
          <a:bodyPr wrap="square" lIns="0" tIns="0" rIns="0" bIns="0" rtlCol="0" anchor="ctr">
            <a:normAutofit/>
          </a:bodyPr>
          <a:lstStyle/>
          <a:p>
            <a:pPr marL="0" indent="0">
              <a:buNone/>
            </a:pPr>
            <a:r>
              <a:rPr lang="en-US" sz="950" b="1" dirty="0">
                <a:solidFill>
                  <a:srgbClr val="0B1F33"/>
                </a:solidFill>
              </a:rPr>
              <a:t>Generate / propose</a:t>
            </a:r>
            <a:endParaRPr lang="en-US" sz="950" dirty="0"/>
          </a:p>
        </p:txBody>
      </p:sp>
      <p:sp>
        <p:nvSpPr>
          <p:cNvPr id="24" name="Text 22"/>
          <p:cNvSpPr/>
          <p:nvPr/>
        </p:nvSpPr>
        <p:spPr>
          <a:xfrm>
            <a:off x="4160520" y="3410712"/>
            <a:ext cx="283464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Evidence, eval checks, reviewer optional</a:t>
            </a:r>
            <a:endParaRPr lang="en-US" sz="920" dirty="0"/>
          </a:p>
        </p:txBody>
      </p:sp>
      <p:sp>
        <p:nvSpPr>
          <p:cNvPr id="25" name="Text 23"/>
          <p:cNvSpPr/>
          <p:nvPr/>
        </p:nvSpPr>
        <p:spPr>
          <a:xfrm>
            <a:off x="7498080" y="3410712"/>
            <a:ext cx="324612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Draft commentary, draft QMA email</a:t>
            </a:r>
            <a:endParaRPr lang="en-US" sz="920" dirty="0"/>
          </a:p>
        </p:txBody>
      </p:sp>
      <p:sp>
        <p:nvSpPr>
          <p:cNvPr id="26" name="Shape 24"/>
          <p:cNvSpPr/>
          <p:nvPr/>
        </p:nvSpPr>
        <p:spPr>
          <a:xfrm>
            <a:off x="685800" y="3922776"/>
            <a:ext cx="10835640" cy="658368"/>
          </a:xfrm>
          <a:prstGeom prst="rect">
            <a:avLst/>
          </a:prstGeom>
          <a:solidFill>
            <a:srgbClr val="F8FAFC"/>
          </a:solidFill>
          <a:ln w="6350">
            <a:solidFill>
              <a:srgbClr val="E2E8F0"/>
            </a:solidFill>
            <a:prstDash val="solid"/>
          </a:ln>
        </p:spPr>
        <p:txBody>
          <a:bodyPr/>
          <a:lstStyle/>
          <a:p>
            <a:endParaRPr lang="en-US"/>
          </a:p>
        </p:txBody>
      </p:sp>
      <p:sp>
        <p:nvSpPr>
          <p:cNvPr id="27" name="Text 25"/>
          <p:cNvSpPr/>
          <p:nvPr/>
        </p:nvSpPr>
        <p:spPr>
          <a:xfrm>
            <a:off x="868680" y="4133088"/>
            <a:ext cx="384048" cy="118872"/>
          </a:xfrm>
          <a:prstGeom prst="rect">
            <a:avLst/>
          </a:prstGeom>
          <a:noFill/>
          <a:ln/>
        </p:spPr>
        <p:txBody>
          <a:bodyPr wrap="square" lIns="0" tIns="0" rIns="0" bIns="0" rtlCol="0" anchor="ctr"/>
          <a:lstStyle/>
          <a:p>
            <a:pPr marL="0" indent="0">
              <a:buNone/>
            </a:pPr>
            <a:r>
              <a:rPr lang="en-US" sz="1000" b="1" dirty="0">
                <a:solidFill>
                  <a:srgbClr val="D97706"/>
                </a:solidFill>
              </a:rPr>
              <a:t>L3</a:t>
            </a:r>
            <a:endParaRPr lang="en-US" sz="1000" dirty="0"/>
          </a:p>
        </p:txBody>
      </p:sp>
      <p:sp>
        <p:nvSpPr>
          <p:cNvPr id="28" name="Text 26"/>
          <p:cNvSpPr/>
          <p:nvPr/>
        </p:nvSpPr>
        <p:spPr>
          <a:xfrm>
            <a:off x="1691640" y="4123944"/>
            <a:ext cx="2011680" cy="118872"/>
          </a:xfrm>
          <a:prstGeom prst="rect">
            <a:avLst/>
          </a:prstGeom>
          <a:noFill/>
          <a:ln/>
        </p:spPr>
        <p:txBody>
          <a:bodyPr wrap="square" lIns="0" tIns="0" rIns="0" bIns="0" rtlCol="0" anchor="ctr">
            <a:normAutofit/>
          </a:bodyPr>
          <a:lstStyle/>
          <a:p>
            <a:pPr marL="0" indent="0">
              <a:buNone/>
            </a:pPr>
            <a:r>
              <a:rPr lang="en-US" sz="950" b="1" dirty="0">
                <a:solidFill>
                  <a:srgbClr val="0B1F33"/>
                </a:solidFill>
              </a:rPr>
              <a:t>Write operational data</a:t>
            </a:r>
            <a:endParaRPr lang="en-US" sz="950" dirty="0"/>
          </a:p>
        </p:txBody>
      </p:sp>
      <p:sp>
        <p:nvSpPr>
          <p:cNvPr id="29" name="Text 27"/>
          <p:cNvSpPr/>
          <p:nvPr/>
        </p:nvSpPr>
        <p:spPr>
          <a:xfrm>
            <a:off x="4160520" y="4123944"/>
            <a:ext cx="283464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Policy approval + HIL gate</a:t>
            </a:r>
            <a:endParaRPr lang="en-US" sz="920" dirty="0"/>
          </a:p>
        </p:txBody>
      </p:sp>
      <p:sp>
        <p:nvSpPr>
          <p:cNvPr id="30" name="Text 28"/>
          <p:cNvSpPr/>
          <p:nvPr/>
        </p:nvSpPr>
        <p:spPr>
          <a:xfrm>
            <a:off x="7498080" y="4123944"/>
            <a:ext cx="324612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Update case, publish internal commentary</a:t>
            </a:r>
            <a:endParaRPr lang="en-US" sz="920" dirty="0"/>
          </a:p>
        </p:txBody>
      </p:sp>
      <p:sp>
        <p:nvSpPr>
          <p:cNvPr id="31" name="Shape 29"/>
          <p:cNvSpPr/>
          <p:nvPr/>
        </p:nvSpPr>
        <p:spPr>
          <a:xfrm>
            <a:off x="685800" y="4636008"/>
            <a:ext cx="10835640" cy="658368"/>
          </a:xfrm>
          <a:prstGeom prst="rect">
            <a:avLst/>
          </a:prstGeom>
          <a:solidFill>
            <a:srgbClr val="FFFFFF"/>
          </a:solidFill>
          <a:ln w="6350">
            <a:solidFill>
              <a:srgbClr val="E2E8F0"/>
            </a:solidFill>
            <a:prstDash val="solid"/>
          </a:ln>
        </p:spPr>
        <p:txBody>
          <a:bodyPr/>
          <a:lstStyle/>
          <a:p>
            <a:endParaRPr lang="en-US"/>
          </a:p>
        </p:txBody>
      </p:sp>
      <p:sp>
        <p:nvSpPr>
          <p:cNvPr id="32" name="Text 30"/>
          <p:cNvSpPr/>
          <p:nvPr/>
        </p:nvSpPr>
        <p:spPr>
          <a:xfrm>
            <a:off x="868680" y="4846320"/>
            <a:ext cx="384048" cy="118872"/>
          </a:xfrm>
          <a:prstGeom prst="rect">
            <a:avLst/>
          </a:prstGeom>
          <a:noFill/>
          <a:ln/>
        </p:spPr>
        <p:txBody>
          <a:bodyPr wrap="square" lIns="0" tIns="0" rIns="0" bIns="0" rtlCol="0" anchor="ctr"/>
          <a:lstStyle/>
          <a:p>
            <a:pPr marL="0" indent="0">
              <a:buNone/>
            </a:pPr>
            <a:r>
              <a:rPr lang="en-US" sz="1000" b="1" dirty="0">
                <a:solidFill>
                  <a:srgbClr val="DC2626"/>
                </a:solidFill>
              </a:rPr>
              <a:t>L4</a:t>
            </a:r>
            <a:endParaRPr lang="en-US" sz="1000" dirty="0"/>
          </a:p>
        </p:txBody>
      </p:sp>
      <p:sp>
        <p:nvSpPr>
          <p:cNvPr id="33" name="Text 31"/>
          <p:cNvSpPr/>
          <p:nvPr/>
        </p:nvSpPr>
        <p:spPr>
          <a:xfrm>
            <a:off x="1691640" y="4837176"/>
            <a:ext cx="2011680" cy="118872"/>
          </a:xfrm>
          <a:prstGeom prst="rect">
            <a:avLst/>
          </a:prstGeom>
          <a:noFill/>
          <a:ln/>
        </p:spPr>
        <p:txBody>
          <a:bodyPr wrap="square" lIns="0" tIns="0" rIns="0" bIns="0" rtlCol="0" anchor="ctr">
            <a:normAutofit/>
          </a:bodyPr>
          <a:lstStyle/>
          <a:p>
            <a:pPr marL="0" indent="0">
              <a:buNone/>
            </a:pPr>
            <a:r>
              <a:rPr lang="en-US" sz="950" b="1" dirty="0">
                <a:solidFill>
                  <a:srgbClr val="0B1F33"/>
                </a:solidFill>
              </a:rPr>
              <a:t>External / high impact</a:t>
            </a:r>
            <a:endParaRPr lang="en-US" sz="950" dirty="0"/>
          </a:p>
        </p:txBody>
      </p:sp>
      <p:sp>
        <p:nvSpPr>
          <p:cNvPr id="34" name="Text 32"/>
          <p:cNvSpPr/>
          <p:nvPr/>
        </p:nvSpPr>
        <p:spPr>
          <a:xfrm>
            <a:off x="4160520" y="4837176"/>
            <a:ext cx="283464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Strict HIL + elevated approval</a:t>
            </a:r>
            <a:endParaRPr lang="en-US" sz="920" dirty="0"/>
          </a:p>
        </p:txBody>
      </p:sp>
      <p:sp>
        <p:nvSpPr>
          <p:cNvPr id="35" name="Text 33"/>
          <p:cNvSpPr/>
          <p:nvPr/>
        </p:nvSpPr>
        <p:spPr>
          <a:xfrm>
            <a:off x="7498080" y="4837176"/>
            <a:ext cx="3246120" cy="118872"/>
          </a:xfrm>
          <a:prstGeom prst="rect">
            <a:avLst/>
          </a:prstGeom>
          <a:noFill/>
          <a:ln/>
        </p:spPr>
        <p:txBody>
          <a:bodyPr wrap="square" lIns="0" tIns="0" rIns="0" bIns="0" rtlCol="0" anchor="ctr">
            <a:normAutofit/>
          </a:bodyPr>
          <a:lstStyle/>
          <a:p>
            <a:pPr marL="0" indent="0">
              <a:buNone/>
            </a:pPr>
            <a:r>
              <a:rPr lang="en-US" sz="920" dirty="0">
                <a:solidFill>
                  <a:srgbClr val="334155"/>
                </a:solidFill>
              </a:rPr>
              <a:t>Send instruction, external communication</a:t>
            </a:r>
            <a:endParaRPr lang="en-US" sz="920" dirty="0"/>
          </a:p>
        </p:txBody>
      </p:sp>
      <p:sp>
        <p:nvSpPr>
          <p:cNvPr id="36" name="Text 34"/>
          <p:cNvSpPr/>
          <p:nvPr/>
        </p:nvSpPr>
        <p:spPr>
          <a:xfrm>
            <a:off x="731520" y="5715000"/>
            <a:ext cx="10515600" cy="228600"/>
          </a:xfrm>
          <a:prstGeom prst="rect">
            <a:avLst/>
          </a:prstGeom>
          <a:noFill/>
          <a:ln/>
        </p:spPr>
        <p:txBody>
          <a:bodyPr wrap="square" lIns="0" tIns="0" rIns="0" bIns="0" rtlCol="0" anchor="ctr">
            <a:normAutofit/>
          </a:bodyPr>
          <a:lstStyle/>
          <a:p>
            <a:pPr marL="0" indent="0" algn="ctr">
              <a:buNone/>
            </a:pPr>
            <a:r>
              <a:rPr lang="en-US" sz="1220" b="1" dirty="0">
                <a:solidFill>
                  <a:srgbClr val="0B1F33"/>
                </a:solidFill>
              </a:rPr>
              <a:t>For EDGE, L3/L4 actions should not be autonomous by default. The default posture is propose → review → approve → execute.</a:t>
            </a:r>
            <a:endParaRPr lang="en-US" sz="1220" dirty="0"/>
          </a:p>
        </p:txBody>
      </p:sp>
      <p:sp>
        <p:nvSpPr>
          <p:cNvPr id="37" name="Text 35"/>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38" name="Text 36"/>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19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txBody>
          <a:bodyPr/>
          <a:lstStyle/>
          <a:p>
            <a:endParaRPr lang="en-US"/>
          </a:p>
        </p:txBody>
      </p:sp>
      <p:sp>
        <p:nvSpPr>
          <p:cNvPr id="3" name="Shape 1"/>
          <p:cNvSpPr/>
          <p:nvPr/>
        </p:nvSpPr>
        <p:spPr>
          <a:xfrm>
            <a:off x="0" y="0"/>
            <a:ext cx="12191695" cy="100584"/>
          </a:xfrm>
          <a:prstGeom prst="rect">
            <a:avLst/>
          </a:prstGeom>
          <a:solidFill>
            <a:srgbClr val="2563EB"/>
          </a:solidFill>
          <a:ln w="12700">
            <a:solidFill>
              <a:srgbClr val="2563EB">
                <a:alpha val="0"/>
              </a:srgbClr>
            </a:solidFill>
            <a:prstDash val="solid"/>
          </a:ln>
        </p:spPr>
        <p:txBody>
          <a:bodyPr/>
          <a:lstStyle/>
          <a:p>
            <a:endParaRPr lang="en-US"/>
          </a:p>
        </p:txBody>
      </p:sp>
      <p:sp>
        <p:nvSpPr>
          <p:cNvPr id="4" name="Text 2"/>
          <p:cNvSpPr/>
          <p:nvPr/>
        </p:nvSpPr>
        <p:spPr>
          <a:xfrm>
            <a:off x="502920" y="310896"/>
            <a:ext cx="9966960" cy="411480"/>
          </a:xfrm>
          <a:prstGeom prst="rect">
            <a:avLst/>
          </a:prstGeom>
          <a:noFill/>
          <a:ln/>
        </p:spPr>
        <p:txBody>
          <a:bodyPr wrap="square" lIns="0" tIns="0" rIns="0" bIns="0" rtlCol="0" anchor="ctr">
            <a:normAutofit/>
          </a:bodyPr>
          <a:lstStyle/>
          <a:p>
            <a:pPr marL="0" indent="0">
              <a:buNone/>
            </a:pPr>
            <a:r>
              <a:rPr lang="en-US" sz="2400" b="1" dirty="0">
                <a:solidFill>
                  <a:srgbClr val="0B1F33"/>
                </a:solidFill>
                <a:latin typeface="Aptos Display" pitchFamily="34" charset="0"/>
                <a:ea typeface="Aptos Display" pitchFamily="34" charset="-122"/>
                <a:cs typeface="Aptos Display" pitchFamily="34" charset="-120"/>
              </a:rPr>
              <a:t>Operating Model: Metrics, Ownership &amp; Adoption</a:t>
            </a:r>
            <a:endParaRPr lang="en-US" sz="2400" dirty="0"/>
          </a:p>
        </p:txBody>
      </p:sp>
      <p:sp>
        <p:nvSpPr>
          <p:cNvPr id="5" name="Text 3"/>
          <p:cNvSpPr/>
          <p:nvPr/>
        </p:nvSpPr>
        <p:spPr>
          <a:xfrm>
            <a:off x="521208" y="749808"/>
            <a:ext cx="10789920" cy="320040"/>
          </a:xfrm>
          <a:prstGeom prst="rect">
            <a:avLst/>
          </a:prstGeom>
          <a:noFill/>
          <a:ln/>
        </p:spPr>
        <p:txBody>
          <a:bodyPr wrap="square" lIns="0" tIns="0" rIns="0" bIns="0" rtlCol="0" anchor="ctr">
            <a:normAutofit/>
          </a:bodyPr>
          <a:lstStyle/>
          <a:p>
            <a:pPr marL="0" indent="0">
              <a:buNone/>
            </a:pPr>
            <a:r>
              <a:rPr lang="en-US" sz="1050" dirty="0">
                <a:solidFill>
                  <a:srgbClr val="64748B"/>
                </a:solidFill>
              </a:rPr>
              <a:t>Make MCP measurable and governable from day one.</a:t>
            </a:r>
            <a:endParaRPr lang="en-US" sz="1050" dirty="0"/>
          </a:p>
        </p:txBody>
      </p:sp>
      <p:sp>
        <p:nvSpPr>
          <p:cNvPr id="6" name="Shape 4"/>
          <p:cNvSpPr/>
          <p:nvPr/>
        </p:nvSpPr>
        <p:spPr>
          <a:xfrm>
            <a:off x="713232" y="1417320"/>
            <a:ext cx="3337560" cy="2423160"/>
          </a:xfrm>
          <a:prstGeom prst="roundRect">
            <a:avLst>
              <a:gd name="adj" fmla="val 2264"/>
            </a:avLst>
          </a:prstGeom>
          <a:solidFill>
            <a:srgbClr val="FFFFFF"/>
          </a:solidFill>
          <a:ln w="12700">
            <a:solidFill>
              <a:srgbClr val="CBD5E1"/>
            </a:solidFill>
            <a:prstDash val="solid"/>
          </a:ln>
        </p:spPr>
        <p:txBody>
          <a:bodyPr/>
          <a:lstStyle/>
          <a:p>
            <a:endParaRPr lang="en-US"/>
          </a:p>
        </p:txBody>
      </p:sp>
      <p:sp>
        <p:nvSpPr>
          <p:cNvPr id="7" name="Shape 5"/>
          <p:cNvSpPr/>
          <p:nvPr/>
        </p:nvSpPr>
        <p:spPr>
          <a:xfrm>
            <a:off x="713232" y="1417320"/>
            <a:ext cx="3337560" cy="411480"/>
          </a:xfrm>
          <a:prstGeom prst="rect">
            <a:avLst/>
          </a:prstGeom>
          <a:solidFill>
            <a:srgbClr val="2563EB"/>
          </a:solidFill>
          <a:ln w="12700">
            <a:solidFill>
              <a:srgbClr val="2563EB">
                <a:alpha val="0"/>
              </a:srgbClr>
            </a:solidFill>
            <a:prstDash val="solid"/>
          </a:ln>
        </p:spPr>
        <p:txBody>
          <a:bodyPr/>
          <a:lstStyle/>
          <a:p>
            <a:endParaRPr lang="en-US"/>
          </a:p>
        </p:txBody>
      </p:sp>
      <p:sp>
        <p:nvSpPr>
          <p:cNvPr id="8" name="Text 6"/>
          <p:cNvSpPr/>
          <p:nvPr/>
        </p:nvSpPr>
        <p:spPr>
          <a:xfrm>
            <a:off x="877824" y="1554480"/>
            <a:ext cx="2999232" cy="109728"/>
          </a:xfrm>
          <a:prstGeom prst="rect">
            <a:avLst/>
          </a:prstGeom>
          <a:noFill/>
          <a:ln/>
        </p:spPr>
        <p:txBody>
          <a:bodyPr wrap="square" lIns="381" tIns="381" rIns="381" bIns="381" rtlCol="0" anchor="ctr">
            <a:normAutofit/>
          </a:bodyPr>
          <a:lstStyle/>
          <a:p>
            <a:pPr marL="0" indent="0" algn="ctr">
              <a:buNone/>
            </a:pPr>
            <a:r>
              <a:rPr lang="en-US" sz="940" b="1" dirty="0">
                <a:solidFill>
                  <a:srgbClr val="FFFFFF"/>
                </a:solidFill>
              </a:rPr>
              <a:t>RUN METRICS</a:t>
            </a:r>
            <a:endParaRPr lang="en-US" sz="940" dirty="0"/>
          </a:p>
        </p:txBody>
      </p:sp>
      <p:sp>
        <p:nvSpPr>
          <p:cNvPr id="9" name="Shape 7"/>
          <p:cNvSpPr/>
          <p:nvPr/>
        </p:nvSpPr>
        <p:spPr>
          <a:xfrm>
            <a:off x="1124712" y="2148840"/>
            <a:ext cx="2514600" cy="292608"/>
          </a:xfrm>
          <a:prstGeom prst="roundRect">
            <a:avLst>
              <a:gd name="adj" fmla="val 18750"/>
            </a:avLst>
          </a:prstGeom>
          <a:solidFill>
            <a:srgbClr val="EFF6FF"/>
          </a:solidFill>
          <a:ln w="12700">
            <a:solidFill>
              <a:srgbClr val="2563EB"/>
            </a:solidFill>
            <a:prstDash val="solid"/>
          </a:ln>
        </p:spPr>
        <p:txBody>
          <a:bodyPr/>
          <a:lstStyle/>
          <a:p>
            <a:endParaRPr lang="en-US"/>
          </a:p>
        </p:txBody>
      </p:sp>
      <p:sp>
        <p:nvSpPr>
          <p:cNvPr id="10" name="Text 8"/>
          <p:cNvSpPr/>
          <p:nvPr/>
        </p:nvSpPr>
        <p:spPr>
          <a:xfrm>
            <a:off x="1243584" y="2240280"/>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2563EB"/>
                </a:solidFill>
              </a:rPr>
              <a:t>tool calls</a:t>
            </a:r>
            <a:endParaRPr lang="en-US" sz="780" dirty="0"/>
          </a:p>
        </p:txBody>
      </p:sp>
      <p:sp>
        <p:nvSpPr>
          <p:cNvPr id="11" name="Shape 9"/>
          <p:cNvSpPr/>
          <p:nvPr/>
        </p:nvSpPr>
        <p:spPr>
          <a:xfrm>
            <a:off x="1124712" y="2542032"/>
            <a:ext cx="2514600" cy="292608"/>
          </a:xfrm>
          <a:prstGeom prst="roundRect">
            <a:avLst>
              <a:gd name="adj" fmla="val 18750"/>
            </a:avLst>
          </a:prstGeom>
          <a:solidFill>
            <a:srgbClr val="EFF6FF"/>
          </a:solidFill>
          <a:ln w="12700">
            <a:solidFill>
              <a:srgbClr val="2563EB"/>
            </a:solidFill>
            <a:prstDash val="solid"/>
          </a:ln>
        </p:spPr>
        <p:txBody>
          <a:bodyPr/>
          <a:lstStyle/>
          <a:p>
            <a:endParaRPr lang="en-US"/>
          </a:p>
        </p:txBody>
      </p:sp>
      <p:sp>
        <p:nvSpPr>
          <p:cNvPr id="12" name="Text 10"/>
          <p:cNvSpPr/>
          <p:nvPr/>
        </p:nvSpPr>
        <p:spPr>
          <a:xfrm>
            <a:off x="1243584" y="2633472"/>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2563EB"/>
                </a:solidFill>
              </a:rPr>
              <a:t>latency</a:t>
            </a:r>
            <a:endParaRPr lang="en-US" sz="780" dirty="0"/>
          </a:p>
        </p:txBody>
      </p:sp>
      <p:sp>
        <p:nvSpPr>
          <p:cNvPr id="13" name="Shape 11"/>
          <p:cNvSpPr/>
          <p:nvPr/>
        </p:nvSpPr>
        <p:spPr>
          <a:xfrm>
            <a:off x="1124712" y="2935224"/>
            <a:ext cx="2514600" cy="292608"/>
          </a:xfrm>
          <a:prstGeom prst="roundRect">
            <a:avLst>
              <a:gd name="adj" fmla="val 18750"/>
            </a:avLst>
          </a:prstGeom>
          <a:solidFill>
            <a:srgbClr val="EFF6FF"/>
          </a:solidFill>
          <a:ln w="12700">
            <a:solidFill>
              <a:srgbClr val="2563EB"/>
            </a:solidFill>
            <a:prstDash val="solid"/>
          </a:ln>
        </p:spPr>
        <p:txBody>
          <a:bodyPr/>
          <a:lstStyle/>
          <a:p>
            <a:endParaRPr lang="en-US"/>
          </a:p>
        </p:txBody>
      </p:sp>
      <p:sp>
        <p:nvSpPr>
          <p:cNvPr id="14" name="Text 12"/>
          <p:cNvSpPr/>
          <p:nvPr/>
        </p:nvSpPr>
        <p:spPr>
          <a:xfrm>
            <a:off x="1243584" y="3026664"/>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2563EB"/>
                </a:solidFill>
              </a:rPr>
              <a:t>failure rate</a:t>
            </a:r>
            <a:endParaRPr lang="en-US" sz="780" dirty="0"/>
          </a:p>
        </p:txBody>
      </p:sp>
      <p:sp>
        <p:nvSpPr>
          <p:cNvPr id="15" name="Shape 13"/>
          <p:cNvSpPr/>
          <p:nvPr/>
        </p:nvSpPr>
        <p:spPr>
          <a:xfrm>
            <a:off x="1124712" y="3328416"/>
            <a:ext cx="2514600" cy="292608"/>
          </a:xfrm>
          <a:prstGeom prst="roundRect">
            <a:avLst>
              <a:gd name="adj" fmla="val 18750"/>
            </a:avLst>
          </a:prstGeom>
          <a:solidFill>
            <a:srgbClr val="EFF6FF"/>
          </a:solidFill>
          <a:ln w="12700">
            <a:solidFill>
              <a:srgbClr val="2563EB"/>
            </a:solidFill>
            <a:prstDash val="solid"/>
          </a:ln>
        </p:spPr>
        <p:txBody>
          <a:bodyPr/>
          <a:lstStyle/>
          <a:p>
            <a:endParaRPr lang="en-US"/>
          </a:p>
        </p:txBody>
      </p:sp>
      <p:sp>
        <p:nvSpPr>
          <p:cNvPr id="16" name="Text 14"/>
          <p:cNvSpPr/>
          <p:nvPr/>
        </p:nvSpPr>
        <p:spPr>
          <a:xfrm>
            <a:off x="1243584" y="3419856"/>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2563EB"/>
                </a:solidFill>
              </a:rPr>
              <a:t>rate-limit events</a:t>
            </a:r>
            <a:endParaRPr lang="en-US" sz="780" dirty="0"/>
          </a:p>
        </p:txBody>
      </p:sp>
      <p:sp>
        <p:nvSpPr>
          <p:cNvPr id="17" name="Shape 15"/>
          <p:cNvSpPr/>
          <p:nvPr/>
        </p:nvSpPr>
        <p:spPr>
          <a:xfrm>
            <a:off x="4507992" y="1417320"/>
            <a:ext cx="3337560" cy="2423160"/>
          </a:xfrm>
          <a:prstGeom prst="roundRect">
            <a:avLst>
              <a:gd name="adj" fmla="val 2264"/>
            </a:avLst>
          </a:prstGeom>
          <a:solidFill>
            <a:srgbClr val="FFFFFF"/>
          </a:solidFill>
          <a:ln w="12700">
            <a:solidFill>
              <a:srgbClr val="CBD5E1"/>
            </a:solidFill>
            <a:prstDash val="solid"/>
          </a:ln>
        </p:spPr>
        <p:txBody>
          <a:bodyPr/>
          <a:lstStyle/>
          <a:p>
            <a:endParaRPr lang="en-US"/>
          </a:p>
        </p:txBody>
      </p:sp>
      <p:sp>
        <p:nvSpPr>
          <p:cNvPr id="18" name="Shape 16"/>
          <p:cNvSpPr/>
          <p:nvPr/>
        </p:nvSpPr>
        <p:spPr>
          <a:xfrm>
            <a:off x="4507992" y="1417320"/>
            <a:ext cx="3337560" cy="411480"/>
          </a:xfrm>
          <a:prstGeom prst="rect">
            <a:avLst/>
          </a:prstGeom>
          <a:solidFill>
            <a:srgbClr val="0F766E"/>
          </a:solidFill>
          <a:ln w="12700">
            <a:solidFill>
              <a:srgbClr val="0F766E">
                <a:alpha val="0"/>
              </a:srgbClr>
            </a:solidFill>
            <a:prstDash val="solid"/>
          </a:ln>
        </p:spPr>
        <p:txBody>
          <a:bodyPr/>
          <a:lstStyle/>
          <a:p>
            <a:endParaRPr lang="en-US"/>
          </a:p>
        </p:txBody>
      </p:sp>
      <p:sp>
        <p:nvSpPr>
          <p:cNvPr id="19" name="Text 17"/>
          <p:cNvSpPr/>
          <p:nvPr/>
        </p:nvSpPr>
        <p:spPr>
          <a:xfrm>
            <a:off x="4672584" y="1554480"/>
            <a:ext cx="2999232" cy="109728"/>
          </a:xfrm>
          <a:prstGeom prst="rect">
            <a:avLst/>
          </a:prstGeom>
          <a:noFill/>
          <a:ln/>
        </p:spPr>
        <p:txBody>
          <a:bodyPr wrap="square" lIns="381" tIns="381" rIns="381" bIns="381" rtlCol="0" anchor="ctr">
            <a:normAutofit/>
          </a:bodyPr>
          <a:lstStyle/>
          <a:p>
            <a:pPr marL="0" indent="0" algn="ctr">
              <a:buNone/>
            </a:pPr>
            <a:r>
              <a:rPr lang="en-US" sz="940" b="1" dirty="0">
                <a:solidFill>
                  <a:srgbClr val="FFFFFF"/>
                </a:solidFill>
              </a:rPr>
              <a:t>AI / AGENT METRICS</a:t>
            </a:r>
            <a:endParaRPr lang="en-US" sz="940" dirty="0"/>
          </a:p>
        </p:txBody>
      </p:sp>
      <p:sp>
        <p:nvSpPr>
          <p:cNvPr id="20" name="Shape 18"/>
          <p:cNvSpPr/>
          <p:nvPr/>
        </p:nvSpPr>
        <p:spPr>
          <a:xfrm>
            <a:off x="4919472" y="2148840"/>
            <a:ext cx="2514600" cy="292608"/>
          </a:xfrm>
          <a:prstGeom prst="roundRect">
            <a:avLst>
              <a:gd name="adj" fmla="val 18750"/>
            </a:avLst>
          </a:prstGeom>
          <a:solidFill>
            <a:srgbClr val="F0FDFA"/>
          </a:solidFill>
          <a:ln w="12700">
            <a:solidFill>
              <a:srgbClr val="0F766E"/>
            </a:solidFill>
            <a:prstDash val="solid"/>
          </a:ln>
        </p:spPr>
        <p:txBody>
          <a:bodyPr/>
          <a:lstStyle/>
          <a:p>
            <a:endParaRPr lang="en-US"/>
          </a:p>
        </p:txBody>
      </p:sp>
      <p:sp>
        <p:nvSpPr>
          <p:cNvPr id="21" name="Text 19"/>
          <p:cNvSpPr/>
          <p:nvPr/>
        </p:nvSpPr>
        <p:spPr>
          <a:xfrm>
            <a:off x="5038344" y="2240280"/>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0F766E"/>
                </a:solidFill>
              </a:rPr>
              <a:t>tool-selection accuracy</a:t>
            </a:r>
            <a:endParaRPr lang="en-US" sz="780" dirty="0"/>
          </a:p>
        </p:txBody>
      </p:sp>
      <p:sp>
        <p:nvSpPr>
          <p:cNvPr id="22" name="Shape 20"/>
          <p:cNvSpPr/>
          <p:nvPr/>
        </p:nvSpPr>
        <p:spPr>
          <a:xfrm>
            <a:off x="4919472" y="2542032"/>
            <a:ext cx="2514600" cy="292608"/>
          </a:xfrm>
          <a:prstGeom prst="roundRect">
            <a:avLst>
              <a:gd name="adj" fmla="val 18750"/>
            </a:avLst>
          </a:prstGeom>
          <a:solidFill>
            <a:srgbClr val="F0FDFA"/>
          </a:solidFill>
          <a:ln w="12700">
            <a:solidFill>
              <a:srgbClr val="0F766E"/>
            </a:solidFill>
            <a:prstDash val="solid"/>
          </a:ln>
        </p:spPr>
        <p:txBody>
          <a:bodyPr/>
          <a:lstStyle/>
          <a:p>
            <a:endParaRPr lang="en-US"/>
          </a:p>
        </p:txBody>
      </p:sp>
      <p:sp>
        <p:nvSpPr>
          <p:cNvPr id="23" name="Text 21"/>
          <p:cNvSpPr/>
          <p:nvPr/>
        </p:nvSpPr>
        <p:spPr>
          <a:xfrm>
            <a:off x="5038344" y="2633472"/>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0F766E"/>
                </a:solidFill>
              </a:rPr>
              <a:t>parameter accuracy</a:t>
            </a:r>
            <a:endParaRPr lang="en-US" sz="780" dirty="0"/>
          </a:p>
        </p:txBody>
      </p:sp>
      <p:sp>
        <p:nvSpPr>
          <p:cNvPr id="24" name="Shape 22"/>
          <p:cNvSpPr/>
          <p:nvPr/>
        </p:nvSpPr>
        <p:spPr>
          <a:xfrm>
            <a:off x="4919472" y="2935224"/>
            <a:ext cx="2514600" cy="292608"/>
          </a:xfrm>
          <a:prstGeom prst="roundRect">
            <a:avLst>
              <a:gd name="adj" fmla="val 18750"/>
            </a:avLst>
          </a:prstGeom>
          <a:solidFill>
            <a:srgbClr val="F0FDFA"/>
          </a:solidFill>
          <a:ln w="12700">
            <a:solidFill>
              <a:srgbClr val="0F766E"/>
            </a:solidFill>
            <a:prstDash val="solid"/>
          </a:ln>
        </p:spPr>
        <p:txBody>
          <a:bodyPr/>
          <a:lstStyle/>
          <a:p>
            <a:endParaRPr lang="en-US"/>
          </a:p>
        </p:txBody>
      </p:sp>
      <p:sp>
        <p:nvSpPr>
          <p:cNvPr id="25" name="Text 23"/>
          <p:cNvSpPr/>
          <p:nvPr/>
        </p:nvSpPr>
        <p:spPr>
          <a:xfrm>
            <a:off x="5038344" y="3026664"/>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0F766E"/>
                </a:solidFill>
              </a:rPr>
              <a:t>unnecessary calls</a:t>
            </a:r>
            <a:endParaRPr lang="en-US" sz="780" dirty="0"/>
          </a:p>
        </p:txBody>
      </p:sp>
      <p:sp>
        <p:nvSpPr>
          <p:cNvPr id="26" name="Shape 24"/>
          <p:cNvSpPr/>
          <p:nvPr/>
        </p:nvSpPr>
        <p:spPr>
          <a:xfrm>
            <a:off x="4919472" y="3328416"/>
            <a:ext cx="2514600" cy="292608"/>
          </a:xfrm>
          <a:prstGeom prst="roundRect">
            <a:avLst>
              <a:gd name="adj" fmla="val 18750"/>
            </a:avLst>
          </a:prstGeom>
          <a:solidFill>
            <a:srgbClr val="F0FDFA"/>
          </a:solidFill>
          <a:ln w="12700">
            <a:solidFill>
              <a:srgbClr val="0F766E"/>
            </a:solidFill>
            <a:prstDash val="solid"/>
          </a:ln>
        </p:spPr>
        <p:txBody>
          <a:bodyPr/>
          <a:lstStyle/>
          <a:p>
            <a:endParaRPr lang="en-US"/>
          </a:p>
        </p:txBody>
      </p:sp>
      <p:sp>
        <p:nvSpPr>
          <p:cNvPr id="27" name="Text 25"/>
          <p:cNvSpPr/>
          <p:nvPr/>
        </p:nvSpPr>
        <p:spPr>
          <a:xfrm>
            <a:off x="5038344" y="3419856"/>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0F766E"/>
                </a:solidFill>
              </a:rPr>
              <a:t>sequence accuracy</a:t>
            </a:r>
            <a:endParaRPr lang="en-US" sz="780" dirty="0"/>
          </a:p>
        </p:txBody>
      </p:sp>
      <p:sp>
        <p:nvSpPr>
          <p:cNvPr id="28" name="Shape 26"/>
          <p:cNvSpPr/>
          <p:nvPr/>
        </p:nvSpPr>
        <p:spPr>
          <a:xfrm>
            <a:off x="8302752" y="1417320"/>
            <a:ext cx="3337560" cy="2423160"/>
          </a:xfrm>
          <a:prstGeom prst="roundRect">
            <a:avLst>
              <a:gd name="adj" fmla="val 2264"/>
            </a:avLst>
          </a:prstGeom>
          <a:solidFill>
            <a:srgbClr val="FFFFFF"/>
          </a:solidFill>
          <a:ln w="12700">
            <a:solidFill>
              <a:srgbClr val="CBD5E1"/>
            </a:solidFill>
            <a:prstDash val="solid"/>
          </a:ln>
        </p:spPr>
        <p:txBody>
          <a:bodyPr/>
          <a:lstStyle/>
          <a:p>
            <a:endParaRPr lang="en-US"/>
          </a:p>
        </p:txBody>
      </p:sp>
      <p:sp>
        <p:nvSpPr>
          <p:cNvPr id="29" name="Shape 27"/>
          <p:cNvSpPr/>
          <p:nvPr/>
        </p:nvSpPr>
        <p:spPr>
          <a:xfrm>
            <a:off x="8302752" y="1417320"/>
            <a:ext cx="3337560" cy="411480"/>
          </a:xfrm>
          <a:prstGeom prst="rect">
            <a:avLst/>
          </a:prstGeom>
          <a:solidFill>
            <a:srgbClr val="D97706"/>
          </a:solidFill>
          <a:ln w="12700">
            <a:solidFill>
              <a:srgbClr val="D97706">
                <a:alpha val="0"/>
              </a:srgbClr>
            </a:solidFill>
            <a:prstDash val="solid"/>
          </a:ln>
        </p:spPr>
        <p:txBody>
          <a:bodyPr/>
          <a:lstStyle/>
          <a:p>
            <a:endParaRPr lang="en-US"/>
          </a:p>
        </p:txBody>
      </p:sp>
      <p:sp>
        <p:nvSpPr>
          <p:cNvPr id="30" name="Text 28"/>
          <p:cNvSpPr/>
          <p:nvPr/>
        </p:nvSpPr>
        <p:spPr>
          <a:xfrm>
            <a:off x="8467344" y="1554480"/>
            <a:ext cx="2999232" cy="109728"/>
          </a:xfrm>
          <a:prstGeom prst="rect">
            <a:avLst/>
          </a:prstGeom>
          <a:noFill/>
          <a:ln/>
        </p:spPr>
        <p:txBody>
          <a:bodyPr wrap="square" lIns="381" tIns="381" rIns="381" bIns="381" rtlCol="0" anchor="ctr">
            <a:normAutofit/>
          </a:bodyPr>
          <a:lstStyle/>
          <a:p>
            <a:pPr marL="0" indent="0" algn="ctr">
              <a:buNone/>
            </a:pPr>
            <a:r>
              <a:rPr lang="en-US" sz="940" b="1" dirty="0">
                <a:solidFill>
                  <a:srgbClr val="FFFFFF"/>
                </a:solidFill>
              </a:rPr>
              <a:t>GOVERNANCE METRICS</a:t>
            </a:r>
            <a:endParaRPr lang="en-US" sz="940" dirty="0"/>
          </a:p>
        </p:txBody>
      </p:sp>
      <p:sp>
        <p:nvSpPr>
          <p:cNvPr id="31" name="Shape 29"/>
          <p:cNvSpPr/>
          <p:nvPr/>
        </p:nvSpPr>
        <p:spPr>
          <a:xfrm>
            <a:off x="8714232" y="2148840"/>
            <a:ext cx="2514600" cy="292608"/>
          </a:xfrm>
          <a:prstGeom prst="roundRect">
            <a:avLst>
              <a:gd name="adj" fmla="val 18750"/>
            </a:avLst>
          </a:prstGeom>
          <a:solidFill>
            <a:srgbClr val="FFFBEB"/>
          </a:solidFill>
          <a:ln w="12700">
            <a:solidFill>
              <a:srgbClr val="D97706"/>
            </a:solidFill>
            <a:prstDash val="solid"/>
          </a:ln>
        </p:spPr>
        <p:txBody>
          <a:bodyPr/>
          <a:lstStyle/>
          <a:p>
            <a:endParaRPr lang="en-US"/>
          </a:p>
        </p:txBody>
      </p:sp>
      <p:sp>
        <p:nvSpPr>
          <p:cNvPr id="32" name="Text 30"/>
          <p:cNvSpPr/>
          <p:nvPr/>
        </p:nvSpPr>
        <p:spPr>
          <a:xfrm>
            <a:off x="8833104" y="2240280"/>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D97706"/>
                </a:solidFill>
              </a:rPr>
              <a:t>who invoked what</a:t>
            </a:r>
            <a:endParaRPr lang="en-US" sz="780" dirty="0"/>
          </a:p>
        </p:txBody>
      </p:sp>
      <p:sp>
        <p:nvSpPr>
          <p:cNvPr id="33" name="Shape 31"/>
          <p:cNvSpPr/>
          <p:nvPr/>
        </p:nvSpPr>
        <p:spPr>
          <a:xfrm>
            <a:off x="8714232" y="2542032"/>
            <a:ext cx="2514600" cy="292608"/>
          </a:xfrm>
          <a:prstGeom prst="roundRect">
            <a:avLst>
              <a:gd name="adj" fmla="val 18750"/>
            </a:avLst>
          </a:prstGeom>
          <a:solidFill>
            <a:srgbClr val="FFFBEB"/>
          </a:solidFill>
          <a:ln w="12700">
            <a:solidFill>
              <a:srgbClr val="D97706"/>
            </a:solidFill>
            <a:prstDash val="solid"/>
          </a:ln>
        </p:spPr>
        <p:txBody>
          <a:bodyPr/>
          <a:lstStyle/>
          <a:p>
            <a:endParaRPr lang="en-US"/>
          </a:p>
        </p:txBody>
      </p:sp>
      <p:sp>
        <p:nvSpPr>
          <p:cNvPr id="34" name="Text 32"/>
          <p:cNvSpPr/>
          <p:nvPr/>
        </p:nvSpPr>
        <p:spPr>
          <a:xfrm>
            <a:off x="8833104" y="2633472"/>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D97706"/>
                </a:solidFill>
              </a:rPr>
              <a:t>risk tier</a:t>
            </a:r>
            <a:endParaRPr lang="en-US" sz="780" dirty="0"/>
          </a:p>
        </p:txBody>
      </p:sp>
      <p:sp>
        <p:nvSpPr>
          <p:cNvPr id="35" name="Shape 33"/>
          <p:cNvSpPr/>
          <p:nvPr/>
        </p:nvSpPr>
        <p:spPr>
          <a:xfrm>
            <a:off x="8714232" y="2935224"/>
            <a:ext cx="2514600" cy="292608"/>
          </a:xfrm>
          <a:prstGeom prst="roundRect">
            <a:avLst>
              <a:gd name="adj" fmla="val 18750"/>
            </a:avLst>
          </a:prstGeom>
          <a:solidFill>
            <a:srgbClr val="FFFBEB"/>
          </a:solidFill>
          <a:ln w="12700">
            <a:solidFill>
              <a:srgbClr val="D97706"/>
            </a:solidFill>
            <a:prstDash val="solid"/>
          </a:ln>
        </p:spPr>
        <p:txBody>
          <a:bodyPr/>
          <a:lstStyle/>
          <a:p>
            <a:endParaRPr lang="en-US"/>
          </a:p>
        </p:txBody>
      </p:sp>
      <p:sp>
        <p:nvSpPr>
          <p:cNvPr id="36" name="Text 34"/>
          <p:cNvSpPr/>
          <p:nvPr/>
        </p:nvSpPr>
        <p:spPr>
          <a:xfrm>
            <a:off x="8833104" y="3026664"/>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D97706"/>
                </a:solidFill>
              </a:rPr>
              <a:t>policy decision</a:t>
            </a:r>
            <a:endParaRPr lang="en-US" sz="780" dirty="0"/>
          </a:p>
        </p:txBody>
      </p:sp>
      <p:sp>
        <p:nvSpPr>
          <p:cNvPr id="37" name="Shape 35"/>
          <p:cNvSpPr/>
          <p:nvPr/>
        </p:nvSpPr>
        <p:spPr>
          <a:xfrm>
            <a:off x="8714232" y="3328416"/>
            <a:ext cx="2514600" cy="292608"/>
          </a:xfrm>
          <a:prstGeom prst="roundRect">
            <a:avLst>
              <a:gd name="adj" fmla="val 18750"/>
            </a:avLst>
          </a:prstGeom>
          <a:solidFill>
            <a:srgbClr val="FFFBEB"/>
          </a:solidFill>
          <a:ln w="12700">
            <a:solidFill>
              <a:srgbClr val="D97706"/>
            </a:solidFill>
            <a:prstDash val="solid"/>
          </a:ln>
        </p:spPr>
        <p:txBody>
          <a:bodyPr/>
          <a:lstStyle/>
          <a:p>
            <a:endParaRPr lang="en-US"/>
          </a:p>
        </p:txBody>
      </p:sp>
      <p:sp>
        <p:nvSpPr>
          <p:cNvPr id="38" name="Text 36"/>
          <p:cNvSpPr/>
          <p:nvPr/>
        </p:nvSpPr>
        <p:spPr>
          <a:xfrm>
            <a:off x="8833104" y="3419856"/>
            <a:ext cx="2286000" cy="91440"/>
          </a:xfrm>
          <a:prstGeom prst="rect">
            <a:avLst/>
          </a:prstGeom>
          <a:noFill/>
          <a:ln/>
        </p:spPr>
        <p:txBody>
          <a:bodyPr wrap="square" lIns="381" tIns="381" rIns="381" bIns="381" rtlCol="0" anchor="ctr">
            <a:normAutofit/>
          </a:bodyPr>
          <a:lstStyle/>
          <a:p>
            <a:pPr marL="0" indent="0" algn="ctr">
              <a:buNone/>
            </a:pPr>
            <a:r>
              <a:rPr lang="en-US" sz="780" b="1" dirty="0">
                <a:solidFill>
                  <a:srgbClr val="D97706"/>
                </a:solidFill>
              </a:rPr>
              <a:t>HIL outcome</a:t>
            </a:r>
            <a:endParaRPr lang="en-US" sz="780" dirty="0"/>
          </a:p>
        </p:txBody>
      </p:sp>
      <p:sp>
        <p:nvSpPr>
          <p:cNvPr id="39" name="Shape 37"/>
          <p:cNvSpPr/>
          <p:nvPr/>
        </p:nvSpPr>
        <p:spPr>
          <a:xfrm>
            <a:off x="777240" y="4434840"/>
            <a:ext cx="4754880" cy="54864"/>
          </a:xfrm>
          <a:prstGeom prst="rect">
            <a:avLst/>
          </a:prstGeom>
          <a:solidFill>
            <a:srgbClr val="6D28D9"/>
          </a:solidFill>
          <a:ln w="12700">
            <a:solidFill>
              <a:srgbClr val="6D28D9">
                <a:alpha val="0"/>
              </a:srgbClr>
            </a:solidFill>
            <a:prstDash val="solid"/>
          </a:ln>
        </p:spPr>
        <p:txBody>
          <a:bodyPr/>
          <a:lstStyle/>
          <a:p>
            <a:endParaRPr lang="en-US"/>
          </a:p>
        </p:txBody>
      </p:sp>
      <p:sp>
        <p:nvSpPr>
          <p:cNvPr id="40" name="Text 38"/>
          <p:cNvSpPr/>
          <p:nvPr/>
        </p:nvSpPr>
        <p:spPr>
          <a:xfrm>
            <a:off x="777240" y="4526280"/>
            <a:ext cx="4754880" cy="219456"/>
          </a:xfrm>
          <a:prstGeom prst="rect">
            <a:avLst/>
          </a:prstGeom>
          <a:noFill/>
          <a:ln/>
        </p:spPr>
        <p:txBody>
          <a:bodyPr wrap="square" lIns="0" tIns="0" rIns="0" bIns="0" rtlCol="0" anchor="ctr"/>
          <a:lstStyle/>
          <a:p>
            <a:pPr marL="0" indent="0">
              <a:buNone/>
            </a:pPr>
            <a:r>
              <a:rPr lang="en-US" sz="1000" b="1" dirty="0">
                <a:solidFill>
                  <a:srgbClr val="6D28D9"/>
                </a:solidFill>
              </a:rPr>
              <a:t>OPERATING CADENCE</a:t>
            </a:r>
            <a:endParaRPr lang="en-US" sz="1000" dirty="0"/>
          </a:p>
        </p:txBody>
      </p:sp>
      <p:sp>
        <p:nvSpPr>
          <p:cNvPr id="41" name="Text 39"/>
          <p:cNvSpPr/>
          <p:nvPr/>
        </p:nvSpPr>
        <p:spPr>
          <a:xfrm>
            <a:off x="868680" y="4855464"/>
            <a:ext cx="146304" cy="164592"/>
          </a:xfrm>
          <a:prstGeom prst="rect">
            <a:avLst/>
          </a:prstGeom>
          <a:noFill/>
          <a:ln/>
        </p:spPr>
        <p:txBody>
          <a:bodyPr wrap="square" lIns="0" tIns="0" rIns="0" bIns="0" rtlCol="0" anchor="ctr"/>
          <a:lstStyle/>
          <a:p>
            <a:pPr marL="0" indent="0">
              <a:buNone/>
            </a:pPr>
            <a:r>
              <a:rPr lang="en-US" sz="1050" b="1" dirty="0">
                <a:solidFill>
                  <a:srgbClr val="2563EB"/>
                </a:solidFill>
              </a:rPr>
              <a:t>•</a:t>
            </a:r>
            <a:endParaRPr lang="en-US" sz="1050" dirty="0"/>
          </a:p>
        </p:txBody>
      </p:sp>
      <p:sp>
        <p:nvSpPr>
          <p:cNvPr id="42" name="Text 40"/>
          <p:cNvSpPr/>
          <p:nvPr/>
        </p:nvSpPr>
        <p:spPr>
          <a:xfrm>
            <a:off x="1069848" y="4846320"/>
            <a:ext cx="4480560" cy="274320"/>
          </a:xfrm>
          <a:prstGeom prst="rect">
            <a:avLst/>
          </a:prstGeom>
          <a:noFill/>
          <a:ln/>
        </p:spPr>
        <p:txBody>
          <a:bodyPr wrap="square" lIns="0" tIns="0" rIns="0" bIns="0" rtlCol="0" anchor="ctr">
            <a:normAutofit/>
          </a:bodyPr>
          <a:lstStyle/>
          <a:p>
            <a:pPr marL="0" indent="0">
              <a:buNone/>
            </a:pPr>
            <a:r>
              <a:rPr lang="en-US" sz="1050" dirty="0">
                <a:solidFill>
                  <a:srgbClr val="111827"/>
                </a:solidFill>
              </a:rPr>
              <a:t>Weekly: pilot tool quality / incidents</a:t>
            </a:r>
            <a:endParaRPr lang="en-US" sz="1050" dirty="0"/>
          </a:p>
        </p:txBody>
      </p:sp>
      <p:sp>
        <p:nvSpPr>
          <p:cNvPr id="43" name="Text 41"/>
          <p:cNvSpPr/>
          <p:nvPr/>
        </p:nvSpPr>
        <p:spPr>
          <a:xfrm>
            <a:off x="868680" y="5202936"/>
            <a:ext cx="146304" cy="164592"/>
          </a:xfrm>
          <a:prstGeom prst="rect">
            <a:avLst/>
          </a:prstGeom>
          <a:noFill/>
          <a:ln/>
        </p:spPr>
        <p:txBody>
          <a:bodyPr wrap="square" lIns="0" tIns="0" rIns="0" bIns="0" rtlCol="0" anchor="ctr"/>
          <a:lstStyle/>
          <a:p>
            <a:pPr marL="0" indent="0">
              <a:buNone/>
            </a:pPr>
            <a:r>
              <a:rPr lang="en-US" sz="1050" b="1" dirty="0">
                <a:solidFill>
                  <a:srgbClr val="2563EB"/>
                </a:solidFill>
              </a:rPr>
              <a:t>•</a:t>
            </a:r>
            <a:endParaRPr lang="en-US" sz="1050" dirty="0"/>
          </a:p>
        </p:txBody>
      </p:sp>
      <p:sp>
        <p:nvSpPr>
          <p:cNvPr id="44" name="Text 42"/>
          <p:cNvSpPr/>
          <p:nvPr/>
        </p:nvSpPr>
        <p:spPr>
          <a:xfrm>
            <a:off x="1069848" y="5193792"/>
            <a:ext cx="4480560" cy="274320"/>
          </a:xfrm>
          <a:prstGeom prst="rect">
            <a:avLst/>
          </a:prstGeom>
          <a:noFill/>
          <a:ln/>
        </p:spPr>
        <p:txBody>
          <a:bodyPr wrap="square" lIns="0" tIns="0" rIns="0" bIns="0" rtlCol="0" anchor="ctr">
            <a:normAutofit/>
          </a:bodyPr>
          <a:lstStyle/>
          <a:p>
            <a:pPr marL="0" indent="0">
              <a:buNone/>
            </a:pPr>
            <a:r>
              <a:rPr lang="en-US" sz="1050" dirty="0">
                <a:solidFill>
                  <a:srgbClr val="111827"/>
                </a:solidFill>
              </a:rPr>
              <a:t>Monthly: registry review and deprecation</a:t>
            </a:r>
            <a:endParaRPr lang="en-US" sz="1050" dirty="0"/>
          </a:p>
        </p:txBody>
      </p:sp>
      <p:sp>
        <p:nvSpPr>
          <p:cNvPr id="45" name="Text 43"/>
          <p:cNvSpPr/>
          <p:nvPr/>
        </p:nvSpPr>
        <p:spPr>
          <a:xfrm>
            <a:off x="868680" y="5550408"/>
            <a:ext cx="146304" cy="164592"/>
          </a:xfrm>
          <a:prstGeom prst="rect">
            <a:avLst/>
          </a:prstGeom>
          <a:noFill/>
          <a:ln/>
        </p:spPr>
        <p:txBody>
          <a:bodyPr wrap="square" lIns="0" tIns="0" rIns="0" bIns="0" rtlCol="0" anchor="ctr"/>
          <a:lstStyle/>
          <a:p>
            <a:pPr marL="0" indent="0">
              <a:buNone/>
            </a:pPr>
            <a:r>
              <a:rPr lang="en-US" sz="1050" b="1" dirty="0">
                <a:solidFill>
                  <a:srgbClr val="2563EB"/>
                </a:solidFill>
              </a:rPr>
              <a:t>•</a:t>
            </a:r>
            <a:endParaRPr lang="en-US" sz="1050" dirty="0"/>
          </a:p>
        </p:txBody>
      </p:sp>
      <p:sp>
        <p:nvSpPr>
          <p:cNvPr id="46" name="Text 44"/>
          <p:cNvSpPr/>
          <p:nvPr/>
        </p:nvSpPr>
        <p:spPr>
          <a:xfrm>
            <a:off x="1069848" y="5541264"/>
            <a:ext cx="4480560" cy="274320"/>
          </a:xfrm>
          <a:prstGeom prst="rect">
            <a:avLst/>
          </a:prstGeom>
          <a:noFill/>
          <a:ln/>
        </p:spPr>
        <p:txBody>
          <a:bodyPr wrap="square" lIns="0" tIns="0" rIns="0" bIns="0" rtlCol="0" anchor="ctr">
            <a:normAutofit/>
          </a:bodyPr>
          <a:lstStyle/>
          <a:p>
            <a:pPr marL="0" indent="0">
              <a:buNone/>
            </a:pPr>
            <a:r>
              <a:rPr lang="en-US" sz="1050" dirty="0">
                <a:solidFill>
                  <a:srgbClr val="111827"/>
                </a:solidFill>
              </a:rPr>
              <a:t>Quarterly: architecture and policy review</a:t>
            </a:r>
            <a:endParaRPr lang="en-US" sz="1050" dirty="0"/>
          </a:p>
        </p:txBody>
      </p:sp>
      <p:sp>
        <p:nvSpPr>
          <p:cNvPr id="47" name="Shape 45"/>
          <p:cNvSpPr/>
          <p:nvPr/>
        </p:nvSpPr>
        <p:spPr>
          <a:xfrm>
            <a:off x="6537960" y="4434840"/>
            <a:ext cx="4572000" cy="54864"/>
          </a:xfrm>
          <a:prstGeom prst="rect">
            <a:avLst/>
          </a:prstGeom>
          <a:solidFill>
            <a:srgbClr val="16A34A"/>
          </a:solidFill>
          <a:ln w="12700">
            <a:solidFill>
              <a:srgbClr val="16A34A">
                <a:alpha val="0"/>
              </a:srgbClr>
            </a:solidFill>
            <a:prstDash val="solid"/>
          </a:ln>
        </p:spPr>
        <p:txBody>
          <a:bodyPr/>
          <a:lstStyle/>
          <a:p>
            <a:endParaRPr lang="en-US"/>
          </a:p>
        </p:txBody>
      </p:sp>
      <p:sp>
        <p:nvSpPr>
          <p:cNvPr id="48" name="Text 46"/>
          <p:cNvSpPr/>
          <p:nvPr/>
        </p:nvSpPr>
        <p:spPr>
          <a:xfrm>
            <a:off x="6537960" y="4526280"/>
            <a:ext cx="4572000" cy="219456"/>
          </a:xfrm>
          <a:prstGeom prst="rect">
            <a:avLst/>
          </a:prstGeom>
          <a:noFill/>
          <a:ln/>
        </p:spPr>
        <p:txBody>
          <a:bodyPr wrap="square" lIns="0" tIns="0" rIns="0" bIns="0" rtlCol="0" anchor="ctr"/>
          <a:lstStyle/>
          <a:p>
            <a:pPr marL="0" indent="0">
              <a:buNone/>
            </a:pPr>
            <a:r>
              <a:rPr lang="en-US" sz="1000" b="1" dirty="0">
                <a:solidFill>
                  <a:srgbClr val="16A34A"/>
                </a:solidFill>
              </a:rPr>
              <a:t>OWNERSHIP MODEL</a:t>
            </a:r>
            <a:endParaRPr lang="en-US" sz="1000" dirty="0"/>
          </a:p>
        </p:txBody>
      </p:sp>
      <p:sp>
        <p:nvSpPr>
          <p:cNvPr id="49" name="Text 47"/>
          <p:cNvSpPr/>
          <p:nvPr/>
        </p:nvSpPr>
        <p:spPr>
          <a:xfrm>
            <a:off x="6629400" y="4855464"/>
            <a:ext cx="146304" cy="164592"/>
          </a:xfrm>
          <a:prstGeom prst="rect">
            <a:avLst/>
          </a:prstGeom>
          <a:noFill/>
          <a:ln/>
        </p:spPr>
        <p:txBody>
          <a:bodyPr wrap="square" lIns="0" tIns="0" rIns="0" bIns="0" rtlCol="0" anchor="ctr"/>
          <a:lstStyle/>
          <a:p>
            <a:pPr marL="0" indent="0">
              <a:buNone/>
            </a:pPr>
            <a:r>
              <a:rPr lang="en-US" sz="1050" b="1" dirty="0">
                <a:solidFill>
                  <a:srgbClr val="2563EB"/>
                </a:solidFill>
              </a:rPr>
              <a:t>•</a:t>
            </a:r>
            <a:endParaRPr lang="en-US" sz="1050" dirty="0"/>
          </a:p>
        </p:txBody>
      </p:sp>
      <p:sp>
        <p:nvSpPr>
          <p:cNvPr id="50" name="Text 48"/>
          <p:cNvSpPr/>
          <p:nvPr/>
        </p:nvSpPr>
        <p:spPr>
          <a:xfrm>
            <a:off x="6830568" y="4846320"/>
            <a:ext cx="4297680" cy="274320"/>
          </a:xfrm>
          <a:prstGeom prst="rect">
            <a:avLst/>
          </a:prstGeom>
          <a:noFill/>
          <a:ln/>
        </p:spPr>
        <p:txBody>
          <a:bodyPr wrap="square" lIns="0" tIns="0" rIns="0" bIns="0" rtlCol="0" anchor="ctr">
            <a:normAutofit/>
          </a:bodyPr>
          <a:lstStyle/>
          <a:p>
            <a:pPr marL="0" indent="0">
              <a:buNone/>
            </a:pPr>
            <a:r>
              <a:rPr lang="en-US" sz="1050" dirty="0">
                <a:solidFill>
                  <a:srgbClr val="111827"/>
                </a:solidFill>
              </a:rPr>
              <a:t>Platform owns gateway, registry and controls</a:t>
            </a:r>
            <a:endParaRPr lang="en-US" sz="1050" dirty="0"/>
          </a:p>
        </p:txBody>
      </p:sp>
      <p:sp>
        <p:nvSpPr>
          <p:cNvPr id="51" name="Text 49"/>
          <p:cNvSpPr/>
          <p:nvPr/>
        </p:nvSpPr>
        <p:spPr>
          <a:xfrm>
            <a:off x="6629400" y="5202936"/>
            <a:ext cx="146304" cy="164592"/>
          </a:xfrm>
          <a:prstGeom prst="rect">
            <a:avLst/>
          </a:prstGeom>
          <a:noFill/>
          <a:ln/>
        </p:spPr>
        <p:txBody>
          <a:bodyPr wrap="square" lIns="0" tIns="0" rIns="0" bIns="0" rtlCol="0" anchor="ctr"/>
          <a:lstStyle/>
          <a:p>
            <a:pPr marL="0" indent="0">
              <a:buNone/>
            </a:pPr>
            <a:r>
              <a:rPr lang="en-US" sz="1050" b="1" dirty="0">
                <a:solidFill>
                  <a:srgbClr val="2563EB"/>
                </a:solidFill>
              </a:rPr>
              <a:t>•</a:t>
            </a:r>
            <a:endParaRPr lang="en-US" sz="1050" dirty="0"/>
          </a:p>
        </p:txBody>
      </p:sp>
      <p:sp>
        <p:nvSpPr>
          <p:cNvPr id="52" name="Text 50"/>
          <p:cNvSpPr/>
          <p:nvPr/>
        </p:nvSpPr>
        <p:spPr>
          <a:xfrm>
            <a:off x="6830568" y="5193792"/>
            <a:ext cx="4297680" cy="274320"/>
          </a:xfrm>
          <a:prstGeom prst="rect">
            <a:avLst/>
          </a:prstGeom>
          <a:noFill/>
          <a:ln/>
        </p:spPr>
        <p:txBody>
          <a:bodyPr wrap="square" lIns="0" tIns="0" rIns="0" bIns="0" rtlCol="0" anchor="ctr">
            <a:normAutofit/>
          </a:bodyPr>
          <a:lstStyle/>
          <a:p>
            <a:pPr marL="0" indent="0">
              <a:buNone/>
            </a:pPr>
            <a:r>
              <a:rPr lang="en-US" sz="1050" dirty="0">
                <a:solidFill>
                  <a:srgbClr val="111827"/>
                </a:solidFill>
              </a:rPr>
              <a:t>Domain teams own MCP server business logic</a:t>
            </a:r>
            <a:endParaRPr lang="en-US" sz="1050" dirty="0"/>
          </a:p>
        </p:txBody>
      </p:sp>
      <p:sp>
        <p:nvSpPr>
          <p:cNvPr id="53" name="Text 51"/>
          <p:cNvSpPr/>
          <p:nvPr/>
        </p:nvSpPr>
        <p:spPr>
          <a:xfrm>
            <a:off x="6629400" y="5550408"/>
            <a:ext cx="146304" cy="164592"/>
          </a:xfrm>
          <a:prstGeom prst="rect">
            <a:avLst/>
          </a:prstGeom>
          <a:noFill/>
          <a:ln/>
        </p:spPr>
        <p:txBody>
          <a:bodyPr wrap="square" lIns="0" tIns="0" rIns="0" bIns="0" rtlCol="0" anchor="ctr"/>
          <a:lstStyle/>
          <a:p>
            <a:pPr marL="0" indent="0">
              <a:buNone/>
            </a:pPr>
            <a:r>
              <a:rPr lang="en-US" sz="1050" b="1" dirty="0">
                <a:solidFill>
                  <a:srgbClr val="2563EB"/>
                </a:solidFill>
              </a:rPr>
              <a:t>•</a:t>
            </a:r>
            <a:endParaRPr lang="en-US" sz="1050" dirty="0"/>
          </a:p>
        </p:txBody>
      </p:sp>
      <p:sp>
        <p:nvSpPr>
          <p:cNvPr id="54" name="Text 52"/>
          <p:cNvSpPr/>
          <p:nvPr/>
        </p:nvSpPr>
        <p:spPr>
          <a:xfrm>
            <a:off x="6830568" y="5541264"/>
            <a:ext cx="4297680" cy="274320"/>
          </a:xfrm>
          <a:prstGeom prst="rect">
            <a:avLst/>
          </a:prstGeom>
          <a:noFill/>
          <a:ln/>
        </p:spPr>
        <p:txBody>
          <a:bodyPr wrap="square" lIns="0" tIns="0" rIns="0" bIns="0" rtlCol="0" anchor="ctr">
            <a:normAutofit/>
          </a:bodyPr>
          <a:lstStyle/>
          <a:p>
            <a:pPr marL="0" indent="0">
              <a:buNone/>
            </a:pPr>
            <a:r>
              <a:rPr lang="en-US" sz="1050" dirty="0">
                <a:solidFill>
                  <a:srgbClr val="111827"/>
                </a:solidFill>
              </a:rPr>
              <a:t>Risk/control teams approve high-risk policies</a:t>
            </a:r>
            <a:endParaRPr lang="en-US" sz="1050" dirty="0"/>
          </a:p>
        </p:txBody>
      </p:sp>
      <p:sp>
        <p:nvSpPr>
          <p:cNvPr id="55" name="Text 53"/>
          <p:cNvSpPr/>
          <p:nvPr/>
        </p:nvSpPr>
        <p:spPr>
          <a:xfrm>
            <a:off x="822960" y="5998464"/>
            <a:ext cx="1188720" cy="146304"/>
          </a:xfrm>
          <a:prstGeom prst="rect">
            <a:avLst/>
          </a:prstGeom>
          <a:noFill/>
          <a:ln/>
        </p:spPr>
        <p:txBody>
          <a:bodyPr wrap="square" lIns="0" tIns="0" rIns="0" bIns="0" rtlCol="0" anchor="ctr"/>
          <a:lstStyle/>
          <a:p>
            <a:pPr marL="0" indent="0">
              <a:buNone/>
            </a:pPr>
            <a:r>
              <a:rPr lang="en-US" sz="980" b="1" dirty="0">
                <a:solidFill>
                  <a:srgbClr val="2563EB"/>
                </a:solidFill>
              </a:rPr>
              <a:t>Leadership ask</a:t>
            </a:r>
            <a:endParaRPr lang="en-US" sz="980" dirty="0"/>
          </a:p>
        </p:txBody>
      </p:sp>
      <p:sp>
        <p:nvSpPr>
          <p:cNvPr id="56" name="Text 54"/>
          <p:cNvSpPr/>
          <p:nvPr/>
        </p:nvSpPr>
        <p:spPr>
          <a:xfrm>
            <a:off x="2331720" y="5980176"/>
            <a:ext cx="8641080" cy="164592"/>
          </a:xfrm>
          <a:prstGeom prst="rect">
            <a:avLst/>
          </a:prstGeom>
          <a:noFill/>
          <a:ln/>
        </p:spPr>
        <p:txBody>
          <a:bodyPr wrap="square" lIns="0" tIns="0" rIns="0" bIns="0" rtlCol="0" anchor="ctr">
            <a:normAutofit/>
          </a:bodyPr>
          <a:lstStyle/>
          <a:p>
            <a:pPr marL="0" indent="0">
              <a:buNone/>
            </a:pPr>
            <a:r>
              <a:rPr lang="en-US" sz="980" b="1" dirty="0">
                <a:solidFill>
                  <a:srgbClr val="0B1F33"/>
                </a:solidFill>
              </a:rPr>
              <a:t>Endorse MCP as the standard tool-access pattern for EDGE agentic workflows, with certified tools, governed hosting and auditable runtime controls.</a:t>
            </a:r>
            <a:endParaRPr lang="en-US" sz="980" dirty="0"/>
          </a:p>
        </p:txBody>
      </p:sp>
      <p:sp>
        <p:nvSpPr>
          <p:cNvPr id="57" name="Text 55"/>
          <p:cNvSpPr/>
          <p:nvPr/>
        </p:nvSpPr>
        <p:spPr>
          <a:xfrm>
            <a:off x="502920" y="6473952"/>
            <a:ext cx="2926080" cy="182880"/>
          </a:xfrm>
          <a:prstGeom prst="rect">
            <a:avLst/>
          </a:prstGeom>
          <a:noFill/>
          <a:ln/>
        </p:spPr>
        <p:txBody>
          <a:bodyPr wrap="square" lIns="0" tIns="0" rIns="0" bIns="0" rtlCol="0" anchor="ctr"/>
          <a:lstStyle/>
          <a:p>
            <a:pPr marL="0" indent="0">
              <a:buNone/>
            </a:pPr>
            <a:r>
              <a:rPr lang="en-US" sz="780" dirty="0">
                <a:solidFill>
                  <a:srgbClr val="64748B"/>
                </a:solidFill>
              </a:rPr>
              <a:t>EDGE MCP Strategy — Tranche 2</a:t>
            </a:r>
            <a:endParaRPr lang="en-US" sz="780" dirty="0"/>
          </a:p>
        </p:txBody>
      </p:sp>
      <p:sp>
        <p:nvSpPr>
          <p:cNvPr id="58" name="Text 56"/>
          <p:cNvSpPr/>
          <p:nvPr/>
        </p:nvSpPr>
        <p:spPr>
          <a:xfrm>
            <a:off x="11338560" y="6446520"/>
            <a:ext cx="347472" cy="219456"/>
          </a:xfrm>
          <a:prstGeom prst="rect">
            <a:avLst/>
          </a:prstGeom>
          <a:noFill/>
          <a:ln/>
        </p:spPr>
        <p:txBody>
          <a:bodyPr wrap="square" lIns="0" tIns="0" rIns="0" bIns="0" rtlCol="0" anchor="ctr"/>
          <a:lstStyle/>
          <a:p>
            <a:pPr marL="0" indent="0" algn="r">
              <a:buNone/>
            </a:pPr>
            <a:r>
              <a:rPr lang="en-US" sz="850" dirty="0">
                <a:solidFill>
                  <a:srgbClr val="64748B"/>
                </a:solidFill>
              </a:rPr>
              <a:t>20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1850</Words>
  <Application>Microsoft Macintosh PowerPoint</Application>
  <PresentationFormat>Widescreen</PresentationFormat>
  <Paragraphs>281</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Citi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MCP Strategy for EDGE — Tranche 2</dc:title>
  <dc:subject>Enterprise MCP Strategy for EDGE — Tranche 2</dc:subject>
  <dc:creator>OpenAI</dc:creator>
  <cp:lastModifiedBy>OMSA Class</cp:lastModifiedBy>
  <cp:revision>2</cp:revision>
  <dcterms:created xsi:type="dcterms:W3CDTF">2026-09-04T10:53:08Z</dcterms:created>
  <dcterms:modified xsi:type="dcterms:W3CDTF">2026-09-04T10:55:35Z</dcterms:modified>
</cp:coreProperties>
</file>