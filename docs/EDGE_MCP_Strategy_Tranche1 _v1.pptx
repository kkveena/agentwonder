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5608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talk track:
This deck defines our MCP strategy as an enterprise capability layer, not just a protocol implementation.
The objective is to make agentic AI safe, reusable and observable when it interacts with enterprise systems.
The external anchor is AWS Prescriptive Guidance on MCP strategies, but this deck deliberately translates those ideas into our on-prem EDGE context.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Start with the risk of uncontrolled agent growth: every team writes its own wrapper, every API gets exposed differently, and every agent carries a slightly different understanding of the enterprise.
MCP gives us a way to create a governed enterprise capability layer between agents and systems.
The key message is that MCP is not a toy connector pattern. At enterprise scale it is part of the control plane for how AI touches operational systems.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I would present this as the strategic spine of the deck.
AWS frames the topic around tool design, server hosting and governance. For EDGE, I am making the discovery/registry explicit because a regulated enterprise cannot allow every agent to see every tool.
The four-pillar language is easier for management: design the tools properly, register and discover them centrally, run them through a gateway, and govern every invocation.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EDGE translation.
The Dev Plane defines and certifies agents and tools. The Agent Runtime reasons, plans and calls tools. The Enterprise MCP Plane is where standardized capability access happens.
The Control Plane cuts across everything. That is important: security, audit, evals and HIL are not afterthoughts; they are part of the platform contract.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where I would emphasize that simply exposing every API as an MCP tool is not a strategy.
In our domain, the LLM should not have to coordinate five backend APIs just to investigate one fail. The MCP tool should package that deterministic context gathering behind a clean capability.
Naming matters because the LLM selects tools semantically. Clear, consistent names and descriptions directly improve tool selection accuracy.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slide explains the most practical MCP design decision.
If a task always needs position, settlement, trade and reference data, we should not make the LLM discover and call four tools each time. We should expose a single capability tool that returns structured investigation context.
This improves accuracy, reduces latency and gives us a clearer audit boundary.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slide is critical for architecture review.
MCP makes tools available, but it also creates a new scaling risk: too many tools in the LLM context.
Our strategy should therefore include registry-based discovery. The registry may contain a large catalog, but before a prompt reaches the LLM, we filter by intent, entitlement, policy and semantic relevance.
This is how we avoid tool sprawl and context bloat.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gateway is how we keep the enterprise posture consistent.
Agent teams should not individually solve authentication, authorization, throttling and logging. Those belong in a common gateway/control layer.
But we should be careful not to put business logic in the gateway. Business logic belongs in the MCP server and tool implementation, where the domain team owns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control narrative.
We should not pass a broad user token through the agent into every backend. The agent should call the MCP gateway, and the gateway/tool should obtain only the scoped downstream credential required for that tool.
We classify tools by risk. Informational reads are different from operational writes, and high-risk writes should require policy checks and often human approval.
This is especially important for EDGE because generated commentary, instructions and case updates can have operational consequences.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roadmap gives a practical adoption path.
Phase 1 is not about building everything; it is about setting standards, creating the first pilot servers, and proving the registry/telemetry pattern.
Phase 2 introduces enterprise controls: gateway, discovery, RBAC/ABAC, token isolation and certification.
Phase 3 is where MCP becomes a reusable enterprise marketplace for agentic capabilities across EDGE and adjacent platforms.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713232" y="2029968"/>
            <a:ext cx="10241280" cy="566928"/>
          </a:xfrm>
          <a:prstGeom prst="rect">
            <a:avLst/>
          </a:prstGeom>
          <a:noFill/>
          <a:ln/>
        </p:spPr>
        <p:txBody>
          <a:bodyPr wrap="square" lIns="0" tIns="0" rIns="0" bIns="0" rtlCol="0" anchor="ct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Enterprise MCP Strategy for EDGE</a:t>
            </a:r>
            <a:endParaRPr lang="en-US" sz="3400" dirty="0"/>
          </a:p>
        </p:txBody>
      </p:sp>
      <p:sp>
        <p:nvSpPr>
          <p:cNvPr id="5" name="Text 3"/>
          <p:cNvSpPr/>
          <p:nvPr/>
        </p:nvSpPr>
        <p:spPr>
          <a:xfrm>
            <a:off x="749808" y="2761488"/>
            <a:ext cx="9784080" cy="320040"/>
          </a:xfrm>
          <a:prstGeom prst="rect">
            <a:avLst/>
          </a:prstGeom>
          <a:noFill/>
          <a:ln/>
        </p:spPr>
        <p:txBody>
          <a:bodyPr wrap="square" lIns="0" tIns="0" rIns="0" bIns="0" rtlCol="0" anchor="ctr"/>
          <a:lstStyle/>
          <a:p>
            <a:pPr marL="0" indent="0">
              <a:buNone/>
            </a:pPr>
            <a:r>
              <a:rPr lang="en-US" sz="1500" dirty="0">
                <a:solidFill>
                  <a:srgbClr val="DDEAFE"/>
                </a:solidFill>
              </a:rPr>
              <a:t>Governed capability access for agentic AI in an on-prem enterprise environment</a:t>
            </a:r>
            <a:endParaRPr lang="en-US" sz="1500" dirty="0"/>
          </a:p>
        </p:txBody>
      </p:sp>
      <p:sp>
        <p:nvSpPr>
          <p:cNvPr id="6" name="Text 4"/>
          <p:cNvSpPr/>
          <p:nvPr/>
        </p:nvSpPr>
        <p:spPr>
          <a:xfrm>
            <a:off x="749808" y="3703320"/>
            <a:ext cx="9921240" cy="274320"/>
          </a:xfrm>
          <a:prstGeom prst="rect">
            <a:avLst/>
          </a:prstGeom>
          <a:noFill/>
          <a:ln/>
        </p:spPr>
        <p:txBody>
          <a:bodyPr wrap="square" lIns="0" tIns="0" rIns="0" bIns="0" rtlCol="0" anchor="ctr"/>
          <a:lstStyle/>
          <a:p>
            <a:pPr marL="0" indent="0">
              <a:buNone/>
            </a:pPr>
            <a:r>
              <a:rPr lang="en-US" sz="1100" dirty="0">
                <a:solidFill>
                  <a:srgbClr val="BDD7F6"/>
                </a:solidFill>
              </a:rPr>
              <a:t>Grounded in AWS MCP strategy principles, adapted for EDGE architecture and financial-services controls</a:t>
            </a:r>
            <a:endParaRPr lang="en-US" sz="1100" dirty="0"/>
          </a:p>
        </p:txBody>
      </p:sp>
      <p:sp>
        <p:nvSpPr>
          <p:cNvPr id="7" name="Shape 5"/>
          <p:cNvSpPr/>
          <p:nvPr/>
        </p:nvSpPr>
        <p:spPr>
          <a:xfrm>
            <a:off x="749808" y="4160520"/>
            <a:ext cx="2286000" cy="310896"/>
          </a:xfrm>
          <a:prstGeom prst="roundRect">
            <a:avLst>
              <a:gd name="adj" fmla="val 29412"/>
            </a:avLst>
          </a:prstGeom>
          <a:solidFill>
            <a:srgbClr val="2563EB"/>
          </a:solidFill>
          <a:ln w="12700">
            <a:solidFill>
              <a:srgbClr val="2563EB">
                <a:alpha val="0"/>
              </a:srgbClr>
            </a:solidFill>
            <a:prstDash val="solid"/>
          </a:ln>
        </p:spPr>
        <p:txBody>
          <a:bodyPr/>
          <a:lstStyle/>
          <a:p>
            <a:endParaRPr lang="en-US"/>
          </a:p>
        </p:txBody>
      </p:sp>
      <p:sp>
        <p:nvSpPr>
          <p:cNvPr id="8" name="Text 6"/>
          <p:cNvSpPr/>
          <p:nvPr/>
        </p:nvSpPr>
        <p:spPr>
          <a:xfrm>
            <a:off x="822960" y="4229100"/>
            <a:ext cx="2139696" cy="137160"/>
          </a:xfrm>
          <a:prstGeom prst="rect">
            <a:avLst/>
          </a:prstGeom>
          <a:noFill/>
          <a:ln/>
        </p:spPr>
        <p:txBody>
          <a:bodyPr wrap="square" lIns="0" tIns="0" rIns="0" bIns="0" rtlCol="0" anchor="ctr"/>
          <a:lstStyle/>
          <a:p>
            <a:pPr marL="0" indent="0" algn="ctr">
              <a:buNone/>
            </a:pPr>
            <a:r>
              <a:rPr lang="en-US" sz="860" b="1" dirty="0">
                <a:solidFill>
                  <a:srgbClr val="FFFFFF"/>
                </a:solidFill>
              </a:rPr>
              <a:t>Tranche 1 — Strategy Foundation</a:t>
            </a:r>
            <a:endParaRPr lang="en-US" sz="860" dirty="0"/>
          </a:p>
        </p:txBody>
      </p:sp>
      <p:sp>
        <p:nvSpPr>
          <p:cNvPr id="9" name="Text 7"/>
          <p:cNvSpPr/>
          <p:nvPr/>
        </p:nvSpPr>
        <p:spPr>
          <a:xfrm>
            <a:off x="758952" y="6291072"/>
            <a:ext cx="1737360" cy="182880"/>
          </a:xfrm>
          <a:prstGeom prst="rect">
            <a:avLst/>
          </a:prstGeom>
          <a:noFill/>
          <a:ln/>
        </p:spPr>
        <p:txBody>
          <a:bodyPr wrap="square" lIns="0" tIns="0" rIns="0" bIns="0" rtlCol="0" anchor="ctr"/>
          <a:lstStyle/>
          <a:p>
            <a:pPr marL="0" indent="0">
              <a:buNone/>
            </a:pPr>
            <a:r>
              <a:rPr lang="en-US" sz="850" dirty="0">
                <a:solidFill>
                  <a:srgbClr val="93C5FD"/>
                </a:solidFill>
              </a:rPr>
              <a:t>September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Why Enterprise MCP, Why Now?</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lstStyle/>
          <a:p>
            <a:pPr marL="0" indent="0">
              <a:buNone/>
            </a:pPr>
            <a:r>
              <a:rPr lang="en-US" sz="1050" dirty="0">
                <a:solidFill>
                  <a:srgbClr val="64748B"/>
                </a:solidFill>
              </a:rPr>
              <a:t>Without a strategy, agents create integration sprawl, inconsistent controls and audit risk.</a:t>
            </a:r>
            <a:endParaRPr lang="en-US" sz="1050" dirty="0"/>
          </a:p>
        </p:txBody>
      </p:sp>
      <p:sp>
        <p:nvSpPr>
          <p:cNvPr id="6" name="Shape 4"/>
          <p:cNvSpPr/>
          <p:nvPr/>
        </p:nvSpPr>
        <p:spPr>
          <a:xfrm>
            <a:off x="640080" y="1234440"/>
            <a:ext cx="5029200" cy="54864"/>
          </a:xfrm>
          <a:prstGeom prst="rect">
            <a:avLst/>
          </a:prstGeom>
          <a:solidFill>
            <a:srgbClr val="DC2626"/>
          </a:solidFill>
          <a:ln w="12700">
            <a:solidFill>
              <a:srgbClr val="DC2626">
                <a:alpha val="0"/>
              </a:srgbClr>
            </a:solidFill>
            <a:prstDash val="solid"/>
          </a:ln>
        </p:spPr>
        <p:txBody>
          <a:bodyPr/>
          <a:lstStyle/>
          <a:p>
            <a:endParaRPr lang="en-US"/>
          </a:p>
        </p:txBody>
      </p:sp>
      <p:sp>
        <p:nvSpPr>
          <p:cNvPr id="7" name="Text 5"/>
          <p:cNvSpPr/>
          <p:nvPr/>
        </p:nvSpPr>
        <p:spPr>
          <a:xfrm>
            <a:off x="640080" y="1325880"/>
            <a:ext cx="5029200" cy="219456"/>
          </a:xfrm>
          <a:prstGeom prst="rect">
            <a:avLst/>
          </a:prstGeom>
          <a:noFill/>
          <a:ln/>
        </p:spPr>
        <p:txBody>
          <a:bodyPr wrap="square" lIns="0" tIns="0" rIns="0" bIns="0" rtlCol="0" anchor="ctr"/>
          <a:lstStyle/>
          <a:p>
            <a:pPr marL="0" indent="0">
              <a:buNone/>
            </a:pPr>
            <a:r>
              <a:rPr lang="en-US" sz="1000" b="1" dirty="0">
                <a:solidFill>
                  <a:srgbClr val="DC2626"/>
                </a:solidFill>
              </a:rPr>
              <a:t>TODAY WITHOUT A STANDARD</a:t>
            </a:r>
            <a:endParaRPr lang="en-US" sz="1000" dirty="0"/>
          </a:p>
        </p:txBody>
      </p:sp>
      <p:sp>
        <p:nvSpPr>
          <p:cNvPr id="8" name="Shape 6"/>
          <p:cNvSpPr/>
          <p:nvPr/>
        </p:nvSpPr>
        <p:spPr>
          <a:xfrm>
            <a:off x="914400" y="1874520"/>
            <a:ext cx="1051560" cy="411480"/>
          </a:xfrm>
          <a:prstGeom prst="roundRect">
            <a:avLst>
              <a:gd name="adj" fmla="val 17778"/>
            </a:avLst>
          </a:prstGeom>
          <a:solidFill>
            <a:srgbClr val="FFF7ED"/>
          </a:solidFill>
          <a:ln w="12700">
            <a:solidFill>
              <a:srgbClr val="FDBA74"/>
            </a:solidFill>
            <a:prstDash val="solid"/>
          </a:ln>
        </p:spPr>
        <p:txBody>
          <a:bodyPr/>
          <a:lstStyle/>
          <a:p>
            <a:endParaRPr lang="en-US"/>
          </a:p>
        </p:txBody>
      </p:sp>
      <p:sp>
        <p:nvSpPr>
          <p:cNvPr id="9" name="Text 7"/>
          <p:cNvSpPr/>
          <p:nvPr/>
        </p:nvSpPr>
        <p:spPr>
          <a:xfrm>
            <a:off x="914400" y="1911096"/>
            <a:ext cx="1051560" cy="210312"/>
          </a:xfrm>
          <a:prstGeom prst="rect">
            <a:avLst/>
          </a:prstGeom>
          <a:noFill/>
          <a:ln/>
        </p:spPr>
        <p:txBody>
          <a:bodyPr wrap="square" lIns="508" tIns="508" rIns="508" bIns="508" rtlCol="0" anchor="ctr">
            <a:normAutofit/>
          </a:bodyPr>
          <a:lstStyle/>
          <a:p>
            <a:pPr marL="0" indent="0" algn="ctr">
              <a:buNone/>
            </a:pPr>
            <a:r>
              <a:rPr lang="en-US" sz="1000" b="1" dirty="0">
                <a:solidFill>
                  <a:srgbClr val="111827"/>
                </a:solidFill>
              </a:rPr>
              <a:t>Agent A</a:t>
            </a:r>
            <a:endParaRPr lang="en-US" sz="1000" dirty="0"/>
          </a:p>
        </p:txBody>
      </p:sp>
      <p:sp>
        <p:nvSpPr>
          <p:cNvPr id="10" name="Shape 8"/>
          <p:cNvSpPr/>
          <p:nvPr/>
        </p:nvSpPr>
        <p:spPr>
          <a:xfrm>
            <a:off x="914400" y="2788920"/>
            <a:ext cx="1051560" cy="411480"/>
          </a:xfrm>
          <a:prstGeom prst="roundRect">
            <a:avLst>
              <a:gd name="adj" fmla="val 17778"/>
            </a:avLst>
          </a:prstGeom>
          <a:solidFill>
            <a:srgbClr val="FFF7ED"/>
          </a:solidFill>
          <a:ln w="12700">
            <a:solidFill>
              <a:srgbClr val="FDBA74"/>
            </a:solidFill>
            <a:prstDash val="solid"/>
          </a:ln>
        </p:spPr>
        <p:txBody>
          <a:bodyPr/>
          <a:lstStyle/>
          <a:p>
            <a:endParaRPr lang="en-US"/>
          </a:p>
        </p:txBody>
      </p:sp>
      <p:sp>
        <p:nvSpPr>
          <p:cNvPr id="11" name="Text 9"/>
          <p:cNvSpPr/>
          <p:nvPr/>
        </p:nvSpPr>
        <p:spPr>
          <a:xfrm>
            <a:off x="914400" y="2825496"/>
            <a:ext cx="1051560" cy="210312"/>
          </a:xfrm>
          <a:prstGeom prst="rect">
            <a:avLst/>
          </a:prstGeom>
          <a:noFill/>
          <a:ln/>
        </p:spPr>
        <p:txBody>
          <a:bodyPr wrap="square" lIns="508" tIns="508" rIns="508" bIns="508" rtlCol="0" anchor="ctr">
            <a:normAutofit/>
          </a:bodyPr>
          <a:lstStyle/>
          <a:p>
            <a:pPr marL="0" indent="0" algn="ctr">
              <a:buNone/>
            </a:pPr>
            <a:r>
              <a:rPr lang="en-US" sz="1000" b="1" dirty="0">
                <a:solidFill>
                  <a:srgbClr val="111827"/>
                </a:solidFill>
              </a:rPr>
              <a:t>Agent B</a:t>
            </a:r>
            <a:endParaRPr lang="en-US" sz="1000" dirty="0"/>
          </a:p>
        </p:txBody>
      </p:sp>
      <p:sp>
        <p:nvSpPr>
          <p:cNvPr id="12" name="Shape 10"/>
          <p:cNvSpPr/>
          <p:nvPr/>
        </p:nvSpPr>
        <p:spPr>
          <a:xfrm>
            <a:off x="914400" y="3703320"/>
            <a:ext cx="1051560" cy="411480"/>
          </a:xfrm>
          <a:prstGeom prst="roundRect">
            <a:avLst>
              <a:gd name="adj" fmla="val 17778"/>
            </a:avLst>
          </a:prstGeom>
          <a:solidFill>
            <a:srgbClr val="FFF7ED"/>
          </a:solidFill>
          <a:ln w="12700">
            <a:solidFill>
              <a:srgbClr val="FDBA74"/>
            </a:solidFill>
            <a:prstDash val="solid"/>
          </a:ln>
        </p:spPr>
        <p:txBody>
          <a:bodyPr/>
          <a:lstStyle/>
          <a:p>
            <a:endParaRPr lang="en-US"/>
          </a:p>
        </p:txBody>
      </p:sp>
      <p:sp>
        <p:nvSpPr>
          <p:cNvPr id="13" name="Text 11"/>
          <p:cNvSpPr/>
          <p:nvPr/>
        </p:nvSpPr>
        <p:spPr>
          <a:xfrm>
            <a:off x="914400" y="3739896"/>
            <a:ext cx="1051560" cy="210312"/>
          </a:xfrm>
          <a:prstGeom prst="rect">
            <a:avLst/>
          </a:prstGeom>
          <a:noFill/>
          <a:ln/>
        </p:spPr>
        <p:txBody>
          <a:bodyPr wrap="square" lIns="508" tIns="508" rIns="508" bIns="508" rtlCol="0" anchor="ctr">
            <a:normAutofit/>
          </a:bodyPr>
          <a:lstStyle/>
          <a:p>
            <a:pPr marL="0" indent="0" algn="ctr">
              <a:buNone/>
            </a:pPr>
            <a:r>
              <a:rPr lang="en-US" sz="1000" b="1" dirty="0">
                <a:solidFill>
                  <a:srgbClr val="111827"/>
                </a:solidFill>
              </a:rPr>
              <a:t>Agent C</a:t>
            </a:r>
            <a:endParaRPr lang="en-US" sz="1000" dirty="0"/>
          </a:p>
        </p:txBody>
      </p:sp>
      <p:sp>
        <p:nvSpPr>
          <p:cNvPr id="14" name="Shape 12"/>
          <p:cNvSpPr/>
          <p:nvPr/>
        </p:nvSpPr>
        <p:spPr>
          <a:xfrm>
            <a:off x="4160520" y="1554480"/>
            <a:ext cx="1325880" cy="438912"/>
          </a:xfrm>
          <a:prstGeom prst="roundRect">
            <a:avLst>
              <a:gd name="adj" fmla="val 16667"/>
            </a:avLst>
          </a:prstGeom>
          <a:solidFill>
            <a:srgbClr val="FEF2F2"/>
          </a:solidFill>
          <a:ln w="12700">
            <a:solidFill>
              <a:srgbClr val="FCA5A5"/>
            </a:solidFill>
            <a:prstDash val="solid"/>
          </a:ln>
        </p:spPr>
        <p:txBody>
          <a:bodyPr/>
          <a:lstStyle/>
          <a:p>
            <a:endParaRPr lang="en-US"/>
          </a:p>
        </p:txBody>
      </p:sp>
      <p:sp>
        <p:nvSpPr>
          <p:cNvPr id="15" name="Text 13"/>
          <p:cNvSpPr/>
          <p:nvPr/>
        </p:nvSpPr>
        <p:spPr>
          <a:xfrm>
            <a:off x="4160520" y="1591056"/>
            <a:ext cx="1325880" cy="210312"/>
          </a:xfrm>
          <a:prstGeom prst="rect">
            <a:avLst/>
          </a:prstGeom>
          <a:noFill/>
          <a:ln/>
        </p:spPr>
        <p:txBody>
          <a:bodyPr wrap="square" lIns="508" tIns="508" rIns="508" bIns="508" rtlCol="0" anchor="ctr">
            <a:normAutofit/>
          </a:bodyPr>
          <a:lstStyle/>
          <a:p>
            <a:pPr marL="0" indent="0" algn="ctr">
              <a:buNone/>
            </a:pPr>
            <a:r>
              <a:rPr lang="en-US" sz="950" b="1" dirty="0">
                <a:solidFill>
                  <a:srgbClr val="111827"/>
                </a:solidFill>
              </a:rPr>
              <a:t>Position API</a:t>
            </a:r>
            <a:endParaRPr lang="en-US" sz="950" dirty="0"/>
          </a:p>
        </p:txBody>
      </p:sp>
      <p:sp>
        <p:nvSpPr>
          <p:cNvPr id="16" name="Shape 14"/>
          <p:cNvSpPr/>
          <p:nvPr/>
        </p:nvSpPr>
        <p:spPr>
          <a:xfrm>
            <a:off x="4160520" y="2606040"/>
            <a:ext cx="1325880" cy="438912"/>
          </a:xfrm>
          <a:prstGeom prst="roundRect">
            <a:avLst>
              <a:gd name="adj" fmla="val 16667"/>
            </a:avLst>
          </a:prstGeom>
          <a:solidFill>
            <a:srgbClr val="FEF2F2"/>
          </a:solidFill>
          <a:ln w="12700">
            <a:solidFill>
              <a:srgbClr val="FCA5A5"/>
            </a:solidFill>
            <a:prstDash val="solid"/>
          </a:ln>
        </p:spPr>
        <p:txBody>
          <a:bodyPr/>
          <a:lstStyle/>
          <a:p>
            <a:endParaRPr lang="en-US"/>
          </a:p>
        </p:txBody>
      </p:sp>
      <p:sp>
        <p:nvSpPr>
          <p:cNvPr id="17" name="Text 15"/>
          <p:cNvSpPr/>
          <p:nvPr/>
        </p:nvSpPr>
        <p:spPr>
          <a:xfrm>
            <a:off x="4160520" y="2642616"/>
            <a:ext cx="1325880" cy="210312"/>
          </a:xfrm>
          <a:prstGeom prst="rect">
            <a:avLst/>
          </a:prstGeom>
          <a:noFill/>
          <a:ln/>
        </p:spPr>
        <p:txBody>
          <a:bodyPr wrap="square" lIns="508" tIns="508" rIns="508" bIns="508" rtlCol="0" anchor="ctr">
            <a:normAutofit/>
          </a:bodyPr>
          <a:lstStyle/>
          <a:p>
            <a:pPr marL="0" indent="0" algn="ctr">
              <a:buNone/>
            </a:pPr>
            <a:r>
              <a:rPr lang="en-US" sz="950" b="1" dirty="0">
                <a:solidFill>
                  <a:srgbClr val="111827"/>
                </a:solidFill>
              </a:rPr>
              <a:t>Settlement</a:t>
            </a:r>
            <a:endParaRPr lang="en-US" sz="950" dirty="0"/>
          </a:p>
        </p:txBody>
      </p:sp>
      <p:sp>
        <p:nvSpPr>
          <p:cNvPr id="18" name="Shape 16"/>
          <p:cNvSpPr/>
          <p:nvPr/>
        </p:nvSpPr>
        <p:spPr>
          <a:xfrm>
            <a:off x="4160520" y="3657600"/>
            <a:ext cx="1325880" cy="438912"/>
          </a:xfrm>
          <a:prstGeom prst="roundRect">
            <a:avLst>
              <a:gd name="adj" fmla="val 16667"/>
            </a:avLst>
          </a:prstGeom>
          <a:solidFill>
            <a:srgbClr val="FEF2F2"/>
          </a:solidFill>
          <a:ln w="12700">
            <a:solidFill>
              <a:srgbClr val="FCA5A5"/>
            </a:solidFill>
            <a:prstDash val="solid"/>
          </a:ln>
        </p:spPr>
        <p:txBody>
          <a:bodyPr/>
          <a:lstStyle/>
          <a:p>
            <a:endParaRPr lang="en-US"/>
          </a:p>
        </p:txBody>
      </p:sp>
      <p:sp>
        <p:nvSpPr>
          <p:cNvPr id="19" name="Text 17"/>
          <p:cNvSpPr/>
          <p:nvPr/>
        </p:nvSpPr>
        <p:spPr>
          <a:xfrm>
            <a:off x="4160520" y="3694176"/>
            <a:ext cx="1325880" cy="210312"/>
          </a:xfrm>
          <a:prstGeom prst="rect">
            <a:avLst/>
          </a:prstGeom>
          <a:noFill/>
          <a:ln/>
        </p:spPr>
        <p:txBody>
          <a:bodyPr wrap="square" lIns="508" tIns="508" rIns="508" bIns="508" rtlCol="0" anchor="ctr">
            <a:normAutofit/>
          </a:bodyPr>
          <a:lstStyle/>
          <a:p>
            <a:pPr marL="0" indent="0" algn="ctr">
              <a:buNone/>
            </a:pPr>
            <a:r>
              <a:rPr lang="en-US" sz="950" b="1" dirty="0">
                <a:solidFill>
                  <a:srgbClr val="111827"/>
                </a:solidFill>
              </a:rPr>
              <a:t>Reference Data</a:t>
            </a:r>
            <a:endParaRPr lang="en-US" sz="950" dirty="0"/>
          </a:p>
        </p:txBody>
      </p:sp>
      <p:sp>
        <p:nvSpPr>
          <p:cNvPr id="20" name="Shape 18"/>
          <p:cNvSpPr/>
          <p:nvPr/>
        </p:nvSpPr>
        <p:spPr>
          <a:xfrm>
            <a:off x="4160520" y="4709160"/>
            <a:ext cx="1325880" cy="438912"/>
          </a:xfrm>
          <a:prstGeom prst="roundRect">
            <a:avLst>
              <a:gd name="adj" fmla="val 16667"/>
            </a:avLst>
          </a:prstGeom>
          <a:solidFill>
            <a:srgbClr val="FEF2F2"/>
          </a:solidFill>
          <a:ln w="12700">
            <a:solidFill>
              <a:srgbClr val="FCA5A5"/>
            </a:solidFill>
            <a:prstDash val="solid"/>
          </a:ln>
        </p:spPr>
        <p:txBody>
          <a:bodyPr/>
          <a:lstStyle/>
          <a:p>
            <a:endParaRPr lang="en-US"/>
          </a:p>
        </p:txBody>
      </p:sp>
      <p:sp>
        <p:nvSpPr>
          <p:cNvPr id="21" name="Text 19"/>
          <p:cNvSpPr/>
          <p:nvPr/>
        </p:nvSpPr>
        <p:spPr>
          <a:xfrm>
            <a:off x="4160520" y="4745736"/>
            <a:ext cx="1325880" cy="210312"/>
          </a:xfrm>
          <a:prstGeom prst="rect">
            <a:avLst/>
          </a:prstGeom>
          <a:noFill/>
          <a:ln/>
        </p:spPr>
        <p:txBody>
          <a:bodyPr wrap="square" lIns="508" tIns="508" rIns="508" bIns="508" rtlCol="0" anchor="ctr">
            <a:normAutofit/>
          </a:bodyPr>
          <a:lstStyle/>
          <a:p>
            <a:pPr marL="0" indent="0" algn="ctr">
              <a:buNone/>
            </a:pPr>
            <a:r>
              <a:rPr lang="en-US" sz="950" b="1" dirty="0">
                <a:solidFill>
                  <a:srgbClr val="111827"/>
                </a:solidFill>
              </a:rPr>
              <a:t>Workflow API</a:t>
            </a:r>
            <a:endParaRPr lang="en-US" sz="950" dirty="0"/>
          </a:p>
        </p:txBody>
      </p:sp>
      <p:sp>
        <p:nvSpPr>
          <p:cNvPr id="22" name="Shape 20"/>
          <p:cNvSpPr/>
          <p:nvPr/>
        </p:nvSpPr>
        <p:spPr>
          <a:xfrm>
            <a:off x="2011680" y="2075688"/>
            <a:ext cx="2103120" cy="0"/>
          </a:xfrm>
          <a:prstGeom prst="line">
            <a:avLst/>
          </a:prstGeom>
          <a:noFill/>
          <a:ln w="11430">
            <a:solidFill>
              <a:srgbClr val="DC2626"/>
            </a:solidFill>
            <a:prstDash val="solid"/>
            <a:headEnd type="none"/>
            <a:tailEnd type="triangle"/>
          </a:ln>
        </p:spPr>
        <p:txBody>
          <a:bodyPr/>
          <a:lstStyle/>
          <a:p>
            <a:endParaRPr lang="en-US"/>
          </a:p>
        </p:txBody>
      </p:sp>
      <p:sp>
        <p:nvSpPr>
          <p:cNvPr id="23" name="Shape 21"/>
          <p:cNvSpPr/>
          <p:nvPr/>
        </p:nvSpPr>
        <p:spPr>
          <a:xfrm>
            <a:off x="2011680" y="2075688"/>
            <a:ext cx="2103120" cy="649224"/>
          </a:xfrm>
          <a:prstGeom prst="line">
            <a:avLst/>
          </a:prstGeom>
          <a:noFill/>
          <a:ln w="11430">
            <a:solidFill>
              <a:srgbClr val="DC2626"/>
            </a:solidFill>
            <a:prstDash val="solid"/>
            <a:headEnd type="none"/>
            <a:tailEnd type="triangle"/>
          </a:ln>
        </p:spPr>
        <p:txBody>
          <a:bodyPr/>
          <a:lstStyle/>
          <a:p>
            <a:endParaRPr lang="en-US"/>
          </a:p>
        </p:txBody>
      </p:sp>
      <p:sp>
        <p:nvSpPr>
          <p:cNvPr id="24" name="Shape 22"/>
          <p:cNvSpPr/>
          <p:nvPr/>
        </p:nvSpPr>
        <p:spPr>
          <a:xfrm>
            <a:off x="2011680" y="2990088"/>
            <a:ext cx="2103120" cy="0"/>
          </a:xfrm>
          <a:prstGeom prst="line">
            <a:avLst/>
          </a:prstGeom>
          <a:noFill/>
          <a:ln w="11430">
            <a:solidFill>
              <a:srgbClr val="DC2626"/>
            </a:solidFill>
            <a:prstDash val="solid"/>
            <a:headEnd type="none"/>
            <a:tailEnd type="triangle"/>
          </a:ln>
        </p:spPr>
        <p:txBody>
          <a:bodyPr/>
          <a:lstStyle/>
          <a:p>
            <a:endParaRPr lang="en-US"/>
          </a:p>
        </p:txBody>
      </p:sp>
      <p:sp>
        <p:nvSpPr>
          <p:cNvPr id="25" name="Shape 23"/>
          <p:cNvSpPr/>
          <p:nvPr/>
        </p:nvSpPr>
        <p:spPr>
          <a:xfrm>
            <a:off x="2011680" y="2990088"/>
            <a:ext cx="2103120" cy="832104"/>
          </a:xfrm>
          <a:prstGeom prst="line">
            <a:avLst/>
          </a:prstGeom>
          <a:noFill/>
          <a:ln w="11430">
            <a:solidFill>
              <a:srgbClr val="DC2626"/>
            </a:solidFill>
            <a:prstDash val="solid"/>
            <a:headEnd type="none"/>
            <a:tailEnd type="triangle"/>
          </a:ln>
        </p:spPr>
        <p:txBody>
          <a:bodyPr/>
          <a:lstStyle/>
          <a:p>
            <a:endParaRPr lang="en-US"/>
          </a:p>
        </p:txBody>
      </p:sp>
      <p:sp>
        <p:nvSpPr>
          <p:cNvPr id="26" name="Shape 24"/>
          <p:cNvSpPr/>
          <p:nvPr/>
        </p:nvSpPr>
        <p:spPr>
          <a:xfrm>
            <a:off x="2011680" y="3904488"/>
            <a:ext cx="2103120" cy="0"/>
          </a:xfrm>
          <a:prstGeom prst="line">
            <a:avLst/>
          </a:prstGeom>
          <a:noFill/>
          <a:ln w="11430">
            <a:solidFill>
              <a:srgbClr val="DC2626"/>
            </a:solidFill>
            <a:prstDash val="solid"/>
            <a:headEnd type="none"/>
            <a:tailEnd type="triangle"/>
          </a:ln>
        </p:spPr>
        <p:txBody>
          <a:bodyPr/>
          <a:lstStyle/>
          <a:p>
            <a:endParaRPr lang="en-US"/>
          </a:p>
        </p:txBody>
      </p:sp>
      <p:sp>
        <p:nvSpPr>
          <p:cNvPr id="27" name="Shape 25"/>
          <p:cNvSpPr/>
          <p:nvPr/>
        </p:nvSpPr>
        <p:spPr>
          <a:xfrm>
            <a:off x="2011680" y="3904488"/>
            <a:ext cx="2103120" cy="987552"/>
          </a:xfrm>
          <a:prstGeom prst="line">
            <a:avLst/>
          </a:prstGeom>
          <a:noFill/>
          <a:ln w="11430">
            <a:solidFill>
              <a:srgbClr val="DC2626"/>
            </a:solidFill>
            <a:prstDash val="solid"/>
            <a:headEnd type="none"/>
            <a:tailEnd type="triangle"/>
          </a:ln>
        </p:spPr>
        <p:txBody>
          <a:bodyPr/>
          <a:lstStyle/>
          <a:p>
            <a:endParaRPr lang="en-US"/>
          </a:p>
        </p:txBody>
      </p:sp>
      <p:sp>
        <p:nvSpPr>
          <p:cNvPr id="28" name="Text 26"/>
          <p:cNvSpPr/>
          <p:nvPr/>
        </p:nvSpPr>
        <p:spPr>
          <a:xfrm>
            <a:off x="777240" y="5074920"/>
            <a:ext cx="3063240" cy="594360"/>
          </a:xfrm>
          <a:prstGeom prst="rect">
            <a:avLst/>
          </a:prstGeom>
          <a:noFill/>
          <a:ln/>
        </p:spPr>
        <p:txBody>
          <a:bodyPr wrap="square" lIns="0" tIns="0" rIns="0" bIns="0" rtlCol="0" anchor="ctr">
            <a:normAutofit/>
          </a:bodyPr>
          <a:lstStyle/>
          <a:p>
            <a:pPr marL="0" indent="0">
              <a:buNone/>
            </a:pPr>
            <a:r>
              <a:rPr lang="en-US" sz="1250" dirty="0">
                <a:solidFill>
                  <a:srgbClr val="334155"/>
                </a:solidFill>
              </a:rPr>
              <a:t>Duplicate wrappers</a:t>
            </a:r>
            <a:endParaRPr lang="en-US" sz="1250" dirty="0"/>
          </a:p>
          <a:p>
            <a:pPr marL="0" indent="0">
              <a:buNone/>
            </a:pPr>
            <a:r>
              <a:rPr lang="en-US" sz="1250" dirty="0">
                <a:solidFill>
                  <a:srgbClr val="334155"/>
                </a:solidFill>
              </a:rPr>
              <a:t>Inconsistent auth</a:t>
            </a:r>
            <a:endParaRPr lang="en-US" sz="1250" dirty="0"/>
          </a:p>
          <a:p>
            <a:pPr marL="0" indent="0">
              <a:buNone/>
            </a:pPr>
            <a:r>
              <a:rPr lang="en-US" sz="1250" dirty="0">
                <a:solidFill>
                  <a:srgbClr val="334155"/>
                </a:solidFill>
              </a:rPr>
              <a:t>No common audit trail</a:t>
            </a:r>
            <a:endParaRPr lang="en-US" sz="1250" dirty="0"/>
          </a:p>
          <a:p>
            <a:pPr marL="0" indent="0">
              <a:buNone/>
            </a:pPr>
            <a:r>
              <a:rPr lang="en-US" sz="1250" dirty="0">
                <a:solidFill>
                  <a:srgbClr val="334155"/>
                </a:solidFill>
              </a:rPr>
              <a:t>Hard to version safely</a:t>
            </a:r>
            <a:endParaRPr lang="en-US" sz="1250" dirty="0"/>
          </a:p>
        </p:txBody>
      </p:sp>
      <p:sp>
        <p:nvSpPr>
          <p:cNvPr id="29" name="Shape 27"/>
          <p:cNvSpPr/>
          <p:nvPr/>
        </p:nvSpPr>
        <p:spPr>
          <a:xfrm>
            <a:off x="6400800" y="1234440"/>
            <a:ext cx="5029200" cy="54864"/>
          </a:xfrm>
          <a:prstGeom prst="rect">
            <a:avLst/>
          </a:prstGeom>
          <a:solidFill>
            <a:srgbClr val="16A34A"/>
          </a:solidFill>
          <a:ln w="12700">
            <a:solidFill>
              <a:srgbClr val="16A34A">
                <a:alpha val="0"/>
              </a:srgbClr>
            </a:solidFill>
            <a:prstDash val="solid"/>
          </a:ln>
        </p:spPr>
        <p:txBody>
          <a:bodyPr/>
          <a:lstStyle/>
          <a:p>
            <a:endParaRPr lang="en-US"/>
          </a:p>
        </p:txBody>
      </p:sp>
      <p:sp>
        <p:nvSpPr>
          <p:cNvPr id="30" name="Text 28"/>
          <p:cNvSpPr/>
          <p:nvPr/>
        </p:nvSpPr>
        <p:spPr>
          <a:xfrm>
            <a:off x="6400800" y="1325880"/>
            <a:ext cx="5029200" cy="219456"/>
          </a:xfrm>
          <a:prstGeom prst="rect">
            <a:avLst/>
          </a:prstGeom>
          <a:noFill/>
          <a:ln/>
        </p:spPr>
        <p:txBody>
          <a:bodyPr wrap="square" lIns="0" tIns="0" rIns="0" bIns="0" rtlCol="0" anchor="ctr"/>
          <a:lstStyle/>
          <a:p>
            <a:pPr marL="0" indent="0">
              <a:buNone/>
            </a:pPr>
            <a:r>
              <a:rPr lang="en-US" sz="1000" b="1" dirty="0">
                <a:solidFill>
                  <a:srgbClr val="16A34A"/>
                </a:solidFill>
              </a:rPr>
              <a:t>TARGET WITH ENTERPRISE MCP</a:t>
            </a:r>
            <a:endParaRPr lang="en-US" sz="1000" dirty="0"/>
          </a:p>
        </p:txBody>
      </p:sp>
      <p:sp>
        <p:nvSpPr>
          <p:cNvPr id="31" name="Shape 29"/>
          <p:cNvSpPr/>
          <p:nvPr/>
        </p:nvSpPr>
        <p:spPr>
          <a:xfrm>
            <a:off x="6720840" y="2011680"/>
            <a:ext cx="1371600" cy="502920"/>
          </a:xfrm>
          <a:prstGeom prst="roundRect">
            <a:avLst>
              <a:gd name="adj" fmla="val 14545"/>
            </a:avLst>
          </a:prstGeom>
          <a:solidFill>
            <a:srgbClr val="EFF6FF"/>
          </a:solidFill>
          <a:ln w="12700">
            <a:solidFill>
              <a:srgbClr val="93C5FD"/>
            </a:solidFill>
            <a:prstDash val="solid"/>
          </a:ln>
        </p:spPr>
        <p:txBody>
          <a:bodyPr/>
          <a:lstStyle/>
          <a:p>
            <a:endParaRPr lang="en-US"/>
          </a:p>
        </p:txBody>
      </p:sp>
      <p:sp>
        <p:nvSpPr>
          <p:cNvPr id="32" name="Text 30"/>
          <p:cNvSpPr/>
          <p:nvPr/>
        </p:nvSpPr>
        <p:spPr>
          <a:xfrm>
            <a:off x="6720840" y="2103120"/>
            <a:ext cx="1371600" cy="182880"/>
          </a:xfrm>
          <a:prstGeom prst="rect">
            <a:avLst/>
          </a:prstGeom>
          <a:noFill/>
          <a:ln/>
        </p:spPr>
        <p:txBody>
          <a:bodyPr wrap="square" lIns="508" tIns="508" rIns="508" bIns="508" rtlCol="0" anchor="ctr">
            <a:normAutofit/>
          </a:bodyPr>
          <a:lstStyle/>
          <a:p>
            <a:pPr marL="0" indent="0" algn="ctr">
              <a:buNone/>
            </a:pPr>
            <a:r>
              <a:rPr lang="en-US" sz="1100" b="1" dirty="0">
                <a:solidFill>
                  <a:srgbClr val="111827"/>
                </a:solidFill>
              </a:rPr>
              <a:t>Agents</a:t>
            </a:r>
            <a:endParaRPr lang="en-US" sz="1100" dirty="0"/>
          </a:p>
        </p:txBody>
      </p:sp>
      <p:sp>
        <p:nvSpPr>
          <p:cNvPr id="33" name="Shape 31"/>
          <p:cNvSpPr/>
          <p:nvPr/>
        </p:nvSpPr>
        <p:spPr>
          <a:xfrm>
            <a:off x="8458200" y="1783080"/>
            <a:ext cx="2103120" cy="987552"/>
          </a:xfrm>
          <a:prstGeom prst="roundRect">
            <a:avLst>
              <a:gd name="adj" fmla="val 7407"/>
            </a:avLst>
          </a:prstGeom>
          <a:solidFill>
            <a:srgbClr val="ECFDF5"/>
          </a:solidFill>
          <a:ln w="12700">
            <a:solidFill>
              <a:srgbClr val="86EFAC"/>
            </a:solidFill>
            <a:prstDash val="solid"/>
          </a:ln>
        </p:spPr>
        <p:txBody>
          <a:bodyPr/>
          <a:lstStyle/>
          <a:p>
            <a:endParaRPr lang="en-US"/>
          </a:p>
        </p:txBody>
      </p:sp>
      <p:sp>
        <p:nvSpPr>
          <p:cNvPr id="34" name="Text 32"/>
          <p:cNvSpPr/>
          <p:nvPr/>
        </p:nvSpPr>
        <p:spPr>
          <a:xfrm>
            <a:off x="8458200" y="1947672"/>
            <a:ext cx="2103120" cy="329184"/>
          </a:xfrm>
          <a:prstGeom prst="rect">
            <a:avLst/>
          </a:prstGeom>
          <a:noFill/>
          <a:ln/>
        </p:spPr>
        <p:txBody>
          <a:bodyPr wrap="square" lIns="508" tIns="508" rIns="508" bIns="508" rtlCol="0" anchor="ctr">
            <a:normAutofit/>
          </a:bodyPr>
          <a:lstStyle/>
          <a:p>
            <a:pPr marL="0" indent="0" algn="ctr">
              <a:buNone/>
            </a:pPr>
            <a:r>
              <a:rPr lang="en-US" sz="1200" b="1" dirty="0">
                <a:solidFill>
                  <a:srgbClr val="0F766E"/>
                </a:solidFill>
              </a:rPr>
              <a:t>Enterprise MCP</a:t>
            </a:r>
            <a:endParaRPr lang="en-US" sz="1200" dirty="0"/>
          </a:p>
          <a:p>
            <a:pPr marL="0" indent="0" algn="ctr">
              <a:buNone/>
            </a:pPr>
            <a:r>
              <a:rPr lang="en-US" sz="1200" b="1" dirty="0">
                <a:solidFill>
                  <a:srgbClr val="0F766E"/>
                </a:solidFill>
              </a:rPr>
              <a:t>Capability Layer</a:t>
            </a:r>
            <a:endParaRPr lang="en-US" sz="1200" dirty="0"/>
          </a:p>
        </p:txBody>
      </p:sp>
      <p:sp>
        <p:nvSpPr>
          <p:cNvPr id="35" name="Shape 33"/>
          <p:cNvSpPr/>
          <p:nvPr/>
        </p:nvSpPr>
        <p:spPr>
          <a:xfrm>
            <a:off x="8138160" y="2258568"/>
            <a:ext cx="274320" cy="0"/>
          </a:xfrm>
          <a:prstGeom prst="line">
            <a:avLst/>
          </a:prstGeom>
          <a:noFill/>
          <a:ln w="16510">
            <a:solidFill>
              <a:srgbClr val="16A34A"/>
            </a:solidFill>
            <a:prstDash val="solid"/>
            <a:headEnd type="none"/>
            <a:tailEnd type="triangle"/>
          </a:ln>
        </p:spPr>
        <p:txBody>
          <a:bodyPr/>
          <a:lstStyle/>
          <a:p>
            <a:endParaRPr lang="en-US"/>
          </a:p>
        </p:txBody>
      </p:sp>
      <p:sp>
        <p:nvSpPr>
          <p:cNvPr id="36" name="Shape 34"/>
          <p:cNvSpPr/>
          <p:nvPr/>
        </p:nvSpPr>
        <p:spPr>
          <a:xfrm>
            <a:off x="7315200" y="3657600"/>
            <a:ext cx="896112" cy="502920"/>
          </a:xfrm>
          <a:prstGeom prst="roundRect">
            <a:avLst>
              <a:gd name="adj" fmla="val 14545"/>
            </a:avLst>
          </a:prstGeom>
          <a:solidFill>
            <a:srgbClr val="FFFFFF"/>
          </a:solidFill>
          <a:ln w="12700">
            <a:solidFill>
              <a:srgbClr val="A7F3D0"/>
            </a:solidFill>
            <a:prstDash val="solid"/>
          </a:ln>
        </p:spPr>
        <p:txBody>
          <a:bodyPr/>
          <a:lstStyle/>
          <a:p>
            <a:endParaRPr lang="en-US"/>
          </a:p>
        </p:txBody>
      </p:sp>
      <p:sp>
        <p:nvSpPr>
          <p:cNvPr id="37" name="Text 35"/>
          <p:cNvSpPr/>
          <p:nvPr/>
        </p:nvSpPr>
        <p:spPr>
          <a:xfrm>
            <a:off x="7315200" y="3767328"/>
            <a:ext cx="896112" cy="164592"/>
          </a:xfrm>
          <a:prstGeom prst="rect">
            <a:avLst/>
          </a:prstGeom>
          <a:noFill/>
          <a:ln/>
        </p:spPr>
        <p:txBody>
          <a:bodyPr wrap="square" lIns="508" tIns="508" rIns="508" bIns="508" rtlCol="0" anchor="ctr">
            <a:normAutofit/>
          </a:bodyPr>
          <a:lstStyle/>
          <a:p>
            <a:pPr marL="0" indent="0" algn="ctr">
              <a:buNone/>
            </a:pPr>
            <a:r>
              <a:rPr lang="en-US" sz="920" b="1" dirty="0">
                <a:solidFill>
                  <a:srgbClr val="0F766E"/>
                </a:solidFill>
              </a:rPr>
              <a:t>Trade</a:t>
            </a:r>
            <a:endParaRPr lang="en-US" sz="920" dirty="0"/>
          </a:p>
        </p:txBody>
      </p:sp>
      <p:sp>
        <p:nvSpPr>
          <p:cNvPr id="38" name="Shape 36"/>
          <p:cNvSpPr/>
          <p:nvPr/>
        </p:nvSpPr>
        <p:spPr>
          <a:xfrm>
            <a:off x="9509760" y="2788920"/>
            <a:ext cx="0" cy="822960"/>
          </a:xfrm>
          <a:prstGeom prst="line">
            <a:avLst/>
          </a:prstGeom>
          <a:noFill/>
          <a:ln w="10160">
            <a:solidFill>
              <a:srgbClr val="16A34A"/>
            </a:solidFill>
            <a:prstDash val="solid"/>
            <a:headEnd type="none"/>
            <a:tailEnd type="triangle"/>
          </a:ln>
        </p:spPr>
        <p:txBody>
          <a:bodyPr/>
          <a:lstStyle/>
          <a:p>
            <a:endParaRPr lang="en-US"/>
          </a:p>
        </p:txBody>
      </p:sp>
      <p:sp>
        <p:nvSpPr>
          <p:cNvPr id="39" name="Shape 37"/>
          <p:cNvSpPr/>
          <p:nvPr/>
        </p:nvSpPr>
        <p:spPr>
          <a:xfrm>
            <a:off x="8549640" y="3657600"/>
            <a:ext cx="896112" cy="502920"/>
          </a:xfrm>
          <a:prstGeom prst="roundRect">
            <a:avLst>
              <a:gd name="adj" fmla="val 14545"/>
            </a:avLst>
          </a:prstGeom>
          <a:solidFill>
            <a:srgbClr val="FFFFFF"/>
          </a:solidFill>
          <a:ln w="12700">
            <a:solidFill>
              <a:srgbClr val="A7F3D0"/>
            </a:solidFill>
            <a:prstDash val="solid"/>
          </a:ln>
        </p:spPr>
        <p:txBody>
          <a:bodyPr/>
          <a:lstStyle/>
          <a:p>
            <a:endParaRPr lang="en-US"/>
          </a:p>
        </p:txBody>
      </p:sp>
      <p:sp>
        <p:nvSpPr>
          <p:cNvPr id="40" name="Text 38"/>
          <p:cNvSpPr/>
          <p:nvPr/>
        </p:nvSpPr>
        <p:spPr>
          <a:xfrm>
            <a:off x="8549640" y="3767328"/>
            <a:ext cx="896112" cy="164592"/>
          </a:xfrm>
          <a:prstGeom prst="rect">
            <a:avLst/>
          </a:prstGeom>
          <a:noFill/>
          <a:ln/>
        </p:spPr>
        <p:txBody>
          <a:bodyPr wrap="square" lIns="508" tIns="508" rIns="508" bIns="508" rtlCol="0" anchor="ctr">
            <a:normAutofit/>
          </a:bodyPr>
          <a:lstStyle/>
          <a:p>
            <a:pPr marL="0" indent="0" algn="ctr">
              <a:buNone/>
            </a:pPr>
            <a:r>
              <a:rPr lang="en-US" sz="920" b="1" dirty="0">
                <a:solidFill>
                  <a:srgbClr val="0F766E"/>
                </a:solidFill>
              </a:rPr>
              <a:t>Settlement</a:t>
            </a:r>
            <a:endParaRPr lang="en-US" sz="920" dirty="0"/>
          </a:p>
        </p:txBody>
      </p:sp>
      <p:sp>
        <p:nvSpPr>
          <p:cNvPr id="41" name="Shape 39"/>
          <p:cNvSpPr/>
          <p:nvPr/>
        </p:nvSpPr>
        <p:spPr>
          <a:xfrm>
            <a:off x="9509760" y="2788920"/>
            <a:ext cx="0" cy="822960"/>
          </a:xfrm>
          <a:prstGeom prst="line">
            <a:avLst/>
          </a:prstGeom>
          <a:noFill/>
          <a:ln w="10160">
            <a:solidFill>
              <a:srgbClr val="16A34A"/>
            </a:solidFill>
            <a:prstDash val="solid"/>
            <a:headEnd type="none"/>
            <a:tailEnd type="triangle"/>
          </a:ln>
        </p:spPr>
        <p:txBody>
          <a:bodyPr/>
          <a:lstStyle/>
          <a:p>
            <a:endParaRPr lang="en-US"/>
          </a:p>
        </p:txBody>
      </p:sp>
      <p:sp>
        <p:nvSpPr>
          <p:cNvPr id="42" name="Shape 40"/>
          <p:cNvSpPr/>
          <p:nvPr/>
        </p:nvSpPr>
        <p:spPr>
          <a:xfrm>
            <a:off x="9784080" y="3657600"/>
            <a:ext cx="896112" cy="502920"/>
          </a:xfrm>
          <a:prstGeom prst="roundRect">
            <a:avLst>
              <a:gd name="adj" fmla="val 14545"/>
            </a:avLst>
          </a:prstGeom>
          <a:solidFill>
            <a:srgbClr val="FFFFFF"/>
          </a:solidFill>
          <a:ln w="12700">
            <a:solidFill>
              <a:srgbClr val="A7F3D0"/>
            </a:solidFill>
            <a:prstDash val="solid"/>
          </a:ln>
        </p:spPr>
        <p:txBody>
          <a:bodyPr/>
          <a:lstStyle/>
          <a:p>
            <a:endParaRPr lang="en-US"/>
          </a:p>
        </p:txBody>
      </p:sp>
      <p:sp>
        <p:nvSpPr>
          <p:cNvPr id="43" name="Text 41"/>
          <p:cNvSpPr/>
          <p:nvPr/>
        </p:nvSpPr>
        <p:spPr>
          <a:xfrm>
            <a:off x="9784080" y="3767328"/>
            <a:ext cx="896112" cy="164592"/>
          </a:xfrm>
          <a:prstGeom prst="rect">
            <a:avLst/>
          </a:prstGeom>
          <a:noFill/>
          <a:ln/>
        </p:spPr>
        <p:txBody>
          <a:bodyPr wrap="square" lIns="508" tIns="508" rIns="508" bIns="508" rtlCol="0" anchor="ctr">
            <a:normAutofit/>
          </a:bodyPr>
          <a:lstStyle/>
          <a:p>
            <a:pPr marL="0" indent="0" algn="ctr">
              <a:buNone/>
            </a:pPr>
            <a:r>
              <a:rPr lang="en-US" sz="920" b="1" dirty="0">
                <a:solidFill>
                  <a:srgbClr val="0F766E"/>
                </a:solidFill>
              </a:rPr>
              <a:t>Reference</a:t>
            </a:r>
            <a:endParaRPr lang="en-US" sz="920" dirty="0"/>
          </a:p>
        </p:txBody>
      </p:sp>
      <p:sp>
        <p:nvSpPr>
          <p:cNvPr id="44" name="Shape 42"/>
          <p:cNvSpPr/>
          <p:nvPr/>
        </p:nvSpPr>
        <p:spPr>
          <a:xfrm>
            <a:off x="9509760" y="2788920"/>
            <a:ext cx="722376" cy="822960"/>
          </a:xfrm>
          <a:prstGeom prst="line">
            <a:avLst/>
          </a:prstGeom>
          <a:noFill/>
          <a:ln w="10160">
            <a:solidFill>
              <a:srgbClr val="16A34A"/>
            </a:solidFill>
            <a:prstDash val="solid"/>
            <a:headEnd type="none"/>
            <a:tailEnd type="triangle"/>
          </a:ln>
        </p:spPr>
        <p:txBody>
          <a:bodyPr/>
          <a:lstStyle/>
          <a:p>
            <a:endParaRPr lang="en-US"/>
          </a:p>
        </p:txBody>
      </p:sp>
      <p:sp>
        <p:nvSpPr>
          <p:cNvPr id="45" name="Shape 43"/>
          <p:cNvSpPr/>
          <p:nvPr/>
        </p:nvSpPr>
        <p:spPr>
          <a:xfrm>
            <a:off x="11018520" y="3657600"/>
            <a:ext cx="896112" cy="502920"/>
          </a:xfrm>
          <a:prstGeom prst="roundRect">
            <a:avLst>
              <a:gd name="adj" fmla="val 14545"/>
            </a:avLst>
          </a:prstGeom>
          <a:solidFill>
            <a:srgbClr val="FFFFFF"/>
          </a:solidFill>
          <a:ln w="12700">
            <a:solidFill>
              <a:srgbClr val="A7F3D0"/>
            </a:solidFill>
            <a:prstDash val="solid"/>
          </a:ln>
        </p:spPr>
        <p:txBody>
          <a:bodyPr/>
          <a:lstStyle/>
          <a:p>
            <a:endParaRPr lang="en-US"/>
          </a:p>
        </p:txBody>
      </p:sp>
      <p:sp>
        <p:nvSpPr>
          <p:cNvPr id="46" name="Text 44"/>
          <p:cNvSpPr/>
          <p:nvPr/>
        </p:nvSpPr>
        <p:spPr>
          <a:xfrm>
            <a:off x="11018520" y="3767328"/>
            <a:ext cx="896112" cy="164592"/>
          </a:xfrm>
          <a:prstGeom prst="rect">
            <a:avLst/>
          </a:prstGeom>
          <a:noFill/>
          <a:ln/>
        </p:spPr>
        <p:txBody>
          <a:bodyPr wrap="square" lIns="508" tIns="508" rIns="508" bIns="508" rtlCol="0" anchor="ctr">
            <a:normAutofit/>
          </a:bodyPr>
          <a:lstStyle/>
          <a:p>
            <a:pPr marL="0" indent="0" algn="ctr">
              <a:buNone/>
            </a:pPr>
            <a:r>
              <a:rPr lang="en-US" sz="920" b="1" dirty="0">
                <a:solidFill>
                  <a:srgbClr val="0F766E"/>
                </a:solidFill>
              </a:rPr>
              <a:t>QMA</a:t>
            </a:r>
            <a:endParaRPr lang="en-US" sz="920" dirty="0"/>
          </a:p>
        </p:txBody>
      </p:sp>
      <p:sp>
        <p:nvSpPr>
          <p:cNvPr id="47" name="Shape 45"/>
          <p:cNvSpPr/>
          <p:nvPr/>
        </p:nvSpPr>
        <p:spPr>
          <a:xfrm>
            <a:off x="9509760" y="2788920"/>
            <a:ext cx="1956816" cy="822960"/>
          </a:xfrm>
          <a:prstGeom prst="line">
            <a:avLst/>
          </a:prstGeom>
          <a:noFill/>
          <a:ln w="10160">
            <a:solidFill>
              <a:srgbClr val="16A34A"/>
            </a:solidFill>
            <a:prstDash val="solid"/>
            <a:headEnd type="none"/>
            <a:tailEnd type="triangle"/>
          </a:ln>
        </p:spPr>
        <p:txBody>
          <a:bodyPr/>
          <a:lstStyle/>
          <a:p>
            <a:endParaRPr lang="en-US"/>
          </a:p>
        </p:txBody>
      </p:sp>
      <p:sp>
        <p:nvSpPr>
          <p:cNvPr id="48" name="Text 46"/>
          <p:cNvSpPr/>
          <p:nvPr/>
        </p:nvSpPr>
        <p:spPr>
          <a:xfrm>
            <a:off x="6629400" y="4709160"/>
            <a:ext cx="4572000" cy="594360"/>
          </a:xfrm>
          <a:prstGeom prst="rect">
            <a:avLst/>
          </a:prstGeom>
          <a:noFill/>
          <a:ln/>
        </p:spPr>
        <p:txBody>
          <a:bodyPr wrap="square" lIns="0" tIns="0" rIns="0" bIns="0" rtlCol="0" anchor="ctr">
            <a:normAutofit/>
          </a:bodyPr>
          <a:lstStyle/>
          <a:p>
            <a:pPr marL="0" indent="0">
              <a:buNone/>
            </a:pPr>
            <a:r>
              <a:rPr lang="en-US" sz="1250" dirty="0">
                <a:solidFill>
                  <a:srgbClr val="334155"/>
                </a:solidFill>
              </a:rPr>
              <a:t>Reusable capability interfaces</a:t>
            </a:r>
            <a:endParaRPr lang="en-US" sz="1250" dirty="0"/>
          </a:p>
          <a:p>
            <a:pPr marL="0" indent="0">
              <a:buNone/>
            </a:pPr>
            <a:r>
              <a:rPr lang="en-US" sz="1250" dirty="0">
                <a:solidFill>
                  <a:srgbClr val="334155"/>
                </a:solidFill>
              </a:rPr>
              <a:t>Centralized governance</a:t>
            </a:r>
            <a:endParaRPr lang="en-US" sz="1250" dirty="0"/>
          </a:p>
          <a:p>
            <a:pPr marL="0" indent="0">
              <a:buNone/>
            </a:pPr>
            <a:r>
              <a:rPr lang="en-US" sz="1250" dirty="0">
                <a:solidFill>
                  <a:srgbClr val="334155"/>
                </a:solidFill>
              </a:rPr>
              <a:t>Consistent discovery</a:t>
            </a:r>
            <a:endParaRPr lang="en-US" sz="1250" dirty="0"/>
          </a:p>
          <a:p>
            <a:pPr marL="0" indent="0">
              <a:buNone/>
            </a:pPr>
            <a:r>
              <a:rPr lang="en-US" sz="1250" dirty="0">
                <a:solidFill>
                  <a:srgbClr val="334155"/>
                </a:solidFill>
              </a:rPr>
              <a:t>Traceable tool invocation</a:t>
            </a:r>
            <a:endParaRPr lang="en-US" sz="1250" dirty="0"/>
          </a:p>
        </p:txBody>
      </p:sp>
      <p:sp>
        <p:nvSpPr>
          <p:cNvPr id="49" name="Text 47"/>
          <p:cNvSpPr/>
          <p:nvPr/>
        </p:nvSpPr>
        <p:spPr>
          <a:xfrm>
            <a:off x="640080" y="5989320"/>
            <a:ext cx="10789920" cy="201168"/>
          </a:xfrm>
          <a:prstGeom prst="rect">
            <a:avLst/>
          </a:prstGeom>
          <a:noFill/>
          <a:ln/>
        </p:spPr>
        <p:txBody>
          <a:bodyPr wrap="square" lIns="0" tIns="0" rIns="0" bIns="0" rtlCol="0" anchor="ctr"/>
          <a:lstStyle/>
          <a:p>
            <a:pPr marL="0" indent="0">
              <a:buNone/>
            </a:pPr>
            <a:r>
              <a:rPr lang="en-US" sz="780" i="1" dirty="0">
                <a:solidFill>
                  <a:srgbClr val="64748B"/>
                </a:solidFill>
              </a:rPr>
              <a:t>Anchor: AWS describes MCP as a way to standardize how tools are packaged, presented and invoked, reducing scale and governance challenges.</a:t>
            </a:r>
            <a:endParaRPr lang="en-US" sz="780" dirty="0"/>
          </a:p>
        </p:txBody>
      </p:sp>
      <p:sp>
        <p:nvSpPr>
          <p:cNvPr id="50" name="Text 48"/>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1</a:t>
            </a:r>
            <a:endParaRPr lang="en-US" sz="780" dirty="0"/>
          </a:p>
        </p:txBody>
      </p:sp>
      <p:sp>
        <p:nvSpPr>
          <p:cNvPr id="51" name="Text 49"/>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Strategy Principles: AWS-Inspired, EDGE-Grounded</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lstStyle/>
          <a:p>
            <a:pPr marL="0" indent="0">
              <a:buNone/>
            </a:pPr>
            <a:r>
              <a:rPr lang="en-US" sz="1050" dirty="0">
                <a:solidFill>
                  <a:srgbClr val="64748B"/>
                </a:solidFill>
              </a:rPr>
              <a:t>Translate the cloud-neutral principles into our on-prem operating model.</a:t>
            </a:r>
            <a:endParaRPr lang="en-US" sz="1050" dirty="0"/>
          </a:p>
        </p:txBody>
      </p:sp>
      <p:sp>
        <p:nvSpPr>
          <p:cNvPr id="6" name="Shape 4"/>
          <p:cNvSpPr/>
          <p:nvPr/>
        </p:nvSpPr>
        <p:spPr>
          <a:xfrm>
            <a:off x="685800" y="1463040"/>
            <a:ext cx="2606040" cy="2971800"/>
          </a:xfrm>
          <a:prstGeom prst="roundRect">
            <a:avLst>
              <a:gd name="adj" fmla="val 2807"/>
            </a:avLst>
          </a:prstGeom>
          <a:solidFill>
            <a:srgbClr val="FFFFFF"/>
          </a:solidFill>
          <a:ln w="12700">
            <a:solidFill>
              <a:srgbClr val="D8E2EF"/>
            </a:solidFill>
            <a:prstDash val="solid"/>
          </a:ln>
        </p:spPr>
        <p:txBody>
          <a:bodyPr/>
          <a:lstStyle/>
          <a:p>
            <a:endParaRPr lang="en-US"/>
          </a:p>
        </p:txBody>
      </p:sp>
      <p:sp>
        <p:nvSpPr>
          <p:cNvPr id="7" name="Shape 5"/>
          <p:cNvSpPr/>
          <p:nvPr/>
        </p:nvSpPr>
        <p:spPr>
          <a:xfrm>
            <a:off x="868680" y="1719072"/>
            <a:ext cx="475488" cy="475488"/>
          </a:xfrm>
          <a:prstGeom prst="ellipse">
            <a:avLst/>
          </a:prstGeom>
          <a:solidFill>
            <a:srgbClr val="2563EB"/>
          </a:solidFill>
          <a:ln w="12700">
            <a:solidFill>
              <a:srgbClr val="2563EB">
                <a:alpha val="0"/>
              </a:srgbClr>
            </a:solidFill>
            <a:prstDash val="solid"/>
          </a:ln>
        </p:spPr>
        <p:txBody>
          <a:bodyPr/>
          <a:lstStyle/>
          <a:p>
            <a:endParaRPr lang="en-US"/>
          </a:p>
        </p:txBody>
      </p:sp>
      <p:sp>
        <p:nvSpPr>
          <p:cNvPr id="8" name="Text 6"/>
          <p:cNvSpPr/>
          <p:nvPr/>
        </p:nvSpPr>
        <p:spPr>
          <a:xfrm>
            <a:off x="868680" y="1837944"/>
            <a:ext cx="475488" cy="128016"/>
          </a:xfrm>
          <a:prstGeom prst="rect">
            <a:avLst/>
          </a:prstGeom>
          <a:noFill/>
          <a:ln/>
        </p:spPr>
        <p:txBody>
          <a:bodyPr wrap="square" lIns="508" tIns="508" rIns="508" bIns="508" rtlCol="0" anchor="ctr">
            <a:normAutofit/>
          </a:bodyPr>
          <a:lstStyle/>
          <a:p>
            <a:pPr marL="0" indent="0" algn="ctr">
              <a:buNone/>
            </a:pPr>
            <a:r>
              <a:rPr lang="en-US" sz="1000" b="1" dirty="0">
                <a:solidFill>
                  <a:srgbClr val="FFFFFF"/>
                </a:solidFill>
              </a:rPr>
              <a:t>1</a:t>
            </a:r>
            <a:endParaRPr lang="en-US" sz="1000" dirty="0"/>
          </a:p>
        </p:txBody>
      </p:sp>
      <p:sp>
        <p:nvSpPr>
          <p:cNvPr id="9" name="Text 7"/>
          <p:cNvSpPr/>
          <p:nvPr/>
        </p:nvSpPr>
        <p:spPr>
          <a:xfrm>
            <a:off x="1463040" y="1700784"/>
            <a:ext cx="1600200" cy="274320"/>
          </a:xfrm>
          <a:prstGeom prst="rect">
            <a:avLst/>
          </a:prstGeom>
          <a:noFill/>
          <a:ln/>
        </p:spPr>
        <p:txBody>
          <a:bodyPr wrap="square" lIns="0" tIns="0" rIns="0" bIns="0" rtlCol="0" anchor="ctr"/>
          <a:lstStyle/>
          <a:p>
            <a:pPr marL="0" indent="0">
              <a:buNone/>
            </a:pPr>
            <a:r>
              <a:rPr lang="en-US" sz="1500" b="1" dirty="0">
                <a:solidFill>
                  <a:srgbClr val="0B1F33"/>
                </a:solidFill>
              </a:rPr>
              <a:t>Tool Design</a:t>
            </a:r>
            <a:endParaRPr lang="en-US" sz="1500" dirty="0"/>
          </a:p>
        </p:txBody>
      </p:sp>
      <p:sp>
        <p:nvSpPr>
          <p:cNvPr id="10" name="Text 8"/>
          <p:cNvSpPr/>
          <p:nvPr/>
        </p:nvSpPr>
        <p:spPr>
          <a:xfrm>
            <a:off x="978408" y="2468880"/>
            <a:ext cx="2057400" cy="685800"/>
          </a:xfrm>
          <a:prstGeom prst="rect">
            <a:avLst/>
          </a:prstGeom>
          <a:noFill/>
          <a:ln/>
        </p:spPr>
        <p:txBody>
          <a:bodyPr wrap="square" lIns="0" tIns="0" rIns="0" bIns="0" rtlCol="0" anchor="ctr">
            <a:normAutofit/>
          </a:bodyPr>
          <a:lstStyle/>
          <a:p>
            <a:pPr marL="0" indent="0">
              <a:buNone/>
            </a:pPr>
            <a:r>
              <a:rPr lang="en-US" sz="1300" dirty="0">
                <a:solidFill>
                  <a:srgbClr val="334155"/>
                </a:solidFill>
              </a:rPr>
              <a:t>Business capabilities, not raw API wrappers</a:t>
            </a:r>
            <a:endParaRPr lang="en-US" sz="1300" dirty="0"/>
          </a:p>
        </p:txBody>
      </p:sp>
      <p:sp>
        <p:nvSpPr>
          <p:cNvPr id="11" name="Shape 9"/>
          <p:cNvSpPr/>
          <p:nvPr/>
        </p:nvSpPr>
        <p:spPr>
          <a:xfrm>
            <a:off x="3291840" y="2971800"/>
            <a:ext cx="457200" cy="0"/>
          </a:xfrm>
          <a:prstGeom prst="line">
            <a:avLst/>
          </a:prstGeom>
          <a:noFill/>
          <a:ln w="12700">
            <a:solidFill>
              <a:srgbClr val="64748B"/>
            </a:solidFill>
            <a:prstDash val="solid"/>
            <a:headEnd type="none"/>
            <a:tailEnd type="triangle"/>
          </a:ln>
        </p:spPr>
        <p:txBody>
          <a:bodyPr/>
          <a:lstStyle/>
          <a:p>
            <a:endParaRPr lang="en-US"/>
          </a:p>
        </p:txBody>
      </p:sp>
      <p:sp>
        <p:nvSpPr>
          <p:cNvPr id="12" name="Shape 10"/>
          <p:cNvSpPr/>
          <p:nvPr/>
        </p:nvSpPr>
        <p:spPr>
          <a:xfrm>
            <a:off x="3474720" y="1463040"/>
            <a:ext cx="2606040" cy="2971800"/>
          </a:xfrm>
          <a:prstGeom prst="roundRect">
            <a:avLst>
              <a:gd name="adj" fmla="val 2807"/>
            </a:avLst>
          </a:prstGeom>
          <a:solidFill>
            <a:srgbClr val="FFFFFF"/>
          </a:solidFill>
          <a:ln w="12700">
            <a:solidFill>
              <a:srgbClr val="D8E2EF"/>
            </a:solidFill>
            <a:prstDash val="solid"/>
          </a:ln>
        </p:spPr>
        <p:txBody>
          <a:bodyPr/>
          <a:lstStyle/>
          <a:p>
            <a:endParaRPr lang="en-US"/>
          </a:p>
        </p:txBody>
      </p:sp>
      <p:sp>
        <p:nvSpPr>
          <p:cNvPr id="13" name="Shape 11"/>
          <p:cNvSpPr/>
          <p:nvPr/>
        </p:nvSpPr>
        <p:spPr>
          <a:xfrm>
            <a:off x="3657600" y="1719072"/>
            <a:ext cx="475488" cy="475488"/>
          </a:xfrm>
          <a:prstGeom prst="ellipse">
            <a:avLst/>
          </a:prstGeom>
          <a:solidFill>
            <a:srgbClr val="0F766E"/>
          </a:solidFill>
          <a:ln w="12700">
            <a:solidFill>
              <a:srgbClr val="0F766E">
                <a:alpha val="0"/>
              </a:srgbClr>
            </a:solidFill>
            <a:prstDash val="solid"/>
          </a:ln>
        </p:spPr>
        <p:txBody>
          <a:bodyPr/>
          <a:lstStyle/>
          <a:p>
            <a:endParaRPr lang="en-US"/>
          </a:p>
        </p:txBody>
      </p:sp>
      <p:sp>
        <p:nvSpPr>
          <p:cNvPr id="14" name="Text 12"/>
          <p:cNvSpPr/>
          <p:nvPr/>
        </p:nvSpPr>
        <p:spPr>
          <a:xfrm>
            <a:off x="3657600" y="1837944"/>
            <a:ext cx="475488" cy="128016"/>
          </a:xfrm>
          <a:prstGeom prst="rect">
            <a:avLst/>
          </a:prstGeom>
          <a:noFill/>
          <a:ln/>
        </p:spPr>
        <p:txBody>
          <a:bodyPr wrap="square" lIns="508" tIns="508" rIns="508" bIns="508" rtlCol="0" anchor="ctr">
            <a:normAutofit/>
          </a:bodyPr>
          <a:lstStyle/>
          <a:p>
            <a:pPr marL="0" indent="0" algn="ctr">
              <a:buNone/>
            </a:pPr>
            <a:r>
              <a:rPr lang="en-US" sz="1000" b="1" dirty="0">
                <a:solidFill>
                  <a:srgbClr val="FFFFFF"/>
                </a:solidFill>
              </a:rPr>
              <a:t>2</a:t>
            </a:r>
            <a:endParaRPr lang="en-US" sz="1000" dirty="0"/>
          </a:p>
        </p:txBody>
      </p:sp>
      <p:sp>
        <p:nvSpPr>
          <p:cNvPr id="15" name="Text 13"/>
          <p:cNvSpPr/>
          <p:nvPr/>
        </p:nvSpPr>
        <p:spPr>
          <a:xfrm>
            <a:off x="4251960" y="1700784"/>
            <a:ext cx="1600200" cy="274320"/>
          </a:xfrm>
          <a:prstGeom prst="rect">
            <a:avLst/>
          </a:prstGeom>
          <a:noFill/>
          <a:ln/>
        </p:spPr>
        <p:txBody>
          <a:bodyPr wrap="square" lIns="0" tIns="0" rIns="0" bIns="0" rtlCol="0" anchor="ctr"/>
          <a:lstStyle/>
          <a:p>
            <a:pPr marL="0" indent="0">
              <a:buNone/>
            </a:pPr>
            <a:r>
              <a:rPr lang="en-US" sz="1500" b="1" dirty="0">
                <a:solidFill>
                  <a:srgbClr val="0B1F33"/>
                </a:solidFill>
              </a:rPr>
              <a:t>Registry &amp; Discovery</a:t>
            </a:r>
            <a:endParaRPr lang="en-US" sz="1500" dirty="0"/>
          </a:p>
        </p:txBody>
      </p:sp>
      <p:sp>
        <p:nvSpPr>
          <p:cNvPr id="16" name="Text 14"/>
          <p:cNvSpPr/>
          <p:nvPr/>
        </p:nvSpPr>
        <p:spPr>
          <a:xfrm>
            <a:off x="3767328" y="2468880"/>
            <a:ext cx="2057400" cy="685800"/>
          </a:xfrm>
          <a:prstGeom prst="rect">
            <a:avLst/>
          </a:prstGeom>
          <a:noFill/>
          <a:ln/>
        </p:spPr>
        <p:txBody>
          <a:bodyPr wrap="square" lIns="0" tIns="0" rIns="0" bIns="0" rtlCol="0" anchor="ctr">
            <a:normAutofit/>
          </a:bodyPr>
          <a:lstStyle/>
          <a:p>
            <a:pPr marL="0" indent="0">
              <a:buNone/>
            </a:pPr>
            <a:r>
              <a:rPr lang="en-US" sz="1300" dirty="0">
                <a:solidFill>
                  <a:srgbClr val="334155"/>
                </a:solidFill>
              </a:rPr>
              <a:t>Hundreds registered; only relevant tools exposed to the LLM</a:t>
            </a:r>
            <a:endParaRPr lang="en-US" sz="1300" dirty="0"/>
          </a:p>
        </p:txBody>
      </p:sp>
      <p:sp>
        <p:nvSpPr>
          <p:cNvPr id="17" name="Shape 15"/>
          <p:cNvSpPr/>
          <p:nvPr/>
        </p:nvSpPr>
        <p:spPr>
          <a:xfrm>
            <a:off x="6080760" y="2971800"/>
            <a:ext cx="457200" cy="0"/>
          </a:xfrm>
          <a:prstGeom prst="line">
            <a:avLst/>
          </a:prstGeom>
          <a:noFill/>
          <a:ln w="12700">
            <a:solidFill>
              <a:srgbClr val="64748B"/>
            </a:solidFill>
            <a:prstDash val="solid"/>
            <a:headEnd type="none"/>
            <a:tailEnd type="triangle"/>
          </a:ln>
        </p:spPr>
        <p:txBody>
          <a:bodyPr/>
          <a:lstStyle/>
          <a:p>
            <a:endParaRPr lang="en-US"/>
          </a:p>
        </p:txBody>
      </p:sp>
      <p:sp>
        <p:nvSpPr>
          <p:cNvPr id="18" name="Shape 16"/>
          <p:cNvSpPr/>
          <p:nvPr/>
        </p:nvSpPr>
        <p:spPr>
          <a:xfrm>
            <a:off x="6263640" y="1463040"/>
            <a:ext cx="2606040" cy="2971800"/>
          </a:xfrm>
          <a:prstGeom prst="roundRect">
            <a:avLst>
              <a:gd name="adj" fmla="val 2807"/>
            </a:avLst>
          </a:prstGeom>
          <a:solidFill>
            <a:srgbClr val="FFFFFF"/>
          </a:solidFill>
          <a:ln w="12700">
            <a:solidFill>
              <a:srgbClr val="D8E2EF"/>
            </a:solidFill>
            <a:prstDash val="solid"/>
          </a:ln>
        </p:spPr>
        <p:txBody>
          <a:bodyPr/>
          <a:lstStyle/>
          <a:p>
            <a:endParaRPr lang="en-US"/>
          </a:p>
        </p:txBody>
      </p:sp>
      <p:sp>
        <p:nvSpPr>
          <p:cNvPr id="19" name="Shape 17"/>
          <p:cNvSpPr/>
          <p:nvPr/>
        </p:nvSpPr>
        <p:spPr>
          <a:xfrm>
            <a:off x="6446520" y="1719072"/>
            <a:ext cx="475488" cy="475488"/>
          </a:xfrm>
          <a:prstGeom prst="ellipse">
            <a:avLst/>
          </a:prstGeom>
          <a:solidFill>
            <a:srgbClr val="6D28D9"/>
          </a:solidFill>
          <a:ln w="12700">
            <a:solidFill>
              <a:srgbClr val="6D28D9">
                <a:alpha val="0"/>
              </a:srgbClr>
            </a:solidFill>
            <a:prstDash val="solid"/>
          </a:ln>
        </p:spPr>
        <p:txBody>
          <a:bodyPr/>
          <a:lstStyle/>
          <a:p>
            <a:endParaRPr lang="en-US"/>
          </a:p>
        </p:txBody>
      </p:sp>
      <p:sp>
        <p:nvSpPr>
          <p:cNvPr id="20" name="Text 18"/>
          <p:cNvSpPr/>
          <p:nvPr/>
        </p:nvSpPr>
        <p:spPr>
          <a:xfrm>
            <a:off x="6446520" y="1837944"/>
            <a:ext cx="475488" cy="128016"/>
          </a:xfrm>
          <a:prstGeom prst="rect">
            <a:avLst/>
          </a:prstGeom>
          <a:noFill/>
          <a:ln/>
        </p:spPr>
        <p:txBody>
          <a:bodyPr wrap="square" lIns="508" tIns="508" rIns="508" bIns="508" rtlCol="0" anchor="ctr">
            <a:normAutofit/>
          </a:bodyPr>
          <a:lstStyle/>
          <a:p>
            <a:pPr marL="0" indent="0" algn="ctr">
              <a:buNone/>
            </a:pPr>
            <a:r>
              <a:rPr lang="en-US" sz="1000" b="1" dirty="0">
                <a:solidFill>
                  <a:srgbClr val="FFFFFF"/>
                </a:solidFill>
              </a:rPr>
              <a:t>3</a:t>
            </a:r>
            <a:endParaRPr lang="en-US" sz="1000" dirty="0"/>
          </a:p>
        </p:txBody>
      </p:sp>
      <p:sp>
        <p:nvSpPr>
          <p:cNvPr id="21" name="Text 19"/>
          <p:cNvSpPr/>
          <p:nvPr/>
        </p:nvSpPr>
        <p:spPr>
          <a:xfrm>
            <a:off x="7040880" y="1700784"/>
            <a:ext cx="1600200" cy="274320"/>
          </a:xfrm>
          <a:prstGeom prst="rect">
            <a:avLst/>
          </a:prstGeom>
          <a:noFill/>
          <a:ln/>
        </p:spPr>
        <p:txBody>
          <a:bodyPr wrap="square" lIns="0" tIns="0" rIns="0" bIns="0" rtlCol="0" anchor="ctr"/>
          <a:lstStyle/>
          <a:p>
            <a:pPr marL="0" indent="0">
              <a:buNone/>
            </a:pPr>
            <a:r>
              <a:rPr lang="en-US" sz="1500" b="1" dirty="0">
                <a:solidFill>
                  <a:srgbClr val="0B1F33"/>
                </a:solidFill>
              </a:rPr>
              <a:t>MCP Gateway</a:t>
            </a:r>
            <a:endParaRPr lang="en-US" sz="1500" dirty="0"/>
          </a:p>
        </p:txBody>
      </p:sp>
      <p:sp>
        <p:nvSpPr>
          <p:cNvPr id="22" name="Text 20"/>
          <p:cNvSpPr/>
          <p:nvPr/>
        </p:nvSpPr>
        <p:spPr>
          <a:xfrm>
            <a:off x="6556248" y="2468880"/>
            <a:ext cx="2057400" cy="685800"/>
          </a:xfrm>
          <a:prstGeom prst="rect">
            <a:avLst/>
          </a:prstGeom>
          <a:noFill/>
          <a:ln/>
        </p:spPr>
        <p:txBody>
          <a:bodyPr wrap="square" lIns="0" tIns="0" rIns="0" bIns="0" rtlCol="0" anchor="ctr">
            <a:normAutofit/>
          </a:bodyPr>
          <a:lstStyle/>
          <a:p>
            <a:pPr marL="0" indent="0">
              <a:buNone/>
            </a:pPr>
            <a:r>
              <a:rPr lang="en-US" sz="1300" dirty="0">
                <a:solidFill>
                  <a:srgbClr val="334155"/>
                </a:solidFill>
              </a:rPr>
              <a:t>Central policy, routing, rate limits and telemetry</a:t>
            </a:r>
            <a:endParaRPr lang="en-US" sz="1300" dirty="0"/>
          </a:p>
        </p:txBody>
      </p:sp>
      <p:sp>
        <p:nvSpPr>
          <p:cNvPr id="23" name="Shape 21"/>
          <p:cNvSpPr/>
          <p:nvPr/>
        </p:nvSpPr>
        <p:spPr>
          <a:xfrm>
            <a:off x="8869680" y="2971800"/>
            <a:ext cx="457200" cy="0"/>
          </a:xfrm>
          <a:prstGeom prst="line">
            <a:avLst/>
          </a:prstGeom>
          <a:noFill/>
          <a:ln w="12700">
            <a:solidFill>
              <a:srgbClr val="64748B"/>
            </a:solidFill>
            <a:prstDash val="solid"/>
            <a:headEnd type="none"/>
            <a:tailEnd type="triangle"/>
          </a:ln>
        </p:spPr>
        <p:txBody>
          <a:bodyPr/>
          <a:lstStyle/>
          <a:p>
            <a:endParaRPr lang="en-US"/>
          </a:p>
        </p:txBody>
      </p:sp>
      <p:sp>
        <p:nvSpPr>
          <p:cNvPr id="24" name="Shape 22"/>
          <p:cNvSpPr/>
          <p:nvPr/>
        </p:nvSpPr>
        <p:spPr>
          <a:xfrm>
            <a:off x="9052560" y="1463040"/>
            <a:ext cx="2606040" cy="2971800"/>
          </a:xfrm>
          <a:prstGeom prst="roundRect">
            <a:avLst>
              <a:gd name="adj" fmla="val 2807"/>
            </a:avLst>
          </a:prstGeom>
          <a:solidFill>
            <a:srgbClr val="FFFFFF"/>
          </a:solidFill>
          <a:ln w="12700">
            <a:solidFill>
              <a:srgbClr val="D8E2EF"/>
            </a:solidFill>
            <a:prstDash val="solid"/>
          </a:ln>
        </p:spPr>
        <p:txBody>
          <a:bodyPr/>
          <a:lstStyle/>
          <a:p>
            <a:endParaRPr lang="en-US"/>
          </a:p>
        </p:txBody>
      </p:sp>
      <p:sp>
        <p:nvSpPr>
          <p:cNvPr id="25" name="Shape 23"/>
          <p:cNvSpPr/>
          <p:nvPr/>
        </p:nvSpPr>
        <p:spPr>
          <a:xfrm>
            <a:off x="9235440" y="1719072"/>
            <a:ext cx="475488" cy="475488"/>
          </a:xfrm>
          <a:prstGeom prst="ellipse">
            <a:avLst/>
          </a:prstGeom>
          <a:solidFill>
            <a:srgbClr val="D97706"/>
          </a:solidFill>
          <a:ln w="12700">
            <a:solidFill>
              <a:srgbClr val="D97706">
                <a:alpha val="0"/>
              </a:srgbClr>
            </a:solidFill>
            <a:prstDash val="solid"/>
          </a:ln>
        </p:spPr>
        <p:txBody>
          <a:bodyPr/>
          <a:lstStyle/>
          <a:p>
            <a:endParaRPr lang="en-US"/>
          </a:p>
        </p:txBody>
      </p:sp>
      <p:sp>
        <p:nvSpPr>
          <p:cNvPr id="26" name="Text 24"/>
          <p:cNvSpPr/>
          <p:nvPr/>
        </p:nvSpPr>
        <p:spPr>
          <a:xfrm>
            <a:off x="9235440" y="1837944"/>
            <a:ext cx="475488" cy="128016"/>
          </a:xfrm>
          <a:prstGeom prst="rect">
            <a:avLst/>
          </a:prstGeom>
          <a:noFill/>
          <a:ln/>
        </p:spPr>
        <p:txBody>
          <a:bodyPr wrap="square" lIns="508" tIns="508" rIns="508" bIns="508" rtlCol="0" anchor="ctr">
            <a:normAutofit/>
          </a:bodyPr>
          <a:lstStyle/>
          <a:p>
            <a:pPr marL="0" indent="0" algn="ctr">
              <a:buNone/>
            </a:pPr>
            <a:r>
              <a:rPr lang="en-US" sz="1000" b="1" dirty="0">
                <a:solidFill>
                  <a:srgbClr val="FFFFFF"/>
                </a:solidFill>
              </a:rPr>
              <a:t>4</a:t>
            </a:r>
            <a:endParaRPr lang="en-US" sz="1000" dirty="0"/>
          </a:p>
        </p:txBody>
      </p:sp>
      <p:sp>
        <p:nvSpPr>
          <p:cNvPr id="27" name="Text 25"/>
          <p:cNvSpPr/>
          <p:nvPr/>
        </p:nvSpPr>
        <p:spPr>
          <a:xfrm>
            <a:off x="9829800" y="1700784"/>
            <a:ext cx="1600200" cy="274320"/>
          </a:xfrm>
          <a:prstGeom prst="rect">
            <a:avLst/>
          </a:prstGeom>
          <a:noFill/>
          <a:ln/>
        </p:spPr>
        <p:txBody>
          <a:bodyPr wrap="square" lIns="0" tIns="0" rIns="0" bIns="0" rtlCol="0" anchor="ctr"/>
          <a:lstStyle/>
          <a:p>
            <a:pPr marL="0" indent="0">
              <a:buNone/>
            </a:pPr>
            <a:r>
              <a:rPr lang="en-US" sz="1500" b="1" dirty="0">
                <a:solidFill>
                  <a:srgbClr val="0B1F33"/>
                </a:solidFill>
              </a:rPr>
              <a:t>Governance &amp; Observability</a:t>
            </a:r>
            <a:endParaRPr lang="en-US" sz="1500" dirty="0"/>
          </a:p>
        </p:txBody>
      </p:sp>
      <p:sp>
        <p:nvSpPr>
          <p:cNvPr id="28" name="Text 26"/>
          <p:cNvSpPr/>
          <p:nvPr/>
        </p:nvSpPr>
        <p:spPr>
          <a:xfrm>
            <a:off x="9345168" y="2468880"/>
            <a:ext cx="2057400" cy="685800"/>
          </a:xfrm>
          <a:prstGeom prst="rect">
            <a:avLst/>
          </a:prstGeom>
          <a:noFill/>
          <a:ln/>
        </p:spPr>
        <p:txBody>
          <a:bodyPr wrap="square" lIns="0" tIns="0" rIns="0" bIns="0" rtlCol="0" anchor="ctr">
            <a:normAutofit/>
          </a:bodyPr>
          <a:lstStyle/>
          <a:p>
            <a:pPr marL="0" indent="0">
              <a:buNone/>
            </a:pPr>
            <a:r>
              <a:rPr lang="en-US" sz="1300" dirty="0">
                <a:solidFill>
                  <a:srgbClr val="334155"/>
                </a:solidFill>
              </a:rPr>
              <a:t>Identity, scoped access, audit, evals and HIL controls</a:t>
            </a:r>
            <a:endParaRPr lang="en-US" sz="1300" dirty="0"/>
          </a:p>
        </p:txBody>
      </p:sp>
      <p:sp>
        <p:nvSpPr>
          <p:cNvPr id="29" name="Text 27"/>
          <p:cNvSpPr/>
          <p:nvPr/>
        </p:nvSpPr>
        <p:spPr>
          <a:xfrm>
            <a:off x="822960" y="5074920"/>
            <a:ext cx="1828800" cy="228600"/>
          </a:xfrm>
          <a:prstGeom prst="rect">
            <a:avLst/>
          </a:prstGeom>
          <a:noFill/>
          <a:ln/>
        </p:spPr>
        <p:txBody>
          <a:bodyPr wrap="square" lIns="0" tIns="0" rIns="0" bIns="0" rtlCol="0" anchor="ctr"/>
          <a:lstStyle/>
          <a:p>
            <a:pPr marL="0" indent="0">
              <a:buNone/>
            </a:pPr>
            <a:r>
              <a:rPr lang="en-US" sz="1100" b="1" dirty="0">
                <a:solidFill>
                  <a:srgbClr val="2563EB"/>
                </a:solidFill>
              </a:rPr>
              <a:t>Executive thesis</a:t>
            </a:r>
            <a:endParaRPr lang="en-US" sz="1100" dirty="0"/>
          </a:p>
        </p:txBody>
      </p:sp>
      <p:sp>
        <p:nvSpPr>
          <p:cNvPr id="30" name="Text 28"/>
          <p:cNvSpPr/>
          <p:nvPr/>
        </p:nvSpPr>
        <p:spPr>
          <a:xfrm>
            <a:off x="822960" y="5376672"/>
            <a:ext cx="10241280" cy="320040"/>
          </a:xfrm>
          <a:prstGeom prst="rect">
            <a:avLst/>
          </a:prstGeom>
          <a:noFill/>
          <a:ln/>
        </p:spPr>
        <p:txBody>
          <a:bodyPr wrap="square" lIns="0" tIns="0" rIns="0" bIns="0" rtlCol="0" anchor="ctr">
            <a:normAutofit/>
          </a:bodyPr>
          <a:lstStyle/>
          <a:p>
            <a:pPr marL="0" indent="0">
              <a:buNone/>
            </a:pPr>
            <a:r>
              <a:rPr lang="en-US" sz="1500" b="1" dirty="0">
                <a:solidFill>
                  <a:srgbClr val="0B1F33"/>
                </a:solidFill>
              </a:rPr>
              <a:t>MCP becomes the governed tool plane for EDGE agents: reusable capabilities, dynamic discovery, policy enforcement and full auditability.</a:t>
            </a:r>
            <a:endParaRPr lang="en-US" sz="1500" dirty="0"/>
          </a:p>
        </p:txBody>
      </p:sp>
      <p:sp>
        <p:nvSpPr>
          <p:cNvPr id="31" name="Text 29"/>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1</a:t>
            </a:r>
            <a:endParaRPr lang="en-US" sz="780" dirty="0"/>
          </a:p>
        </p:txBody>
      </p:sp>
      <p:sp>
        <p:nvSpPr>
          <p:cNvPr id="32" name="Text 30"/>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Target-State Architecture: MCP as the EDGE Tool Plane</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lstStyle/>
          <a:p>
            <a:pPr marL="0" indent="0">
              <a:buNone/>
            </a:pPr>
            <a:r>
              <a:rPr lang="en-US" sz="1050" dirty="0">
                <a:solidFill>
                  <a:srgbClr val="64748B"/>
                </a:solidFill>
              </a:rPr>
              <a:t>MCP should be integrated into EDGE, not treated as a separate side architecture.</a:t>
            </a:r>
            <a:endParaRPr lang="en-US" sz="1050" dirty="0"/>
          </a:p>
        </p:txBody>
      </p:sp>
      <p:sp>
        <p:nvSpPr>
          <p:cNvPr id="6" name="Shape 4"/>
          <p:cNvSpPr/>
          <p:nvPr/>
        </p:nvSpPr>
        <p:spPr>
          <a:xfrm>
            <a:off x="731520" y="1170432"/>
            <a:ext cx="10241280" cy="713232"/>
          </a:xfrm>
          <a:prstGeom prst="roundRect">
            <a:avLst>
              <a:gd name="adj" fmla="val 6410"/>
            </a:avLst>
          </a:prstGeom>
          <a:solidFill>
            <a:srgbClr val="FFFFFF"/>
          </a:solidFill>
          <a:ln w="12700">
            <a:solidFill>
              <a:srgbClr val="CBD5E1"/>
            </a:solidFill>
            <a:prstDash val="solid"/>
          </a:ln>
        </p:spPr>
        <p:txBody>
          <a:bodyPr/>
          <a:lstStyle/>
          <a:p>
            <a:endParaRPr lang="en-US"/>
          </a:p>
        </p:txBody>
      </p:sp>
      <p:sp>
        <p:nvSpPr>
          <p:cNvPr id="7" name="Shape 5"/>
          <p:cNvSpPr/>
          <p:nvPr/>
        </p:nvSpPr>
        <p:spPr>
          <a:xfrm>
            <a:off x="731520" y="1170432"/>
            <a:ext cx="1920240" cy="713232"/>
          </a:xfrm>
          <a:prstGeom prst="rect">
            <a:avLst/>
          </a:prstGeom>
          <a:solidFill>
            <a:srgbClr val="2563EB"/>
          </a:solidFill>
          <a:ln w="12700">
            <a:solidFill>
              <a:srgbClr val="2563EB">
                <a:alpha val="0"/>
              </a:srgbClr>
            </a:solidFill>
            <a:prstDash val="solid"/>
          </a:ln>
        </p:spPr>
        <p:txBody>
          <a:bodyPr/>
          <a:lstStyle/>
          <a:p>
            <a:endParaRPr lang="en-US"/>
          </a:p>
        </p:txBody>
      </p:sp>
      <p:sp>
        <p:nvSpPr>
          <p:cNvPr id="8" name="Text 6"/>
          <p:cNvSpPr/>
          <p:nvPr/>
        </p:nvSpPr>
        <p:spPr>
          <a:xfrm>
            <a:off x="822960" y="1399032"/>
            <a:ext cx="1737360" cy="146304"/>
          </a:xfrm>
          <a:prstGeom prst="rect">
            <a:avLst/>
          </a:prstGeom>
          <a:noFill/>
          <a:ln/>
        </p:spPr>
        <p:txBody>
          <a:bodyPr wrap="square" lIns="508" tIns="508" rIns="508" bIns="508" rtlCol="0" anchor="ctr">
            <a:normAutofit/>
          </a:bodyPr>
          <a:lstStyle/>
          <a:p>
            <a:pPr marL="0" indent="0" algn="ctr">
              <a:buNone/>
            </a:pPr>
            <a:r>
              <a:rPr lang="en-US" sz="1050" b="1" dirty="0">
                <a:solidFill>
                  <a:srgbClr val="FFFFFF"/>
                </a:solidFill>
              </a:rPr>
              <a:t>DEV PLANE</a:t>
            </a:r>
            <a:endParaRPr lang="en-US" sz="1050" dirty="0"/>
          </a:p>
        </p:txBody>
      </p:sp>
      <p:sp>
        <p:nvSpPr>
          <p:cNvPr id="9" name="Text 7"/>
          <p:cNvSpPr/>
          <p:nvPr/>
        </p:nvSpPr>
        <p:spPr>
          <a:xfrm>
            <a:off x="2880360" y="1408176"/>
            <a:ext cx="7863840" cy="182880"/>
          </a:xfrm>
          <a:prstGeom prst="rect">
            <a:avLst/>
          </a:prstGeom>
          <a:noFill/>
          <a:ln/>
        </p:spPr>
        <p:txBody>
          <a:bodyPr wrap="square" lIns="0" tIns="0" rIns="0" bIns="0" rtlCol="0" anchor="ctr">
            <a:normAutofit/>
          </a:bodyPr>
          <a:lstStyle/>
          <a:p>
            <a:pPr marL="0" indent="0">
              <a:buNone/>
            </a:pPr>
            <a:r>
              <a:rPr lang="en-US" sz="1250" dirty="0">
                <a:solidFill>
                  <a:srgbClr val="0B1F33"/>
                </a:solidFill>
              </a:rPr>
              <a:t>Agent definition  •  Tool onboarding  •  MCP registration  •  certification workflow</a:t>
            </a:r>
            <a:endParaRPr lang="en-US" sz="1250" dirty="0"/>
          </a:p>
        </p:txBody>
      </p:sp>
      <p:sp>
        <p:nvSpPr>
          <p:cNvPr id="10" name="Shape 8"/>
          <p:cNvSpPr/>
          <p:nvPr/>
        </p:nvSpPr>
        <p:spPr>
          <a:xfrm>
            <a:off x="5852160" y="1892808"/>
            <a:ext cx="0" cy="210312"/>
          </a:xfrm>
          <a:prstGeom prst="line">
            <a:avLst/>
          </a:prstGeom>
          <a:noFill/>
          <a:ln w="13970">
            <a:solidFill>
              <a:srgbClr val="64748B"/>
            </a:solidFill>
            <a:prstDash val="solid"/>
            <a:headEnd type="none"/>
            <a:tailEnd type="triangle"/>
          </a:ln>
        </p:spPr>
        <p:txBody>
          <a:bodyPr/>
          <a:lstStyle/>
          <a:p>
            <a:endParaRPr lang="en-US"/>
          </a:p>
        </p:txBody>
      </p:sp>
      <p:sp>
        <p:nvSpPr>
          <p:cNvPr id="11" name="Shape 9"/>
          <p:cNvSpPr/>
          <p:nvPr/>
        </p:nvSpPr>
        <p:spPr>
          <a:xfrm>
            <a:off x="731520" y="2148840"/>
            <a:ext cx="10241280" cy="713232"/>
          </a:xfrm>
          <a:prstGeom prst="roundRect">
            <a:avLst>
              <a:gd name="adj" fmla="val 6410"/>
            </a:avLst>
          </a:prstGeom>
          <a:solidFill>
            <a:srgbClr val="FFFFFF"/>
          </a:solidFill>
          <a:ln w="12700">
            <a:solidFill>
              <a:srgbClr val="CBD5E1"/>
            </a:solidFill>
            <a:prstDash val="solid"/>
          </a:ln>
        </p:spPr>
        <p:txBody>
          <a:bodyPr/>
          <a:lstStyle/>
          <a:p>
            <a:endParaRPr lang="en-US"/>
          </a:p>
        </p:txBody>
      </p:sp>
      <p:sp>
        <p:nvSpPr>
          <p:cNvPr id="12" name="Shape 10"/>
          <p:cNvSpPr/>
          <p:nvPr/>
        </p:nvSpPr>
        <p:spPr>
          <a:xfrm>
            <a:off x="731520" y="2148840"/>
            <a:ext cx="1920240" cy="713232"/>
          </a:xfrm>
          <a:prstGeom prst="rect">
            <a:avLst/>
          </a:prstGeom>
          <a:solidFill>
            <a:srgbClr val="0F766E"/>
          </a:solidFill>
          <a:ln w="12700">
            <a:solidFill>
              <a:srgbClr val="0F766E">
                <a:alpha val="0"/>
              </a:srgbClr>
            </a:solidFill>
            <a:prstDash val="solid"/>
          </a:ln>
        </p:spPr>
        <p:txBody>
          <a:bodyPr/>
          <a:lstStyle/>
          <a:p>
            <a:endParaRPr lang="en-US"/>
          </a:p>
        </p:txBody>
      </p:sp>
      <p:sp>
        <p:nvSpPr>
          <p:cNvPr id="13" name="Text 11"/>
          <p:cNvSpPr/>
          <p:nvPr/>
        </p:nvSpPr>
        <p:spPr>
          <a:xfrm>
            <a:off x="822960" y="2377440"/>
            <a:ext cx="1737360" cy="146304"/>
          </a:xfrm>
          <a:prstGeom prst="rect">
            <a:avLst/>
          </a:prstGeom>
          <a:noFill/>
          <a:ln/>
        </p:spPr>
        <p:txBody>
          <a:bodyPr wrap="square" lIns="508" tIns="508" rIns="508" bIns="508" rtlCol="0" anchor="ctr">
            <a:normAutofit/>
          </a:bodyPr>
          <a:lstStyle/>
          <a:p>
            <a:pPr marL="0" indent="0" algn="ctr">
              <a:buNone/>
            </a:pPr>
            <a:r>
              <a:rPr lang="en-US" sz="1050" b="1" dirty="0">
                <a:solidFill>
                  <a:srgbClr val="FFFFFF"/>
                </a:solidFill>
              </a:rPr>
              <a:t>AGENT RUNTIME</a:t>
            </a:r>
            <a:endParaRPr lang="en-US" sz="1050" dirty="0"/>
          </a:p>
        </p:txBody>
      </p:sp>
      <p:sp>
        <p:nvSpPr>
          <p:cNvPr id="14" name="Text 12"/>
          <p:cNvSpPr/>
          <p:nvPr/>
        </p:nvSpPr>
        <p:spPr>
          <a:xfrm>
            <a:off x="2880360" y="2386584"/>
            <a:ext cx="7863840" cy="182880"/>
          </a:xfrm>
          <a:prstGeom prst="rect">
            <a:avLst/>
          </a:prstGeom>
          <a:noFill/>
          <a:ln/>
        </p:spPr>
        <p:txBody>
          <a:bodyPr wrap="square" lIns="0" tIns="0" rIns="0" bIns="0" rtlCol="0" anchor="ctr">
            <a:normAutofit/>
          </a:bodyPr>
          <a:lstStyle/>
          <a:p>
            <a:pPr marL="0" indent="0">
              <a:buNone/>
            </a:pPr>
            <a:r>
              <a:rPr lang="en-US" sz="1250" dirty="0">
                <a:solidFill>
                  <a:srgbClr val="0B1F33"/>
                </a:solidFill>
              </a:rPr>
              <a:t>LLM  •  planning  •  memory  •  orchestration  •  human-in-the-loop handoff</a:t>
            </a:r>
            <a:endParaRPr lang="en-US" sz="1250" dirty="0"/>
          </a:p>
        </p:txBody>
      </p:sp>
      <p:sp>
        <p:nvSpPr>
          <p:cNvPr id="15" name="Shape 13"/>
          <p:cNvSpPr/>
          <p:nvPr/>
        </p:nvSpPr>
        <p:spPr>
          <a:xfrm>
            <a:off x="5852160" y="2871216"/>
            <a:ext cx="0" cy="210312"/>
          </a:xfrm>
          <a:prstGeom prst="line">
            <a:avLst/>
          </a:prstGeom>
          <a:noFill/>
          <a:ln w="13970">
            <a:solidFill>
              <a:srgbClr val="64748B"/>
            </a:solidFill>
            <a:prstDash val="solid"/>
            <a:headEnd type="none"/>
            <a:tailEnd type="triangle"/>
          </a:ln>
        </p:spPr>
        <p:txBody>
          <a:bodyPr/>
          <a:lstStyle/>
          <a:p>
            <a:endParaRPr lang="en-US"/>
          </a:p>
        </p:txBody>
      </p:sp>
      <p:sp>
        <p:nvSpPr>
          <p:cNvPr id="16" name="Shape 14"/>
          <p:cNvSpPr/>
          <p:nvPr/>
        </p:nvSpPr>
        <p:spPr>
          <a:xfrm>
            <a:off x="731520" y="3127248"/>
            <a:ext cx="10241280" cy="713232"/>
          </a:xfrm>
          <a:prstGeom prst="roundRect">
            <a:avLst>
              <a:gd name="adj" fmla="val 6410"/>
            </a:avLst>
          </a:prstGeom>
          <a:solidFill>
            <a:srgbClr val="FFFFFF"/>
          </a:solidFill>
          <a:ln w="12700">
            <a:solidFill>
              <a:srgbClr val="CBD5E1"/>
            </a:solidFill>
            <a:prstDash val="solid"/>
          </a:ln>
        </p:spPr>
        <p:txBody>
          <a:bodyPr/>
          <a:lstStyle/>
          <a:p>
            <a:endParaRPr lang="en-US"/>
          </a:p>
        </p:txBody>
      </p:sp>
      <p:sp>
        <p:nvSpPr>
          <p:cNvPr id="17" name="Shape 15"/>
          <p:cNvSpPr/>
          <p:nvPr/>
        </p:nvSpPr>
        <p:spPr>
          <a:xfrm>
            <a:off x="731520" y="3127248"/>
            <a:ext cx="1920240" cy="713232"/>
          </a:xfrm>
          <a:prstGeom prst="rect">
            <a:avLst/>
          </a:prstGeom>
          <a:solidFill>
            <a:srgbClr val="6D28D9"/>
          </a:solidFill>
          <a:ln w="12700">
            <a:solidFill>
              <a:srgbClr val="6D28D9">
                <a:alpha val="0"/>
              </a:srgbClr>
            </a:solidFill>
            <a:prstDash val="solid"/>
          </a:ln>
        </p:spPr>
        <p:txBody>
          <a:bodyPr/>
          <a:lstStyle/>
          <a:p>
            <a:endParaRPr lang="en-US"/>
          </a:p>
        </p:txBody>
      </p:sp>
      <p:sp>
        <p:nvSpPr>
          <p:cNvPr id="18" name="Text 16"/>
          <p:cNvSpPr/>
          <p:nvPr/>
        </p:nvSpPr>
        <p:spPr>
          <a:xfrm>
            <a:off x="822960" y="3355848"/>
            <a:ext cx="1737360" cy="146304"/>
          </a:xfrm>
          <a:prstGeom prst="rect">
            <a:avLst/>
          </a:prstGeom>
          <a:noFill/>
          <a:ln/>
        </p:spPr>
        <p:txBody>
          <a:bodyPr wrap="square" lIns="508" tIns="508" rIns="508" bIns="508" rtlCol="0" anchor="ctr">
            <a:normAutofit/>
          </a:bodyPr>
          <a:lstStyle/>
          <a:p>
            <a:pPr marL="0" indent="0" algn="ctr">
              <a:buNone/>
            </a:pPr>
            <a:r>
              <a:rPr lang="en-US" sz="1050" b="1" dirty="0">
                <a:solidFill>
                  <a:srgbClr val="FFFFFF"/>
                </a:solidFill>
              </a:rPr>
              <a:t>ENTERPRISE MCP PLANE</a:t>
            </a:r>
            <a:endParaRPr lang="en-US" sz="1050" dirty="0"/>
          </a:p>
        </p:txBody>
      </p:sp>
      <p:sp>
        <p:nvSpPr>
          <p:cNvPr id="19" name="Text 17"/>
          <p:cNvSpPr/>
          <p:nvPr/>
        </p:nvSpPr>
        <p:spPr>
          <a:xfrm>
            <a:off x="2880360" y="3364992"/>
            <a:ext cx="7863840" cy="182880"/>
          </a:xfrm>
          <a:prstGeom prst="rect">
            <a:avLst/>
          </a:prstGeom>
          <a:noFill/>
          <a:ln/>
        </p:spPr>
        <p:txBody>
          <a:bodyPr wrap="square" lIns="0" tIns="0" rIns="0" bIns="0" rtlCol="0" anchor="ctr">
            <a:normAutofit/>
          </a:bodyPr>
          <a:lstStyle/>
          <a:p>
            <a:pPr marL="0" indent="0">
              <a:buNone/>
            </a:pPr>
            <a:r>
              <a:rPr lang="en-US" sz="1250" dirty="0">
                <a:solidFill>
                  <a:srgbClr val="0B1F33"/>
                </a:solidFill>
              </a:rPr>
              <a:t>Gateway  •  registry  •  discovery  •  MCP servers  •  tool execution contracts</a:t>
            </a:r>
            <a:endParaRPr lang="en-US" sz="1250" dirty="0"/>
          </a:p>
        </p:txBody>
      </p:sp>
      <p:sp>
        <p:nvSpPr>
          <p:cNvPr id="20" name="Shape 18"/>
          <p:cNvSpPr/>
          <p:nvPr/>
        </p:nvSpPr>
        <p:spPr>
          <a:xfrm>
            <a:off x="5852160" y="3849624"/>
            <a:ext cx="0" cy="210312"/>
          </a:xfrm>
          <a:prstGeom prst="line">
            <a:avLst/>
          </a:prstGeom>
          <a:noFill/>
          <a:ln w="13970">
            <a:solidFill>
              <a:srgbClr val="64748B"/>
            </a:solidFill>
            <a:prstDash val="solid"/>
            <a:headEnd type="none"/>
            <a:tailEnd type="triangle"/>
          </a:ln>
        </p:spPr>
        <p:txBody>
          <a:bodyPr/>
          <a:lstStyle/>
          <a:p>
            <a:endParaRPr lang="en-US"/>
          </a:p>
        </p:txBody>
      </p:sp>
      <p:sp>
        <p:nvSpPr>
          <p:cNvPr id="21" name="Shape 19"/>
          <p:cNvSpPr/>
          <p:nvPr/>
        </p:nvSpPr>
        <p:spPr>
          <a:xfrm>
            <a:off x="731520" y="4105656"/>
            <a:ext cx="10241280" cy="713232"/>
          </a:xfrm>
          <a:prstGeom prst="roundRect">
            <a:avLst>
              <a:gd name="adj" fmla="val 6410"/>
            </a:avLst>
          </a:prstGeom>
          <a:solidFill>
            <a:srgbClr val="FFFFFF"/>
          </a:solidFill>
          <a:ln w="12700">
            <a:solidFill>
              <a:srgbClr val="CBD5E1"/>
            </a:solidFill>
            <a:prstDash val="solid"/>
          </a:ln>
        </p:spPr>
        <p:txBody>
          <a:bodyPr/>
          <a:lstStyle/>
          <a:p>
            <a:endParaRPr lang="en-US"/>
          </a:p>
        </p:txBody>
      </p:sp>
      <p:sp>
        <p:nvSpPr>
          <p:cNvPr id="22" name="Shape 20"/>
          <p:cNvSpPr/>
          <p:nvPr/>
        </p:nvSpPr>
        <p:spPr>
          <a:xfrm>
            <a:off x="731520" y="4105656"/>
            <a:ext cx="1920240" cy="713232"/>
          </a:xfrm>
          <a:prstGeom prst="rect">
            <a:avLst/>
          </a:prstGeom>
          <a:solidFill>
            <a:srgbClr val="334155"/>
          </a:solidFill>
          <a:ln w="12700">
            <a:solidFill>
              <a:srgbClr val="334155">
                <a:alpha val="0"/>
              </a:srgbClr>
            </a:solidFill>
            <a:prstDash val="solid"/>
          </a:ln>
        </p:spPr>
        <p:txBody>
          <a:bodyPr/>
          <a:lstStyle/>
          <a:p>
            <a:endParaRPr lang="en-US"/>
          </a:p>
        </p:txBody>
      </p:sp>
      <p:sp>
        <p:nvSpPr>
          <p:cNvPr id="23" name="Text 21"/>
          <p:cNvSpPr/>
          <p:nvPr/>
        </p:nvSpPr>
        <p:spPr>
          <a:xfrm>
            <a:off x="822960" y="4334256"/>
            <a:ext cx="1737360" cy="146304"/>
          </a:xfrm>
          <a:prstGeom prst="rect">
            <a:avLst/>
          </a:prstGeom>
          <a:noFill/>
          <a:ln/>
        </p:spPr>
        <p:txBody>
          <a:bodyPr wrap="square" lIns="508" tIns="508" rIns="508" bIns="508" rtlCol="0" anchor="ctr">
            <a:normAutofit/>
          </a:bodyPr>
          <a:lstStyle/>
          <a:p>
            <a:pPr marL="0" indent="0" algn="ctr">
              <a:buNone/>
            </a:pPr>
            <a:r>
              <a:rPr lang="en-US" sz="1050" b="1" dirty="0">
                <a:solidFill>
                  <a:srgbClr val="FFFFFF"/>
                </a:solidFill>
              </a:rPr>
              <a:t>ENTERPRISE SYSTEMS</a:t>
            </a:r>
            <a:endParaRPr lang="en-US" sz="1050" dirty="0"/>
          </a:p>
        </p:txBody>
      </p:sp>
      <p:sp>
        <p:nvSpPr>
          <p:cNvPr id="24" name="Text 22"/>
          <p:cNvSpPr/>
          <p:nvPr/>
        </p:nvSpPr>
        <p:spPr>
          <a:xfrm>
            <a:off x="2880360" y="4343400"/>
            <a:ext cx="7863840" cy="182880"/>
          </a:xfrm>
          <a:prstGeom prst="rect">
            <a:avLst/>
          </a:prstGeom>
          <a:noFill/>
          <a:ln/>
        </p:spPr>
        <p:txBody>
          <a:bodyPr wrap="square" lIns="0" tIns="0" rIns="0" bIns="0" rtlCol="0" anchor="ctr">
            <a:normAutofit/>
          </a:bodyPr>
          <a:lstStyle/>
          <a:p>
            <a:pPr marL="0" indent="0">
              <a:buNone/>
            </a:pPr>
            <a:r>
              <a:rPr lang="en-US" sz="1250" dirty="0">
                <a:solidFill>
                  <a:srgbClr val="0B1F33"/>
                </a:solidFill>
              </a:rPr>
              <a:t>Trade  •  Position  •  Settlement  •  Reference Data  •  QMA  •  JIRA / PTS / Directory</a:t>
            </a:r>
            <a:endParaRPr lang="en-US" sz="1250" dirty="0"/>
          </a:p>
        </p:txBody>
      </p:sp>
      <p:sp>
        <p:nvSpPr>
          <p:cNvPr id="25" name="Shape 23"/>
          <p:cNvSpPr/>
          <p:nvPr/>
        </p:nvSpPr>
        <p:spPr>
          <a:xfrm>
            <a:off x="731520" y="5285232"/>
            <a:ext cx="10241280" cy="566928"/>
          </a:xfrm>
          <a:prstGeom prst="roundRect">
            <a:avLst>
              <a:gd name="adj" fmla="val 12903"/>
            </a:avLst>
          </a:prstGeom>
          <a:solidFill>
            <a:srgbClr val="F1F5F9"/>
          </a:solidFill>
          <a:ln w="12700">
            <a:solidFill>
              <a:srgbClr val="CBD5E1"/>
            </a:solidFill>
            <a:prstDash val="solid"/>
          </a:ln>
        </p:spPr>
        <p:txBody>
          <a:bodyPr/>
          <a:lstStyle/>
          <a:p>
            <a:endParaRPr lang="en-US"/>
          </a:p>
        </p:txBody>
      </p:sp>
      <p:sp>
        <p:nvSpPr>
          <p:cNvPr id="26" name="Text 24"/>
          <p:cNvSpPr/>
          <p:nvPr/>
        </p:nvSpPr>
        <p:spPr>
          <a:xfrm>
            <a:off x="914400" y="5477256"/>
            <a:ext cx="9875520" cy="155448"/>
          </a:xfrm>
          <a:prstGeom prst="rect">
            <a:avLst/>
          </a:prstGeom>
          <a:noFill/>
          <a:ln/>
        </p:spPr>
        <p:txBody>
          <a:bodyPr wrap="square" lIns="0" tIns="0" rIns="0" bIns="0" rtlCol="0" anchor="ctr"/>
          <a:lstStyle/>
          <a:p>
            <a:pPr marL="0" indent="0" algn="ctr">
              <a:buNone/>
            </a:pPr>
            <a:r>
              <a:rPr lang="en-US" sz="1120" b="1" dirty="0">
                <a:solidFill>
                  <a:srgbClr val="0B1F33"/>
                </a:solidFill>
              </a:rPr>
              <a:t>CONTROL PLANE spans all layers: Identity  •  Entitlement  •  Secrets  •  Policy  •  Audit  •  Observability  •  Evals  •  HIL</a:t>
            </a:r>
            <a:endParaRPr lang="en-US" sz="1120" dirty="0"/>
          </a:p>
        </p:txBody>
      </p:sp>
      <p:sp>
        <p:nvSpPr>
          <p:cNvPr id="27" name="Text 25"/>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1</a:t>
            </a:r>
            <a:endParaRPr lang="en-US" sz="780" dirty="0"/>
          </a:p>
        </p:txBody>
      </p:sp>
      <p:sp>
        <p:nvSpPr>
          <p:cNvPr id="28" name="Text 26"/>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MCP Tool Design Standard</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lstStyle/>
          <a:p>
            <a:pPr marL="0" indent="0">
              <a:buNone/>
            </a:pPr>
            <a:r>
              <a:rPr lang="en-US" sz="1050" dirty="0">
                <a:solidFill>
                  <a:srgbClr val="64748B"/>
                </a:solidFill>
              </a:rPr>
              <a:t>The LLM should see business capabilities, not backend implementation complexity.</a:t>
            </a:r>
            <a:endParaRPr lang="en-US" sz="1050" dirty="0"/>
          </a:p>
        </p:txBody>
      </p:sp>
      <p:sp>
        <p:nvSpPr>
          <p:cNvPr id="6" name="Shape 4"/>
          <p:cNvSpPr/>
          <p:nvPr/>
        </p:nvSpPr>
        <p:spPr>
          <a:xfrm>
            <a:off x="731520" y="1234440"/>
            <a:ext cx="4114800" cy="54864"/>
          </a:xfrm>
          <a:prstGeom prst="rect">
            <a:avLst/>
          </a:prstGeom>
          <a:solidFill>
            <a:srgbClr val="2563EB"/>
          </a:solidFill>
          <a:ln w="12700">
            <a:solidFill>
              <a:srgbClr val="2563EB">
                <a:alpha val="0"/>
              </a:srgbClr>
            </a:solidFill>
            <a:prstDash val="solid"/>
          </a:ln>
        </p:spPr>
        <p:txBody>
          <a:bodyPr/>
          <a:lstStyle/>
          <a:p>
            <a:endParaRPr lang="en-US"/>
          </a:p>
        </p:txBody>
      </p:sp>
      <p:sp>
        <p:nvSpPr>
          <p:cNvPr id="7" name="Text 5"/>
          <p:cNvSpPr/>
          <p:nvPr/>
        </p:nvSpPr>
        <p:spPr>
          <a:xfrm>
            <a:off x="731520" y="1325880"/>
            <a:ext cx="4114800" cy="219456"/>
          </a:xfrm>
          <a:prstGeom prst="rect">
            <a:avLst/>
          </a:prstGeom>
          <a:noFill/>
          <a:ln/>
        </p:spPr>
        <p:txBody>
          <a:bodyPr wrap="square" lIns="0" tIns="0" rIns="0" bIns="0" rtlCol="0" anchor="ctr"/>
          <a:lstStyle/>
          <a:p>
            <a:pPr marL="0" indent="0">
              <a:buNone/>
            </a:pPr>
            <a:r>
              <a:rPr lang="en-US" sz="1000" b="1" dirty="0">
                <a:solidFill>
                  <a:srgbClr val="2563EB"/>
                </a:solidFill>
              </a:rPr>
              <a:t>DESIGN RULES</a:t>
            </a:r>
            <a:endParaRPr lang="en-US" sz="1000" dirty="0"/>
          </a:p>
        </p:txBody>
      </p:sp>
      <p:sp>
        <p:nvSpPr>
          <p:cNvPr id="8" name="Text 6"/>
          <p:cNvSpPr/>
          <p:nvPr/>
        </p:nvSpPr>
        <p:spPr>
          <a:xfrm>
            <a:off x="777240" y="1709928"/>
            <a:ext cx="146304" cy="182880"/>
          </a:xfrm>
          <a:prstGeom prst="rect">
            <a:avLst/>
          </a:prstGeom>
          <a:noFill/>
          <a:ln/>
        </p:spPr>
        <p:txBody>
          <a:bodyPr wrap="square" lIns="0" tIns="0" rIns="0" bIns="0" rtlCol="0" anchor="ctr"/>
          <a:lstStyle/>
          <a:p>
            <a:pPr marL="0" indent="0">
              <a:buNone/>
            </a:pPr>
            <a:r>
              <a:rPr lang="en-US" sz="1230" b="1" dirty="0">
                <a:solidFill>
                  <a:srgbClr val="2563EB"/>
                </a:solidFill>
              </a:rPr>
              <a:t>•</a:t>
            </a:r>
            <a:endParaRPr lang="en-US" sz="1230" dirty="0"/>
          </a:p>
        </p:txBody>
      </p:sp>
      <p:sp>
        <p:nvSpPr>
          <p:cNvPr id="9" name="Text 7"/>
          <p:cNvSpPr/>
          <p:nvPr/>
        </p:nvSpPr>
        <p:spPr>
          <a:xfrm>
            <a:off x="978408" y="1700784"/>
            <a:ext cx="4389120" cy="310896"/>
          </a:xfrm>
          <a:prstGeom prst="rect">
            <a:avLst/>
          </a:prstGeom>
          <a:noFill/>
          <a:ln/>
        </p:spPr>
        <p:txBody>
          <a:bodyPr wrap="square" lIns="0" tIns="0" rIns="0" bIns="0" rtlCol="0" anchor="ctr">
            <a:normAutofit/>
          </a:bodyPr>
          <a:lstStyle/>
          <a:p>
            <a:pPr marL="0" indent="0">
              <a:buNone/>
            </a:pPr>
            <a:r>
              <a:rPr lang="en-US" sz="1230" dirty="0">
                <a:solidFill>
                  <a:srgbClr val="111827"/>
                </a:solidFill>
              </a:rPr>
              <a:t>Map tools to user stories / business workflows</a:t>
            </a:r>
            <a:endParaRPr lang="en-US" sz="1230" dirty="0"/>
          </a:p>
        </p:txBody>
      </p:sp>
      <p:sp>
        <p:nvSpPr>
          <p:cNvPr id="10" name="Text 8"/>
          <p:cNvSpPr/>
          <p:nvPr/>
        </p:nvSpPr>
        <p:spPr>
          <a:xfrm>
            <a:off x="777240" y="2148840"/>
            <a:ext cx="146304" cy="182880"/>
          </a:xfrm>
          <a:prstGeom prst="rect">
            <a:avLst/>
          </a:prstGeom>
          <a:noFill/>
          <a:ln/>
        </p:spPr>
        <p:txBody>
          <a:bodyPr wrap="square" lIns="0" tIns="0" rIns="0" bIns="0" rtlCol="0" anchor="ctr"/>
          <a:lstStyle/>
          <a:p>
            <a:pPr marL="0" indent="0">
              <a:buNone/>
            </a:pPr>
            <a:r>
              <a:rPr lang="en-US" sz="1230" b="1" dirty="0">
                <a:solidFill>
                  <a:srgbClr val="2563EB"/>
                </a:solidFill>
              </a:rPr>
              <a:t>•</a:t>
            </a:r>
            <a:endParaRPr lang="en-US" sz="1230" dirty="0"/>
          </a:p>
        </p:txBody>
      </p:sp>
      <p:sp>
        <p:nvSpPr>
          <p:cNvPr id="11" name="Text 9"/>
          <p:cNvSpPr/>
          <p:nvPr/>
        </p:nvSpPr>
        <p:spPr>
          <a:xfrm>
            <a:off x="978408" y="2139696"/>
            <a:ext cx="4389120" cy="310896"/>
          </a:xfrm>
          <a:prstGeom prst="rect">
            <a:avLst/>
          </a:prstGeom>
          <a:noFill/>
          <a:ln/>
        </p:spPr>
        <p:txBody>
          <a:bodyPr wrap="square" lIns="0" tIns="0" rIns="0" bIns="0" rtlCol="0" anchor="ctr">
            <a:normAutofit/>
          </a:bodyPr>
          <a:lstStyle/>
          <a:p>
            <a:pPr marL="0" indent="0">
              <a:buNone/>
            </a:pPr>
            <a:r>
              <a:rPr lang="en-US" sz="1230" dirty="0">
                <a:solidFill>
                  <a:srgbClr val="111827"/>
                </a:solidFill>
              </a:rPr>
              <a:t>Prefer deterministic execution behind the tool</a:t>
            </a:r>
            <a:endParaRPr lang="en-US" sz="1230" dirty="0"/>
          </a:p>
        </p:txBody>
      </p:sp>
      <p:sp>
        <p:nvSpPr>
          <p:cNvPr id="12" name="Text 10"/>
          <p:cNvSpPr/>
          <p:nvPr/>
        </p:nvSpPr>
        <p:spPr>
          <a:xfrm>
            <a:off x="777240" y="2587752"/>
            <a:ext cx="146304" cy="182880"/>
          </a:xfrm>
          <a:prstGeom prst="rect">
            <a:avLst/>
          </a:prstGeom>
          <a:noFill/>
          <a:ln/>
        </p:spPr>
        <p:txBody>
          <a:bodyPr wrap="square" lIns="0" tIns="0" rIns="0" bIns="0" rtlCol="0" anchor="ctr"/>
          <a:lstStyle/>
          <a:p>
            <a:pPr marL="0" indent="0">
              <a:buNone/>
            </a:pPr>
            <a:r>
              <a:rPr lang="en-US" sz="1230" b="1" dirty="0">
                <a:solidFill>
                  <a:srgbClr val="2563EB"/>
                </a:solidFill>
              </a:rPr>
              <a:t>•</a:t>
            </a:r>
            <a:endParaRPr lang="en-US" sz="1230" dirty="0"/>
          </a:p>
        </p:txBody>
      </p:sp>
      <p:sp>
        <p:nvSpPr>
          <p:cNvPr id="13" name="Text 11"/>
          <p:cNvSpPr/>
          <p:nvPr/>
        </p:nvSpPr>
        <p:spPr>
          <a:xfrm>
            <a:off x="978408" y="2578608"/>
            <a:ext cx="4389120" cy="310896"/>
          </a:xfrm>
          <a:prstGeom prst="rect">
            <a:avLst/>
          </a:prstGeom>
          <a:noFill/>
          <a:ln/>
        </p:spPr>
        <p:txBody>
          <a:bodyPr wrap="square" lIns="0" tIns="0" rIns="0" bIns="0" rtlCol="0" anchor="ctr">
            <a:normAutofit/>
          </a:bodyPr>
          <a:lstStyle/>
          <a:p>
            <a:pPr marL="0" indent="0">
              <a:buNone/>
            </a:pPr>
            <a:r>
              <a:rPr lang="en-US" sz="1230" dirty="0">
                <a:solidFill>
                  <a:srgbClr val="111827"/>
                </a:solidFill>
              </a:rPr>
              <a:t>Define explicit input and output JSON schemas</a:t>
            </a:r>
            <a:endParaRPr lang="en-US" sz="1230" dirty="0"/>
          </a:p>
        </p:txBody>
      </p:sp>
      <p:sp>
        <p:nvSpPr>
          <p:cNvPr id="14" name="Text 12"/>
          <p:cNvSpPr/>
          <p:nvPr/>
        </p:nvSpPr>
        <p:spPr>
          <a:xfrm>
            <a:off x="777240" y="3026664"/>
            <a:ext cx="146304" cy="182880"/>
          </a:xfrm>
          <a:prstGeom prst="rect">
            <a:avLst/>
          </a:prstGeom>
          <a:noFill/>
          <a:ln/>
        </p:spPr>
        <p:txBody>
          <a:bodyPr wrap="square" lIns="0" tIns="0" rIns="0" bIns="0" rtlCol="0" anchor="ctr"/>
          <a:lstStyle/>
          <a:p>
            <a:pPr marL="0" indent="0">
              <a:buNone/>
            </a:pPr>
            <a:r>
              <a:rPr lang="en-US" sz="1230" b="1" dirty="0">
                <a:solidFill>
                  <a:srgbClr val="2563EB"/>
                </a:solidFill>
              </a:rPr>
              <a:t>•</a:t>
            </a:r>
            <a:endParaRPr lang="en-US" sz="1230" dirty="0"/>
          </a:p>
        </p:txBody>
      </p:sp>
      <p:sp>
        <p:nvSpPr>
          <p:cNvPr id="15" name="Text 13"/>
          <p:cNvSpPr/>
          <p:nvPr/>
        </p:nvSpPr>
        <p:spPr>
          <a:xfrm>
            <a:off x="978408" y="3017520"/>
            <a:ext cx="4389120" cy="310896"/>
          </a:xfrm>
          <a:prstGeom prst="rect">
            <a:avLst/>
          </a:prstGeom>
          <a:noFill/>
          <a:ln/>
        </p:spPr>
        <p:txBody>
          <a:bodyPr wrap="square" lIns="0" tIns="0" rIns="0" bIns="0" rtlCol="0" anchor="ctr">
            <a:normAutofit/>
          </a:bodyPr>
          <a:lstStyle/>
          <a:p>
            <a:pPr marL="0" indent="0">
              <a:buNone/>
            </a:pPr>
            <a:r>
              <a:rPr lang="en-US" sz="1230" dirty="0">
                <a:solidFill>
                  <a:srgbClr val="111827"/>
                </a:solidFill>
              </a:rPr>
              <a:t>Separate READ and WRITE actions</a:t>
            </a:r>
            <a:endParaRPr lang="en-US" sz="1230" dirty="0"/>
          </a:p>
        </p:txBody>
      </p:sp>
      <p:sp>
        <p:nvSpPr>
          <p:cNvPr id="16" name="Text 14"/>
          <p:cNvSpPr/>
          <p:nvPr/>
        </p:nvSpPr>
        <p:spPr>
          <a:xfrm>
            <a:off x="777240" y="3465576"/>
            <a:ext cx="146304" cy="182880"/>
          </a:xfrm>
          <a:prstGeom prst="rect">
            <a:avLst/>
          </a:prstGeom>
          <a:noFill/>
          <a:ln/>
        </p:spPr>
        <p:txBody>
          <a:bodyPr wrap="square" lIns="0" tIns="0" rIns="0" bIns="0" rtlCol="0" anchor="ctr"/>
          <a:lstStyle/>
          <a:p>
            <a:pPr marL="0" indent="0">
              <a:buNone/>
            </a:pPr>
            <a:r>
              <a:rPr lang="en-US" sz="1230" b="1" dirty="0">
                <a:solidFill>
                  <a:srgbClr val="2563EB"/>
                </a:solidFill>
              </a:rPr>
              <a:t>•</a:t>
            </a:r>
            <a:endParaRPr lang="en-US" sz="1230" dirty="0"/>
          </a:p>
        </p:txBody>
      </p:sp>
      <p:sp>
        <p:nvSpPr>
          <p:cNvPr id="17" name="Text 15"/>
          <p:cNvSpPr/>
          <p:nvPr/>
        </p:nvSpPr>
        <p:spPr>
          <a:xfrm>
            <a:off x="978408" y="3456432"/>
            <a:ext cx="4389120" cy="310896"/>
          </a:xfrm>
          <a:prstGeom prst="rect">
            <a:avLst/>
          </a:prstGeom>
          <a:noFill/>
          <a:ln/>
        </p:spPr>
        <p:txBody>
          <a:bodyPr wrap="square" lIns="0" tIns="0" rIns="0" bIns="0" rtlCol="0" anchor="ctr">
            <a:normAutofit/>
          </a:bodyPr>
          <a:lstStyle/>
          <a:p>
            <a:pPr marL="0" indent="0">
              <a:buNone/>
            </a:pPr>
            <a:r>
              <a:rPr lang="en-US" sz="1230" dirty="0">
                <a:solidFill>
                  <a:srgbClr val="111827"/>
                </a:solidFill>
              </a:rPr>
              <a:t>Keep parameters small and semantically clear</a:t>
            </a:r>
            <a:endParaRPr lang="en-US" sz="1230" dirty="0"/>
          </a:p>
        </p:txBody>
      </p:sp>
      <p:sp>
        <p:nvSpPr>
          <p:cNvPr id="18" name="Text 16"/>
          <p:cNvSpPr/>
          <p:nvPr/>
        </p:nvSpPr>
        <p:spPr>
          <a:xfrm>
            <a:off x="777240" y="3904488"/>
            <a:ext cx="146304" cy="182880"/>
          </a:xfrm>
          <a:prstGeom prst="rect">
            <a:avLst/>
          </a:prstGeom>
          <a:noFill/>
          <a:ln/>
        </p:spPr>
        <p:txBody>
          <a:bodyPr wrap="square" lIns="0" tIns="0" rIns="0" bIns="0" rtlCol="0" anchor="ctr"/>
          <a:lstStyle/>
          <a:p>
            <a:pPr marL="0" indent="0">
              <a:buNone/>
            </a:pPr>
            <a:r>
              <a:rPr lang="en-US" sz="1230" b="1" dirty="0">
                <a:solidFill>
                  <a:srgbClr val="2563EB"/>
                </a:solidFill>
              </a:rPr>
              <a:t>•</a:t>
            </a:r>
            <a:endParaRPr lang="en-US" sz="1230" dirty="0"/>
          </a:p>
        </p:txBody>
      </p:sp>
      <p:sp>
        <p:nvSpPr>
          <p:cNvPr id="19" name="Text 17"/>
          <p:cNvSpPr/>
          <p:nvPr/>
        </p:nvSpPr>
        <p:spPr>
          <a:xfrm>
            <a:off x="978408" y="3895344"/>
            <a:ext cx="4389120" cy="310896"/>
          </a:xfrm>
          <a:prstGeom prst="rect">
            <a:avLst/>
          </a:prstGeom>
          <a:noFill/>
          <a:ln/>
        </p:spPr>
        <p:txBody>
          <a:bodyPr wrap="square" lIns="0" tIns="0" rIns="0" bIns="0" rtlCol="0" anchor="ctr">
            <a:normAutofit/>
          </a:bodyPr>
          <a:lstStyle/>
          <a:p>
            <a:pPr marL="0" indent="0">
              <a:buNone/>
            </a:pPr>
            <a:r>
              <a:rPr lang="en-US" sz="1230" dirty="0">
                <a:solidFill>
                  <a:srgbClr val="111827"/>
                </a:solidFill>
              </a:rPr>
              <a:t>Document when to use — and when not to use</a:t>
            </a:r>
            <a:endParaRPr lang="en-US" sz="1230" dirty="0"/>
          </a:p>
        </p:txBody>
      </p:sp>
      <p:sp>
        <p:nvSpPr>
          <p:cNvPr id="20" name="Shape 18"/>
          <p:cNvSpPr/>
          <p:nvPr/>
        </p:nvSpPr>
        <p:spPr>
          <a:xfrm>
            <a:off x="6492240" y="1234440"/>
            <a:ext cx="4389120" cy="54864"/>
          </a:xfrm>
          <a:prstGeom prst="rect">
            <a:avLst/>
          </a:prstGeom>
          <a:solidFill>
            <a:srgbClr val="0F766E"/>
          </a:solidFill>
          <a:ln w="12700">
            <a:solidFill>
              <a:srgbClr val="0F766E">
                <a:alpha val="0"/>
              </a:srgbClr>
            </a:solidFill>
            <a:prstDash val="solid"/>
          </a:ln>
        </p:spPr>
        <p:txBody>
          <a:bodyPr/>
          <a:lstStyle/>
          <a:p>
            <a:endParaRPr lang="en-US"/>
          </a:p>
        </p:txBody>
      </p:sp>
      <p:sp>
        <p:nvSpPr>
          <p:cNvPr id="21" name="Text 19"/>
          <p:cNvSpPr/>
          <p:nvPr/>
        </p:nvSpPr>
        <p:spPr>
          <a:xfrm>
            <a:off x="6492240" y="1325880"/>
            <a:ext cx="4389120" cy="219456"/>
          </a:xfrm>
          <a:prstGeom prst="rect">
            <a:avLst/>
          </a:prstGeom>
          <a:noFill/>
          <a:ln/>
        </p:spPr>
        <p:txBody>
          <a:bodyPr wrap="square" lIns="0" tIns="0" rIns="0" bIns="0" rtlCol="0" anchor="ctr"/>
          <a:lstStyle/>
          <a:p>
            <a:pPr marL="0" indent="0">
              <a:buNone/>
            </a:pPr>
            <a:r>
              <a:rPr lang="en-US" sz="1000" b="1" dirty="0">
                <a:solidFill>
                  <a:srgbClr val="0F766E"/>
                </a:solidFill>
              </a:rPr>
              <a:t>EDGE NAMING PATTERN</a:t>
            </a:r>
            <a:endParaRPr lang="en-US" sz="1000" dirty="0"/>
          </a:p>
        </p:txBody>
      </p:sp>
      <p:sp>
        <p:nvSpPr>
          <p:cNvPr id="22" name="Shape 20"/>
          <p:cNvSpPr/>
          <p:nvPr/>
        </p:nvSpPr>
        <p:spPr>
          <a:xfrm>
            <a:off x="6537960" y="1737360"/>
            <a:ext cx="4389120" cy="594360"/>
          </a:xfrm>
          <a:prstGeom prst="roundRect">
            <a:avLst>
              <a:gd name="adj" fmla="val 12308"/>
            </a:avLst>
          </a:prstGeom>
          <a:solidFill>
            <a:srgbClr val="F0FDFA"/>
          </a:solidFill>
          <a:ln w="12700">
            <a:solidFill>
              <a:srgbClr val="99F6E4"/>
            </a:solidFill>
            <a:prstDash val="solid"/>
          </a:ln>
        </p:spPr>
        <p:txBody>
          <a:bodyPr/>
          <a:lstStyle/>
          <a:p>
            <a:endParaRPr lang="en-US"/>
          </a:p>
        </p:txBody>
      </p:sp>
      <p:sp>
        <p:nvSpPr>
          <p:cNvPr id="23" name="Text 21"/>
          <p:cNvSpPr/>
          <p:nvPr/>
        </p:nvSpPr>
        <p:spPr>
          <a:xfrm>
            <a:off x="6812280" y="1929384"/>
            <a:ext cx="3840480" cy="146304"/>
          </a:xfrm>
          <a:prstGeom prst="rect">
            <a:avLst/>
          </a:prstGeom>
          <a:noFill/>
          <a:ln/>
        </p:spPr>
        <p:txBody>
          <a:bodyPr wrap="square" lIns="508" tIns="508" rIns="508" bIns="508" rtlCol="0" anchor="ctr">
            <a:normAutofit/>
          </a:bodyPr>
          <a:lstStyle/>
          <a:p>
            <a:pPr marL="0" indent="0" algn="ctr">
              <a:buNone/>
            </a:pPr>
            <a:r>
              <a:rPr lang="en-US" sz="1800" b="1" dirty="0">
                <a:solidFill>
                  <a:srgbClr val="0F766E"/>
                </a:solidFill>
              </a:rPr>
              <a:t>domain_noun_verb</a:t>
            </a:r>
            <a:endParaRPr lang="en-US" sz="1800" dirty="0"/>
          </a:p>
        </p:txBody>
      </p:sp>
      <p:sp>
        <p:nvSpPr>
          <p:cNvPr id="24" name="Text 22"/>
          <p:cNvSpPr/>
          <p:nvPr/>
        </p:nvSpPr>
        <p:spPr>
          <a:xfrm>
            <a:off x="6629400" y="2697480"/>
            <a:ext cx="2560320" cy="182880"/>
          </a:xfrm>
          <a:prstGeom prst="rect">
            <a:avLst/>
          </a:prstGeom>
          <a:noFill/>
          <a:ln/>
        </p:spPr>
        <p:txBody>
          <a:bodyPr wrap="square" lIns="0" tIns="0" rIns="0" bIns="0" rtlCol="0" anchor="ctr"/>
          <a:lstStyle/>
          <a:p>
            <a:pPr marL="0" indent="0">
              <a:buNone/>
            </a:pPr>
            <a:r>
              <a:rPr lang="en-US" sz="1150" b="1" dirty="0">
                <a:solidFill>
                  <a:srgbClr val="0B1F33"/>
                </a:solidFill>
              </a:rPr>
              <a:t>trade_position_get</a:t>
            </a:r>
            <a:endParaRPr lang="en-US" sz="1150" dirty="0"/>
          </a:p>
        </p:txBody>
      </p:sp>
      <p:sp>
        <p:nvSpPr>
          <p:cNvPr id="25" name="Text 23"/>
          <p:cNvSpPr/>
          <p:nvPr/>
        </p:nvSpPr>
        <p:spPr>
          <a:xfrm>
            <a:off x="9235440" y="2697480"/>
            <a:ext cx="2011680" cy="182880"/>
          </a:xfrm>
          <a:prstGeom prst="rect">
            <a:avLst/>
          </a:prstGeom>
          <a:noFill/>
          <a:ln/>
        </p:spPr>
        <p:txBody>
          <a:bodyPr wrap="square" lIns="0" tIns="0" rIns="0" bIns="0" rtlCol="0" anchor="ctr"/>
          <a:lstStyle/>
          <a:p>
            <a:pPr marL="0" indent="0">
              <a:buNone/>
            </a:pPr>
            <a:r>
              <a:rPr lang="en-US" sz="1050" dirty="0">
                <a:solidFill>
                  <a:srgbClr val="64748B"/>
                </a:solidFill>
              </a:rPr>
              <a:t>read position context</a:t>
            </a:r>
            <a:endParaRPr lang="en-US" sz="1050" dirty="0"/>
          </a:p>
        </p:txBody>
      </p:sp>
      <p:sp>
        <p:nvSpPr>
          <p:cNvPr id="26" name="Text 24"/>
          <p:cNvSpPr/>
          <p:nvPr/>
        </p:nvSpPr>
        <p:spPr>
          <a:xfrm>
            <a:off x="6629400" y="3200400"/>
            <a:ext cx="2560320" cy="182880"/>
          </a:xfrm>
          <a:prstGeom prst="rect">
            <a:avLst/>
          </a:prstGeom>
          <a:noFill/>
          <a:ln/>
        </p:spPr>
        <p:txBody>
          <a:bodyPr wrap="square" lIns="0" tIns="0" rIns="0" bIns="0" rtlCol="0" anchor="ctr"/>
          <a:lstStyle/>
          <a:p>
            <a:pPr marL="0" indent="0">
              <a:buNone/>
            </a:pPr>
            <a:r>
              <a:rPr lang="en-US" sz="1150" b="1" dirty="0">
                <a:solidFill>
                  <a:srgbClr val="0B1F33"/>
                </a:solidFill>
              </a:rPr>
              <a:t>settlement_instruction_get</a:t>
            </a:r>
            <a:endParaRPr lang="en-US" sz="1150" dirty="0"/>
          </a:p>
        </p:txBody>
      </p:sp>
      <p:sp>
        <p:nvSpPr>
          <p:cNvPr id="27" name="Text 25"/>
          <p:cNvSpPr/>
          <p:nvPr/>
        </p:nvSpPr>
        <p:spPr>
          <a:xfrm>
            <a:off x="9235440" y="3200400"/>
            <a:ext cx="2011680" cy="182880"/>
          </a:xfrm>
          <a:prstGeom prst="rect">
            <a:avLst/>
          </a:prstGeom>
          <a:noFill/>
          <a:ln/>
        </p:spPr>
        <p:txBody>
          <a:bodyPr wrap="square" lIns="0" tIns="0" rIns="0" bIns="0" rtlCol="0" anchor="ctr"/>
          <a:lstStyle/>
          <a:p>
            <a:pPr marL="0" indent="0">
              <a:buNone/>
            </a:pPr>
            <a:r>
              <a:rPr lang="en-US" sz="1050" dirty="0">
                <a:solidFill>
                  <a:srgbClr val="64748B"/>
                </a:solidFill>
              </a:rPr>
              <a:t>read settlement instructions</a:t>
            </a:r>
            <a:endParaRPr lang="en-US" sz="1050" dirty="0"/>
          </a:p>
        </p:txBody>
      </p:sp>
      <p:sp>
        <p:nvSpPr>
          <p:cNvPr id="28" name="Text 26"/>
          <p:cNvSpPr/>
          <p:nvPr/>
        </p:nvSpPr>
        <p:spPr>
          <a:xfrm>
            <a:off x="6629400" y="3703320"/>
            <a:ext cx="2560320" cy="182880"/>
          </a:xfrm>
          <a:prstGeom prst="rect">
            <a:avLst/>
          </a:prstGeom>
          <a:noFill/>
          <a:ln/>
        </p:spPr>
        <p:txBody>
          <a:bodyPr wrap="square" lIns="0" tIns="0" rIns="0" bIns="0" rtlCol="0" anchor="ctr"/>
          <a:lstStyle/>
          <a:p>
            <a:pPr marL="0" indent="0">
              <a:buNone/>
            </a:pPr>
            <a:r>
              <a:rPr lang="en-US" sz="1150" b="1" dirty="0">
                <a:solidFill>
                  <a:srgbClr val="0B1F33"/>
                </a:solidFill>
              </a:rPr>
              <a:t>trade_commentary_validate</a:t>
            </a:r>
            <a:endParaRPr lang="en-US" sz="1150" dirty="0"/>
          </a:p>
        </p:txBody>
      </p:sp>
      <p:sp>
        <p:nvSpPr>
          <p:cNvPr id="29" name="Text 27"/>
          <p:cNvSpPr/>
          <p:nvPr/>
        </p:nvSpPr>
        <p:spPr>
          <a:xfrm>
            <a:off x="9235440" y="3703320"/>
            <a:ext cx="2011680" cy="182880"/>
          </a:xfrm>
          <a:prstGeom prst="rect">
            <a:avLst/>
          </a:prstGeom>
          <a:noFill/>
          <a:ln/>
        </p:spPr>
        <p:txBody>
          <a:bodyPr wrap="square" lIns="0" tIns="0" rIns="0" bIns="0" rtlCol="0" anchor="ctr"/>
          <a:lstStyle/>
          <a:p>
            <a:pPr marL="0" indent="0">
              <a:buNone/>
            </a:pPr>
            <a:r>
              <a:rPr lang="en-US" sz="1050" dirty="0">
                <a:solidFill>
                  <a:srgbClr val="64748B"/>
                </a:solidFill>
              </a:rPr>
              <a:t>validate generated commentary</a:t>
            </a:r>
            <a:endParaRPr lang="en-US" sz="1050" dirty="0"/>
          </a:p>
        </p:txBody>
      </p:sp>
      <p:sp>
        <p:nvSpPr>
          <p:cNvPr id="30" name="Text 28"/>
          <p:cNvSpPr/>
          <p:nvPr/>
        </p:nvSpPr>
        <p:spPr>
          <a:xfrm>
            <a:off x="6629400" y="4206240"/>
            <a:ext cx="2560320" cy="182880"/>
          </a:xfrm>
          <a:prstGeom prst="rect">
            <a:avLst/>
          </a:prstGeom>
          <a:noFill/>
          <a:ln/>
        </p:spPr>
        <p:txBody>
          <a:bodyPr wrap="square" lIns="0" tIns="0" rIns="0" bIns="0" rtlCol="0" anchor="ctr"/>
          <a:lstStyle/>
          <a:p>
            <a:pPr marL="0" indent="0">
              <a:buNone/>
            </a:pPr>
            <a:r>
              <a:rPr lang="en-US" sz="1150" b="1" dirty="0">
                <a:solidFill>
                  <a:srgbClr val="0B1F33"/>
                </a:solidFill>
              </a:rPr>
              <a:t>trade_commentary_publish</a:t>
            </a:r>
            <a:endParaRPr lang="en-US" sz="1150" dirty="0"/>
          </a:p>
        </p:txBody>
      </p:sp>
      <p:sp>
        <p:nvSpPr>
          <p:cNvPr id="31" name="Text 29"/>
          <p:cNvSpPr/>
          <p:nvPr/>
        </p:nvSpPr>
        <p:spPr>
          <a:xfrm>
            <a:off x="9235440" y="4206240"/>
            <a:ext cx="2011680" cy="182880"/>
          </a:xfrm>
          <a:prstGeom prst="rect">
            <a:avLst/>
          </a:prstGeom>
          <a:noFill/>
          <a:ln/>
        </p:spPr>
        <p:txBody>
          <a:bodyPr wrap="square" lIns="0" tIns="0" rIns="0" bIns="0" rtlCol="0" anchor="ctr"/>
          <a:lstStyle/>
          <a:p>
            <a:pPr marL="0" indent="0">
              <a:buNone/>
            </a:pPr>
            <a:r>
              <a:rPr lang="en-US" sz="1050" dirty="0">
                <a:solidFill>
                  <a:srgbClr val="64748B"/>
                </a:solidFill>
              </a:rPr>
              <a:t>publish only after policy / HIL</a:t>
            </a:r>
            <a:endParaRPr lang="en-US" sz="1050" dirty="0"/>
          </a:p>
        </p:txBody>
      </p:sp>
      <p:sp>
        <p:nvSpPr>
          <p:cNvPr id="32" name="Text 30"/>
          <p:cNvSpPr/>
          <p:nvPr/>
        </p:nvSpPr>
        <p:spPr>
          <a:xfrm>
            <a:off x="822960" y="5349240"/>
            <a:ext cx="1828800" cy="228600"/>
          </a:xfrm>
          <a:prstGeom prst="rect">
            <a:avLst/>
          </a:prstGeom>
          <a:noFill/>
          <a:ln/>
        </p:spPr>
        <p:txBody>
          <a:bodyPr wrap="square" lIns="0" tIns="0" rIns="0" bIns="0" rtlCol="0" anchor="ctr"/>
          <a:lstStyle/>
          <a:p>
            <a:pPr marL="0" indent="0">
              <a:buNone/>
            </a:pPr>
            <a:r>
              <a:rPr lang="en-US" sz="1100" b="1" dirty="0">
                <a:solidFill>
                  <a:srgbClr val="2563EB"/>
                </a:solidFill>
              </a:rPr>
              <a:t>Design principle</a:t>
            </a:r>
            <a:endParaRPr lang="en-US" sz="1100" dirty="0"/>
          </a:p>
        </p:txBody>
      </p:sp>
      <p:sp>
        <p:nvSpPr>
          <p:cNvPr id="33" name="Text 31"/>
          <p:cNvSpPr/>
          <p:nvPr/>
        </p:nvSpPr>
        <p:spPr>
          <a:xfrm>
            <a:off x="822960" y="5641848"/>
            <a:ext cx="9875520" cy="274320"/>
          </a:xfrm>
          <a:prstGeom prst="rect">
            <a:avLst/>
          </a:prstGeom>
          <a:noFill/>
          <a:ln/>
        </p:spPr>
        <p:txBody>
          <a:bodyPr wrap="square" lIns="0" tIns="0" rIns="0" bIns="0" rtlCol="0" anchor="ctr"/>
          <a:lstStyle/>
          <a:p>
            <a:pPr marL="0" indent="0">
              <a:buNone/>
            </a:pPr>
            <a:r>
              <a:rPr lang="en-US" sz="1500" b="1" dirty="0">
                <a:solidFill>
                  <a:srgbClr val="0B1F33"/>
                </a:solidFill>
              </a:rPr>
              <a:t>A good MCP tool reduces reasoning burden on the LLM and increases operational determinism.</a:t>
            </a:r>
            <a:endParaRPr lang="en-US" sz="1500" dirty="0"/>
          </a:p>
        </p:txBody>
      </p:sp>
      <p:sp>
        <p:nvSpPr>
          <p:cNvPr id="34" name="Text 32"/>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1</a:t>
            </a:r>
            <a:endParaRPr lang="en-US" sz="780" dirty="0"/>
          </a:p>
        </p:txBody>
      </p:sp>
      <p:sp>
        <p:nvSpPr>
          <p:cNvPr id="35" name="Text 33"/>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From API Wrapper to Business Capability</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lstStyle/>
          <a:p>
            <a:pPr marL="0" indent="0">
              <a:buNone/>
            </a:pPr>
            <a:r>
              <a:rPr lang="en-US" sz="1050" dirty="0">
                <a:solidFill>
                  <a:srgbClr val="64748B"/>
                </a:solidFill>
              </a:rPr>
              <a:t>Bundle common multi-call workflows where it improves accuracy, latency and control.</a:t>
            </a:r>
            <a:endParaRPr lang="en-US" sz="1050" dirty="0"/>
          </a:p>
        </p:txBody>
      </p:sp>
      <p:sp>
        <p:nvSpPr>
          <p:cNvPr id="6" name="Shape 4"/>
          <p:cNvSpPr/>
          <p:nvPr/>
        </p:nvSpPr>
        <p:spPr>
          <a:xfrm>
            <a:off x="685800" y="1234440"/>
            <a:ext cx="4754880" cy="54864"/>
          </a:xfrm>
          <a:prstGeom prst="rect">
            <a:avLst/>
          </a:prstGeom>
          <a:solidFill>
            <a:srgbClr val="DC2626"/>
          </a:solidFill>
          <a:ln w="12700">
            <a:solidFill>
              <a:srgbClr val="DC2626">
                <a:alpha val="0"/>
              </a:srgbClr>
            </a:solidFill>
            <a:prstDash val="solid"/>
          </a:ln>
        </p:spPr>
        <p:txBody>
          <a:bodyPr/>
          <a:lstStyle/>
          <a:p>
            <a:endParaRPr lang="en-US"/>
          </a:p>
        </p:txBody>
      </p:sp>
      <p:sp>
        <p:nvSpPr>
          <p:cNvPr id="7" name="Text 5"/>
          <p:cNvSpPr/>
          <p:nvPr/>
        </p:nvSpPr>
        <p:spPr>
          <a:xfrm>
            <a:off x="685800" y="1325880"/>
            <a:ext cx="4754880" cy="219456"/>
          </a:xfrm>
          <a:prstGeom prst="rect">
            <a:avLst/>
          </a:prstGeom>
          <a:noFill/>
          <a:ln/>
        </p:spPr>
        <p:txBody>
          <a:bodyPr wrap="square" lIns="0" tIns="0" rIns="0" bIns="0" rtlCol="0" anchor="ctr"/>
          <a:lstStyle/>
          <a:p>
            <a:pPr marL="0" indent="0">
              <a:buNone/>
            </a:pPr>
            <a:r>
              <a:rPr lang="en-US" sz="1000" b="1" dirty="0">
                <a:solidFill>
                  <a:srgbClr val="DC2626"/>
                </a:solidFill>
              </a:rPr>
              <a:t>ANTI-PATTERN: RAW API EXPOSURE</a:t>
            </a:r>
            <a:endParaRPr lang="en-US" sz="1000" dirty="0"/>
          </a:p>
        </p:txBody>
      </p:sp>
      <p:sp>
        <p:nvSpPr>
          <p:cNvPr id="8" name="Shape 6"/>
          <p:cNvSpPr/>
          <p:nvPr/>
        </p:nvSpPr>
        <p:spPr>
          <a:xfrm>
            <a:off x="914400" y="1828800"/>
            <a:ext cx="1234440" cy="502920"/>
          </a:xfrm>
          <a:prstGeom prst="roundRect">
            <a:avLst>
              <a:gd name="adj" fmla="val 14545"/>
            </a:avLst>
          </a:prstGeom>
          <a:solidFill>
            <a:srgbClr val="FFF7ED"/>
          </a:solidFill>
          <a:ln w="12700">
            <a:solidFill>
              <a:srgbClr val="FDBA74"/>
            </a:solidFill>
            <a:prstDash val="solid"/>
          </a:ln>
        </p:spPr>
        <p:txBody>
          <a:bodyPr/>
          <a:lstStyle/>
          <a:p>
            <a:endParaRPr lang="en-US"/>
          </a:p>
        </p:txBody>
      </p:sp>
      <p:sp>
        <p:nvSpPr>
          <p:cNvPr id="9" name="Text 7"/>
          <p:cNvSpPr/>
          <p:nvPr/>
        </p:nvSpPr>
        <p:spPr>
          <a:xfrm>
            <a:off x="914400" y="1993392"/>
            <a:ext cx="1234440" cy="137160"/>
          </a:xfrm>
          <a:prstGeom prst="rect">
            <a:avLst/>
          </a:prstGeom>
          <a:noFill/>
          <a:ln/>
        </p:spPr>
        <p:txBody>
          <a:bodyPr wrap="square" lIns="508" tIns="508" rIns="508" bIns="508" rtlCol="0" anchor="ctr">
            <a:normAutofit/>
          </a:bodyPr>
          <a:lstStyle/>
          <a:p>
            <a:pPr marL="0" indent="0" algn="ctr">
              <a:buNone/>
            </a:pPr>
            <a:r>
              <a:rPr lang="en-US" sz="1100" b="1" dirty="0">
                <a:solidFill>
                  <a:srgbClr val="111827"/>
                </a:solidFill>
              </a:rPr>
              <a:t>Agent</a:t>
            </a:r>
            <a:endParaRPr lang="en-US" sz="1100" dirty="0"/>
          </a:p>
        </p:txBody>
      </p:sp>
      <p:sp>
        <p:nvSpPr>
          <p:cNvPr id="10" name="Shape 8"/>
          <p:cNvSpPr/>
          <p:nvPr/>
        </p:nvSpPr>
        <p:spPr>
          <a:xfrm>
            <a:off x="2194560" y="2084832"/>
            <a:ext cx="1691640" cy="0"/>
          </a:xfrm>
          <a:prstGeom prst="line">
            <a:avLst/>
          </a:prstGeom>
          <a:noFill/>
          <a:ln w="10160">
            <a:solidFill>
              <a:srgbClr val="DC2626"/>
            </a:solidFill>
            <a:prstDash val="solid"/>
            <a:headEnd type="none"/>
            <a:tailEnd type="triangle"/>
          </a:ln>
        </p:spPr>
        <p:txBody>
          <a:bodyPr/>
          <a:lstStyle/>
          <a:p>
            <a:endParaRPr lang="en-US"/>
          </a:p>
        </p:txBody>
      </p:sp>
      <p:sp>
        <p:nvSpPr>
          <p:cNvPr id="11" name="Shape 9"/>
          <p:cNvSpPr/>
          <p:nvPr/>
        </p:nvSpPr>
        <p:spPr>
          <a:xfrm>
            <a:off x="3931920" y="1691640"/>
            <a:ext cx="1463040" cy="457200"/>
          </a:xfrm>
          <a:prstGeom prst="roundRect">
            <a:avLst>
              <a:gd name="adj" fmla="val 16000"/>
            </a:avLst>
          </a:prstGeom>
          <a:solidFill>
            <a:srgbClr val="FEF2F2"/>
          </a:solidFill>
          <a:ln w="12700">
            <a:solidFill>
              <a:srgbClr val="FCA5A5"/>
            </a:solidFill>
            <a:prstDash val="solid"/>
          </a:ln>
        </p:spPr>
        <p:txBody>
          <a:bodyPr/>
          <a:lstStyle/>
          <a:p>
            <a:endParaRPr lang="en-US"/>
          </a:p>
        </p:txBody>
      </p:sp>
      <p:sp>
        <p:nvSpPr>
          <p:cNvPr id="12" name="Text 10"/>
          <p:cNvSpPr/>
          <p:nvPr/>
        </p:nvSpPr>
        <p:spPr>
          <a:xfrm>
            <a:off x="3931920" y="1828800"/>
            <a:ext cx="1463040" cy="137160"/>
          </a:xfrm>
          <a:prstGeom prst="rect">
            <a:avLst/>
          </a:prstGeom>
          <a:noFill/>
          <a:ln/>
        </p:spPr>
        <p:txBody>
          <a:bodyPr wrap="square" lIns="508" tIns="508" rIns="508" bIns="508" rtlCol="0" anchor="ctr">
            <a:normAutofit/>
          </a:bodyPr>
          <a:lstStyle/>
          <a:p>
            <a:pPr marL="0" indent="0" algn="ctr">
              <a:buNone/>
            </a:pPr>
            <a:r>
              <a:rPr lang="en-US" sz="950" b="1" dirty="0">
                <a:solidFill>
                  <a:srgbClr val="111827"/>
                </a:solidFill>
              </a:rPr>
              <a:t>get_position</a:t>
            </a:r>
            <a:endParaRPr lang="en-US" sz="950" dirty="0"/>
          </a:p>
        </p:txBody>
      </p:sp>
      <p:sp>
        <p:nvSpPr>
          <p:cNvPr id="13" name="Shape 11"/>
          <p:cNvSpPr/>
          <p:nvPr/>
        </p:nvSpPr>
        <p:spPr>
          <a:xfrm>
            <a:off x="2194560" y="2084832"/>
            <a:ext cx="1691640" cy="475488"/>
          </a:xfrm>
          <a:prstGeom prst="line">
            <a:avLst/>
          </a:prstGeom>
          <a:noFill/>
          <a:ln w="10160">
            <a:solidFill>
              <a:srgbClr val="DC2626"/>
            </a:solidFill>
            <a:prstDash val="solid"/>
            <a:headEnd type="none"/>
            <a:tailEnd type="triangle"/>
          </a:ln>
        </p:spPr>
        <p:txBody>
          <a:bodyPr/>
          <a:lstStyle/>
          <a:p>
            <a:endParaRPr lang="en-US"/>
          </a:p>
        </p:txBody>
      </p:sp>
      <p:sp>
        <p:nvSpPr>
          <p:cNvPr id="14" name="Shape 12"/>
          <p:cNvSpPr/>
          <p:nvPr/>
        </p:nvSpPr>
        <p:spPr>
          <a:xfrm>
            <a:off x="3931920" y="2331720"/>
            <a:ext cx="1463040" cy="457200"/>
          </a:xfrm>
          <a:prstGeom prst="roundRect">
            <a:avLst>
              <a:gd name="adj" fmla="val 16000"/>
            </a:avLst>
          </a:prstGeom>
          <a:solidFill>
            <a:srgbClr val="FEF2F2"/>
          </a:solidFill>
          <a:ln w="12700">
            <a:solidFill>
              <a:srgbClr val="FCA5A5"/>
            </a:solidFill>
            <a:prstDash val="solid"/>
          </a:ln>
        </p:spPr>
        <p:txBody>
          <a:bodyPr/>
          <a:lstStyle/>
          <a:p>
            <a:endParaRPr lang="en-US"/>
          </a:p>
        </p:txBody>
      </p:sp>
      <p:sp>
        <p:nvSpPr>
          <p:cNvPr id="15" name="Text 13"/>
          <p:cNvSpPr/>
          <p:nvPr/>
        </p:nvSpPr>
        <p:spPr>
          <a:xfrm>
            <a:off x="3931920" y="2468880"/>
            <a:ext cx="1463040" cy="137160"/>
          </a:xfrm>
          <a:prstGeom prst="rect">
            <a:avLst/>
          </a:prstGeom>
          <a:noFill/>
          <a:ln/>
        </p:spPr>
        <p:txBody>
          <a:bodyPr wrap="square" lIns="508" tIns="508" rIns="508" bIns="508" rtlCol="0" anchor="ctr">
            <a:normAutofit/>
          </a:bodyPr>
          <a:lstStyle/>
          <a:p>
            <a:pPr marL="0" indent="0" algn="ctr">
              <a:buNone/>
            </a:pPr>
            <a:r>
              <a:rPr lang="en-US" sz="950" b="1" dirty="0">
                <a:solidFill>
                  <a:srgbClr val="111827"/>
                </a:solidFill>
              </a:rPr>
              <a:t>get_settlement</a:t>
            </a:r>
            <a:endParaRPr lang="en-US" sz="950" dirty="0"/>
          </a:p>
        </p:txBody>
      </p:sp>
      <p:sp>
        <p:nvSpPr>
          <p:cNvPr id="16" name="Shape 14"/>
          <p:cNvSpPr/>
          <p:nvPr/>
        </p:nvSpPr>
        <p:spPr>
          <a:xfrm>
            <a:off x="2194560" y="2084832"/>
            <a:ext cx="1691640" cy="1115568"/>
          </a:xfrm>
          <a:prstGeom prst="line">
            <a:avLst/>
          </a:prstGeom>
          <a:noFill/>
          <a:ln w="10160">
            <a:solidFill>
              <a:srgbClr val="DC2626"/>
            </a:solidFill>
            <a:prstDash val="solid"/>
            <a:headEnd type="none"/>
            <a:tailEnd type="triangle"/>
          </a:ln>
        </p:spPr>
        <p:txBody>
          <a:bodyPr/>
          <a:lstStyle/>
          <a:p>
            <a:endParaRPr lang="en-US"/>
          </a:p>
        </p:txBody>
      </p:sp>
      <p:sp>
        <p:nvSpPr>
          <p:cNvPr id="17" name="Shape 15"/>
          <p:cNvSpPr/>
          <p:nvPr/>
        </p:nvSpPr>
        <p:spPr>
          <a:xfrm>
            <a:off x="3931920" y="2971800"/>
            <a:ext cx="1463040" cy="457200"/>
          </a:xfrm>
          <a:prstGeom prst="roundRect">
            <a:avLst>
              <a:gd name="adj" fmla="val 16000"/>
            </a:avLst>
          </a:prstGeom>
          <a:solidFill>
            <a:srgbClr val="FEF2F2"/>
          </a:solidFill>
          <a:ln w="12700">
            <a:solidFill>
              <a:srgbClr val="FCA5A5"/>
            </a:solidFill>
            <a:prstDash val="solid"/>
          </a:ln>
        </p:spPr>
        <p:txBody>
          <a:bodyPr/>
          <a:lstStyle/>
          <a:p>
            <a:endParaRPr lang="en-US"/>
          </a:p>
        </p:txBody>
      </p:sp>
      <p:sp>
        <p:nvSpPr>
          <p:cNvPr id="18" name="Text 16"/>
          <p:cNvSpPr/>
          <p:nvPr/>
        </p:nvSpPr>
        <p:spPr>
          <a:xfrm>
            <a:off x="3931920" y="3108960"/>
            <a:ext cx="1463040" cy="137160"/>
          </a:xfrm>
          <a:prstGeom prst="rect">
            <a:avLst/>
          </a:prstGeom>
          <a:noFill/>
          <a:ln/>
        </p:spPr>
        <p:txBody>
          <a:bodyPr wrap="square" lIns="508" tIns="508" rIns="508" bIns="508" rtlCol="0" anchor="ctr">
            <a:normAutofit/>
          </a:bodyPr>
          <a:lstStyle/>
          <a:p>
            <a:pPr marL="0" indent="0" algn="ctr">
              <a:buNone/>
            </a:pPr>
            <a:r>
              <a:rPr lang="en-US" sz="950" b="1" dirty="0">
                <a:solidFill>
                  <a:srgbClr val="111827"/>
                </a:solidFill>
              </a:rPr>
              <a:t>get_trade</a:t>
            </a:r>
            <a:endParaRPr lang="en-US" sz="950" dirty="0"/>
          </a:p>
        </p:txBody>
      </p:sp>
      <p:sp>
        <p:nvSpPr>
          <p:cNvPr id="19" name="Shape 17"/>
          <p:cNvSpPr/>
          <p:nvPr/>
        </p:nvSpPr>
        <p:spPr>
          <a:xfrm>
            <a:off x="2194560" y="2084832"/>
            <a:ext cx="1691640" cy="1755648"/>
          </a:xfrm>
          <a:prstGeom prst="line">
            <a:avLst/>
          </a:prstGeom>
          <a:noFill/>
          <a:ln w="10160">
            <a:solidFill>
              <a:srgbClr val="DC2626"/>
            </a:solidFill>
            <a:prstDash val="solid"/>
            <a:headEnd type="none"/>
            <a:tailEnd type="triangle"/>
          </a:ln>
        </p:spPr>
        <p:txBody>
          <a:bodyPr/>
          <a:lstStyle/>
          <a:p>
            <a:endParaRPr lang="en-US"/>
          </a:p>
        </p:txBody>
      </p:sp>
      <p:sp>
        <p:nvSpPr>
          <p:cNvPr id="20" name="Shape 18"/>
          <p:cNvSpPr/>
          <p:nvPr/>
        </p:nvSpPr>
        <p:spPr>
          <a:xfrm>
            <a:off x="3931920" y="3611880"/>
            <a:ext cx="1463040" cy="457200"/>
          </a:xfrm>
          <a:prstGeom prst="roundRect">
            <a:avLst>
              <a:gd name="adj" fmla="val 16000"/>
            </a:avLst>
          </a:prstGeom>
          <a:solidFill>
            <a:srgbClr val="FEF2F2"/>
          </a:solidFill>
          <a:ln w="12700">
            <a:solidFill>
              <a:srgbClr val="FCA5A5"/>
            </a:solidFill>
            <a:prstDash val="solid"/>
          </a:ln>
        </p:spPr>
        <p:txBody>
          <a:bodyPr/>
          <a:lstStyle/>
          <a:p>
            <a:endParaRPr lang="en-US"/>
          </a:p>
        </p:txBody>
      </p:sp>
      <p:sp>
        <p:nvSpPr>
          <p:cNvPr id="21" name="Text 19"/>
          <p:cNvSpPr/>
          <p:nvPr/>
        </p:nvSpPr>
        <p:spPr>
          <a:xfrm>
            <a:off x="3931920" y="3749040"/>
            <a:ext cx="1463040" cy="137160"/>
          </a:xfrm>
          <a:prstGeom prst="rect">
            <a:avLst/>
          </a:prstGeom>
          <a:noFill/>
          <a:ln/>
        </p:spPr>
        <p:txBody>
          <a:bodyPr wrap="square" lIns="508" tIns="508" rIns="508" bIns="508" rtlCol="0" anchor="ctr">
            <a:normAutofit/>
          </a:bodyPr>
          <a:lstStyle/>
          <a:p>
            <a:pPr marL="0" indent="0" algn="ctr">
              <a:buNone/>
            </a:pPr>
            <a:r>
              <a:rPr lang="en-US" sz="950" b="1" dirty="0">
                <a:solidFill>
                  <a:srgbClr val="111827"/>
                </a:solidFill>
              </a:rPr>
              <a:t>get_reference</a:t>
            </a:r>
            <a:endParaRPr lang="en-US" sz="950" dirty="0"/>
          </a:p>
        </p:txBody>
      </p:sp>
      <p:sp>
        <p:nvSpPr>
          <p:cNvPr id="22" name="Text 20"/>
          <p:cNvSpPr/>
          <p:nvPr/>
        </p:nvSpPr>
        <p:spPr>
          <a:xfrm>
            <a:off x="868680" y="4572000"/>
            <a:ext cx="4754880" cy="457200"/>
          </a:xfrm>
          <a:prstGeom prst="rect">
            <a:avLst/>
          </a:prstGeom>
          <a:noFill/>
          <a:ln/>
        </p:spPr>
        <p:txBody>
          <a:bodyPr wrap="square" lIns="0" tIns="0" rIns="0" bIns="0" rtlCol="0" anchor="ctr">
            <a:normAutofit/>
          </a:bodyPr>
          <a:lstStyle/>
          <a:p>
            <a:pPr marL="0" indent="0">
              <a:buNone/>
            </a:pPr>
            <a:r>
              <a:rPr lang="en-US" sz="1220" dirty="0">
                <a:solidFill>
                  <a:srgbClr val="334155"/>
                </a:solidFill>
              </a:rPr>
              <a:t>LLM must plan too much.</a:t>
            </a:r>
            <a:endParaRPr lang="en-US" sz="1220" dirty="0"/>
          </a:p>
          <a:p>
            <a:pPr marL="0" indent="0">
              <a:buNone/>
            </a:pPr>
            <a:r>
              <a:rPr lang="en-US" sz="1220" dirty="0">
                <a:solidFill>
                  <a:srgbClr val="334155"/>
                </a:solidFill>
              </a:rPr>
              <a:t>More calls, more latency, more chances to mis-sequence.</a:t>
            </a:r>
            <a:endParaRPr lang="en-US" sz="1220" dirty="0"/>
          </a:p>
        </p:txBody>
      </p:sp>
      <p:sp>
        <p:nvSpPr>
          <p:cNvPr id="23" name="Shape 21"/>
          <p:cNvSpPr/>
          <p:nvPr/>
        </p:nvSpPr>
        <p:spPr>
          <a:xfrm>
            <a:off x="6400800" y="1234440"/>
            <a:ext cx="4846320" cy="54864"/>
          </a:xfrm>
          <a:prstGeom prst="rect">
            <a:avLst/>
          </a:prstGeom>
          <a:solidFill>
            <a:srgbClr val="16A34A"/>
          </a:solidFill>
          <a:ln w="12700">
            <a:solidFill>
              <a:srgbClr val="16A34A">
                <a:alpha val="0"/>
              </a:srgbClr>
            </a:solidFill>
            <a:prstDash val="solid"/>
          </a:ln>
        </p:spPr>
        <p:txBody>
          <a:bodyPr/>
          <a:lstStyle/>
          <a:p>
            <a:endParaRPr lang="en-US"/>
          </a:p>
        </p:txBody>
      </p:sp>
      <p:sp>
        <p:nvSpPr>
          <p:cNvPr id="24" name="Text 22"/>
          <p:cNvSpPr/>
          <p:nvPr/>
        </p:nvSpPr>
        <p:spPr>
          <a:xfrm>
            <a:off x="6400800" y="1325880"/>
            <a:ext cx="4846320" cy="219456"/>
          </a:xfrm>
          <a:prstGeom prst="rect">
            <a:avLst/>
          </a:prstGeom>
          <a:noFill/>
          <a:ln/>
        </p:spPr>
        <p:txBody>
          <a:bodyPr wrap="square" lIns="0" tIns="0" rIns="0" bIns="0" rtlCol="0" anchor="ctr"/>
          <a:lstStyle/>
          <a:p>
            <a:pPr marL="0" indent="0">
              <a:buNone/>
            </a:pPr>
            <a:r>
              <a:rPr lang="en-US" sz="1000" b="1" dirty="0">
                <a:solidFill>
                  <a:srgbClr val="16A34A"/>
                </a:solidFill>
              </a:rPr>
              <a:t>TARGET: BUSINESS CAPABILITY TOOL</a:t>
            </a:r>
            <a:endParaRPr lang="en-US" sz="1000" dirty="0"/>
          </a:p>
        </p:txBody>
      </p:sp>
      <p:sp>
        <p:nvSpPr>
          <p:cNvPr id="25" name="Shape 23"/>
          <p:cNvSpPr/>
          <p:nvPr/>
        </p:nvSpPr>
        <p:spPr>
          <a:xfrm>
            <a:off x="6629400" y="1874520"/>
            <a:ext cx="1234440" cy="502920"/>
          </a:xfrm>
          <a:prstGeom prst="roundRect">
            <a:avLst>
              <a:gd name="adj" fmla="val 14545"/>
            </a:avLst>
          </a:prstGeom>
          <a:solidFill>
            <a:srgbClr val="EFF6FF"/>
          </a:solidFill>
          <a:ln w="12700">
            <a:solidFill>
              <a:srgbClr val="93C5FD"/>
            </a:solidFill>
            <a:prstDash val="solid"/>
          </a:ln>
        </p:spPr>
        <p:txBody>
          <a:bodyPr/>
          <a:lstStyle/>
          <a:p>
            <a:endParaRPr lang="en-US"/>
          </a:p>
        </p:txBody>
      </p:sp>
      <p:sp>
        <p:nvSpPr>
          <p:cNvPr id="26" name="Text 24"/>
          <p:cNvSpPr/>
          <p:nvPr/>
        </p:nvSpPr>
        <p:spPr>
          <a:xfrm>
            <a:off x="6629400" y="2039112"/>
            <a:ext cx="1234440" cy="137160"/>
          </a:xfrm>
          <a:prstGeom prst="rect">
            <a:avLst/>
          </a:prstGeom>
          <a:noFill/>
          <a:ln/>
        </p:spPr>
        <p:txBody>
          <a:bodyPr wrap="square" lIns="508" tIns="508" rIns="508" bIns="508" rtlCol="0" anchor="ctr">
            <a:normAutofit/>
          </a:bodyPr>
          <a:lstStyle/>
          <a:p>
            <a:pPr marL="0" indent="0" algn="ctr">
              <a:buNone/>
            </a:pPr>
            <a:r>
              <a:rPr lang="en-US" sz="1100" b="1" dirty="0">
                <a:solidFill>
                  <a:srgbClr val="111827"/>
                </a:solidFill>
              </a:rPr>
              <a:t>Agent</a:t>
            </a:r>
            <a:endParaRPr lang="en-US" sz="1100" dirty="0"/>
          </a:p>
        </p:txBody>
      </p:sp>
      <p:sp>
        <p:nvSpPr>
          <p:cNvPr id="27" name="Shape 25"/>
          <p:cNvSpPr/>
          <p:nvPr/>
        </p:nvSpPr>
        <p:spPr>
          <a:xfrm>
            <a:off x="8412480" y="1600200"/>
            <a:ext cx="2514600" cy="1005840"/>
          </a:xfrm>
          <a:prstGeom prst="roundRect">
            <a:avLst>
              <a:gd name="adj" fmla="val 7273"/>
            </a:avLst>
          </a:prstGeom>
          <a:solidFill>
            <a:srgbClr val="ECFDF5"/>
          </a:solidFill>
          <a:ln w="12700">
            <a:solidFill>
              <a:srgbClr val="86EFAC"/>
            </a:solidFill>
            <a:prstDash val="solid"/>
          </a:ln>
        </p:spPr>
        <p:txBody>
          <a:bodyPr/>
          <a:lstStyle/>
          <a:p>
            <a:endParaRPr lang="en-US"/>
          </a:p>
        </p:txBody>
      </p:sp>
      <p:sp>
        <p:nvSpPr>
          <p:cNvPr id="28" name="Text 26"/>
          <p:cNvSpPr/>
          <p:nvPr/>
        </p:nvSpPr>
        <p:spPr>
          <a:xfrm>
            <a:off x="8412480" y="1792224"/>
            <a:ext cx="2514600" cy="320040"/>
          </a:xfrm>
          <a:prstGeom prst="rect">
            <a:avLst/>
          </a:prstGeom>
          <a:noFill/>
          <a:ln/>
        </p:spPr>
        <p:txBody>
          <a:bodyPr wrap="square" lIns="508" tIns="508" rIns="508" bIns="508" rtlCol="0" anchor="ctr">
            <a:normAutofit/>
          </a:bodyPr>
          <a:lstStyle/>
          <a:p>
            <a:pPr marL="0" indent="0" algn="ctr">
              <a:buNone/>
            </a:pPr>
            <a:r>
              <a:rPr lang="en-US" sz="1300" b="1" dirty="0">
                <a:solidFill>
                  <a:srgbClr val="0F766E"/>
                </a:solidFill>
              </a:rPr>
              <a:t>fails_investigation</a:t>
            </a:r>
            <a:endParaRPr lang="en-US" sz="1300" dirty="0"/>
          </a:p>
          <a:p>
            <a:pPr marL="0" indent="0" algn="ctr">
              <a:buNone/>
            </a:pPr>
            <a:r>
              <a:rPr lang="en-US" sz="1300" b="1" dirty="0">
                <a:solidFill>
                  <a:srgbClr val="0F766E"/>
                </a:solidFill>
              </a:rPr>
              <a:t>_get_context</a:t>
            </a:r>
            <a:endParaRPr lang="en-US" sz="1300" dirty="0"/>
          </a:p>
        </p:txBody>
      </p:sp>
      <p:sp>
        <p:nvSpPr>
          <p:cNvPr id="29" name="Shape 27"/>
          <p:cNvSpPr/>
          <p:nvPr/>
        </p:nvSpPr>
        <p:spPr>
          <a:xfrm>
            <a:off x="7909560" y="2121408"/>
            <a:ext cx="457200" cy="0"/>
          </a:xfrm>
          <a:prstGeom prst="line">
            <a:avLst/>
          </a:prstGeom>
          <a:noFill/>
          <a:ln w="13970">
            <a:solidFill>
              <a:srgbClr val="16A34A"/>
            </a:solidFill>
            <a:prstDash val="solid"/>
            <a:headEnd type="none"/>
            <a:tailEnd type="triangle"/>
          </a:ln>
        </p:spPr>
        <p:txBody>
          <a:bodyPr/>
          <a:lstStyle/>
          <a:p>
            <a:endParaRPr lang="en-US"/>
          </a:p>
        </p:txBody>
      </p:sp>
      <p:sp>
        <p:nvSpPr>
          <p:cNvPr id="30" name="Shape 28"/>
          <p:cNvSpPr/>
          <p:nvPr/>
        </p:nvSpPr>
        <p:spPr>
          <a:xfrm>
            <a:off x="9646920" y="2615184"/>
            <a:ext cx="0" cy="886968"/>
          </a:xfrm>
          <a:prstGeom prst="line">
            <a:avLst/>
          </a:prstGeom>
          <a:noFill/>
          <a:ln w="8890">
            <a:solidFill>
              <a:srgbClr val="16A34A"/>
            </a:solidFill>
            <a:prstDash val="solid"/>
            <a:headEnd type="none"/>
            <a:tailEnd type="triangle"/>
          </a:ln>
        </p:spPr>
        <p:txBody>
          <a:bodyPr/>
          <a:lstStyle/>
          <a:p>
            <a:endParaRPr lang="en-US"/>
          </a:p>
        </p:txBody>
      </p:sp>
      <p:sp>
        <p:nvSpPr>
          <p:cNvPr id="31" name="Shape 29"/>
          <p:cNvSpPr/>
          <p:nvPr/>
        </p:nvSpPr>
        <p:spPr>
          <a:xfrm>
            <a:off x="7360920" y="3520440"/>
            <a:ext cx="914400" cy="411480"/>
          </a:xfrm>
          <a:prstGeom prst="roundRect">
            <a:avLst>
              <a:gd name="adj" fmla="val 17778"/>
            </a:avLst>
          </a:prstGeom>
          <a:solidFill>
            <a:srgbClr val="FFFFFF"/>
          </a:solidFill>
          <a:ln w="12700">
            <a:solidFill>
              <a:srgbClr val="A7F3D0"/>
            </a:solidFill>
            <a:prstDash val="solid"/>
          </a:ln>
        </p:spPr>
        <p:txBody>
          <a:bodyPr/>
          <a:lstStyle/>
          <a:p>
            <a:endParaRPr lang="en-US"/>
          </a:p>
        </p:txBody>
      </p:sp>
      <p:sp>
        <p:nvSpPr>
          <p:cNvPr id="32" name="Text 30"/>
          <p:cNvSpPr/>
          <p:nvPr/>
        </p:nvSpPr>
        <p:spPr>
          <a:xfrm>
            <a:off x="7360920" y="3639312"/>
            <a:ext cx="914400" cy="118872"/>
          </a:xfrm>
          <a:prstGeom prst="rect">
            <a:avLst/>
          </a:prstGeom>
          <a:noFill/>
          <a:ln/>
        </p:spPr>
        <p:txBody>
          <a:bodyPr wrap="square" lIns="508" tIns="508" rIns="508" bIns="508" rtlCol="0" anchor="ctr">
            <a:normAutofit/>
          </a:bodyPr>
          <a:lstStyle/>
          <a:p>
            <a:pPr marL="0" indent="0" algn="ctr">
              <a:buNone/>
            </a:pPr>
            <a:r>
              <a:rPr lang="en-US" sz="880" b="1" dirty="0">
                <a:solidFill>
                  <a:srgbClr val="0F766E"/>
                </a:solidFill>
              </a:rPr>
              <a:t>Position</a:t>
            </a:r>
            <a:endParaRPr lang="en-US" sz="880" dirty="0"/>
          </a:p>
        </p:txBody>
      </p:sp>
      <p:sp>
        <p:nvSpPr>
          <p:cNvPr id="33" name="Shape 31"/>
          <p:cNvSpPr/>
          <p:nvPr/>
        </p:nvSpPr>
        <p:spPr>
          <a:xfrm>
            <a:off x="9646920" y="2615184"/>
            <a:ext cx="0" cy="886968"/>
          </a:xfrm>
          <a:prstGeom prst="line">
            <a:avLst/>
          </a:prstGeom>
          <a:noFill/>
          <a:ln w="8890">
            <a:solidFill>
              <a:srgbClr val="16A34A"/>
            </a:solidFill>
            <a:prstDash val="solid"/>
            <a:headEnd type="none"/>
            <a:tailEnd type="triangle"/>
          </a:ln>
        </p:spPr>
        <p:txBody>
          <a:bodyPr/>
          <a:lstStyle/>
          <a:p>
            <a:endParaRPr lang="en-US"/>
          </a:p>
        </p:txBody>
      </p:sp>
      <p:sp>
        <p:nvSpPr>
          <p:cNvPr id="34" name="Shape 32"/>
          <p:cNvSpPr/>
          <p:nvPr/>
        </p:nvSpPr>
        <p:spPr>
          <a:xfrm>
            <a:off x="8641080" y="3520440"/>
            <a:ext cx="914400" cy="411480"/>
          </a:xfrm>
          <a:prstGeom prst="roundRect">
            <a:avLst>
              <a:gd name="adj" fmla="val 17778"/>
            </a:avLst>
          </a:prstGeom>
          <a:solidFill>
            <a:srgbClr val="FFFFFF"/>
          </a:solidFill>
          <a:ln w="12700">
            <a:solidFill>
              <a:srgbClr val="A7F3D0"/>
            </a:solidFill>
            <a:prstDash val="solid"/>
          </a:ln>
        </p:spPr>
        <p:txBody>
          <a:bodyPr/>
          <a:lstStyle/>
          <a:p>
            <a:endParaRPr lang="en-US"/>
          </a:p>
        </p:txBody>
      </p:sp>
      <p:sp>
        <p:nvSpPr>
          <p:cNvPr id="35" name="Text 33"/>
          <p:cNvSpPr/>
          <p:nvPr/>
        </p:nvSpPr>
        <p:spPr>
          <a:xfrm>
            <a:off x="8641080" y="3639312"/>
            <a:ext cx="914400" cy="118872"/>
          </a:xfrm>
          <a:prstGeom prst="rect">
            <a:avLst/>
          </a:prstGeom>
          <a:noFill/>
          <a:ln/>
        </p:spPr>
        <p:txBody>
          <a:bodyPr wrap="square" lIns="508" tIns="508" rIns="508" bIns="508" rtlCol="0" anchor="ctr">
            <a:normAutofit/>
          </a:bodyPr>
          <a:lstStyle/>
          <a:p>
            <a:pPr marL="0" indent="0" algn="ctr">
              <a:buNone/>
            </a:pPr>
            <a:r>
              <a:rPr lang="en-US" sz="880" b="1" dirty="0">
                <a:solidFill>
                  <a:srgbClr val="0F766E"/>
                </a:solidFill>
              </a:rPr>
              <a:t>Settlement</a:t>
            </a:r>
            <a:endParaRPr lang="en-US" sz="880" dirty="0"/>
          </a:p>
        </p:txBody>
      </p:sp>
      <p:sp>
        <p:nvSpPr>
          <p:cNvPr id="36" name="Shape 34"/>
          <p:cNvSpPr/>
          <p:nvPr/>
        </p:nvSpPr>
        <p:spPr>
          <a:xfrm>
            <a:off x="9646920" y="2615184"/>
            <a:ext cx="731520" cy="886968"/>
          </a:xfrm>
          <a:prstGeom prst="line">
            <a:avLst/>
          </a:prstGeom>
          <a:noFill/>
          <a:ln w="8890">
            <a:solidFill>
              <a:srgbClr val="16A34A"/>
            </a:solidFill>
            <a:prstDash val="solid"/>
            <a:headEnd type="none"/>
            <a:tailEnd type="triangle"/>
          </a:ln>
        </p:spPr>
        <p:txBody>
          <a:bodyPr/>
          <a:lstStyle/>
          <a:p>
            <a:endParaRPr lang="en-US"/>
          </a:p>
        </p:txBody>
      </p:sp>
      <p:sp>
        <p:nvSpPr>
          <p:cNvPr id="37" name="Shape 35"/>
          <p:cNvSpPr/>
          <p:nvPr/>
        </p:nvSpPr>
        <p:spPr>
          <a:xfrm>
            <a:off x="9921240" y="3520440"/>
            <a:ext cx="914400" cy="411480"/>
          </a:xfrm>
          <a:prstGeom prst="roundRect">
            <a:avLst>
              <a:gd name="adj" fmla="val 17778"/>
            </a:avLst>
          </a:prstGeom>
          <a:solidFill>
            <a:srgbClr val="FFFFFF"/>
          </a:solidFill>
          <a:ln w="12700">
            <a:solidFill>
              <a:srgbClr val="A7F3D0"/>
            </a:solidFill>
            <a:prstDash val="solid"/>
          </a:ln>
        </p:spPr>
        <p:txBody>
          <a:bodyPr/>
          <a:lstStyle/>
          <a:p>
            <a:endParaRPr lang="en-US"/>
          </a:p>
        </p:txBody>
      </p:sp>
      <p:sp>
        <p:nvSpPr>
          <p:cNvPr id="38" name="Text 36"/>
          <p:cNvSpPr/>
          <p:nvPr/>
        </p:nvSpPr>
        <p:spPr>
          <a:xfrm>
            <a:off x="9921240" y="3639312"/>
            <a:ext cx="914400" cy="118872"/>
          </a:xfrm>
          <a:prstGeom prst="rect">
            <a:avLst/>
          </a:prstGeom>
          <a:noFill/>
          <a:ln/>
        </p:spPr>
        <p:txBody>
          <a:bodyPr wrap="square" lIns="508" tIns="508" rIns="508" bIns="508" rtlCol="0" anchor="ctr">
            <a:normAutofit/>
          </a:bodyPr>
          <a:lstStyle/>
          <a:p>
            <a:pPr marL="0" indent="0" algn="ctr">
              <a:buNone/>
            </a:pPr>
            <a:r>
              <a:rPr lang="en-US" sz="880" b="1" dirty="0">
                <a:solidFill>
                  <a:srgbClr val="0F766E"/>
                </a:solidFill>
              </a:rPr>
              <a:t>Trade</a:t>
            </a:r>
            <a:endParaRPr lang="en-US" sz="880" dirty="0"/>
          </a:p>
        </p:txBody>
      </p:sp>
      <p:sp>
        <p:nvSpPr>
          <p:cNvPr id="39" name="Shape 37"/>
          <p:cNvSpPr/>
          <p:nvPr/>
        </p:nvSpPr>
        <p:spPr>
          <a:xfrm>
            <a:off x="9646920" y="2615184"/>
            <a:ext cx="0" cy="1618488"/>
          </a:xfrm>
          <a:prstGeom prst="line">
            <a:avLst/>
          </a:prstGeom>
          <a:noFill/>
          <a:ln w="8890">
            <a:solidFill>
              <a:srgbClr val="16A34A"/>
            </a:solidFill>
            <a:prstDash val="solid"/>
            <a:headEnd type="none"/>
            <a:tailEnd type="triangle"/>
          </a:ln>
        </p:spPr>
        <p:txBody>
          <a:bodyPr/>
          <a:lstStyle/>
          <a:p>
            <a:endParaRPr lang="en-US"/>
          </a:p>
        </p:txBody>
      </p:sp>
      <p:sp>
        <p:nvSpPr>
          <p:cNvPr id="40" name="Shape 38"/>
          <p:cNvSpPr/>
          <p:nvPr/>
        </p:nvSpPr>
        <p:spPr>
          <a:xfrm>
            <a:off x="8641080" y="4251960"/>
            <a:ext cx="914400" cy="411480"/>
          </a:xfrm>
          <a:prstGeom prst="roundRect">
            <a:avLst>
              <a:gd name="adj" fmla="val 17778"/>
            </a:avLst>
          </a:prstGeom>
          <a:solidFill>
            <a:srgbClr val="FFFFFF"/>
          </a:solidFill>
          <a:ln w="12700">
            <a:solidFill>
              <a:srgbClr val="A7F3D0"/>
            </a:solidFill>
            <a:prstDash val="solid"/>
          </a:ln>
        </p:spPr>
        <p:txBody>
          <a:bodyPr/>
          <a:lstStyle/>
          <a:p>
            <a:endParaRPr lang="en-US"/>
          </a:p>
        </p:txBody>
      </p:sp>
      <p:sp>
        <p:nvSpPr>
          <p:cNvPr id="41" name="Text 39"/>
          <p:cNvSpPr/>
          <p:nvPr/>
        </p:nvSpPr>
        <p:spPr>
          <a:xfrm>
            <a:off x="8641080" y="4370832"/>
            <a:ext cx="914400" cy="118872"/>
          </a:xfrm>
          <a:prstGeom prst="rect">
            <a:avLst/>
          </a:prstGeom>
          <a:noFill/>
          <a:ln/>
        </p:spPr>
        <p:txBody>
          <a:bodyPr wrap="square" lIns="508" tIns="508" rIns="508" bIns="508" rtlCol="0" anchor="ctr">
            <a:normAutofit/>
          </a:bodyPr>
          <a:lstStyle/>
          <a:p>
            <a:pPr marL="0" indent="0" algn="ctr">
              <a:buNone/>
            </a:pPr>
            <a:r>
              <a:rPr lang="en-US" sz="880" b="1" dirty="0">
                <a:solidFill>
                  <a:srgbClr val="0F766E"/>
                </a:solidFill>
              </a:rPr>
              <a:t>Reference</a:t>
            </a:r>
            <a:endParaRPr lang="en-US" sz="880" dirty="0"/>
          </a:p>
        </p:txBody>
      </p:sp>
      <p:sp>
        <p:nvSpPr>
          <p:cNvPr id="42" name="Text 40"/>
          <p:cNvSpPr/>
          <p:nvPr/>
        </p:nvSpPr>
        <p:spPr>
          <a:xfrm>
            <a:off x="6537960" y="4892040"/>
            <a:ext cx="4572000" cy="411480"/>
          </a:xfrm>
          <a:prstGeom prst="rect">
            <a:avLst/>
          </a:prstGeom>
          <a:noFill/>
          <a:ln/>
        </p:spPr>
        <p:txBody>
          <a:bodyPr wrap="square" lIns="0" tIns="0" rIns="0" bIns="0" rtlCol="0" anchor="ctr">
            <a:normAutofit/>
          </a:bodyPr>
          <a:lstStyle/>
          <a:p>
            <a:pPr marL="0" indent="0">
              <a:buNone/>
            </a:pPr>
            <a:r>
              <a:rPr lang="en-US" sz="1220" dirty="0">
                <a:solidFill>
                  <a:srgbClr val="334155"/>
                </a:solidFill>
              </a:rPr>
              <a:t>LLM sees one meaningful capability.</a:t>
            </a:r>
            <a:endParaRPr lang="en-US" sz="1220" dirty="0"/>
          </a:p>
          <a:p>
            <a:pPr marL="0" indent="0">
              <a:buNone/>
            </a:pPr>
            <a:r>
              <a:rPr lang="en-US" sz="1220" dirty="0">
                <a:solidFill>
                  <a:srgbClr val="334155"/>
                </a:solidFill>
              </a:rPr>
              <a:t>Tool handles deterministic aggregation and returns structured context.</a:t>
            </a:r>
            <a:endParaRPr lang="en-US" sz="1220" dirty="0"/>
          </a:p>
        </p:txBody>
      </p:sp>
      <p:sp>
        <p:nvSpPr>
          <p:cNvPr id="43" name="Text 41"/>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1</a:t>
            </a:r>
            <a:endParaRPr lang="en-US" sz="780" dirty="0"/>
          </a:p>
        </p:txBody>
      </p:sp>
      <p:sp>
        <p:nvSpPr>
          <p:cNvPr id="44" name="Text 42"/>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Registry &amp; Dynamic Discovery</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lstStyle/>
          <a:p>
            <a:pPr marL="0" indent="0">
              <a:buNone/>
            </a:pPr>
            <a:r>
              <a:rPr lang="en-US" sz="1050" dirty="0">
                <a:solidFill>
                  <a:srgbClr val="64748B"/>
                </a:solidFill>
              </a:rPr>
              <a:t>The registry can be large; the LLM context must stay small and relevant.</a:t>
            </a:r>
            <a:endParaRPr lang="en-US" sz="1050" dirty="0"/>
          </a:p>
        </p:txBody>
      </p:sp>
      <p:sp>
        <p:nvSpPr>
          <p:cNvPr id="6" name="Shape 4"/>
          <p:cNvSpPr/>
          <p:nvPr/>
        </p:nvSpPr>
        <p:spPr>
          <a:xfrm>
            <a:off x="685800" y="1143000"/>
            <a:ext cx="4754880" cy="54864"/>
          </a:xfrm>
          <a:prstGeom prst="rect">
            <a:avLst/>
          </a:prstGeom>
          <a:solidFill>
            <a:srgbClr val="2563EB"/>
          </a:solidFill>
          <a:ln w="12700">
            <a:solidFill>
              <a:srgbClr val="2563EB">
                <a:alpha val="0"/>
              </a:srgbClr>
            </a:solidFill>
            <a:prstDash val="solid"/>
          </a:ln>
        </p:spPr>
        <p:txBody>
          <a:bodyPr/>
          <a:lstStyle/>
          <a:p>
            <a:endParaRPr lang="en-US"/>
          </a:p>
        </p:txBody>
      </p:sp>
      <p:sp>
        <p:nvSpPr>
          <p:cNvPr id="7" name="Text 5"/>
          <p:cNvSpPr/>
          <p:nvPr/>
        </p:nvSpPr>
        <p:spPr>
          <a:xfrm>
            <a:off x="685800" y="1234440"/>
            <a:ext cx="4754880" cy="219456"/>
          </a:xfrm>
          <a:prstGeom prst="rect">
            <a:avLst/>
          </a:prstGeom>
          <a:noFill/>
          <a:ln/>
        </p:spPr>
        <p:txBody>
          <a:bodyPr wrap="square" lIns="0" tIns="0" rIns="0" bIns="0" rtlCol="0" anchor="ctr"/>
          <a:lstStyle/>
          <a:p>
            <a:pPr marL="0" indent="0">
              <a:buNone/>
            </a:pPr>
            <a:r>
              <a:rPr lang="en-US" sz="1000" b="1" dirty="0">
                <a:solidFill>
                  <a:srgbClr val="2563EB"/>
                </a:solidFill>
              </a:rPr>
              <a:t>ENTERPRISE REGISTRY</a:t>
            </a:r>
            <a:endParaRPr lang="en-US" sz="1000" dirty="0"/>
          </a:p>
        </p:txBody>
      </p:sp>
      <p:sp>
        <p:nvSpPr>
          <p:cNvPr id="8" name="Shape 6"/>
          <p:cNvSpPr/>
          <p:nvPr/>
        </p:nvSpPr>
        <p:spPr>
          <a:xfrm>
            <a:off x="914400" y="1691640"/>
            <a:ext cx="1234440" cy="530352"/>
          </a:xfrm>
          <a:prstGeom prst="roundRect">
            <a:avLst>
              <a:gd name="adj" fmla="val 13793"/>
            </a:avLst>
          </a:prstGeom>
          <a:solidFill>
            <a:srgbClr val="FFFFFF"/>
          </a:solidFill>
          <a:ln w="12700">
            <a:solidFill>
              <a:srgbClr val="BFDBFE"/>
            </a:solidFill>
            <a:prstDash val="solid"/>
          </a:ln>
        </p:spPr>
        <p:txBody>
          <a:bodyPr/>
          <a:lstStyle/>
          <a:p>
            <a:endParaRPr lang="en-US"/>
          </a:p>
        </p:txBody>
      </p:sp>
      <p:sp>
        <p:nvSpPr>
          <p:cNvPr id="9" name="Text 7"/>
          <p:cNvSpPr/>
          <p:nvPr/>
        </p:nvSpPr>
        <p:spPr>
          <a:xfrm>
            <a:off x="914400" y="1810512"/>
            <a:ext cx="1234440" cy="118872"/>
          </a:xfrm>
          <a:prstGeom prst="rect">
            <a:avLst/>
          </a:prstGeom>
          <a:noFill/>
          <a:ln/>
        </p:spPr>
        <p:txBody>
          <a:bodyPr wrap="square" lIns="508" tIns="508" rIns="508" bIns="508" rtlCol="0" anchor="ctr">
            <a:normAutofit/>
          </a:bodyPr>
          <a:lstStyle/>
          <a:p>
            <a:pPr marL="0" indent="0" algn="ctr">
              <a:buNone/>
            </a:pPr>
            <a:r>
              <a:rPr lang="en-US" sz="850" b="1" dirty="0">
                <a:solidFill>
                  <a:srgbClr val="111827"/>
                </a:solidFill>
              </a:rPr>
              <a:t>Trade MCP</a:t>
            </a:r>
            <a:endParaRPr lang="en-US" sz="850" dirty="0"/>
          </a:p>
        </p:txBody>
      </p:sp>
      <p:sp>
        <p:nvSpPr>
          <p:cNvPr id="10" name="Text 8"/>
          <p:cNvSpPr/>
          <p:nvPr/>
        </p:nvSpPr>
        <p:spPr>
          <a:xfrm>
            <a:off x="1124712" y="2020824"/>
            <a:ext cx="822960" cy="91440"/>
          </a:xfrm>
          <a:prstGeom prst="rect">
            <a:avLst/>
          </a:prstGeom>
          <a:noFill/>
          <a:ln/>
        </p:spPr>
        <p:txBody>
          <a:bodyPr wrap="square" lIns="0" tIns="0" rIns="0" bIns="0" rtlCol="0" anchor="ctr"/>
          <a:lstStyle/>
          <a:p>
            <a:pPr marL="0" indent="0" algn="ctr">
              <a:buNone/>
            </a:pPr>
            <a:r>
              <a:rPr lang="en-US" sz="780" dirty="0">
                <a:solidFill>
                  <a:srgbClr val="64748B"/>
                </a:solidFill>
              </a:rPr>
              <a:t>25 tools</a:t>
            </a:r>
            <a:endParaRPr lang="en-US" sz="780" dirty="0"/>
          </a:p>
        </p:txBody>
      </p:sp>
      <p:sp>
        <p:nvSpPr>
          <p:cNvPr id="11" name="Shape 9"/>
          <p:cNvSpPr/>
          <p:nvPr/>
        </p:nvSpPr>
        <p:spPr>
          <a:xfrm>
            <a:off x="2514600" y="1691640"/>
            <a:ext cx="1234440" cy="530352"/>
          </a:xfrm>
          <a:prstGeom prst="roundRect">
            <a:avLst>
              <a:gd name="adj" fmla="val 13793"/>
            </a:avLst>
          </a:prstGeom>
          <a:solidFill>
            <a:srgbClr val="FFFFFF"/>
          </a:solidFill>
          <a:ln w="12700">
            <a:solidFill>
              <a:srgbClr val="BFDBFE"/>
            </a:solidFill>
            <a:prstDash val="solid"/>
          </a:ln>
        </p:spPr>
        <p:txBody>
          <a:bodyPr/>
          <a:lstStyle/>
          <a:p>
            <a:endParaRPr lang="en-US"/>
          </a:p>
        </p:txBody>
      </p:sp>
      <p:sp>
        <p:nvSpPr>
          <p:cNvPr id="12" name="Text 10"/>
          <p:cNvSpPr/>
          <p:nvPr/>
        </p:nvSpPr>
        <p:spPr>
          <a:xfrm>
            <a:off x="2514600" y="1810512"/>
            <a:ext cx="1234440" cy="118872"/>
          </a:xfrm>
          <a:prstGeom prst="rect">
            <a:avLst/>
          </a:prstGeom>
          <a:noFill/>
          <a:ln/>
        </p:spPr>
        <p:txBody>
          <a:bodyPr wrap="square" lIns="508" tIns="508" rIns="508" bIns="508" rtlCol="0" anchor="ctr">
            <a:normAutofit/>
          </a:bodyPr>
          <a:lstStyle/>
          <a:p>
            <a:pPr marL="0" indent="0" algn="ctr">
              <a:buNone/>
            </a:pPr>
            <a:r>
              <a:rPr lang="en-US" sz="850" b="1" dirty="0">
                <a:solidFill>
                  <a:srgbClr val="111827"/>
                </a:solidFill>
              </a:rPr>
              <a:t>Reference MCP</a:t>
            </a:r>
            <a:endParaRPr lang="en-US" sz="850" dirty="0"/>
          </a:p>
        </p:txBody>
      </p:sp>
      <p:sp>
        <p:nvSpPr>
          <p:cNvPr id="13" name="Text 11"/>
          <p:cNvSpPr/>
          <p:nvPr/>
        </p:nvSpPr>
        <p:spPr>
          <a:xfrm>
            <a:off x="2724912" y="2020824"/>
            <a:ext cx="822960" cy="91440"/>
          </a:xfrm>
          <a:prstGeom prst="rect">
            <a:avLst/>
          </a:prstGeom>
          <a:noFill/>
          <a:ln/>
        </p:spPr>
        <p:txBody>
          <a:bodyPr wrap="square" lIns="0" tIns="0" rIns="0" bIns="0" rtlCol="0" anchor="ctr"/>
          <a:lstStyle/>
          <a:p>
            <a:pPr marL="0" indent="0" algn="ctr">
              <a:buNone/>
            </a:pPr>
            <a:r>
              <a:rPr lang="en-US" sz="780" dirty="0">
                <a:solidFill>
                  <a:srgbClr val="64748B"/>
                </a:solidFill>
              </a:rPr>
              <a:t>30 tools</a:t>
            </a:r>
            <a:endParaRPr lang="en-US" sz="780" dirty="0"/>
          </a:p>
        </p:txBody>
      </p:sp>
      <p:sp>
        <p:nvSpPr>
          <p:cNvPr id="14" name="Shape 12"/>
          <p:cNvSpPr/>
          <p:nvPr/>
        </p:nvSpPr>
        <p:spPr>
          <a:xfrm>
            <a:off x="4114800" y="1691640"/>
            <a:ext cx="1234440" cy="530352"/>
          </a:xfrm>
          <a:prstGeom prst="roundRect">
            <a:avLst>
              <a:gd name="adj" fmla="val 13793"/>
            </a:avLst>
          </a:prstGeom>
          <a:solidFill>
            <a:srgbClr val="FFFFFF"/>
          </a:solidFill>
          <a:ln w="12700">
            <a:solidFill>
              <a:srgbClr val="BFDBFE"/>
            </a:solidFill>
            <a:prstDash val="solid"/>
          </a:ln>
        </p:spPr>
        <p:txBody>
          <a:bodyPr/>
          <a:lstStyle/>
          <a:p>
            <a:endParaRPr lang="en-US"/>
          </a:p>
        </p:txBody>
      </p:sp>
      <p:sp>
        <p:nvSpPr>
          <p:cNvPr id="15" name="Text 13"/>
          <p:cNvSpPr/>
          <p:nvPr/>
        </p:nvSpPr>
        <p:spPr>
          <a:xfrm>
            <a:off x="4114800" y="1810512"/>
            <a:ext cx="1234440" cy="118872"/>
          </a:xfrm>
          <a:prstGeom prst="rect">
            <a:avLst/>
          </a:prstGeom>
          <a:noFill/>
          <a:ln/>
        </p:spPr>
        <p:txBody>
          <a:bodyPr wrap="square" lIns="508" tIns="508" rIns="508" bIns="508" rtlCol="0" anchor="ctr">
            <a:normAutofit/>
          </a:bodyPr>
          <a:lstStyle/>
          <a:p>
            <a:pPr marL="0" indent="0" algn="ctr">
              <a:buNone/>
            </a:pPr>
            <a:r>
              <a:rPr lang="en-US" sz="850" b="1" dirty="0">
                <a:solidFill>
                  <a:srgbClr val="111827"/>
                </a:solidFill>
              </a:rPr>
              <a:t>QMA MCP</a:t>
            </a:r>
            <a:endParaRPr lang="en-US" sz="850" dirty="0"/>
          </a:p>
        </p:txBody>
      </p:sp>
      <p:sp>
        <p:nvSpPr>
          <p:cNvPr id="16" name="Text 14"/>
          <p:cNvSpPr/>
          <p:nvPr/>
        </p:nvSpPr>
        <p:spPr>
          <a:xfrm>
            <a:off x="4325112" y="2020824"/>
            <a:ext cx="822960" cy="91440"/>
          </a:xfrm>
          <a:prstGeom prst="rect">
            <a:avLst/>
          </a:prstGeom>
          <a:noFill/>
          <a:ln/>
        </p:spPr>
        <p:txBody>
          <a:bodyPr wrap="square" lIns="0" tIns="0" rIns="0" bIns="0" rtlCol="0" anchor="ctr"/>
          <a:lstStyle/>
          <a:p>
            <a:pPr marL="0" indent="0" algn="ctr">
              <a:buNone/>
            </a:pPr>
            <a:r>
              <a:rPr lang="en-US" sz="780" dirty="0">
                <a:solidFill>
                  <a:srgbClr val="64748B"/>
                </a:solidFill>
              </a:rPr>
              <a:t>30 tools</a:t>
            </a:r>
            <a:endParaRPr lang="en-US" sz="780" dirty="0"/>
          </a:p>
        </p:txBody>
      </p:sp>
      <p:sp>
        <p:nvSpPr>
          <p:cNvPr id="17" name="Shape 15"/>
          <p:cNvSpPr/>
          <p:nvPr/>
        </p:nvSpPr>
        <p:spPr>
          <a:xfrm>
            <a:off x="1719072" y="2514600"/>
            <a:ext cx="1234440" cy="530352"/>
          </a:xfrm>
          <a:prstGeom prst="roundRect">
            <a:avLst>
              <a:gd name="adj" fmla="val 13793"/>
            </a:avLst>
          </a:prstGeom>
          <a:solidFill>
            <a:srgbClr val="FFFFFF"/>
          </a:solidFill>
          <a:ln w="12700">
            <a:solidFill>
              <a:srgbClr val="BFDBFE"/>
            </a:solidFill>
            <a:prstDash val="solid"/>
          </a:ln>
        </p:spPr>
        <p:txBody>
          <a:bodyPr/>
          <a:lstStyle/>
          <a:p>
            <a:endParaRPr lang="en-US"/>
          </a:p>
        </p:txBody>
      </p:sp>
      <p:sp>
        <p:nvSpPr>
          <p:cNvPr id="18" name="Text 16"/>
          <p:cNvSpPr/>
          <p:nvPr/>
        </p:nvSpPr>
        <p:spPr>
          <a:xfrm>
            <a:off x="1719072" y="2633472"/>
            <a:ext cx="1234440" cy="118872"/>
          </a:xfrm>
          <a:prstGeom prst="rect">
            <a:avLst/>
          </a:prstGeom>
          <a:noFill/>
          <a:ln/>
        </p:spPr>
        <p:txBody>
          <a:bodyPr wrap="square" lIns="508" tIns="508" rIns="508" bIns="508" rtlCol="0" anchor="ctr">
            <a:normAutofit/>
          </a:bodyPr>
          <a:lstStyle/>
          <a:p>
            <a:pPr marL="0" indent="0" algn="ctr">
              <a:buNone/>
            </a:pPr>
            <a:r>
              <a:rPr lang="en-US" sz="850" b="1" dirty="0">
                <a:solidFill>
                  <a:srgbClr val="111827"/>
                </a:solidFill>
              </a:rPr>
              <a:t>JIRA / PTS</a:t>
            </a:r>
            <a:endParaRPr lang="en-US" sz="850" dirty="0"/>
          </a:p>
        </p:txBody>
      </p:sp>
      <p:sp>
        <p:nvSpPr>
          <p:cNvPr id="19" name="Text 17"/>
          <p:cNvSpPr/>
          <p:nvPr/>
        </p:nvSpPr>
        <p:spPr>
          <a:xfrm>
            <a:off x="1929384" y="2843784"/>
            <a:ext cx="822960" cy="91440"/>
          </a:xfrm>
          <a:prstGeom prst="rect">
            <a:avLst/>
          </a:prstGeom>
          <a:noFill/>
          <a:ln/>
        </p:spPr>
        <p:txBody>
          <a:bodyPr wrap="square" lIns="0" tIns="0" rIns="0" bIns="0" rtlCol="0" anchor="ctr"/>
          <a:lstStyle/>
          <a:p>
            <a:pPr marL="0" indent="0" algn="ctr">
              <a:buNone/>
            </a:pPr>
            <a:r>
              <a:rPr lang="en-US" sz="780" dirty="0">
                <a:solidFill>
                  <a:srgbClr val="64748B"/>
                </a:solidFill>
              </a:rPr>
              <a:t>25 tools</a:t>
            </a:r>
            <a:endParaRPr lang="en-US" sz="780" dirty="0"/>
          </a:p>
        </p:txBody>
      </p:sp>
      <p:sp>
        <p:nvSpPr>
          <p:cNvPr id="20" name="Shape 18"/>
          <p:cNvSpPr/>
          <p:nvPr/>
        </p:nvSpPr>
        <p:spPr>
          <a:xfrm>
            <a:off x="3337560" y="2514600"/>
            <a:ext cx="1234440" cy="530352"/>
          </a:xfrm>
          <a:prstGeom prst="roundRect">
            <a:avLst>
              <a:gd name="adj" fmla="val 13793"/>
            </a:avLst>
          </a:prstGeom>
          <a:solidFill>
            <a:srgbClr val="FFFFFF"/>
          </a:solidFill>
          <a:ln w="12700">
            <a:solidFill>
              <a:srgbClr val="BFDBFE"/>
            </a:solidFill>
            <a:prstDash val="solid"/>
          </a:ln>
        </p:spPr>
        <p:txBody>
          <a:bodyPr/>
          <a:lstStyle/>
          <a:p>
            <a:endParaRPr lang="en-US"/>
          </a:p>
        </p:txBody>
      </p:sp>
      <p:sp>
        <p:nvSpPr>
          <p:cNvPr id="21" name="Text 19"/>
          <p:cNvSpPr/>
          <p:nvPr/>
        </p:nvSpPr>
        <p:spPr>
          <a:xfrm>
            <a:off x="3337560" y="2633472"/>
            <a:ext cx="1234440" cy="118872"/>
          </a:xfrm>
          <a:prstGeom prst="rect">
            <a:avLst/>
          </a:prstGeom>
          <a:noFill/>
          <a:ln/>
        </p:spPr>
        <p:txBody>
          <a:bodyPr wrap="square" lIns="508" tIns="508" rIns="508" bIns="508" rtlCol="0" anchor="ctr">
            <a:normAutofit/>
          </a:bodyPr>
          <a:lstStyle/>
          <a:p>
            <a:pPr marL="0" indent="0" algn="ctr">
              <a:buNone/>
            </a:pPr>
            <a:r>
              <a:rPr lang="en-US" sz="850" b="1" dirty="0">
                <a:solidFill>
                  <a:srgbClr val="111827"/>
                </a:solidFill>
              </a:rPr>
              <a:t>Directory</a:t>
            </a:r>
            <a:endParaRPr lang="en-US" sz="850" dirty="0"/>
          </a:p>
        </p:txBody>
      </p:sp>
      <p:sp>
        <p:nvSpPr>
          <p:cNvPr id="22" name="Text 20"/>
          <p:cNvSpPr/>
          <p:nvPr/>
        </p:nvSpPr>
        <p:spPr>
          <a:xfrm>
            <a:off x="3547872" y="2843784"/>
            <a:ext cx="822960" cy="91440"/>
          </a:xfrm>
          <a:prstGeom prst="rect">
            <a:avLst/>
          </a:prstGeom>
          <a:noFill/>
          <a:ln/>
        </p:spPr>
        <p:txBody>
          <a:bodyPr wrap="square" lIns="0" tIns="0" rIns="0" bIns="0" rtlCol="0" anchor="ctr"/>
          <a:lstStyle/>
          <a:p>
            <a:pPr marL="0" indent="0" algn="ctr">
              <a:buNone/>
            </a:pPr>
            <a:r>
              <a:rPr lang="en-US" sz="780" dirty="0">
                <a:solidFill>
                  <a:srgbClr val="64748B"/>
                </a:solidFill>
              </a:rPr>
              <a:t>20 tools</a:t>
            </a:r>
            <a:endParaRPr lang="en-US" sz="780" dirty="0"/>
          </a:p>
        </p:txBody>
      </p:sp>
      <p:sp>
        <p:nvSpPr>
          <p:cNvPr id="23" name="Text 21"/>
          <p:cNvSpPr/>
          <p:nvPr/>
        </p:nvSpPr>
        <p:spPr>
          <a:xfrm>
            <a:off x="1051560" y="3429000"/>
            <a:ext cx="3840480" cy="228600"/>
          </a:xfrm>
          <a:prstGeom prst="rect">
            <a:avLst/>
          </a:prstGeom>
          <a:noFill/>
          <a:ln/>
        </p:spPr>
        <p:txBody>
          <a:bodyPr wrap="square" lIns="0" tIns="0" rIns="0" bIns="0" rtlCol="0" anchor="ctr"/>
          <a:lstStyle/>
          <a:p>
            <a:pPr marL="0" indent="0" algn="ctr">
              <a:buNone/>
            </a:pPr>
            <a:r>
              <a:rPr lang="en-US" sz="1400" b="1" dirty="0">
                <a:solidFill>
                  <a:srgbClr val="0B1F33"/>
                </a:solidFill>
              </a:rPr>
              <a:t>Potentially 100+ registered tools</a:t>
            </a:r>
            <a:endParaRPr lang="en-US" sz="1400" dirty="0"/>
          </a:p>
        </p:txBody>
      </p:sp>
      <p:sp>
        <p:nvSpPr>
          <p:cNvPr id="24" name="Shape 22"/>
          <p:cNvSpPr/>
          <p:nvPr/>
        </p:nvSpPr>
        <p:spPr>
          <a:xfrm>
            <a:off x="6400800" y="1143000"/>
            <a:ext cx="4937760" cy="54864"/>
          </a:xfrm>
          <a:prstGeom prst="rect">
            <a:avLst/>
          </a:prstGeom>
          <a:solidFill>
            <a:srgbClr val="0F766E"/>
          </a:solidFill>
          <a:ln w="12700">
            <a:solidFill>
              <a:srgbClr val="0F766E">
                <a:alpha val="0"/>
              </a:srgbClr>
            </a:solidFill>
            <a:prstDash val="solid"/>
          </a:ln>
        </p:spPr>
        <p:txBody>
          <a:bodyPr/>
          <a:lstStyle/>
          <a:p>
            <a:endParaRPr lang="en-US"/>
          </a:p>
        </p:txBody>
      </p:sp>
      <p:sp>
        <p:nvSpPr>
          <p:cNvPr id="25" name="Text 23"/>
          <p:cNvSpPr/>
          <p:nvPr/>
        </p:nvSpPr>
        <p:spPr>
          <a:xfrm>
            <a:off x="6400800" y="1234440"/>
            <a:ext cx="4937760" cy="219456"/>
          </a:xfrm>
          <a:prstGeom prst="rect">
            <a:avLst/>
          </a:prstGeom>
          <a:noFill/>
          <a:ln/>
        </p:spPr>
        <p:txBody>
          <a:bodyPr wrap="square" lIns="0" tIns="0" rIns="0" bIns="0" rtlCol="0" anchor="ctr"/>
          <a:lstStyle/>
          <a:p>
            <a:pPr marL="0" indent="0">
              <a:buNone/>
            </a:pPr>
            <a:r>
              <a:rPr lang="en-US" sz="1000" b="1" dirty="0">
                <a:solidFill>
                  <a:srgbClr val="0F766E"/>
                </a:solidFill>
              </a:rPr>
              <a:t>DISCOVERY FLOW</a:t>
            </a:r>
            <a:endParaRPr lang="en-US" sz="1000" dirty="0"/>
          </a:p>
        </p:txBody>
      </p:sp>
      <p:sp>
        <p:nvSpPr>
          <p:cNvPr id="26" name="Shape 24"/>
          <p:cNvSpPr/>
          <p:nvPr/>
        </p:nvSpPr>
        <p:spPr>
          <a:xfrm>
            <a:off x="7360920" y="1929384"/>
            <a:ext cx="484632" cy="0"/>
          </a:xfrm>
          <a:prstGeom prst="line">
            <a:avLst/>
          </a:prstGeom>
          <a:noFill/>
          <a:ln w="12700">
            <a:solidFill>
              <a:srgbClr val="0F766E"/>
            </a:solidFill>
            <a:prstDash val="solid"/>
            <a:headEnd type="none"/>
            <a:tailEnd type="triangle"/>
          </a:ln>
        </p:spPr>
        <p:txBody>
          <a:bodyPr/>
          <a:lstStyle/>
          <a:p>
            <a:endParaRPr lang="en-US"/>
          </a:p>
        </p:txBody>
      </p:sp>
      <p:sp>
        <p:nvSpPr>
          <p:cNvPr id="27" name="Shape 25"/>
          <p:cNvSpPr/>
          <p:nvPr/>
        </p:nvSpPr>
        <p:spPr>
          <a:xfrm>
            <a:off x="9217152" y="1929384"/>
            <a:ext cx="201168" cy="0"/>
          </a:xfrm>
          <a:prstGeom prst="line">
            <a:avLst/>
          </a:prstGeom>
          <a:noFill/>
          <a:ln w="12700">
            <a:solidFill>
              <a:srgbClr val="0F766E"/>
            </a:solidFill>
            <a:prstDash val="solid"/>
            <a:headEnd type="none"/>
            <a:tailEnd type="triangle"/>
          </a:ln>
        </p:spPr>
        <p:txBody>
          <a:bodyPr/>
          <a:lstStyle/>
          <a:p>
            <a:endParaRPr lang="en-US"/>
          </a:p>
        </p:txBody>
      </p:sp>
      <p:sp>
        <p:nvSpPr>
          <p:cNvPr id="28" name="Shape 26"/>
          <p:cNvSpPr/>
          <p:nvPr/>
        </p:nvSpPr>
        <p:spPr>
          <a:xfrm>
            <a:off x="10149840" y="2194560"/>
            <a:ext cx="658368" cy="621792"/>
          </a:xfrm>
          <a:prstGeom prst="line">
            <a:avLst/>
          </a:prstGeom>
          <a:noFill/>
          <a:ln w="12700">
            <a:solidFill>
              <a:srgbClr val="0F766E"/>
            </a:solidFill>
            <a:prstDash val="solid"/>
            <a:headEnd type="none"/>
            <a:tailEnd type="triangle"/>
          </a:ln>
        </p:spPr>
        <p:txBody>
          <a:bodyPr/>
          <a:lstStyle/>
          <a:p>
            <a:endParaRPr lang="en-US"/>
          </a:p>
        </p:txBody>
      </p:sp>
      <p:sp>
        <p:nvSpPr>
          <p:cNvPr id="29" name="Shape 27"/>
          <p:cNvSpPr/>
          <p:nvPr/>
        </p:nvSpPr>
        <p:spPr>
          <a:xfrm>
            <a:off x="6583680" y="1645920"/>
            <a:ext cx="1115568" cy="566928"/>
          </a:xfrm>
          <a:prstGeom prst="roundRect">
            <a:avLst>
              <a:gd name="adj" fmla="val 12903"/>
            </a:avLst>
          </a:prstGeom>
          <a:solidFill>
            <a:srgbClr val="F0FDFA"/>
          </a:solidFill>
          <a:ln w="12700">
            <a:solidFill>
              <a:srgbClr val="99F6E4"/>
            </a:solidFill>
            <a:prstDash val="solid"/>
          </a:ln>
        </p:spPr>
        <p:txBody>
          <a:bodyPr/>
          <a:lstStyle/>
          <a:p>
            <a:endParaRPr lang="en-US"/>
          </a:p>
        </p:txBody>
      </p:sp>
      <p:sp>
        <p:nvSpPr>
          <p:cNvPr id="30" name="Text 28"/>
          <p:cNvSpPr/>
          <p:nvPr/>
        </p:nvSpPr>
        <p:spPr>
          <a:xfrm>
            <a:off x="6583680" y="1755648"/>
            <a:ext cx="1115568" cy="237744"/>
          </a:xfrm>
          <a:prstGeom prst="rect">
            <a:avLst/>
          </a:prstGeom>
          <a:noFill/>
          <a:ln/>
        </p:spPr>
        <p:txBody>
          <a:bodyPr wrap="square" lIns="508" tIns="508" rIns="508" bIns="508" rtlCol="0" anchor="ctr">
            <a:normAutofit/>
          </a:bodyPr>
          <a:lstStyle/>
          <a:p>
            <a:pPr marL="0" indent="0" algn="ctr">
              <a:buNone/>
            </a:pPr>
            <a:r>
              <a:rPr lang="en-US" sz="850" b="1" dirty="0">
                <a:solidFill>
                  <a:srgbClr val="0F766E"/>
                </a:solidFill>
              </a:rPr>
              <a:t>User intent</a:t>
            </a:r>
            <a:endParaRPr lang="en-US" sz="850" dirty="0"/>
          </a:p>
        </p:txBody>
      </p:sp>
      <p:sp>
        <p:nvSpPr>
          <p:cNvPr id="31" name="Shape 29"/>
          <p:cNvSpPr/>
          <p:nvPr/>
        </p:nvSpPr>
        <p:spPr>
          <a:xfrm>
            <a:off x="7909560" y="1645920"/>
            <a:ext cx="1115568" cy="566928"/>
          </a:xfrm>
          <a:prstGeom prst="roundRect">
            <a:avLst>
              <a:gd name="adj" fmla="val 12903"/>
            </a:avLst>
          </a:prstGeom>
          <a:solidFill>
            <a:srgbClr val="F0FDFA"/>
          </a:solidFill>
          <a:ln w="12700">
            <a:solidFill>
              <a:srgbClr val="99F6E4"/>
            </a:solidFill>
            <a:prstDash val="solid"/>
          </a:ln>
        </p:spPr>
        <p:txBody>
          <a:bodyPr/>
          <a:lstStyle/>
          <a:p>
            <a:endParaRPr lang="en-US"/>
          </a:p>
        </p:txBody>
      </p:sp>
      <p:sp>
        <p:nvSpPr>
          <p:cNvPr id="32" name="Text 30"/>
          <p:cNvSpPr/>
          <p:nvPr/>
        </p:nvSpPr>
        <p:spPr>
          <a:xfrm>
            <a:off x="7909560" y="1755648"/>
            <a:ext cx="1115568" cy="237744"/>
          </a:xfrm>
          <a:prstGeom prst="rect">
            <a:avLst/>
          </a:prstGeom>
          <a:noFill/>
          <a:ln/>
        </p:spPr>
        <p:txBody>
          <a:bodyPr wrap="square" lIns="508" tIns="508" rIns="508" bIns="508" rtlCol="0" anchor="ctr">
            <a:normAutofit/>
          </a:bodyPr>
          <a:lstStyle/>
          <a:p>
            <a:pPr marL="0" indent="0" algn="ctr">
              <a:buNone/>
            </a:pPr>
            <a:r>
              <a:rPr lang="en-US" sz="850" b="1" dirty="0">
                <a:solidFill>
                  <a:srgbClr val="0F766E"/>
                </a:solidFill>
              </a:rPr>
              <a:t>Semantic search</a:t>
            </a:r>
            <a:endParaRPr lang="en-US" sz="850" dirty="0"/>
          </a:p>
          <a:p>
            <a:pPr marL="0" indent="0" algn="ctr">
              <a:buNone/>
            </a:pPr>
            <a:r>
              <a:rPr lang="en-US" sz="850" b="1" dirty="0">
                <a:solidFill>
                  <a:srgbClr val="0F766E"/>
                </a:solidFill>
              </a:rPr>
              <a:t>against registry</a:t>
            </a:r>
            <a:endParaRPr lang="en-US" sz="850" dirty="0"/>
          </a:p>
        </p:txBody>
      </p:sp>
      <p:sp>
        <p:nvSpPr>
          <p:cNvPr id="33" name="Shape 31"/>
          <p:cNvSpPr/>
          <p:nvPr/>
        </p:nvSpPr>
        <p:spPr>
          <a:xfrm>
            <a:off x="9491472" y="1645920"/>
            <a:ext cx="1115568" cy="566928"/>
          </a:xfrm>
          <a:prstGeom prst="roundRect">
            <a:avLst>
              <a:gd name="adj" fmla="val 12903"/>
            </a:avLst>
          </a:prstGeom>
          <a:solidFill>
            <a:srgbClr val="F0FDFA"/>
          </a:solidFill>
          <a:ln w="12700">
            <a:solidFill>
              <a:srgbClr val="99F6E4"/>
            </a:solidFill>
            <a:prstDash val="solid"/>
          </a:ln>
        </p:spPr>
        <p:txBody>
          <a:bodyPr/>
          <a:lstStyle/>
          <a:p>
            <a:endParaRPr lang="en-US"/>
          </a:p>
        </p:txBody>
      </p:sp>
      <p:sp>
        <p:nvSpPr>
          <p:cNvPr id="34" name="Text 32"/>
          <p:cNvSpPr/>
          <p:nvPr/>
        </p:nvSpPr>
        <p:spPr>
          <a:xfrm>
            <a:off x="9491472" y="1755648"/>
            <a:ext cx="1115568" cy="237744"/>
          </a:xfrm>
          <a:prstGeom prst="rect">
            <a:avLst/>
          </a:prstGeom>
          <a:noFill/>
          <a:ln/>
        </p:spPr>
        <p:txBody>
          <a:bodyPr wrap="square" lIns="508" tIns="508" rIns="508" bIns="508" rtlCol="0" anchor="ctr">
            <a:normAutofit/>
          </a:bodyPr>
          <a:lstStyle/>
          <a:p>
            <a:pPr marL="0" indent="0" algn="ctr">
              <a:buNone/>
            </a:pPr>
            <a:r>
              <a:rPr lang="en-US" sz="850" b="1" dirty="0">
                <a:solidFill>
                  <a:srgbClr val="0F766E"/>
                </a:solidFill>
              </a:rPr>
              <a:t>Entitlement +</a:t>
            </a:r>
            <a:endParaRPr lang="en-US" sz="850" dirty="0"/>
          </a:p>
          <a:p>
            <a:pPr marL="0" indent="0" algn="ctr">
              <a:buNone/>
            </a:pPr>
            <a:r>
              <a:rPr lang="en-US" sz="850" b="1" dirty="0">
                <a:solidFill>
                  <a:srgbClr val="0F766E"/>
                </a:solidFill>
              </a:rPr>
              <a:t>policy filter</a:t>
            </a:r>
            <a:endParaRPr lang="en-US" sz="850" dirty="0"/>
          </a:p>
        </p:txBody>
      </p:sp>
      <p:sp>
        <p:nvSpPr>
          <p:cNvPr id="35" name="Shape 33"/>
          <p:cNvSpPr/>
          <p:nvPr/>
        </p:nvSpPr>
        <p:spPr>
          <a:xfrm>
            <a:off x="10652760" y="2880360"/>
            <a:ext cx="1115568" cy="566928"/>
          </a:xfrm>
          <a:prstGeom prst="roundRect">
            <a:avLst>
              <a:gd name="adj" fmla="val 12903"/>
            </a:avLst>
          </a:prstGeom>
          <a:solidFill>
            <a:srgbClr val="F0FDFA"/>
          </a:solidFill>
          <a:ln w="12700">
            <a:solidFill>
              <a:srgbClr val="99F6E4"/>
            </a:solidFill>
            <a:prstDash val="solid"/>
          </a:ln>
        </p:spPr>
        <p:txBody>
          <a:bodyPr/>
          <a:lstStyle/>
          <a:p>
            <a:endParaRPr lang="en-US"/>
          </a:p>
        </p:txBody>
      </p:sp>
      <p:sp>
        <p:nvSpPr>
          <p:cNvPr id="36" name="Text 34"/>
          <p:cNvSpPr/>
          <p:nvPr/>
        </p:nvSpPr>
        <p:spPr>
          <a:xfrm>
            <a:off x="10652760" y="2990088"/>
            <a:ext cx="1115568" cy="237744"/>
          </a:xfrm>
          <a:prstGeom prst="rect">
            <a:avLst/>
          </a:prstGeom>
          <a:noFill/>
          <a:ln/>
        </p:spPr>
        <p:txBody>
          <a:bodyPr wrap="square" lIns="508" tIns="508" rIns="508" bIns="508" rtlCol="0" anchor="ctr">
            <a:normAutofit/>
          </a:bodyPr>
          <a:lstStyle/>
          <a:p>
            <a:pPr marL="0" indent="0" algn="ctr">
              <a:buNone/>
            </a:pPr>
            <a:r>
              <a:rPr lang="en-US" sz="850" b="1" dirty="0">
                <a:solidFill>
                  <a:srgbClr val="0F766E"/>
                </a:solidFill>
              </a:rPr>
              <a:t>Top 3–8</a:t>
            </a:r>
            <a:endParaRPr lang="en-US" sz="850" dirty="0"/>
          </a:p>
          <a:p>
            <a:pPr marL="0" indent="0" algn="ctr">
              <a:buNone/>
            </a:pPr>
            <a:r>
              <a:rPr lang="en-US" sz="850" b="1" dirty="0">
                <a:solidFill>
                  <a:srgbClr val="0F766E"/>
                </a:solidFill>
              </a:rPr>
              <a:t>tools to LLM</a:t>
            </a:r>
            <a:endParaRPr lang="en-US" sz="850" dirty="0"/>
          </a:p>
        </p:txBody>
      </p:sp>
      <p:sp>
        <p:nvSpPr>
          <p:cNvPr id="37" name="Text 35"/>
          <p:cNvSpPr/>
          <p:nvPr/>
        </p:nvSpPr>
        <p:spPr>
          <a:xfrm>
            <a:off x="822960" y="4800600"/>
            <a:ext cx="1097280" cy="228600"/>
          </a:xfrm>
          <a:prstGeom prst="rect">
            <a:avLst/>
          </a:prstGeom>
          <a:noFill/>
          <a:ln/>
        </p:spPr>
        <p:txBody>
          <a:bodyPr wrap="square" lIns="0" tIns="0" rIns="0" bIns="0" rtlCol="0" anchor="ctr"/>
          <a:lstStyle/>
          <a:p>
            <a:pPr marL="0" indent="0">
              <a:buNone/>
            </a:pPr>
            <a:r>
              <a:rPr lang="en-US" sz="1100" b="1" dirty="0">
                <a:solidFill>
                  <a:srgbClr val="2563EB"/>
                </a:solidFill>
              </a:rPr>
              <a:t>Key rule</a:t>
            </a:r>
            <a:endParaRPr lang="en-US" sz="1100" dirty="0"/>
          </a:p>
        </p:txBody>
      </p:sp>
      <p:sp>
        <p:nvSpPr>
          <p:cNvPr id="38" name="Text 36"/>
          <p:cNvSpPr/>
          <p:nvPr/>
        </p:nvSpPr>
        <p:spPr>
          <a:xfrm>
            <a:off x="822960" y="5120640"/>
            <a:ext cx="10241280" cy="310896"/>
          </a:xfrm>
          <a:prstGeom prst="rect">
            <a:avLst/>
          </a:prstGeom>
          <a:noFill/>
          <a:ln/>
        </p:spPr>
        <p:txBody>
          <a:bodyPr wrap="square" lIns="0" tIns="0" rIns="0" bIns="0" rtlCol="0" anchor="ctr">
            <a:normAutofit/>
          </a:bodyPr>
          <a:lstStyle/>
          <a:p>
            <a:pPr marL="0" indent="0">
              <a:buNone/>
            </a:pPr>
            <a:r>
              <a:rPr lang="en-US" sz="1500" b="1" dirty="0">
                <a:solidFill>
                  <a:srgbClr val="0B1F33"/>
                </a:solidFill>
              </a:rPr>
              <a:t>Hundreds of tools may exist in the enterprise registry; the LLM should see only the smallest eligible subset for the task.</a:t>
            </a:r>
            <a:endParaRPr lang="en-US" sz="1500" dirty="0"/>
          </a:p>
        </p:txBody>
      </p:sp>
      <p:sp>
        <p:nvSpPr>
          <p:cNvPr id="39" name="Text 37"/>
          <p:cNvSpPr/>
          <p:nvPr/>
        </p:nvSpPr>
        <p:spPr>
          <a:xfrm>
            <a:off x="822960" y="5650992"/>
            <a:ext cx="10058400" cy="201168"/>
          </a:xfrm>
          <a:prstGeom prst="rect">
            <a:avLst/>
          </a:prstGeom>
          <a:noFill/>
          <a:ln/>
        </p:spPr>
        <p:txBody>
          <a:bodyPr wrap="square" lIns="0" tIns="0" rIns="0" bIns="0" rtlCol="0" anchor="ctr"/>
          <a:lstStyle/>
          <a:p>
            <a:pPr marL="0" indent="0">
              <a:buNone/>
            </a:pPr>
            <a:r>
              <a:rPr lang="en-US" sz="820" i="1" dirty="0">
                <a:solidFill>
                  <a:srgbClr val="64748B"/>
                </a:solidFill>
              </a:rPr>
              <a:t>AWS guidance warns that tool definitions consume context; a typical tool definition may consume 250–500 tokens, so unrestricted discovery creates silent context problems.</a:t>
            </a:r>
            <a:endParaRPr lang="en-US" sz="820" dirty="0"/>
          </a:p>
        </p:txBody>
      </p:sp>
      <p:sp>
        <p:nvSpPr>
          <p:cNvPr id="40" name="Text 38"/>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1</a:t>
            </a:r>
            <a:endParaRPr lang="en-US" sz="780" dirty="0"/>
          </a:p>
        </p:txBody>
      </p:sp>
      <p:sp>
        <p:nvSpPr>
          <p:cNvPr id="41" name="Text 39"/>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Enterprise MCP Gateway</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lstStyle/>
          <a:p>
            <a:pPr marL="0" indent="0">
              <a:buNone/>
            </a:pPr>
            <a:r>
              <a:rPr lang="en-US" sz="1050" dirty="0">
                <a:solidFill>
                  <a:srgbClr val="64748B"/>
                </a:solidFill>
              </a:rPr>
              <a:t>The gateway is the policy enforcement and routing point — not the place for business logic.</a:t>
            </a:r>
            <a:endParaRPr lang="en-US" sz="1050" dirty="0"/>
          </a:p>
        </p:txBody>
      </p:sp>
      <p:sp>
        <p:nvSpPr>
          <p:cNvPr id="6" name="Shape 4"/>
          <p:cNvSpPr/>
          <p:nvPr/>
        </p:nvSpPr>
        <p:spPr>
          <a:xfrm>
            <a:off x="868680" y="2011680"/>
            <a:ext cx="1417320" cy="548640"/>
          </a:xfrm>
          <a:prstGeom prst="roundRect">
            <a:avLst>
              <a:gd name="adj" fmla="val 13333"/>
            </a:avLst>
          </a:prstGeom>
          <a:solidFill>
            <a:srgbClr val="EFF6FF"/>
          </a:solidFill>
          <a:ln w="12700">
            <a:solidFill>
              <a:srgbClr val="93C5FD"/>
            </a:solidFill>
            <a:prstDash val="solid"/>
          </a:ln>
        </p:spPr>
        <p:txBody>
          <a:bodyPr/>
          <a:lstStyle/>
          <a:p>
            <a:endParaRPr lang="en-US"/>
          </a:p>
        </p:txBody>
      </p:sp>
      <p:sp>
        <p:nvSpPr>
          <p:cNvPr id="7" name="Text 5"/>
          <p:cNvSpPr/>
          <p:nvPr/>
        </p:nvSpPr>
        <p:spPr>
          <a:xfrm>
            <a:off x="868680" y="2139696"/>
            <a:ext cx="1417320" cy="228600"/>
          </a:xfrm>
          <a:prstGeom prst="rect">
            <a:avLst/>
          </a:prstGeom>
          <a:noFill/>
          <a:ln/>
        </p:spPr>
        <p:txBody>
          <a:bodyPr wrap="square" lIns="508" tIns="508" rIns="508" bIns="508" rtlCol="0" anchor="ctr">
            <a:normAutofit/>
          </a:bodyPr>
          <a:lstStyle/>
          <a:p>
            <a:pPr marL="0" indent="0" algn="ctr">
              <a:buNone/>
            </a:pPr>
            <a:r>
              <a:rPr lang="en-US" sz="1050" b="1" dirty="0">
                <a:solidFill>
                  <a:srgbClr val="0B1F33"/>
                </a:solidFill>
              </a:rPr>
              <a:t>Agent /</a:t>
            </a:r>
            <a:endParaRPr lang="en-US" sz="1050" dirty="0"/>
          </a:p>
          <a:p>
            <a:pPr marL="0" indent="0" algn="ctr">
              <a:buNone/>
            </a:pPr>
            <a:r>
              <a:rPr lang="en-US" sz="1050" b="1" dirty="0">
                <a:solidFill>
                  <a:srgbClr val="0B1F33"/>
                </a:solidFill>
              </a:rPr>
              <a:t>MCP Client</a:t>
            </a:r>
            <a:endParaRPr lang="en-US" sz="1050" dirty="0"/>
          </a:p>
        </p:txBody>
      </p:sp>
      <p:sp>
        <p:nvSpPr>
          <p:cNvPr id="8" name="Shape 6"/>
          <p:cNvSpPr/>
          <p:nvPr/>
        </p:nvSpPr>
        <p:spPr>
          <a:xfrm>
            <a:off x="3703320" y="1508760"/>
            <a:ext cx="2377440" cy="1554480"/>
          </a:xfrm>
          <a:prstGeom prst="roundRect">
            <a:avLst>
              <a:gd name="adj" fmla="val 4706"/>
            </a:avLst>
          </a:prstGeom>
          <a:solidFill>
            <a:srgbClr val="F5F3FF"/>
          </a:solidFill>
          <a:ln w="12700">
            <a:solidFill>
              <a:srgbClr val="C4B5FD"/>
            </a:solidFill>
            <a:prstDash val="solid"/>
          </a:ln>
        </p:spPr>
        <p:txBody>
          <a:bodyPr/>
          <a:lstStyle/>
          <a:p>
            <a:endParaRPr lang="en-US"/>
          </a:p>
        </p:txBody>
      </p:sp>
      <p:sp>
        <p:nvSpPr>
          <p:cNvPr id="9" name="Text 7"/>
          <p:cNvSpPr/>
          <p:nvPr/>
        </p:nvSpPr>
        <p:spPr>
          <a:xfrm>
            <a:off x="3703320" y="1737360"/>
            <a:ext cx="2377440" cy="411480"/>
          </a:xfrm>
          <a:prstGeom prst="rect">
            <a:avLst/>
          </a:prstGeom>
          <a:noFill/>
          <a:ln/>
        </p:spPr>
        <p:txBody>
          <a:bodyPr wrap="square" lIns="508" tIns="508" rIns="508" bIns="508" rtlCol="0" anchor="ctr">
            <a:normAutofit/>
          </a:bodyPr>
          <a:lstStyle/>
          <a:p>
            <a:pPr marL="0" indent="0" algn="ctr">
              <a:buNone/>
            </a:pPr>
            <a:r>
              <a:rPr lang="en-US" sz="1700" b="1" dirty="0">
                <a:solidFill>
                  <a:srgbClr val="6D28D9"/>
                </a:solidFill>
              </a:rPr>
              <a:t>Enterprise</a:t>
            </a:r>
            <a:endParaRPr lang="en-US" sz="1700" dirty="0"/>
          </a:p>
          <a:p>
            <a:pPr marL="0" indent="0" algn="ctr">
              <a:buNone/>
            </a:pPr>
            <a:r>
              <a:rPr lang="en-US" sz="1700" b="1" dirty="0">
                <a:solidFill>
                  <a:srgbClr val="6D28D9"/>
                </a:solidFill>
              </a:rPr>
              <a:t>MCP Gateway</a:t>
            </a:r>
            <a:endParaRPr lang="en-US" sz="1700" dirty="0"/>
          </a:p>
        </p:txBody>
      </p:sp>
      <p:sp>
        <p:nvSpPr>
          <p:cNvPr id="10" name="Shape 8"/>
          <p:cNvSpPr/>
          <p:nvPr/>
        </p:nvSpPr>
        <p:spPr>
          <a:xfrm>
            <a:off x="2331720" y="2286000"/>
            <a:ext cx="1325880" cy="0"/>
          </a:xfrm>
          <a:prstGeom prst="line">
            <a:avLst/>
          </a:prstGeom>
          <a:noFill/>
          <a:ln w="16510">
            <a:solidFill>
              <a:srgbClr val="6D28D9"/>
            </a:solidFill>
            <a:prstDash val="solid"/>
            <a:headEnd type="none"/>
            <a:tailEnd type="triangle"/>
          </a:ln>
        </p:spPr>
        <p:txBody>
          <a:bodyPr/>
          <a:lstStyle/>
          <a:p>
            <a:endParaRPr lang="en-US"/>
          </a:p>
        </p:txBody>
      </p:sp>
      <p:sp>
        <p:nvSpPr>
          <p:cNvPr id="11" name="Shape 9"/>
          <p:cNvSpPr/>
          <p:nvPr/>
        </p:nvSpPr>
        <p:spPr>
          <a:xfrm>
            <a:off x="6126480" y="2286000"/>
            <a:ext cx="1234440" cy="0"/>
          </a:xfrm>
          <a:prstGeom prst="line">
            <a:avLst/>
          </a:prstGeom>
          <a:noFill/>
          <a:ln w="11430">
            <a:solidFill>
              <a:srgbClr val="6D28D9"/>
            </a:solidFill>
            <a:prstDash val="solid"/>
            <a:headEnd type="none"/>
            <a:tailEnd type="triangle"/>
          </a:ln>
        </p:spPr>
        <p:txBody>
          <a:bodyPr/>
          <a:lstStyle/>
          <a:p>
            <a:endParaRPr lang="en-US"/>
          </a:p>
        </p:txBody>
      </p:sp>
      <p:sp>
        <p:nvSpPr>
          <p:cNvPr id="12" name="Shape 10"/>
          <p:cNvSpPr/>
          <p:nvPr/>
        </p:nvSpPr>
        <p:spPr>
          <a:xfrm>
            <a:off x="7406640" y="1188720"/>
            <a:ext cx="1691640" cy="530352"/>
          </a:xfrm>
          <a:prstGeom prst="roundRect">
            <a:avLst>
              <a:gd name="adj" fmla="val 13793"/>
            </a:avLst>
          </a:prstGeom>
          <a:solidFill>
            <a:srgbClr val="FFFFFF"/>
          </a:solidFill>
          <a:ln w="12700">
            <a:solidFill>
              <a:srgbClr val="C4B5FD"/>
            </a:solidFill>
            <a:prstDash val="solid"/>
          </a:ln>
        </p:spPr>
        <p:txBody>
          <a:bodyPr/>
          <a:lstStyle/>
          <a:p>
            <a:endParaRPr lang="en-US"/>
          </a:p>
        </p:txBody>
      </p:sp>
      <p:sp>
        <p:nvSpPr>
          <p:cNvPr id="13" name="Text 11"/>
          <p:cNvSpPr/>
          <p:nvPr/>
        </p:nvSpPr>
        <p:spPr>
          <a:xfrm>
            <a:off x="7406640" y="1353312"/>
            <a:ext cx="1691640" cy="137160"/>
          </a:xfrm>
          <a:prstGeom prst="rect">
            <a:avLst/>
          </a:prstGeom>
          <a:noFill/>
          <a:ln/>
        </p:spPr>
        <p:txBody>
          <a:bodyPr wrap="square" lIns="508" tIns="508" rIns="508" bIns="508" rtlCol="0" anchor="ctr">
            <a:normAutofit/>
          </a:bodyPr>
          <a:lstStyle/>
          <a:p>
            <a:pPr marL="0" indent="0" algn="ctr">
              <a:buNone/>
            </a:pPr>
            <a:r>
              <a:rPr lang="en-US" sz="950" b="1" dirty="0">
                <a:solidFill>
                  <a:srgbClr val="6D28D9"/>
                </a:solidFill>
              </a:rPr>
              <a:t>Trade MCP</a:t>
            </a:r>
            <a:endParaRPr lang="en-US" sz="950" dirty="0"/>
          </a:p>
        </p:txBody>
      </p:sp>
      <p:sp>
        <p:nvSpPr>
          <p:cNvPr id="14" name="Shape 12"/>
          <p:cNvSpPr/>
          <p:nvPr/>
        </p:nvSpPr>
        <p:spPr>
          <a:xfrm>
            <a:off x="6126480" y="2286000"/>
            <a:ext cx="1234440" cy="137160"/>
          </a:xfrm>
          <a:prstGeom prst="line">
            <a:avLst/>
          </a:prstGeom>
          <a:noFill/>
          <a:ln w="11430">
            <a:solidFill>
              <a:srgbClr val="6D28D9"/>
            </a:solidFill>
            <a:prstDash val="solid"/>
            <a:headEnd type="none"/>
            <a:tailEnd type="triangle"/>
          </a:ln>
        </p:spPr>
        <p:txBody>
          <a:bodyPr/>
          <a:lstStyle/>
          <a:p>
            <a:endParaRPr lang="en-US"/>
          </a:p>
        </p:txBody>
      </p:sp>
      <p:sp>
        <p:nvSpPr>
          <p:cNvPr id="15" name="Shape 13"/>
          <p:cNvSpPr/>
          <p:nvPr/>
        </p:nvSpPr>
        <p:spPr>
          <a:xfrm>
            <a:off x="7406640" y="2148840"/>
            <a:ext cx="1691640" cy="530352"/>
          </a:xfrm>
          <a:prstGeom prst="roundRect">
            <a:avLst>
              <a:gd name="adj" fmla="val 13793"/>
            </a:avLst>
          </a:prstGeom>
          <a:solidFill>
            <a:srgbClr val="FFFFFF"/>
          </a:solidFill>
          <a:ln w="12700">
            <a:solidFill>
              <a:srgbClr val="C4B5FD"/>
            </a:solidFill>
            <a:prstDash val="solid"/>
          </a:ln>
        </p:spPr>
        <p:txBody>
          <a:bodyPr/>
          <a:lstStyle/>
          <a:p>
            <a:endParaRPr lang="en-US"/>
          </a:p>
        </p:txBody>
      </p:sp>
      <p:sp>
        <p:nvSpPr>
          <p:cNvPr id="16" name="Text 14"/>
          <p:cNvSpPr/>
          <p:nvPr/>
        </p:nvSpPr>
        <p:spPr>
          <a:xfrm>
            <a:off x="7406640" y="2313432"/>
            <a:ext cx="1691640" cy="137160"/>
          </a:xfrm>
          <a:prstGeom prst="rect">
            <a:avLst/>
          </a:prstGeom>
          <a:noFill/>
          <a:ln/>
        </p:spPr>
        <p:txBody>
          <a:bodyPr wrap="square" lIns="508" tIns="508" rIns="508" bIns="508" rtlCol="0" anchor="ctr">
            <a:normAutofit/>
          </a:bodyPr>
          <a:lstStyle/>
          <a:p>
            <a:pPr marL="0" indent="0" algn="ctr">
              <a:buNone/>
            </a:pPr>
            <a:r>
              <a:rPr lang="en-US" sz="950" b="1" dirty="0">
                <a:solidFill>
                  <a:srgbClr val="6D28D9"/>
                </a:solidFill>
              </a:rPr>
              <a:t>Reference MCP</a:t>
            </a:r>
            <a:endParaRPr lang="en-US" sz="950" dirty="0"/>
          </a:p>
        </p:txBody>
      </p:sp>
      <p:sp>
        <p:nvSpPr>
          <p:cNvPr id="17" name="Shape 15"/>
          <p:cNvSpPr/>
          <p:nvPr/>
        </p:nvSpPr>
        <p:spPr>
          <a:xfrm>
            <a:off x="6126480" y="2286000"/>
            <a:ext cx="1234440" cy="1097280"/>
          </a:xfrm>
          <a:prstGeom prst="line">
            <a:avLst/>
          </a:prstGeom>
          <a:noFill/>
          <a:ln w="11430">
            <a:solidFill>
              <a:srgbClr val="6D28D9"/>
            </a:solidFill>
            <a:prstDash val="solid"/>
            <a:headEnd type="none"/>
            <a:tailEnd type="triangle"/>
          </a:ln>
        </p:spPr>
        <p:txBody>
          <a:bodyPr/>
          <a:lstStyle/>
          <a:p>
            <a:endParaRPr lang="en-US"/>
          </a:p>
        </p:txBody>
      </p:sp>
      <p:sp>
        <p:nvSpPr>
          <p:cNvPr id="18" name="Shape 16"/>
          <p:cNvSpPr/>
          <p:nvPr/>
        </p:nvSpPr>
        <p:spPr>
          <a:xfrm>
            <a:off x="7406640" y="3108960"/>
            <a:ext cx="1691640" cy="530352"/>
          </a:xfrm>
          <a:prstGeom prst="roundRect">
            <a:avLst>
              <a:gd name="adj" fmla="val 13793"/>
            </a:avLst>
          </a:prstGeom>
          <a:solidFill>
            <a:srgbClr val="FFFFFF"/>
          </a:solidFill>
          <a:ln w="12700">
            <a:solidFill>
              <a:srgbClr val="C4B5FD"/>
            </a:solidFill>
            <a:prstDash val="solid"/>
          </a:ln>
        </p:spPr>
        <p:txBody>
          <a:bodyPr/>
          <a:lstStyle/>
          <a:p>
            <a:endParaRPr lang="en-US"/>
          </a:p>
        </p:txBody>
      </p:sp>
      <p:sp>
        <p:nvSpPr>
          <p:cNvPr id="19" name="Text 17"/>
          <p:cNvSpPr/>
          <p:nvPr/>
        </p:nvSpPr>
        <p:spPr>
          <a:xfrm>
            <a:off x="7406640" y="3273552"/>
            <a:ext cx="1691640" cy="137160"/>
          </a:xfrm>
          <a:prstGeom prst="rect">
            <a:avLst/>
          </a:prstGeom>
          <a:noFill/>
          <a:ln/>
        </p:spPr>
        <p:txBody>
          <a:bodyPr wrap="square" lIns="508" tIns="508" rIns="508" bIns="508" rtlCol="0" anchor="ctr">
            <a:normAutofit/>
          </a:bodyPr>
          <a:lstStyle/>
          <a:p>
            <a:pPr marL="0" indent="0" algn="ctr">
              <a:buNone/>
            </a:pPr>
            <a:r>
              <a:rPr lang="en-US" sz="950" b="1" dirty="0">
                <a:solidFill>
                  <a:srgbClr val="6D28D9"/>
                </a:solidFill>
              </a:rPr>
              <a:t>QMA MCP</a:t>
            </a:r>
            <a:endParaRPr lang="en-US" sz="950" dirty="0"/>
          </a:p>
        </p:txBody>
      </p:sp>
      <p:sp>
        <p:nvSpPr>
          <p:cNvPr id="20" name="Shape 18"/>
          <p:cNvSpPr/>
          <p:nvPr/>
        </p:nvSpPr>
        <p:spPr>
          <a:xfrm>
            <a:off x="6126480" y="2286000"/>
            <a:ext cx="1234440" cy="2057400"/>
          </a:xfrm>
          <a:prstGeom prst="line">
            <a:avLst/>
          </a:prstGeom>
          <a:noFill/>
          <a:ln w="11430">
            <a:solidFill>
              <a:srgbClr val="6D28D9"/>
            </a:solidFill>
            <a:prstDash val="solid"/>
            <a:headEnd type="none"/>
            <a:tailEnd type="triangle"/>
          </a:ln>
        </p:spPr>
        <p:txBody>
          <a:bodyPr/>
          <a:lstStyle/>
          <a:p>
            <a:endParaRPr lang="en-US"/>
          </a:p>
        </p:txBody>
      </p:sp>
      <p:sp>
        <p:nvSpPr>
          <p:cNvPr id="21" name="Shape 19"/>
          <p:cNvSpPr/>
          <p:nvPr/>
        </p:nvSpPr>
        <p:spPr>
          <a:xfrm>
            <a:off x="7406640" y="4069080"/>
            <a:ext cx="1691640" cy="530352"/>
          </a:xfrm>
          <a:prstGeom prst="roundRect">
            <a:avLst>
              <a:gd name="adj" fmla="val 13793"/>
            </a:avLst>
          </a:prstGeom>
          <a:solidFill>
            <a:srgbClr val="FFFFFF"/>
          </a:solidFill>
          <a:ln w="12700">
            <a:solidFill>
              <a:srgbClr val="C4B5FD"/>
            </a:solidFill>
            <a:prstDash val="solid"/>
          </a:ln>
        </p:spPr>
        <p:txBody>
          <a:bodyPr/>
          <a:lstStyle/>
          <a:p>
            <a:endParaRPr lang="en-US"/>
          </a:p>
        </p:txBody>
      </p:sp>
      <p:sp>
        <p:nvSpPr>
          <p:cNvPr id="22" name="Text 20"/>
          <p:cNvSpPr/>
          <p:nvPr/>
        </p:nvSpPr>
        <p:spPr>
          <a:xfrm>
            <a:off x="7406640" y="4233672"/>
            <a:ext cx="1691640" cy="137160"/>
          </a:xfrm>
          <a:prstGeom prst="rect">
            <a:avLst/>
          </a:prstGeom>
          <a:noFill/>
          <a:ln/>
        </p:spPr>
        <p:txBody>
          <a:bodyPr wrap="square" lIns="508" tIns="508" rIns="508" bIns="508" rtlCol="0" anchor="ctr">
            <a:normAutofit/>
          </a:bodyPr>
          <a:lstStyle/>
          <a:p>
            <a:pPr marL="0" indent="0" algn="ctr">
              <a:buNone/>
            </a:pPr>
            <a:r>
              <a:rPr lang="en-US" sz="950" b="1" dirty="0">
                <a:solidFill>
                  <a:srgbClr val="6D28D9"/>
                </a:solidFill>
              </a:rPr>
              <a:t>JIRA / PTS MCP</a:t>
            </a:r>
            <a:endParaRPr lang="en-US" sz="950" dirty="0"/>
          </a:p>
        </p:txBody>
      </p:sp>
      <p:sp>
        <p:nvSpPr>
          <p:cNvPr id="23" name="Text 21"/>
          <p:cNvSpPr/>
          <p:nvPr/>
        </p:nvSpPr>
        <p:spPr>
          <a:xfrm>
            <a:off x="3429000" y="3886200"/>
            <a:ext cx="1828800" cy="164592"/>
          </a:xfrm>
          <a:prstGeom prst="rect">
            <a:avLst/>
          </a:prstGeom>
          <a:noFill/>
          <a:ln/>
        </p:spPr>
        <p:txBody>
          <a:bodyPr wrap="square" lIns="0" tIns="0" rIns="0" bIns="0" rtlCol="0" anchor="ctr"/>
          <a:lstStyle/>
          <a:p>
            <a:pPr marL="0" indent="0">
              <a:buNone/>
            </a:pPr>
            <a:r>
              <a:rPr lang="en-US" sz="920" dirty="0">
                <a:solidFill>
                  <a:srgbClr val="334155"/>
                </a:solidFill>
              </a:rPr>
              <a:t>Authenticate agent/user</a:t>
            </a:r>
            <a:endParaRPr lang="en-US" sz="920" dirty="0"/>
          </a:p>
        </p:txBody>
      </p:sp>
      <p:sp>
        <p:nvSpPr>
          <p:cNvPr id="24" name="Text 22"/>
          <p:cNvSpPr/>
          <p:nvPr/>
        </p:nvSpPr>
        <p:spPr>
          <a:xfrm>
            <a:off x="5486400" y="3886200"/>
            <a:ext cx="1828800" cy="164592"/>
          </a:xfrm>
          <a:prstGeom prst="rect">
            <a:avLst/>
          </a:prstGeom>
          <a:noFill/>
          <a:ln/>
        </p:spPr>
        <p:txBody>
          <a:bodyPr wrap="square" lIns="0" tIns="0" rIns="0" bIns="0" rtlCol="0" anchor="ctr"/>
          <a:lstStyle/>
          <a:p>
            <a:pPr marL="0" indent="0">
              <a:buNone/>
            </a:pPr>
            <a:r>
              <a:rPr lang="en-US" sz="920" dirty="0">
                <a:solidFill>
                  <a:srgbClr val="334155"/>
                </a:solidFill>
              </a:rPr>
              <a:t>Authorize tool access</a:t>
            </a:r>
            <a:endParaRPr lang="en-US" sz="920" dirty="0"/>
          </a:p>
        </p:txBody>
      </p:sp>
      <p:sp>
        <p:nvSpPr>
          <p:cNvPr id="25" name="Text 23"/>
          <p:cNvSpPr/>
          <p:nvPr/>
        </p:nvSpPr>
        <p:spPr>
          <a:xfrm>
            <a:off x="3429000" y="4233672"/>
            <a:ext cx="1828800" cy="164592"/>
          </a:xfrm>
          <a:prstGeom prst="rect">
            <a:avLst/>
          </a:prstGeom>
          <a:noFill/>
          <a:ln/>
        </p:spPr>
        <p:txBody>
          <a:bodyPr wrap="square" lIns="0" tIns="0" rIns="0" bIns="0" rtlCol="0" anchor="ctr"/>
          <a:lstStyle/>
          <a:p>
            <a:pPr marL="0" indent="0">
              <a:buNone/>
            </a:pPr>
            <a:r>
              <a:rPr lang="en-US" sz="920" dirty="0">
                <a:solidFill>
                  <a:srgbClr val="334155"/>
                </a:solidFill>
              </a:rPr>
              <a:t>Route to MCP server</a:t>
            </a:r>
            <a:endParaRPr lang="en-US" sz="920" dirty="0"/>
          </a:p>
        </p:txBody>
      </p:sp>
      <p:sp>
        <p:nvSpPr>
          <p:cNvPr id="26" name="Text 24"/>
          <p:cNvSpPr/>
          <p:nvPr/>
        </p:nvSpPr>
        <p:spPr>
          <a:xfrm>
            <a:off x="5486400" y="4233672"/>
            <a:ext cx="1828800" cy="164592"/>
          </a:xfrm>
          <a:prstGeom prst="rect">
            <a:avLst/>
          </a:prstGeom>
          <a:noFill/>
          <a:ln/>
        </p:spPr>
        <p:txBody>
          <a:bodyPr wrap="square" lIns="0" tIns="0" rIns="0" bIns="0" rtlCol="0" anchor="ctr"/>
          <a:lstStyle/>
          <a:p>
            <a:pPr marL="0" indent="0">
              <a:buNone/>
            </a:pPr>
            <a:r>
              <a:rPr lang="en-US" sz="920" dirty="0">
                <a:solidFill>
                  <a:srgbClr val="334155"/>
                </a:solidFill>
              </a:rPr>
              <a:t>Validate payload</a:t>
            </a:r>
            <a:endParaRPr lang="en-US" sz="920" dirty="0"/>
          </a:p>
        </p:txBody>
      </p:sp>
      <p:sp>
        <p:nvSpPr>
          <p:cNvPr id="27" name="Text 25"/>
          <p:cNvSpPr/>
          <p:nvPr/>
        </p:nvSpPr>
        <p:spPr>
          <a:xfrm>
            <a:off x="3429000" y="4581144"/>
            <a:ext cx="1828800" cy="164592"/>
          </a:xfrm>
          <a:prstGeom prst="rect">
            <a:avLst/>
          </a:prstGeom>
          <a:noFill/>
          <a:ln/>
        </p:spPr>
        <p:txBody>
          <a:bodyPr wrap="square" lIns="0" tIns="0" rIns="0" bIns="0" rtlCol="0" anchor="ctr"/>
          <a:lstStyle/>
          <a:p>
            <a:pPr marL="0" indent="0">
              <a:buNone/>
            </a:pPr>
            <a:r>
              <a:rPr lang="en-US" sz="920" dirty="0">
                <a:solidFill>
                  <a:srgbClr val="334155"/>
                </a:solidFill>
              </a:rPr>
              <a:t>Rate limit / load shed</a:t>
            </a:r>
            <a:endParaRPr lang="en-US" sz="920" dirty="0"/>
          </a:p>
        </p:txBody>
      </p:sp>
      <p:sp>
        <p:nvSpPr>
          <p:cNvPr id="28" name="Text 26"/>
          <p:cNvSpPr/>
          <p:nvPr/>
        </p:nvSpPr>
        <p:spPr>
          <a:xfrm>
            <a:off x="5486400" y="4581144"/>
            <a:ext cx="1828800" cy="164592"/>
          </a:xfrm>
          <a:prstGeom prst="rect">
            <a:avLst/>
          </a:prstGeom>
          <a:noFill/>
          <a:ln/>
        </p:spPr>
        <p:txBody>
          <a:bodyPr wrap="square" lIns="0" tIns="0" rIns="0" bIns="0" rtlCol="0" anchor="ctr"/>
          <a:lstStyle/>
          <a:p>
            <a:pPr marL="0" indent="0">
              <a:buNone/>
            </a:pPr>
            <a:r>
              <a:rPr lang="en-US" sz="920" dirty="0">
                <a:solidFill>
                  <a:srgbClr val="334155"/>
                </a:solidFill>
              </a:rPr>
              <a:t>Emit audit + telemetry</a:t>
            </a:r>
            <a:endParaRPr lang="en-US" sz="920" dirty="0"/>
          </a:p>
        </p:txBody>
      </p:sp>
      <p:sp>
        <p:nvSpPr>
          <p:cNvPr id="29" name="Text 27"/>
          <p:cNvSpPr/>
          <p:nvPr/>
        </p:nvSpPr>
        <p:spPr>
          <a:xfrm>
            <a:off x="822960" y="5230368"/>
            <a:ext cx="1188720" cy="228600"/>
          </a:xfrm>
          <a:prstGeom prst="rect">
            <a:avLst/>
          </a:prstGeom>
          <a:noFill/>
          <a:ln/>
        </p:spPr>
        <p:txBody>
          <a:bodyPr wrap="square" lIns="0" tIns="0" rIns="0" bIns="0" rtlCol="0" anchor="ctr"/>
          <a:lstStyle/>
          <a:p>
            <a:pPr marL="0" indent="0">
              <a:buNone/>
            </a:pPr>
            <a:r>
              <a:rPr lang="en-US" sz="1100" b="1" dirty="0">
                <a:solidFill>
                  <a:srgbClr val="2563EB"/>
                </a:solidFill>
              </a:rPr>
              <a:t>Boundary rule</a:t>
            </a:r>
            <a:endParaRPr lang="en-US" sz="1100" dirty="0"/>
          </a:p>
        </p:txBody>
      </p:sp>
      <p:sp>
        <p:nvSpPr>
          <p:cNvPr id="30" name="Text 28"/>
          <p:cNvSpPr/>
          <p:nvPr/>
        </p:nvSpPr>
        <p:spPr>
          <a:xfrm>
            <a:off x="822960" y="5532120"/>
            <a:ext cx="10149840" cy="310896"/>
          </a:xfrm>
          <a:prstGeom prst="rect">
            <a:avLst/>
          </a:prstGeom>
          <a:noFill/>
          <a:ln/>
        </p:spPr>
        <p:txBody>
          <a:bodyPr wrap="square" lIns="0" tIns="0" rIns="0" bIns="0" rtlCol="0" anchor="ctr"/>
          <a:lstStyle/>
          <a:p>
            <a:pPr marL="0" indent="0">
              <a:buNone/>
            </a:pPr>
            <a:r>
              <a:rPr lang="en-US" sz="1500" b="1" dirty="0">
                <a:solidFill>
                  <a:srgbClr val="0B1F33"/>
                </a:solidFill>
              </a:rPr>
              <a:t>Gateway owns identity, policy, routing and telemetry. MCP servers own business capability execution.</a:t>
            </a:r>
            <a:endParaRPr lang="en-US" sz="1500" dirty="0"/>
          </a:p>
        </p:txBody>
      </p:sp>
      <p:sp>
        <p:nvSpPr>
          <p:cNvPr id="31" name="Text 29"/>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1</a:t>
            </a:r>
            <a:endParaRPr lang="en-US" sz="780" dirty="0"/>
          </a:p>
        </p:txBody>
      </p:sp>
      <p:sp>
        <p:nvSpPr>
          <p:cNvPr id="32" name="Text 30"/>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Security, Authorization and Human Controls</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lstStyle/>
          <a:p>
            <a:pPr marL="0" indent="0">
              <a:buNone/>
            </a:pPr>
            <a:r>
              <a:rPr lang="en-US" sz="1050" dirty="0">
                <a:solidFill>
                  <a:srgbClr val="64748B"/>
                </a:solidFill>
              </a:rPr>
              <a:t>An agent’s access should never automatically become unrestricted downstream access.</a:t>
            </a:r>
            <a:endParaRPr lang="en-US" sz="1050" dirty="0"/>
          </a:p>
        </p:txBody>
      </p:sp>
      <p:sp>
        <p:nvSpPr>
          <p:cNvPr id="6" name="Shape 4"/>
          <p:cNvSpPr/>
          <p:nvPr/>
        </p:nvSpPr>
        <p:spPr>
          <a:xfrm>
            <a:off x="2011680" y="2103120"/>
            <a:ext cx="411480" cy="0"/>
          </a:xfrm>
          <a:prstGeom prst="line">
            <a:avLst/>
          </a:prstGeom>
          <a:noFill/>
          <a:ln w="12700">
            <a:solidFill>
              <a:srgbClr val="64748B"/>
            </a:solidFill>
            <a:prstDash val="solid"/>
            <a:headEnd type="none"/>
            <a:tailEnd type="triangle"/>
          </a:ln>
        </p:spPr>
        <p:txBody>
          <a:bodyPr/>
          <a:lstStyle/>
          <a:p>
            <a:endParaRPr lang="en-US"/>
          </a:p>
        </p:txBody>
      </p:sp>
      <p:sp>
        <p:nvSpPr>
          <p:cNvPr id="7" name="Shape 5"/>
          <p:cNvSpPr/>
          <p:nvPr/>
        </p:nvSpPr>
        <p:spPr>
          <a:xfrm>
            <a:off x="3611880" y="2103120"/>
            <a:ext cx="594360" cy="0"/>
          </a:xfrm>
          <a:prstGeom prst="line">
            <a:avLst/>
          </a:prstGeom>
          <a:noFill/>
          <a:ln w="12700">
            <a:solidFill>
              <a:srgbClr val="64748B"/>
            </a:solidFill>
            <a:prstDash val="solid"/>
            <a:headEnd type="none"/>
            <a:tailEnd type="triangle"/>
          </a:ln>
        </p:spPr>
        <p:txBody>
          <a:bodyPr/>
          <a:lstStyle/>
          <a:p>
            <a:endParaRPr lang="en-US"/>
          </a:p>
        </p:txBody>
      </p:sp>
      <p:sp>
        <p:nvSpPr>
          <p:cNvPr id="8" name="Shape 6"/>
          <p:cNvSpPr/>
          <p:nvPr/>
        </p:nvSpPr>
        <p:spPr>
          <a:xfrm>
            <a:off x="5394960" y="2103120"/>
            <a:ext cx="914400" cy="0"/>
          </a:xfrm>
          <a:prstGeom prst="line">
            <a:avLst/>
          </a:prstGeom>
          <a:noFill/>
          <a:ln w="12700">
            <a:solidFill>
              <a:srgbClr val="64748B"/>
            </a:solidFill>
            <a:prstDash val="solid"/>
            <a:headEnd type="none"/>
            <a:tailEnd type="triangle"/>
          </a:ln>
        </p:spPr>
        <p:txBody>
          <a:bodyPr/>
          <a:lstStyle/>
          <a:p>
            <a:endParaRPr lang="en-US"/>
          </a:p>
        </p:txBody>
      </p:sp>
      <p:sp>
        <p:nvSpPr>
          <p:cNvPr id="9" name="Shape 7"/>
          <p:cNvSpPr/>
          <p:nvPr/>
        </p:nvSpPr>
        <p:spPr>
          <a:xfrm>
            <a:off x="7498080" y="2103120"/>
            <a:ext cx="548640" cy="0"/>
          </a:xfrm>
          <a:prstGeom prst="line">
            <a:avLst/>
          </a:prstGeom>
          <a:noFill/>
          <a:ln w="12700">
            <a:solidFill>
              <a:srgbClr val="64748B"/>
            </a:solidFill>
            <a:prstDash val="solid"/>
            <a:headEnd type="none"/>
            <a:tailEnd type="triangle"/>
          </a:ln>
        </p:spPr>
        <p:txBody>
          <a:bodyPr/>
          <a:lstStyle/>
          <a:p>
            <a:endParaRPr lang="en-US"/>
          </a:p>
        </p:txBody>
      </p:sp>
      <p:sp>
        <p:nvSpPr>
          <p:cNvPr id="10" name="Shape 8"/>
          <p:cNvSpPr/>
          <p:nvPr/>
        </p:nvSpPr>
        <p:spPr>
          <a:xfrm>
            <a:off x="868680" y="1828800"/>
            <a:ext cx="1143000" cy="530352"/>
          </a:xfrm>
          <a:prstGeom prst="roundRect">
            <a:avLst>
              <a:gd name="adj" fmla="val 13793"/>
            </a:avLst>
          </a:prstGeom>
          <a:solidFill>
            <a:srgbClr val="FFFFFF"/>
          </a:solidFill>
          <a:ln w="12700">
            <a:solidFill>
              <a:srgbClr val="2563EB"/>
            </a:solidFill>
            <a:prstDash val="solid"/>
          </a:ln>
        </p:spPr>
        <p:txBody>
          <a:bodyPr/>
          <a:lstStyle/>
          <a:p>
            <a:endParaRPr lang="en-US"/>
          </a:p>
        </p:txBody>
      </p:sp>
      <p:sp>
        <p:nvSpPr>
          <p:cNvPr id="11" name="Text 9"/>
          <p:cNvSpPr/>
          <p:nvPr/>
        </p:nvSpPr>
        <p:spPr>
          <a:xfrm>
            <a:off x="868680" y="1993392"/>
            <a:ext cx="1143000" cy="137160"/>
          </a:xfrm>
          <a:prstGeom prst="rect">
            <a:avLst/>
          </a:prstGeom>
          <a:noFill/>
          <a:ln/>
        </p:spPr>
        <p:txBody>
          <a:bodyPr wrap="square" lIns="508" tIns="508" rIns="508" bIns="508" rtlCol="0" anchor="ctr">
            <a:normAutofit/>
          </a:bodyPr>
          <a:lstStyle/>
          <a:p>
            <a:pPr marL="0" indent="0" algn="ctr">
              <a:buNone/>
            </a:pPr>
            <a:r>
              <a:rPr lang="en-US" sz="970" b="1" dirty="0">
                <a:solidFill>
                  <a:srgbClr val="2563EB"/>
                </a:solidFill>
              </a:rPr>
              <a:t>User</a:t>
            </a:r>
            <a:endParaRPr lang="en-US" sz="970" dirty="0"/>
          </a:p>
        </p:txBody>
      </p:sp>
      <p:sp>
        <p:nvSpPr>
          <p:cNvPr id="12" name="Shape 10"/>
          <p:cNvSpPr/>
          <p:nvPr/>
        </p:nvSpPr>
        <p:spPr>
          <a:xfrm>
            <a:off x="2468880" y="1828800"/>
            <a:ext cx="1143000" cy="530352"/>
          </a:xfrm>
          <a:prstGeom prst="roundRect">
            <a:avLst>
              <a:gd name="adj" fmla="val 13793"/>
            </a:avLst>
          </a:prstGeom>
          <a:solidFill>
            <a:srgbClr val="FFFFFF"/>
          </a:solidFill>
          <a:ln w="12700">
            <a:solidFill>
              <a:srgbClr val="0F766E"/>
            </a:solidFill>
            <a:prstDash val="solid"/>
          </a:ln>
        </p:spPr>
        <p:txBody>
          <a:bodyPr/>
          <a:lstStyle/>
          <a:p>
            <a:endParaRPr lang="en-US"/>
          </a:p>
        </p:txBody>
      </p:sp>
      <p:sp>
        <p:nvSpPr>
          <p:cNvPr id="13" name="Text 11"/>
          <p:cNvSpPr/>
          <p:nvPr/>
        </p:nvSpPr>
        <p:spPr>
          <a:xfrm>
            <a:off x="2468880" y="1993392"/>
            <a:ext cx="1143000" cy="137160"/>
          </a:xfrm>
          <a:prstGeom prst="rect">
            <a:avLst/>
          </a:prstGeom>
          <a:noFill/>
          <a:ln/>
        </p:spPr>
        <p:txBody>
          <a:bodyPr wrap="square" lIns="508" tIns="508" rIns="508" bIns="508" rtlCol="0" anchor="ctr">
            <a:normAutofit/>
          </a:bodyPr>
          <a:lstStyle/>
          <a:p>
            <a:pPr marL="0" indent="0" algn="ctr">
              <a:buNone/>
            </a:pPr>
            <a:r>
              <a:rPr lang="en-US" sz="970" b="1" dirty="0">
                <a:solidFill>
                  <a:srgbClr val="0F766E"/>
                </a:solidFill>
              </a:rPr>
              <a:t>Agent</a:t>
            </a:r>
            <a:endParaRPr lang="en-US" sz="970" dirty="0"/>
          </a:p>
        </p:txBody>
      </p:sp>
      <p:sp>
        <p:nvSpPr>
          <p:cNvPr id="14" name="Shape 12"/>
          <p:cNvSpPr/>
          <p:nvPr/>
        </p:nvSpPr>
        <p:spPr>
          <a:xfrm>
            <a:off x="4251960" y="1828800"/>
            <a:ext cx="1143000" cy="530352"/>
          </a:xfrm>
          <a:prstGeom prst="roundRect">
            <a:avLst>
              <a:gd name="adj" fmla="val 13793"/>
            </a:avLst>
          </a:prstGeom>
          <a:solidFill>
            <a:srgbClr val="FFFFFF"/>
          </a:solidFill>
          <a:ln w="12700">
            <a:solidFill>
              <a:srgbClr val="6D28D9"/>
            </a:solidFill>
            <a:prstDash val="solid"/>
          </a:ln>
        </p:spPr>
        <p:txBody>
          <a:bodyPr/>
          <a:lstStyle/>
          <a:p>
            <a:endParaRPr lang="en-US"/>
          </a:p>
        </p:txBody>
      </p:sp>
      <p:sp>
        <p:nvSpPr>
          <p:cNvPr id="15" name="Text 13"/>
          <p:cNvSpPr/>
          <p:nvPr/>
        </p:nvSpPr>
        <p:spPr>
          <a:xfrm>
            <a:off x="4251960" y="1993392"/>
            <a:ext cx="1143000" cy="137160"/>
          </a:xfrm>
          <a:prstGeom prst="rect">
            <a:avLst/>
          </a:prstGeom>
          <a:noFill/>
          <a:ln/>
        </p:spPr>
        <p:txBody>
          <a:bodyPr wrap="square" lIns="508" tIns="508" rIns="508" bIns="508" rtlCol="0" anchor="ctr">
            <a:normAutofit/>
          </a:bodyPr>
          <a:lstStyle/>
          <a:p>
            <a:pPr marL="0" indent="0" algn="ctr">
              <a:buNone/>
            </a:pPr>
            <a:r>
              <a:rPr lang="en-US" sz="970" b="1" dirty="0">
                <a:solidFill>
                  <a:srgbClr val="6D28D9"/>
                </a:solidFill>
              </a:rPr>
              <a:t>MCP Gateway</a:t>
            </a:r>
            <a:endParaRPr lang="en-US" sz="970" dirty="0"/>
          </a:p>
        </p:txBody>
      </p:sp>
      <p:sp>
        <p:nvSpPr>
          <p:cNvPr id="16" name="Shape 14"/>
          <p:cNvSpPr/>
          <p:nvPr/>
        </p:nvSpPr>
        <p:spPr>
          <a:xfrm>
            <a:off x="6355080" y="1828800"/>
            <a:ext cx="1143000" cy="530352"/>
          </a:xfrm>
          <a:prstGeom prst="roundRect">
            <a:avLst>
              <a:gd name="adj" fmla="val 13793"/>
            </a:avLst>
          </a:prstGeom>
          <a:solidFill>
            <a:srgbClr val="FFFFFF"/>
          </a:solidFill>
          <a:ln w="12700">
            <a:solidFill>
              <a:srgbClr val="D97706"/>
            </a:solidFill>
            <a:prstDash val="solid"/>
          </a:ln>
        </p:spPr>
        <p:txBody>
          <a:bodyPr/>
          <a:lstStyle/>
          <a:p>
            <a:endParaRPr lang="en-US"/>
          </a:p>
        </p:txBody>
      </p:sp>
      <p:sp>
        <p:nvSpPr>
          <p:cNvPr id="17" name="Text 15"/>
          <p:cNvSpPr/>
          <p:nvPr/>
        </p:nvSpPr>
        <p:spPr>
          <a:xfrm>
            <a:off x="6355080" y="1993392"/>
            <a:ext cx="1143000" cy="137160"/>
          </a:xfrm>
          <a:prstGeom prst="rect">
            <a:avLst/>
          </a:prstGeom>
          <a:noFill/>
          <a:ln/>
        </p:spPr>
        <p:txBody>
          <a:bodyPr wrap="square" lIns="508" tIns="508" rIns="508" bIns="508" rtlCol="0" anchor="ctr">
            <a:normAutofit/>
          </a:bodyPr>
          <a:lstStyle/>
          <a:p>
            <a:pPr marL="0" indent="0" algn="ctr">
              <a:buNone/>
            </a:pPr>
            <a:r>
              <a:rPr lang="en-US" sz="970" b="1" dirty="0">
                <a:solidFill>
                  <a:srgbClr val="D97706"/>
                </a:solidFill>
              </a:rPr>
              <a:t>MCP Tool</a:t>
            </a:r>
            <a:endParaRPr lang="en-US" sz="970" dirty="0"/>
          </a:p>
        </p:txBody>
      </p:sp>
      <p:sp>
        <p:nvSpPr>
          <p:cNvPr id="18" name="Shape 16"/>
          <p:cNvSpPr/>
          <p:nvPr/>
        </p:nvSpPr>
        <p:spPr>
          <a:xfrm>
            <a:off x="8092440" y="1828800"/>
            <a:ext cx="1143000" cy="530352"/>
          </a:xfrm>
          <a:prstGeom prst="roundRect">
            <a:avLst>
              <a:gd name="adj" fmla="val 13793"/>
            </a:avLst>
          </a:prstGeom>
          <a:solidFill>
            <a:srgbClr val="FFFFFF"/>
          </a:solidFill>
          <a:ln w="12700">
            <a:solidFill>
              <a:srgbClr val="334155"/>
            </a:solidFill>
            <a:prstDash val="solid"/>
          </a:ln>
        </p:spPr>
        <p:txBody>
          <a:bodyPr/>
          <a:lstStyle/>
          <a:p>
            <a:endParaRPr lang="en-US"/>
          </a:p>
        </p:txBody>
      </p:sp>
      <p:sp>
        <p:nvSpPr>
          <p:cNvPr id="19" name="Text 17"/>
          <p:cNvSpPr/>
          <p:nvPr/>
        </p:nvSpPr>
        <p:spPr>
          <a:xfrm>
            <a:off x="8092440" y="1993392"/>
            <a:ext cx="1143000" cy="137160"/>
          </a:xfrm>
          <a:prstGeom prst="rect">
            <a:avLst/>
          </a:prstGeom>
          <a:noFill/>
          <a:ln/>
        </p:spPr>
        <p:txBody>
          <a:bodyPr wrap="square" lIns="508" tIns="508" rIns="508" bIns="508" rtlCol="0" anchor="ctr">
            <a:normAutofit/>
          </a:bodyPr>
          <a:lstStyle/>
          <a:p>
            <a:pPr marL="0" indent="0" algn="ctr">
              <a:buNone/>
            </a:pPr>
            <a:r>
              <a:rPr lang="en-US" sz="970" b="1" dirty="0">
                <a:solidFill>
                  <a:srgbClr val="334155"/>
                </a:solidFill>
              </a:rPr>
              <a:t>Backend</a:t>
            </a:r>
            <a:endParaRPr lang="en-US" sz="970" dirty="0"/>
          </a:p>
        </p:txBody>
      </p:sp>
      <p:sp>
        <p:nvSpPr>
          <p:cNvPr id="20" name="Shape 18"/>
          <p:cNvSpPr/>
          <p:nvPr/>
        </p:nvSpPr>
        <p:spPr>
          <a:xfrm>
            <a:off x="1325880" y="2514600"/>
            <a:ext cx="1325880" cy="310896"/>
          </a:xfrm>
          <a:prstGeom prst="roundRect">
            <a:avLst>
              <a:gd name="adj" fmla="val 29412"/>
            </a:avLst>
          </a:prstGeom>
          <a:solidFill>
            <a:srgbClr val="DBEAFE"/>
          </a:solidFill>
          <a:ln w="12700">
            <a:solidFill>
              <a:srgbClr val="DBEAFE">
                <a:alpha val="0"/>
              </a:srgbClr>
            </a:solidFill>
            <a:prstDash val="solid"/>
          </a:ln>
        </p:spPr>
        <p:txBody>
          <a:bodyPr/>
          <a:lstStyle/>
          <a:p>
            <a:endParaRPr lang="en-US"/>
          </a:p>
        </p:txBody>
      </p:sp>
      <p:sp>
        <p:nvSpPr>
          <p:cNvPr id="21" name="Text 19"/>
          <p:cNvSpPr/>
          <p:nvPr/>
        </p:nvSpPr>
        <p:spPr>
          <a:xfrm>
            <a:off x="1399032" y="2583180"/>
            <a:ext cx="1179576" cy="137160"/>
          </a:xfrm>
          <a:prstGeom prst="rect">
            <a:avLst/>
          </a:prstGeom>
          <a:noFill/>
          <a:ln/>
        </p:spPr>
        <p:txBody>
          <a:bodyPr wrap="square" lIns="0" tIns="0" rIns="0" bIns="0" rtlCol="0" anchor="ctr"/>
          <a:lstStyle/>
          <a:p>
            <a:pPr marL="0" indent="0" algn="ctr">
              <a:buNone/>
            </a:pPr>
            <a:r>
              <a:rPr lang="en-US" sz="860" b="1" dirty="0">
                <a:solidFill>
                  <a:srgbClr val="0B1F33"/>
                </a:solidFill>
              </a:rPr>
              <a:t>user identity</a:t>
            </a:r>
            <a:endParaRPr lang="en-US" sz="860" dirty="0"/>
          </a:p>
        </p:txBody>
      </p:sp>
      <p:sp>
        <p:nvSpPr>
          <p:cNvPr id="22" name="Shape 20"/>
          <p:cNvSpPr/>
          <p:nvPr/>
        </p:nvSpPr>
        <p:spPr>
          <a:xfrm>
            <a:off x="2971800" y="2514600"/>
            <a:ext cx="1554480" cy="310896"/>
          </a:xfrm>
          <a:prstGeom prst="roundRect">
            <a:avLst>
              <a:gd name="adj" fmla="val 29412"/>
            </a:avLst>
          </a:prstGeom>
          <a:solidFill>
            <a:srgbClr val="CCFBF1"/>
          </a:solidFill>
          <a:ln w="12700">
            <a:solidFill>
              <a:srgbClr val="CCFBF1">
                <a:alpha val="0"/>
              </a:srgbClr>
            </a:solidFill>
            <a:prstDash val="solid"/>
          </a:ln>
        </p:spPr>
        <p:txBody>
          <a:bodyPr/>
          <a:lstStyle/>
          <a:p>
            <a:endParaRPr lang="en-US"/>
          </a:p>
        </p:txBody>
      </p:sp>
      <p:sp>
        <p:nvSpPr>
          <p:cNvPr id="23" name="Text 21"/>
          <p:cNvSpPr/>
          <p:nvPr/>
        </p:nvSpPr>
        <p:spPr>
          <a:xfrm>
            <a:off x="3044952" y="2583180"/>
            <a:ext cx="1408176" cy="137160"/>
          </a:xfrm>
          <a:prstGeom prst="rect">
            <a:avLst/>
          </a:prstGeom>
          <a:noFill/>
          <a:ln/>
        </p:spPr>
        <p:txBody>
          <a:bodyPr wrap="square" lIns="0" tIns="0" rIns="0" bIns="0" rtlCol="0" anchor="ctr"/>
          <a:lstStyle/>
          <a:p>
            <a:pPr marL="0" indent="0" algn="ctr">
              <a:buNone/>
            </a:pPr>
            <a:r>
              <a:rPr lang="en-US" sz="860" b="1" dirty="0">
                <a:solidFill>
                  <a:srgbClr val="0B1F33"/>
                </a:solidFill>
              </a:rPr>
              <a:t>agent authorization</a:t>
            </a:r>
            <a:endParaRPr lang="en-US" sz="860" dirty="0"/>
          </a:p>
        </p:txBody>
      </p:sp>
      <p:sp>
        <p:nvSpPr>
          <p:cNvPr id="24" name="Shape 22"/>
          <p:cNvSpPr/>
          <p:nvPr/>
        </p:nvSpPr>
        <p:spPr>
          <a:xfrm>
            <a:off x="5166360" y="2514600"/>
            <a:ext cx="1828800" cy="310896"/>
          </a:xfrm>
          <a:prstGeom prst="roundRect">
            <a:avLst>
              <a:gd name="adj" fmla="val 29412"/>
            </a:avLst>
          </a:prstGeom>
          <a:solidFill>
            <a:srgbClr val="EDE9FE"/>
          </a:solidFill>
          <a:ln w="12700">
            <a:solidFill>
              <a:srgbClr val="EDE9FE">
                <a:alpha val="0"/>
              </a:srgbClr>
            </a:solidFill>
            <a:prstDash val="solid"/>
          </a:ln>
        </p:spPr>
        <p:txBody>
          <a:bodyPr/>
          <a:lstStyle/>
          <a:p>
            <a:endParaRPr lang="en-US"/>
          </a:p>
        </p:txBody>
      </p:sp>
      <p:sp>
        <p:nvSpPr>
          <p:cNvPr id="25" name="Text 23"/>
          <p:cNvSpPr/>
          <p:nvPr/>
        </p:nvSpPr>
        <p:spPr>
          <a:xfrm>
            <a:off x="5239512" y="2583180"/>
            <a:ext cx="1682496" cy="137160"/>
          </a:xfrm>
          <a:prstGeom prst="rect">
            <a:avLst/>
          </a:prstGeom>
          <a:noFill/>
          <a:ln/>
        </p:spPr>
        <p:txBody>
          <a:bodyPr wrap="square" lIns="0" tIns="0" rIns="0" bIns="0" rtlCol="0" anchor="ctr"/>
          <a:lstStyle/>
          <a:p>
            <a:pPr marL="0" indent="0" algn="ctr">
              <a:buNone/>
            </a:pPr>
            <a:r>
              <a:rPr lang="en-US" sz="860" b="1" dirty="0">
                <a:solidFill>
                  <a:srgbClr val="0B1F33"/>
                </a:solidFill>
              </a:rPr>
              <a:t>tool-scoped credential</a:t>
            </a:r>
            <a:endParaRPr lang="en-US" sz="860" dirty="0"/>
          </a:p>
        </p:txBody>
      </p:sp>
      <p:sp>
        <p:nvSpPr>
          <p:cNvPr id="26" name="Shape 24"/>
          <p:cNvSpPr/>
          <p:nvPr/>
        </p:nvSpPr>
        <p:spPr>
          <a:xfrm>
            <a:off x="7114032" y="2514600"/>
            <a:ext cx="2011680" cy="310896"/>
          </a:xfrm>
          <a:prstGeom prst="roundRect">
            <a:avLst>
              <a:gd name="adj" fmla="val 29412"/>
            </a:avLst>
          </a:prstGeom>
          <a:solidFill>
            <a:srgbClr val="FEF3C7"/>
          </a:solidFill>
          <a:ln w="12700">
            <a:solidFill>
              <a:srgbClr val="FEF3C7">
                <a:alpha val="0"/>
              </a:srgbClr>
            </a:solidFill>
            <a:prstDash val="solid"/>
          </a:ln>
        </p:spPr>
        <p:txBody>
          <a:bodyPr/>
          <a:lstStyle/>
          <a:p>
            <a:endParaRPr lang="en-US"/>
          </a:p>
        </p:txBody>
      </p:sp>
      <p:sp>
        <p:nvSpPr>
          <p:cNvPr id="27" name="Text 25"/>
          <p:cNvSpPr/>
          <p:nvPr/>
        </p:nvSpPr>
        <p:spPr>
          <a:xfrm>
            <a:off x="7187184" y="2583180"/>
            <a:ext cx="1865376" cy="137160"/>
          </a:xfrm>
          <a:prstGeom prst="rect">
            <a:avLst/>
          </a:prstGeom>
          <a:noFill/>
          <a:ln/>
        </p:spPr>
        <p:txBody>
          <a:bodyPr wrap="square" lIns="0" tIns="0" rIns="0" bIns="0" rtlCol="0" anchor="ctr"/>
          <a:lstStyle/>
          <a:p>
            <a:pPr marL="0" indent="0" algn="ctr">
              <a:buNone/>
            </a:pPr>
            <a:r>
              <a:rPr lang="en-US" sz="860" b="1" dirty="0">
                <a:solidFill>
                  <a:srgbClr val="0B1F33"/>
                </a:solidFill>
              </a:rPr>
              <a:t>resource-scoped credential</a:t>
            </a:r>
            <a:endParaRPr lang="en-US" sz="860" dirty="0"/>
          </a:p>
        </p:txBody>
      </p:sp>
      <p:sp>
        <p:nvSpPr>
          <p:cNvPr id="28" name="Shape 26"/>
          <p:cNvSpPr/>
          <p:nvPr/>
        </p:nvSpPr>
        <p:spPr>
          <a:xfrm>
            <a:off x="822960" y="3749040"/>
            <a:ext cx="4663440" cy="54864"/>
          </a:xfrm>
          <a:prstGeom prst="rect">
            <a:avLst/>
          </a:prstGeom>
          <a:solidFill>
            <a:srgbClr val="2563EB"/>
          </a:solidFill>
          <a:ln w="12700">
            <a:solidFill>
              <a:srgbClr val="2563EB">
                <a:alpha val="0"/>
              </a:srgbClr>
            </a:solidFill>
            <a:prstDash val="solid"/>
          </a:ln>
        </p:spPr>
        <p:txBody>
          <a:bodyPr/>
          <a:lstStyle/>
          <a:p>
            <a:endParaRPr lang="en-US"/>
          </a:p>
        </p:txBody>
      </p:sp>
      <p:sp>
        <p:nvSpPr>
          <p:cNvPr id="29" name="Text 27"/>
          <p:cNvSpPr/>
          <p:nvPr/>
        </p:nvSpPr>
        <p:spPr>
          <a:xfrm>
            <a:off x="822960" y="3840480"/>
            <a:ext cx="4663440" cy="219456"/>
          </a:xfrm>
          <a:prstGeom prst="rect">
            <a:avLst/>
          </a:prstGeom>
          <a:noFill/>
          <a:ln/>
        </p:spPr>
        <p:txBody>
          <a:bodyPr wrap="square" lIns="0" tIns="0" rIns="0" bIns="0" rtlCol="0" anchor="ctr"/>
          <a:lstStyle/>
          <a:p>
            <a:pPr marL="0" indent="0">
              <a:buNone/>
            </a:pPr>
            <a:r>
              <a:rPr lang="en-US" sz="1000" b="1" dirty="0">
                <a:solidFill>
                  <a:srgbClr val="2563EB"/>
                </a:solidFill>
              </a:rPr>
              <a:t>RISK TIERS</a:t>
            </a:r>
            <a:endParaRPr lang="en-US" sz="1000" dirty="0"/>
          </a:p>
        </p:txBody>
      </p:sp>
      <p:sp>
        <p:nvSpPr>
          <p:cNvPr id="30" name="Shape 28"/>
          <p:cNvSpPr/>
          <p:nvPr/>
        </p:nvSpPr>
        <p:spPr>
          <a:xfrm>
            <a:off x="868680" y="4251960"/>
            <a:ext cx="960120" cy="640080"/>
          </a:xfrm>
          <a:prstGeom prst="roundRect">
            <a:avLst>
              <a:gd name="adj" fmla="val 11429"/>
            </a:avLst>
          </a:prstGeom>
          <a:solidFill>
            <a:srgbClr val="FFFFFF"/>
          </a:solidFill>
          <a:ln w="12700">
            <a:solidFill>
              <a:srgbClr val="93C5FD"/>
            </a:solidFill>
            <a:prstDash val="solid"/>
          </a:ln>
        </p:spPr>
        <p:txBody>
          <a:bodyPr/>
          <a:lstStyle/>
          <a:p>
            <a:endParaRPr lang="en-US"/>
          </a:p>
        </p:txBody>
      </p:sp>
      <p:sp>
        <p:nvSpPr>
          <p:cNvPr id="31" name="Text 29"/>
          <p:cNvSpPr/>
          <p:nvPr/>
        </p:nvSpPr>
        <p:spPr>
          <a:xfrm>
            <a:off x="868680" y="4361688"/>
            <a:ext cx="960120" cy="109728"/>
          </a:xfrm>
          <a:prstGeom prst="rect">
            <a:avLst/>
          </a:prstGeom>
          <a:noFill/>
          <a:ln/>
        </p:spPr>
        <p:txBody>
          <a:bodyPr wrap="square" lIns="508" tIns="508" rIns="508" bIns="508" rtlCol="0" anchor="ctr">
            <a:normAutofit/>
          </a:bodyPr>
          <a:lstStyle/>
          <a:p>
            <a:pPr marL="0" indent="0" algn="ctr">
              <a:buNone/>
            </a:pPr>
            <a:r>
              <a:rPr lang="en-US" sz="1050" b="1" dirty="0">
                <a:solidFill>
                  <a:srgbClr val="2563EB"/>
                </a:solidFill>
              </a:rPr>
              <a:t>L0</a:t>
            </a:r>
            <a:endParaRPr lang="en-US" sz="1050" dirty="0"/>
          </a:p>
        </p:txBody>
      </p:sp>
      <p:sp>
        <p:nvSpPr>
          <p:cNvPr id="32" name="Text 30"/>
          <p:cNvSpPr/>
          <p:nvPr/>
        </p:nvSpPr>
        <p:spPr>
          <a:xfrm>
            <a:off x="941832" y="4590288"/>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334155"/>
                </a:solidFill>
              </a:rPr>
              <a:t>Informational</a:t>
            </a:r>
            <a:endParaRPr lang="en-US" sz="680" dirty="0"/>
          </a:p>
        </p:txBody>
      </p:sp>
      <p:sp>
        <p:nvSpPr>
          <p:cNvPr id="33" name="Shape 31"/>
          <p:cNvSpPr/>
          <p:nvPr/>
        </p:nvSpPr>
        <p:spPr>
          <a:xfrm>
            <a:off x="1874520" y="4251960"/>
            <a:ext cx="960120" cy="640080"/>
          </a:xfrm>
          <a:prstGeom prst="roundRect">
            <a:avLst>
              <a:gd name="adj" fmla="val 11429"/>
            </a:avLst>
          </a:prstGeom>
          <a:solidFill>
            <a:srgbClr val="FFFFFF"/>
          </a:solidFill>
          <a:ln w="12700">
            <a:solidFill>
              <a:srgbClr val="93C5FD"/>
            </a:solidFill>
            <a:prstDash val="solid"/>
          </a:ln>
        </p:spPr>
        <p:txBody>
          <a:bodyPr/>
          <a:lstStyle/>
          <a:p>
            <a:endParaRPr lang="en-US"/>
          </a:p>
        </p:txBody>
      </p:sp>
      <p:sp>
        <p:nvSpPr>
          <p:cNvPr id="34" name="Text 32"/>
          <p:cNvSpPr/>
          <p:nvPr/>
        </p:nvSpPr>
        <p:spPr>
          <a:xfrm>
            <a:off x="1874520" y="4361688"/>
            <a:ext cx="960120" cy="109728"/>
          </a:xfrm>
          <a:prstGeom prst="rect">
            <a:avLst/>
          </a:prstGeom>
          <a:noFill/>
          <a:ln/>
        </p:spPr>
        <p:txBody>
          <a:bodyPr wrap="square" lIns="508" tIns="508" rIns="508" bIns="508" rtlCol="0" anchor="ctr">
            <a:normAutofit/>
          </a:bodyPr>
          <a:lstStyle/>
          <a:p>
            <a:pPr marL="0" indent="0" algn="ctr">
              <a:buNone/>
            </a:pPr>
            <a:r>
              <a:rPr lang="en-US" sz="1050" b="1" dirty="0">
                <a:solidFill>
                  <a:srgbClr val="2563EB"/>
                </a:solidFill>
              </a:rPr>
              <a:t>L1</a:t>
            </a:r>
            <a:endParaRPr lang="en-US" sz="1050" dirty="0"/>
          </a:p>
        </p:txBody>
      </p:sp>
      <p:sp>
        <p:nvSpPr>
          <p:cNvPr id="35" name="Text 33"/>
          <p:cNvSpPr/>
          <p:nvPr/>
        </p:nvSpPr>
        <p:spPr>
          <a:xfrm>
            <a:off x="1947672" y="4590288"/>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334155"/>
                </a:solidFill>
              </a:rPr>
              <a:t>Read enterprise data</a:t>
            </a:r>
            <a:endParaRPr lang="en-US" sz="680" dirty="0"/>
          </a:p>
        </p:txBody>
      </p:sp>
      <p:sp>
        <p:nvSpPr>
          <p:cNvPr id="36" name="Shape 34"/>
          <p:cNvSpPr/>
          <p:nvPr/>
        </p:nvSpPr>
        <p:spPr>
          <a:xfrm>
            <a:off x="2880360" y="4251960"/>
            <a:ext cx="960120" cy="640080"/>
          </a:xfrm>
          <a:prstGeom prst="roundRect">
            <a:avLst>
              <a:gd name="adj" fmla="val 11429"/>
            </a:avLst>
          </a:prstGeom>
          <a:solidFill>
            <a:srgbClr val="FFFFFF"/>
          </a:solidFill>
          <a:ln w="12700">
            <a:solidFill>
              <a:srgbClr val="FCD34D"/>
            </a:solidFill>
            <a:prstDash val="solid"/>
          </a:ln>
        </p:spPr>
        <p:txBody>
          <a:bodyPr/>
          <a:lstStyle/>
          <a:p>
            <a:endParaRPr lang="en-US"/>
          </a:p>
        </p:txBody>
      </p:sp>
      <p:sp>
        <p:nvSpPr>
          <p:cNvPr id="37" name="Text 35"/>
          <p:cNvSpPr/>
          <p:nvPr/>
        </p:nvSpPr>
        <p:spPr>
          <a:xfrm>
            <a:off x="2880360" y="4361688"/>
            <a:ext cx="960120" cy="109728"/>
          </a:xfrm>
          <a:prstGeom prst="rect">
            <a:avLst/>
          </a:prstGeom>
          <a:noFill/>
          <a:ln/>
        </p:spPr>
        <p:txBody>
          <a:bodyPr wrap="square" lIns="508" tIns="508" rIns="508" bIns="508" rtlCol="0" anchor="ctr">
            <a:normAutofit/>
          </a:bodyPr>
          <a:lstStyle/>
          <a:p>
            <a:pPr marL="0" indent="0" algn="ctr">
              <a:buNone/>
            </a:pPr>
            <a:r>
              <a:rPr lang="en-US" sz="1050" b="1" dirty="0">
                <a:solidFill>
                  <a:srgbClr val="D97706"/>
                </a:solidFill>
              </a:rPr>
              <a:t>L2</a:t>
            </a:r>
            <a:endParaRPr lang="en-US" sz="1050" dirty="0"/>
          </a:p>
        </p:txBody>
      </p:sp>
      <p:sp>
        <p:nvSpPr>
          <p:cNvPr id="38" name="Text 36"/>
          <p:cNvSpPr/>
          <p:nvPr/>
        </p:nvSpPr>
        <p:spPr>
          <a:xfrm>
            <a:off x="2953512" y="4590288"/>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334155"/>
                </a:solidFill>
              </a:rPr>
              <a:t>Generate / propose action</a:t>
            </a:r>
            <a:endParaRPr lang="en-US" sz="680" dirty="0"/>
          </a:p>
        </p:txBody>
      </p:sp>
      <p:sp>
        <p:nvSpPr>
          <p:cNvPr id="39" name="Shape 37"/>
          <p:cNvSpPr/>
          <p:nvPr/>
        </p:nvSpPr>
        <p:spPr>
          <a:xfrm>
            <a:off x="3886200" y="4251960"/>
            <a:ext cx="960120" cy="640080"/>
          </a:xfrm>
          <a:prstGeom prst="roundRect">
            <a:avLst>
              <a:gd name="adj" fmla="val 11429"/>
            </a:avLst>
          </a:prstGeom>
          <a:solidFill>
            <a:srgbClr val="FFFFFF"/>
          </a:solidFill>
          <a:ln w="12700">
            <a:solidFill>
              <a:srgbClr val="FCD34D"/>
            </a:solidFill>
            <a:prstDash val="solid"/>
          </a:ln>
        </p:spPr>
        <p:txBody>
          <a:bodyPr/>
          <a:lstStyle/>
          <a:p>
            <a:endParaRPr lang="en-US"/>
          </a:p>
        </p:txBody>
      </p:sp>
      <p:sp>
        <p:nvSpPr>
          <p:cNvPr id="40" name="Text 38"/>
          <p:cNvSpPr/>
          <p:nvPr/>
        </p:nvSpPr>
        <p:spPr>
          <a:xfrm>
            <a:off x="3886200" y="4361688"/>
            <a:ext cx="960120" cy="109728"/>
          </a:xfrm>
          <a:prstGeom prst="rect">
            <a:avLst/>
          </a:prstGeom>
          <a:noFill/>
          <a:ln/>
        </p:spPr>
        <p:txBody>
          <a:bodyPr wrap="square" lIns="508" tIns="508" rIns="508" bIns="508" rtlCol="0" anchor="ctr">
            <a:normAutofit/>
          </a:bodyPr>
          <a:lstStyle/>
          <a:p>
            <a:pPr marL="0" indent="0" algn="ctr">
              <a:buNone/>
            </a:pPr>
            <a:r>
              <a:rPr lang="en-US" sz="1050" b="1" dirty="0">
                <a:solidFill>
                  <a:srgbClr val="D97706"/>
                </a:solidFill>
              </a:rPr>
              <a:t>L3</a:t>
            </a:r>
            <a:endParaRPr lang="en-US" sz="1050" dirty="0"/>
          </a:p>
        </p:txBody>
      </p:sp>
      <p:sp>
        <p:nvSpPr>
          <p:cNvPr id="41" name="Text 39"/>
          <p:cNvSpPr/>
          <p:nvPr/>
        </p:nvSpPr>
        <p:spPr>
          <a:xfrm>
            <a:off x="3959352" y="4590288"/>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334155"/>
                </a:solidFill>
              </a:rPr>
              <a:t>Write operational data</a:t>
            </a:r>
            <a:endParaRPr lang="en-US" sz="680" dirty="0"/>
          </a:p>
        </p:txBody>
      </p:sp>
      <p:sp>
        <p:nvSpPr>
          <p:cNvPr id="42" name="Shape 40"/>
          <p:cNvSpPr/>
          <p:nvPr/>
        </p:nvSpPr>
        <p:spPr>
          <a:xfrm>
            <a:off x="4892040" y="4251960"/>
            <a:ext cx="960120" cy="640080"/>
          </a:xfrm>
          <a:prstGeom prst="roundRect">
            <a:avLst>
              <a:gd name="adj" fmla="val 11429"/>
            </a:avLst>
          </a:prstGeom>
          <a:solidFill>
            <a:srgbClr val="FFFFFF"/>
          </a:solidFill>
          <a:ln w="12700">
            <a:solidFill>
              <a:srgbClr val="FCA5A5"/>
            </a:solidFill>
            <a:prstDash val="solid"/>
          </a:ln>
        </p:spPr>
        <p:txBody>
          <a:bodyPr/>
          <a:lstStyle/>
          <a:p>
            <a:endParaRPr lang="en-US"/>
          </a:p>
        </p:txBody>
      </p:sp>
      <p:sp>
        <p:nvSpPr>
          <p:cNvPr id="43" name="Text 41"/>
          <p:cNvSpPr/>
          <p:nvPr/>
        </p:nvSpPr>
        <p:spPr>
          <a:xfrm>
            <a:off x="4892040" y="4361688"/>
            <a:ext cx="960120" cy="109728"/>
          </a:xfrm>
          <a:prstGeom prst="rect">
            <a:avLst/>
          </a:prstGeom>
          <a:noFill/>
          <a:ln/>
        </p:spPr>
        <p:txBody>
          <a:bodyPr wrap="square" lIns="508" tIns="508" rIns="508" bIns="508" rtlCol="0" anchor="ctr">
            <a:normAutofit/>
          </a:bodyPr>
          <a:lstStyle/>
          <a:p>
            <a:pPr marL="0" indent="0" algn="ctr">
              <a:buNone/>
            </a:pPr>
            <a:r>
              <a:rPr lang="en-US" sz="1050" b="1" dirty="0">
                <a:solidFill>
                  <a:srgbClr val="DC2626"/>
                </a:solidFill>
              </a:rPr>
              <a:t>L4</a:t>
            </a:r>
            <a:endParaRPr lang="en-US" sz="1050" dirty="0"/>
          </a:p>
        </p:txBody>
      </p:sp>
      <p:sp>
        <p:nvSpPr>
          <p:cNvPr id="44" name="Text 42"/>
          <p:cNvSpPr/>
          <p:nvPr/>
        </p:nvSpPr>
        <p:spPr>
          <a:xfrm>
            <a:off x="4965192" y="4590288"/>
            <a:ext cx="822960" cy="164592"/>
          </a:xfrm>
          <a:prstGeom prst="rect">
            <a:avLst/>
          </a:prstGeom>
          <a:noFill/>
          <a:ln/>
        </p:spPr>
        <p:txBody>
          <a:bodyPr wrap="square" lIns="0" tIns="0" rIns="0" bIns="0" rtlCol="0" anchor="ctr">
            <a:normAutofit/>
          </a:bodyPr>
          <a:lstStyle/>
          <a:p>
            <a:pPr marL="0" indent="0" algn="ctr">
              <a:buNone/>
            </a:pPr>
            <a:r>
              <a:rPr lang="en-US" sz="680" dirty="0">
                <a:solidFill>
                  <a:srgbClr val="334155"/>
                </a:solidFill>
              </a:rPr>
              <a:t>External / high-risk action</a:t>
            </a:r>
            <a:endParaRPr lang="en-US" sz="680" dirty="0"/>
          </a:p>
        </p:txBody>
      </p:sp>
      <p:sp>
        <p:nvSpPr>
          <p:cNvPr id="45" name="Shape 43"/>
          <p:cNvSpPr/>
          <p:nvPr/>
        </p:nvSpPr>
        <p:spPr>
          <a:xfrm>
            <a:off x="6583680" y="3749040"/>
            <a:ext cx="4389120" cy="54864"/>
          </a:xfrm>
          <a:prstGeom prst="rect">
            <a:avLst/>
          </a:prstGeom>
          <a:solidFill>
            <a:srgbClr val="0F766E"/>
          </a:solidFill>
          <a:ln w="12700">
            <a:solidFill>
              <a:srgbClr val="0F766E">
                <a:alpha val="0"/>
              </a:srgbClr>
            </a:solidFill>
            <a:prstDash val="solid"/>
          </a:ln>
        </p:spPr>
        <p:txBody>
          <a:bodyPr/>
          <a:lstStyle/>
          <a:p>
            <a:endParaRPr lang="en-US"/>
          </a:p>
        </p:txBody>
      </p:sp>
      <p:sp>
        <p:nvSpPr>
          <p:cNvPr id="46" name="Text 44"/>
          <p:cNvSpPr/>
          <p:nvPr/>
        </p:nvSpPr>
        <p:spPr>
          <a:xfrm>
            <a:off x="6583680" y="3840480"/>
            <a:ext cx="4389120" cy="219456"/>
          </a:xfrm>
          <a:prstGeom prst="rect">
            <a:avLst/>
          </a:prstGeom>
          <a:noFill/>
          <a:ln/>
        </p:spPr>
        <p:txBody>
          <a:bodyPr wrap="square" lIns="0" tIns="0" rIns="0" bIns="0" rtlCol="0" anchor="ctr"/>
          <a:lstStyle/>
          <a:p>
            <a:pPr marL="0" indent="0">
              <a:buNone/>
            </a:pPr>
            <a:r>
              <a:rPr lang="en-US" sz="1000" b="1" dirty="0">
                <a:solidFill>
                  <a:srgbClr val="0F766E"/>
                </a:solidFill>
              </a:rPr>
              <a:t>CONTROL PATTERN</a:t>
            </a:r>
            <a:endParaRPr lang="en-US" sz="1000" dirty="0"/>
          </a:p>
        </p:txBody>
      </p:sp>
      <p:sp>
        <p:nvSpPr>
          <p:cNvPr id="47" name="Text 45"/>
          <p:cNvSpPr/>
          <p:nvPr/>
        </p:nvSpPr>
        <p:spPr>
          <a:xfrm>
            <a:off x="6629400" y="4197096"/>
            <a:ext cx="146304" cy="182880"/>
          </a:xfrm>
          <a:prstGeom prst="rect">
            <a:avLst/>
          </a:prstGeom>
          <a:noFill/>
          <a:ln/>
        </p:spPr>
        <p:txBody>
          <a:bodyPr wrap="square" lIns="0" tIns="0" rIns="0" bIns="0" rtlCol="0" anchor="ctr"/>
          <a:lstStyle/>
          <a:p>
            <a:pPr marL="0" indent="0">
              <a:buNone/>
            </a:pPr>
            <a:r>
              <a:rPr lang="en-US" sz="1120" b="1" dirty="0">
                <a:solidFill>
                  <a:srgbClr val="2563EB"/>
                </a:solidFill>
              </a:rPr>
              <a:t>•</a:t>
            </a:r>
            <a:endParaRPr lang="en-US" sz="1120" dirty="0"/>
          </a:p>
        </p:txBody>
      </p:sp>
      <p:sp>
        <p:nvSpPr>
          <p:cNvPr id="48" name="Text 46"/>
          <p:cNvSpPr/>
          <p:nvPr/>
        </p:nvSpPr>
        <p:spPr>
          <a:xfrm>
            <a:off x="6830568" y="4187952"/>
            <a:ext cx="4114800" cy="310896"/>
          </a:xfrm>
          <a:prstGeom prst="rect">
            <a:avLst/>
          </a:prstGeom>
          <a:noFill/>
          <a:ln/>
        </p:spPr>
        <p:txBody>
          <a:bodyPr wrap="square" lIns="0" tIns="0" rIns="0" bIns="0" rtlCol="0" anchor="ctr">
            <a:normAutofit/>
          </a:bodyPr>
          <a:lstStyle/>
          <a:p>
            <a:pPr marL="0" indent="0">
              <a:buNone/>
            </a:pPr>
            <a:r>
              <a:rPr lang="en-US" sz="1120" dirty="0">
                <a:solidFill>
                  <a:srgbClr val="111827"/>
                </a:solidFill>
              </a:rPr>
              <a:t>Separate READ and WRITE</a:t>
            </a:r>
            <a:endParaRPr lang="en-US" sz="1120" dirty="0"/>
          </a:p>
        </p:txBody>
      </p:sp>
      <p:sp>
        <p:nvSpPr>
          <p:cNvPr id="49" name="Text 47"/>
          <p:cNvSpPr/>
          <p:nvPr/>
        </p:nvSpPr>
        <p:spPr>
          <a:xfrm>
            <a:off x="6629400" y="4581144"/>
            <a:ext cx="146304" cy="182880"/>
          </a:xfrm>
          <a:prstGeom prst="rect">
            <a:avLst/>
          </a:prstGeom>
          <a:noFill/>
          <a:ln/>
        </p:spPr>
        <p:txBody>
          <a:bodyPr wrap="square" lIns="0" tIns="0" rIns="0" bIns="0" rtlCol="0" anchor="ctr"/>
          <a:lstStyle/>
          <a:p>
            <a:pPr marL="0" indent="0">
              <a:buNone/>
            </a:pPr>
            <a:r>
              <a:rPr lang="en-US" sz="1120" b="1" dirty="0">
                <a:solidFill>
                  <a:srgbClr val="2563EB"/>
                </a:solidFill>
              </a:rPr>
              <a:t>•</a:t>
            </a:r>
            <a:endParaRPr lang="en-US" sz="1120" dirty="0"/>
          </a:p>
        </p:txBody>
      </p:sp>
      <p:sp>
        <p:nvSpPr>
          <p:cNvPr id="50" name="Text 48"/>
          <p:cNvSpPr/>
          <p:nvPr/>
        </p:nvSpPr>
        <p:spPr>
          <a:xfrm>
            <a:off x="6830568" y="4572000"/>
            <a:ext cx="4114800" cy="310896"/>
          </a:xfrm>
          <a:prstGeom prst="rect">
            <a:avLst/>
          </a:prstGeom>
          <a:noFill/>
          <a:ln/>
        </p:spPr>
        <p:txBody>
          <a:bodyPr wrap="square" lIns="0" tIns="0" rIns="0" bIns="0" rtlCol="0" anchor="ctr">
            <a:normAutofit/>
          </a:bodyPr>
          <a:lstStyle/>
          <a:p>
            <a:pPr marL="0" indent="0">
              <a:buNone/>
            </a:pPr>
            <a:r>
              <a:rPr lang="en-US" sz="1120" dirty="0">
                <a:solidFill>
                  <a:srgbClr val="111827"/>
                </a:solidFill>
              </a:rPr>
              <a:t>Scoped tokens; no broad propagation</a:t>
            </a:r>
            <a:endParaRPr lang="en-US" sz="1120" dirty="0"/>
          </a:p>
        </p:txBody>
      </p:sp>
      <p:sp>
        <p:nvSpPr>
          <p:cNvPr id="51" name="Text 49"/>
          <p:cNvSpPr/>
          <p:nvPr/>
        </p:nvSpPr>
        <p:spPr>
          <a:xfrm>
            <a:off x="6629400" y="4965192"/>
            <a:ext cx="146304" cy="182880"/>
          </a:xfrm>
          <a:prstGeom prst="rect">
            <a:avLst/>
          </a:prstGeom>
          <a:noFill/>
          <a:ln/>
        </p:spPr>
        <p:txBody>
          <a:bodyPr wrap="square" lIns="0" tIns="0" rIns="0" bIns="0" rtlCol="0" anchor="ctr"/>
          <a:lstStyle/>
          <a:p>
            <a:pPr marL="0" indent="0">
              <a:buNone/>
            </a:pPr>
            <a:r>
              <a:rPr lang="en-US" sz="1120" b="1" dirty="0">
                <a:solidFill>
                  <a:srgbClr val="2563EB"/>
                </a:solidFill>
              </a:rPr>
              <a:t>•</a:t>
            </a:r>
            <a:endParaRPr lang="en-US" sz="1120" dirty="0"/>
          </a:p>
        </p:txBody>
      </p:sp>
      <p:sp>
        <p:nvSpPr>
          <p:cNvPr id="52" name="Text 50"/>
          <p:cNvSpPr/>
          <p:nvPr/>
        </p:nvSpPr>
        <p:spPr>
          <a:xfrm>
            <a:off x="6830568" y="4956048"/>
            <a:ext cx="4114800" cy="310896"/>
          </a:xfrm>
          <a:prstGeom prst="rect">
            <a:avLst/>
          </a:prstGeom>
          <a:noFill/>
          <a:ln/>
        </p:spPr>
        <p:txBody>
          <a:bodyPr wrap="square" lIns="0" tIns="0" rIns="0" bIns="0" rtlCol="0" anchor="ctr">
            <a:normAutofit/>
          </a:bodyPr>
          <a:lstStyle/>
          <a:p>
            <a:pPr marL="0" indent="0">
              <a:buNone/>
            </a:pPr>
            <a:r>
              <a:rPr lang="en-US" sz="1120" dirty="0">
                <a:solidFill>
                  <a:srgbClr val="111827"/>
                </a:solidFill>
              </a:rPr>
              <a:t>HIL gate for high-risk writes</a:t>
            </a:r>
            <a:endParaRPr lang="en-US" sz="1120" dirty="0"/>
          </a:p>
        </p:txBody>
      </p:sp>
      <p:sp>
        <p:nvSpPr>
          <p:cNvPr id="53" name="Text 51"/>
          <p:cNvSpPr/>
          <p:nvPr/>
        </p:nvSpPr>
        <p:spPr>
          <a:xfrm>
            <a:off x="6629400" y="5349240"/>
            <a:ext cx="146304" cy="182880"/>
          </a:xfrm>
          <a:prstGeom prst="rect">
            <a:avLst/>
          </a:prstGeom>
          <a:noFill/>
          <a:ln/>
        </p:spPr>
        <p:txBody>
          <a:bodyPr wrap="square" lIns="0" tIns="0" rIns="0" bIns="0" rtlCol="0" anchor="ctr"/>
          <a:lstStyle/>
          <a:p>
            <a:pPr marL="0" indent="0">
              <a:buNone/>
            </a:pPr>
            <a:r>
              <a:rPr lang="en-US" sz="1120" b="1" dirty="0">
                <a:solidFill>
                  <a:srgbClr val="2563EB"/>
                </a:solidFill>
              </a:rPr>
              <a:t>•</a:t>
            </a:r>
            <a:endParaRPr lang="en-US" sz="1120" dirty="0"/>
          </a:p>
        </p:txBody>
      </p:sp>
      <p:sp>
        <p:nvSpPr>
          <p:cNvPr id="54" name="Text 52"/>
          <p:cNvSpPr/>
          <p:nvPr/>
        </p:nvSpPr>
        <p:spPr>
          <a:xfrm>
            <a:off x="6830568" y="5340096"/>
            <a:ext cx="4114800" cy="310896"/>
          </a:xfrm>
          <a:prstGeom prst="rect">
            <a:avLst/>
          </a:prstGeom>
          <a:noFill/>
          <a:ln/>
        </p:spPr>
        <p:txBody>
          <a:bodyPr wrap="square" lIns="0" tIns="0" rIns="0" bIns="0" rtlCol="0" anchor="ctr">
            <a:normAutofit/>
          </a:bodyPr>
          <a:lstStyle/>
          <a:p>
            <a:pPr marL="0" indent="0">
              <a:buNone/>
            </a:pPr>
            <a:r>
              <a:rPr lang="en-US" sz="1120" dirty="0">
                <a:solidFill>
                  <a:srgbClr val="111827"/>
                </a:solidFill>
              </a:rPr>
              <a:t>Audit every invocation</a:t>
            </a:r>
            <a:endParaRPr lang="en-US" sz="1120" dirty="0"/>
          </a:p>
        </p:txBody>
      </p:sp>
      <p:sp>
        <p:nvSpPr>
          <p:cNvPr id="55" name="Text 53"/>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1</a:t>
            </a:r>
            <a:endParaRPr lang="en-US" sz="780" dirty="0"/>
          </a:p>
        </p:txBody>
      </p:sp>
      <p:sp>
        <p:nvSpPr>
          <p:cNvPr id="56" name="Text 54"/>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Adoption Roadmap</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lstStyle/>
          <a:p>
            <a:pPr marL="0" indent="0">
              <a:buNone/>
            </a:pPr>
            <a:r>
              <a:rPr lang="en-US" sz="1050" dirty="0">
                <a:solidFill>
                  <a:srgbClr val="64748B"/>
                </a:solidFill>
              </a:rPr>
              <a:t>Move from standards and pilots to an enterprise-grade MCP capability plane.</a:t>
            </a:r>
            <a:endParaRPr lang="en-US" sz="1050" dirty="0"/>
          </a:p>
        </p:txBody>
      </p:sp>
      <p:sp>
        <p:nvSpPr>
          <p:cNvPr id="6" name="Shape 4"/>
          <p:cNvSpPr/>
          <p:nvPr/>
        </p:nvSpPr>
        <p:spPr>
          <a:xfrm>
            <a:off x="868680" y="1508760"/>
            <a:ext cx="3291840" cy="4023360"/>
          </a:xfrm>
          <a:prstGeom prst="roundRect">
            <a:avLst>
              <a:gd name="adj" fmla="val 2222"/>
            </a:avLst>
          </a:prstGeom>
          <a:solidFill>
            <a:srgbClr val="FFFFFF"/>
          </a:solidFill>
          <a:ln w="12700">
            <a:solidFill>
              <a:srgbClr val="CBD5E1"/>
            </a:solidFill>
            <a:prstDash val="solid"/>
          </a:ln>
        </p:spPr>
        <p:txBody>
          <a:bodyPr/>
          <a:lstStyle/>
          <a:p>
            <a:endParaRPr lang="en-US"/>
          </a:p>
        </p:txBody>
      </p:sp>
      <p:sp>
        <p:nvSpPr>
          <p:cNvPr id="7" name="Shape 5"/>
          <p:cNvSpPr/>
          <p:nvPr/>
        </p:nvSpPr>
        <p:spPr>
          <a:xfrm>
            <a:off x="868680" y="1508760"/>
            <a:ext cx="3291840" cy="438912"/>
          </a:xfrm>
          <a:prstGeom prst="rect">
            <a:avLst/>
          </a:prstGeom>
          <a:solidFill>
            <a:srgbClr val="2563EB"/>
          </a:solidFill>
          <a:ln w="12700">
            <a:solidFill>
              <a:srgbClr val="2563EB">
                <a:alpha val="0"/>
              </a:srgbClr>
            </a:solidFill>
            <a:prstDash val="solid"/>
          </a:ln>
        </p:spPr>
        <p:txBody>
          <a:bodyPr/>
          <a:lstStyle/>
          <a:p>
            <a:endParaRPr lang="en-US"/>
          </a:p>
        </p:txBody>
      </p:sp>
      <p:sp>
        <p:nvSpPr>
          <p:cNvPr id="8" name="Text 6"/>
          <p:cNvSpPr/>
          <p:nvPr/>
        </p:nvSpPr>
        <p:spPr>
          <a:xfrm>
            <a:off x="1005840" y="1673352"/>
            <a:ext cx="914400" cy="109728"/>
          </a:xfrm>
          <a:prstGeom prst="rect">
            <a:avLst/>
          </a:prstGeom>
          <a:noFill/>
          <a:ln/>
        </p:spPr>
        <p:txBody>
          <a:bodyPr wrap="square" lIns="508" tIns="508" rIns="508" bIns="508" rtlCol="0" anchor="ctr">
            <a:normAutofit/>
          </a:bodyPr>
          <a:lstStyle/>
          <a:p>
            <a:pPr marL="0" indent="0" algn="l">
              <a:buNone/>
            </a:pPr>
            <a:r>
              <a:rPr lang="en-US" sz="900" b="1" dirty="0">
                <a:solidFill>
                  <a:srgbClr val="FFFFFF"/>
                </a:solidFill>
              </a:rPr>
              <a:t>PHASE 1</a:t>
            </a:r>
            <a:endParaRPr lang="en-US" sz="900" dirty="0"/>
          </a:p>
        </p:txBody>
      </p:sp>
      <p:sp>
        <p:nvSpPr>
          <p:cNvPr id="9" name="Text 7"/>
          <p:cNvSpPr/>
          <p:nvPr/>
        </p:nvSpPr>
        <p:spPr>
          <a:xfrm>
            <a:off x="1097280" y="2240280"/>
            <a:ext cx="2651760" cy="274320"/>
          </a:xfrm>
          <a:prstGeom prst="rect">
            <a:avLst/>
          </a:prstGeom>
          <a:noFill/>
          <a:ln/>
        </p:spPr>
        <p:txBody>
          <a:bodyPr wrap="square" lIns="0" tIns="0" rIns="0" bIns="0" rtlCol="0" anchor="ctr"/>
          <a:lstStyle/>
          <a:p>
            <a:pPr marL="0" indent="0">
              <a:buNone/>
            </a:pPr>
            <a:r>
              <a:rPr lang="en-US" sz="1700" b="1" dirty="0">
                <a:solidFill>
                  <a:srgbClr val="0B1F33"/>
                </a:solidFill>
              </a:rPr>
              <a:t>Foundation</a:t>
            </a:r>
            <a:endParaRPr lang="en-US" sz="1700" dirty="0"/>
          </a:p>
        </p:txBody>
      </p:sp>
      <p:sp>
        <p:nvSpPr>
          <p:cNvPr id="10" name="Text 8"/>
          <p:cNvSpPr/>
          <p:nvPr/>
        </p:nvSpPr>
        <p:spPr>
          <a:xfrm>
            <a:off x="1097280" y="2587752"/>
            <a:ext cx="2651760" cy="182880"/>
          </a:xfrm>
          <a:prstGeom prst="rect">
            <a:avLst/>
          </a:prstGeom>
          <a:noFill/>
          <a:ln/>
        </p:spPr>
        <p:txBody>
          <a:bodyPr wrap="square" lIns="0" tIns="0" rIns="0" bIns="0" rtlCol="0" anchor="ctr"/>
          <a:lstStyle/>
          <a:p>
            <a:pPr marL="0" indent="0">
              <a:buNone/>
            </a:pPr>
            <a:r>
              <a:rPr lang="en-US" sz="1050" dirty="0">
                <a:solidFill>
                  <a:srgbClr val="64748B"/>
                </a:solidFill>
              </a:rPr>
              <a:t>July–Sep 2026</a:t>
            </a:r>
            <a:endParaRPr lang="en-US" sz="1050" dirty="0"/>
          </a:p>
        </p:txBody>
      </p:sp>
      <p:sp>
        <p:nvSpPr>
          <p:cNvPr id="11" name="Text 9"/>
          <p:cNvSpPr/>
          <p:nvPr/>
        </p:nvSpPr>
        <p:spPr>
          <a:xfrm>
            <a:off x="1097280" y="3072384"/>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12" name="Text 10"/>
          <p:cNvSpPr/>
          <p:nvPr/>
        </p:nvSpPr>
        <p:spPr>
          <a:xfrm>
            <a:off x="1298448" y="3063240"/>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MCP standards</a:t>
            </a:r>
            <a:endParaRPr lang="en-US" sz="1150" dirty="0"/>
          </a:p>
        </p:txBody>
      </p:sp>
      <p:sp>
        <p:nvSpPr>
          <p:cNvPr id="13" name="Text 11"/>
          <p:cNvSpPr/>
          <p:nvPr/>
        </p:nvSpPr>
        <p:spPr>
          <a:xfrm>
            <a:off x="1097280" y="3456432"/>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14" name="Text 12"/>
          <p:cNvSpPr/>
          <p:nvPr/>
        </p:nvSpPr>
        <p:spPr>
          <a:xfrm>
            <a:off x="1298448" y="3447288"/>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Naming + schema rules</a:t>
            </a:r>
            <a:endParaRPr lang="en-US" sz="1150" dirty="0"/>
          </a:p>
        </p:txBody>
      </p:sp>
      <p:sp>
        <p:nvSpPr>
          <p:cNvPr id="15" name="Text 13"/>
          <p:cNvSpPr/>
          <p:nvPr/>
        </p:nvSpPr>
        <p:spPr>
          <a:xfrm>
            <a:off x="1097280" y="3840480"/>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16" name="Text 14"/>
          <p:cNvSpPr/>
          <p:nvPr/>
        </p:nvSpPr>
        <p:spPr>
          <a:xfrm>
            <a:off x="1298448" y="3831336"/>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2–3 pilot MCP servers</a:t>
            </a:r>
            <a:endParaRPr lang="en-US" sz="1150" dirty="0"/>
          </a:p>
        </p:txBody>
      </p:sp>
      <p:sp>
        <p:nvSpPr>
          <p:cNvPr id="17" name="Text 15"/>
          <p:cNvSpPr/>
          <p:nvPr/>
        </p:nvSpPr>
        <p:spPr>
          <a:xfrm>
            <a:off x="1097280" y="4224528"/>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18" name="Text 16"/>
          <p:cNvSpPr/>
          <p:nvPr/>
        </p:nvSpPr>
        <p:spPr>
          <a:xfrm>
            <a:off x="1298448" y="4215384"/>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Basic registry</a:t>
            </a:r>
            <a:endParaRPr lang="en-US" sz="1150" dirty="0"/>
          </a:p>
        </p:txBody>
      </p:sp>
      <p:sp>
        <p:nvSpPr>
          <p:cNvPr id="19" name="Text 17"/>
          <p:cNvSpPr/>
          <p:nvPr/>
        </p:nvSpPr>
        <p:spPr>
          <a:xfrm>
            <a:off x="1097280" y="4608576"/>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20" name="Text 18"/>
          <p:cNvSpPr/>
          <p:nvPr/>
        </p:nvSpPr>
        <p:spPr>
          <a:xfrm>
            <a:off x="1298448" y="4599432"/>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Basic telemetry</a:t>
            </a:r>
            <a:endParaRPr lang="en-US" sz="1150" dirty="0"/>
          </a:p>
        </p:txBody>
      </p:sp>
      <p:sp>
        <p:nvSpPr>
          <p:cNvPr id="21" name="Shape 19"/>
          <p:cNvSpPr/>
          <p:nvPr/>
        </p:nvSpPr>
        <p:spPr>
          <a:xfrm>
            <a:off x="4206240" y="3337560"/>
            <a:ext cx="484632" cy="0"/>
          </a:xfrm>
          <a:prstGeom prst="line">
            <a:avLst/>
          </a:prstGeom>
          <a:noFill/>
          <a:ln w="13970">
            <a:solidFill>
              <a:srgbClr val="64748B"/>
            </a:solidFill>
            <a:prstDash val="solid"/>
            <a:headEnd type="none"/>
            <a:tailEnd type="triangle"/>
          </a:ln>
        </p:spPr>
        <p:txBody>
          <a:bodyPr/>
          <a:lstStyle/>
          <a:p>
            <a:endParaRPr lang="en-US"/>
          </a:p>
        </p:txBody>
      </p:sp>
      <p:sp>
        <p:nvSpPr>
          <p:cNvPr id="22" name="Shape 20"/>
          <p:cNvSpPr/>
          <p:nvPr/>
        </p:nvSpPr>
        <p:spPr>
          <a:xfrm>
            <a:off x="4526280" y="1508760"/>
            <a:ext cx="3291840" cy="4023360"/>
          </a:xfrm>
          <a:prstGeom prst="roundRect">
            <a:avLst>
              <a:gd name="adj" fmla="val 2222"/>
            </a:avLst>
          </a:prstGeom>
          <a:solidFill>
            <a:srgbClr val="FFFFFF"/>
          </a:solidFill>
          <a:ln w="12700">
            <a:solidFill>
              <a:srgbClr val="CBD5E1"/>
            </a:solidFill>
            <a:prstDash val="solid"/>
          </a:ln>
        </p:spPr>
        <p:txBody>
          <a:bodyPr/>
          <a:lstStyle/>
          <a:p>
            <a:endParaRPr lang="en-US"/>
          </a:p>
        </p:txBody>
      </p:sp>
      <p:sp>
        <p:nvSpPr>
          <p:cNvPr id="23" name="Shape 21"/>
          <p:cNvSpPr/>
          <p:nvPr/>
        </p:nvSpPr>
        <p:spPr>
          <a:xfrm>
            <a:off x="4526280" y="1508760"/>
            <a:ext cx="3291840" cy="438912"/>
          </a:xfrm>
          <a:prstGeom prst="rect">
            <a:avLst/>
          </a:prstGeom>
          <a:solidFill>
            <a:srgbClr val="0F766E"/>
          </a:solidFill>
          <a:ln w="12700">
            <a:solidFill>
              <a:srgbClr val="0F766E">
                <a:alpha val="0"/>
              </a:srgbClr>
            </a:solidFill>
            <a:prstDash val="solid"/>
          </a:ln>
        </p:spPr>
        <p:txBody>
          <a:bodyPr/>
          <a:lstStyle/>
          <a:p>
            <a:endParaRPr lang="en-US"/>
          </a:p>
        </p:txBody>
      </p:sp>
      <p:sp>
        <p:nvSpPr>
          <p:cNvPr id="24" name="Text 22"/>
          <p:cNvSpPr/>
          <p:nvPr/>
        </p:nvSpPr>
        <p:spPr>
          <a:xfrm>
            <a:off x="4663440" y="1673352"/>
            <a:ext cx="914400" cy="109728"/>
          </a:xfrm>
          <a:prstGeom prst="rect">
            <a:avLst/>
          </a:prstGeom>
          <a:noFill/>
          <a:ln/>
        </p:spPr>
        <p:txBody>
          <a:bodyPr wrap="square" lIns="508" tIns="508" rIns="508" bIns="508" rtlCol="0" anchor="ctr">
            <a:normAutofit/>
          </a:bodyPr>
          <a:lstStyle/>
          <a:p>
            <a:pPr marL="0" indent="0" algn="l">
              <a:buNone/>
            </a:pPr>
            <a:r>
              <a:rPr lang="en-US" sz="900" b="1" dirty="0">
                <a:solidFill>
                  <a:srgbClr val="FFFFFF"/>
                </a:solidFill>
              </a:rPr>
              <a:t>PHASE 2</a:t>
            </a:r>
            <a:endParaRPr lang="en-US" sz="900" dirty="0"/>
          </a:p>
        </p:txBody>
      </p:sp>
      <p:sp>
        <p:nvSpPr>
          <p:cNvPr id="25" name="Text 23"/>
          <p:cNvSpPr/>
          <p:nvPr/>
        </p:nvSpPr>
        <p:spPr>
          <a:xfrm>
            <a:off x="4754880" y="2240280"/>
            <a:ext cx="2651760" cy="274320"/>
          </a:xfrm>
          <a:prstGeom prst="rect">
            <a:avLst/>
          </a:prstGeom>
          <a:noFill/>
          <a:ln/>
        </p:spPr>
        <p:txBody>
          <a:bodyPr wrap="square" lIns="0" tIns="0" rIns="0" bIns="0" rtlCol="0" anchor="ctr"/>
          <a:lstStyle/>
          <a:p>
            <a:pPr marL="0" indent="0">
              <a:buNone/>
            </a:pPr>
            <a:r>
              <a:rPr lang="en-US" sz="1700" b="1" dirty="0">
                <a:solidFill>
                  <a:srgbClr val="0B1F33"/>
                </a:solidFill>
              </a:rPr>
              <a:t>Enterprise Control</a:t>
            </a:r>
            <a:endParaRPr lang="en-US" sz="1700" dirty="0"/>
          </a:p>
        </p:txBody>
      </p:sp>
      <p:sp>
        <p:nvSpPr>
          <p:cNvPr id="26" name="Text 24"/>
          <p:cNvSpPr/>
          <p:nvPr/>
        </p:nvSpPr>
        <p:spPr>
          <a:xfrm>
            <a:off x="4754880" y="2587752"/>
            <a:ext cx="2651760" cy="182880"/>
          </a:xfrm>
          <a:prstGeom prst="rect">
            <a:avLst/>
          </a:prstGeom>
          <a:noFill/>
          <a:ln/>
        </p:spPr>
        <p:txBody>
          <a:bodyPr wrap="square" lIns="0" tIns="0" rIns="0" bIns="0" rtlCol="0" anchor="ctr"/>
          <a:lstStyle/>
          <a:p>
            <a:pPr marL="0" indent="0">
              <a:buNone/>
            </a:pPr>
            <a:r>
              <a:rPr lang="en-US" sz="1050" dirty="0">
                <a:solidFill>
                  <a:srgbClr val="64748B"/>
                </a:solidFill>
              </a:rPr>
              <a:t>Q4 2026</a:t>
            </a:r>
            <a:endParaRPr lang="en-US" sz="1050" dirty="0"/>
          </a:p>
        </p:txBody>
      </p:sp>
      <p:sp>
        <p:nvSpPr>
          <p:cNvPr id="27" name="Text 25"/>
          <p:cNvSpPr/>
          <p:nvPr/>
        </p:nvSpPr>
        <p:spPr>
          <a:xfrm>
            <a:off x="4754880" y="3072384"/>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28" name="Text 26"/>
          <p:cNvSpPr/>
          <p:nvPr/>
        </p:nvSpPr>
        <p:spPr>
          <a:xfrm>
            <a:off x="4956048" y="3063240"/>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MCP gateway</a:t>
            </a:r>
            <a:endParaRPr lang="en-US" sz="1150" dirty="0"/>
          </a:p>
        </p:txBody>
      </p:sp>
      <p:sp>
        <p:nvSpPr>
          <p:cNvPr id="29" name="Text 27"/>
          <p:cNvSpPr/>
          <p:nvPr/>
        </p:nvSpPr>
        <p:spPr>
          <a:xfrm>
            <a:off x="4754880" y="3456432"/>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30" name="Text 28"/>
          <p:cNvSpPr/>
          <p:nvPr/>
        </p:nvSpPr>
        <p:spPr>
          <a:xfrm>
            <a:off x="4956048" y="3447288"/>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Dynamic discovery</a:t>
            </a:r>
            <a:endParaRPr lang="en-US" sz="1150" dirty="0"/>
          </a:p>
        </p:txBody>
      </p:sp>
      <p:sp>
        <p:nvSpPr>
          <p:cNvPr id="31" name="Text 29"/>
          <p:cNvSpPr/>
          <p:nvPr/>
        </p:nvSpPr>
        <p:spPr>
          <a:xfrm>
            <a:off x="4754880" y="3840480"/>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32" name="Text 30"/>
          <p:cNvSpPr/>
          <p:nvPr/>
        </p:nvSpPr>
        <p:spPr>
          <a:xfrm>
            <a:off x="4956048" y="3831336"/>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RBAC / ABAC</a:t>
            </a:r>
            <a:endParaRPr lang="en-US" sz="1150" dirty="0"/>
          </a:p>
        </p:txBody>
      </p:sp>
      <p:sp>
        <p:nvSpPr>
          <p:cNvPr id="33" name="Text 31"/>
          <p:cNvSpPr/>
          <p:nvPr/>
        </p:nvSpPr>
        <p:spPr>
          <a:xfrm>
            <a:off x="4754880" y="4224528"/>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34" name="Text 32"/>
          <p:cNvSpPr/>
          <p:nvPr/>
        </p:nvSpPr>
        <p:spPr>
          <a:xfrm>
            <a:off x="4956048" y="4215384"/>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Token isolation</a:t>
            </a:r>
            <a:endParaRPr lang="en-US" sz="1150" dirty="0"/>
          </a:p>
        </p:txBody>
      </p:sp>
      <p:sp>
        <p:nvSpPr>
          <p:cNvPr id="35" name="Text 33"/>
          <p:cNvSpPr/>
          <p:nvPr/>
        </p:nvSpPr>
        <p:spPr>
          <a:xfrm>
            <a:off x="4754880" y="4608576"/>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36" name="Text 34"/>
          <p:cNvSpPr/>
          <p:nvPr/>
        </p:nvSpPr>
        <p:spPr>
          <a:xfrm>
            <a:off x="4956048" y="4599432"/>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Tool certification + HIL</a:t>
            </a:r>
            <a:endParaRPr lang="en-US" sz="1150" dirty="0"/>
          </a:p>
        </p:txBody>
      </p:sp>
      <p:sp>
        <p:nvSpPr>
          <p:cNvPr id="37" name="Shape 35"/>
          <p:cNvSpPr/>
          <p:nvPr/>
        </p:nvSpPr>
        <p:spPr>
          <a:xfrm>
            <a:off x="7863840" y="3337560"/>
            <a:ext cx="484632" cy="0"/>
          </a:xfrm>
          <a:prstGeom prst="line">
            <a:avLst/>
          </a:prstGeom>
          <a:noFill/>
          <a:ln w="13970">
            <a:solidFill>
              <a:srgbClr val="64748B"/>
            </a:solidFill>
            <a:prstDash val="solid"/>
            <a:headEnd type="none"/>
            <a:tailEnd type="triangle"/>
          </a:ln>
        </p:spPr>
        <p:txBody>
          <a:bodyPr/>
          <a:lstStyle/>
          <a:p>
            <a:endParaRPr lang="en-US"/>
          </a:p>
        </p:txBody>
      </p:sp>
      <p:sp>
        <p:nvSpPr>
          <p:cNvPr id="38" name="Shape 36"/>
          <p:cNvSpPr/>
          <p:nvPr/>
        </p:nvSpPr>
        <p:spPr>
          <a:xfrm>
            <a:off x="8183880" y="1508760"/>
            <a:ext cx="3291840" cy="4023360"/>
          </a:xfrm>
          <a:prstGeom prst="roundRect">
            <a:avLst>
              <a:gd name="adj" fmla="val 2222"/>
            </a:avLst>
          </a:prstGeom>
          <a:solidFill>
            <a:srgbClr val="FFFFFF"/>
          </a:solidFill>
          <a:ln w="12700">
            <a:solidFill>
              <a:srgbClr val="CBD5E1"/>
            </a:solidFill>
            <a:prstDash val="solid"/>
          </a:ln>
        </p:spPr>
        <p:txBody>
          <a:bodyPr/>
          <a:lstStyle/>
          <a:p>
            <a:endParaRPr lang="en-US"/>
          </a:p>
        </p:txBody>
      </p:sp>
      <p:sp>
        <p:nvSpPr>
          <p:cNvPr id="39" name="Shape 37"/>
          <p:cNvSpPr/>
          <p:nvPr/>
        </p:nvSpPr>
        <p:spPr>
          <a:xfrm>
            <a:off x="8183880" y="1508760"/>
            <a:ext cx="3291840" cy="438912"/>
          </a:xfrm>
          <a:prstGeom prst="rect">
            <a:avLst/>
          </a:prstGeom>
          <a:solidFill>
            <a:srgbClr val="6D28D9"/>
          </a:solidFill>
          <a:ln w="12700">
            <a:solidFill>
              <a:srgbClr val="6D28D9">
                <a:alpha val="0"/>
              </a:srgbClr>
            </a:solidFill>
            <a:prstDash val="solid"/>
          </a:ln>
        </p:spPr>
        <p:txBody>
          <a:bodyPr/>
          <a:lstStyle/>
          <a:p>
            <a:endParaRPr lang="en-US"/>
          </a:p>
        </p:txBody>
      </p:sp>
      <p:sp>
        <p:nvSpPr>
          <p:cNvPr id="40" name="Text 38"/>
          <p:cNvSpPr/>
          <p:nvPr/>
        </p:nvSpPr>
        <p:spPr>
          <a:xfrm>
            <a:off x="8321040" y="1673352"/>
            <a:ext cx="914400" cy="109728"/>
          </a:xfrm>
          <a:prstGeom prst="rect">
            <a:avLst/>
          </a:prstGeom>
          <a:noFill/>
          <a:ln/>
        </p:spPr>
        <p:txBody>
          <a:bodyPr wrap="square" lIns="508" tIns="508" rIns="508" bIns="508" rtlCol="0" anchor="ctr">
            <a:normAutofit/>
          </a:bodyPr>
          <a:lstStyle/>
          <a:p>
            <a:pPr marL="0" indent="0" algn="l">
              <a:buNone/>
            </a:pPr>
            <a:r>
              <a:rPr lang="en-US" sz="900" b="1" dirty="0">
                <a:solidFill>
                  <a:srgbClr val="FFFFFF"/>
                </a:solidFill>
              </a:rPr>
              <a:t>PHASE 3</a:t>
            </a:r>
            <a:endParaRPr lang="en-US" sz="900" dirty="0"/>
          </a:p>
        </p:txBody>
      </p:sp>
      <p:sp>
        <p:nvSpPr>
          <p:cNvPr id="41" name="Text 39"/>
          <p:cNvSpPr/>
          <p:nvPr/>
        </p:nvSpPr>
        <p:spPr>
          <a:xfrm>
            <a:off x="8412480" y="2240280"/>
            <a:ext cx="2651760" cy="274320"/>
          </a:xfrm>
          <a:prstGeom prst="rect">
            <a:avLst/>
          </a:prstGeom>
          <a:noFill/>
          <a:ln/>
        </p:spPr>
        <p:txBody>
          <a:bodyPr wrap="square" lIns="0" tIns="0" rIns="0" bIns="0" rtlCol="0" anchor="ctr"/>
          <a:lstStyle/>
          <a:p>
            <a:pPr marL="0" indent="0">
              <a:buNone/>
            </a:pPr>
            <a:r>
              <a:rPr lang="en-US" sz="1700" b="1" dirty="0">
                <a:solidFill>
                  <a:srgbClr val="0B1F33"/>
                </a:solidFill>
              </a:rPr>
              <a:t>Scale</a:t>
            </a:r>
            <a:endParaRPr lang="en-US" sz="1700" dirty="0"/>
          </a:p>
        </p:txBody>
      </p:sp>
      <p:sp>
        <p:nvSpPr>
          <p:cNvPr id="42" name="Text 40"/>
          <p:cNvSpPr/>
          <p:nvPr/>
        </p:nvSpPr>
        <p:spPr>
          <a:xfrm>
            <a:off x="8412480" y="2587752"/>
            <a:ext cx="2651760" cy="182880"/>
          </a:xfrm>
          <a:prstGeom prst="rect">
            <a:avLst/>
          </a:prstGeom>
          <a:noFill/>
          <a:ln/>
        </p:spPr>
        <p:txBody>
          <a:bodyPr wrap="square" lIns="0" tIns="0" rIns="0" bIns="0" rtlCol="0" anchor="ctr"/>
          <a:lstStyle/>
          <a:p>
            <a:pPr marL="0" indent="0">
              <a:buNone/>
            </a:pPr>
            <a:r>
              <a:rPr lang="en-US" sz="1050" dirty="0">
                <a:solidFill>
                  <a:srgbClr val="64748B"/>
                </a:solidFill>
              </a:rPr>
              <a:t>2027</a:t>
            </a:r>
            <a:endParaRPr lang="en-US" sz="1050" dirty="0"/>
          </a:p>
        </p:txBody>
      </p:sp>
      <p:sp>
        <p:nvSpPr>
          <p:cNvPr id="43" name="Text 41"/>
          <p:cNvSpPr/>
          <p:nvPr/>
        </p:nvSpPr>
        <p:spPr>
          <a:xfrm>
            <a:off x="8412480" y="3072384"/>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44" name="Text 42"/>
          <p:cNvSpPr/>
          <p:nvPr/>
        </p:nvSpPr>
        <p:spPr>
          <a:xfrm>
            <a:off x="8613648" y="3063240"/>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Semantic tool marketplace</a:t>
            </a:r>
            <a:endParaRPr lang="en-US" sz="1150" dirty="0"/>
          </a:p>
        </p:txBody>
      </p:sp>
      <p:sp>
        <p:nvSpPr>
          <p:cNvPr id="45" name="Text 43"/>
          <p:cNvSpPr/>
          <p:nvPr/>
        </p:nvSpPr>
        <p:spPr>
          <a:xfrm>
            <a:off x="8412480" y="3456432"/>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46" name="Text 44"/>
          <p:cNvSpPr/>
          <p:nvPr/>
        </p:nvSpPr>
        <p:spPr>
          <a:xfrm>
            <a:off x="8613648" y="3447288"/>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Policy-as-code</a:t>
            </a:r>
            <a:endParaRPr lang="en-US" sz="1150" dirty="0"/>
          </a:p>
        </p:txBody>
      </p:sp>
      <p:sp>
        <p:nvSpPr>
          <p:cNvPr id="47" name="Text 45"/>
          <p:cNvSpPr/>
          <p:nvPr/>
        </p:nvSpPr>
        <p:spPr>
          <a:xfrm>
            <a:off x="8412480" y="3840480"/>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48" name="Text 46"/>
          <p:cNvSpPr/>
          <p:nvPr/>
        </p:nvSpPr>
        <p:spPr>
          <a:xfrm>
            <a:off x="8613648" y="3831336"/>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Automated eval gates</a:t>
            </a:r>
            <a:endParaRPr lang="en-US" sz="1150" dirty="0"/>
          </a:p>
        </p:txBody>
      </p:sp>
      <p:sp>
        <p:nvSpPr>
          <p:cNvPr id="49" name="Text 47"/>
          <p:cNvSpPr/>
          <p:nvPr/>
        </p:nvSpPr>
        <p:spPr>
          <a:xfrm>
            <a:off x="8412480" y="4224528"/>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50" name="Text 48"/>
          <p:cNvSpPr/>
          <p:nvPr/>
        </p:nvSpPr>
        <p:spPr>
          <a:xfrm>
            <a:off x="8613648" y="4215384"/>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Cross-agent reuse</a:t>
            </a:r>
            <a:endParaRPr lang="en-US" sz="1150" dirty="0"/>
          </a:p>
        </p:txBody>
      </p:sp>
      <p:sp>
        <p:nvSpPr>
          <p:cNvPr id="51" name="Text 49"/>
          <p:cNvSpPr/>
          <p:nvPr/>
        </p:nvSpPr>
        <p:spPr>
          <a:xfrm>
            <a:off x="8412480" y="4608576"/>
            <a:ext cx="146304" cy="182880"/>
          </a:xfrm>
          <a:prstGeom prst="rect">
            <a:avLst/>
          </a:prstGeom>
          <a:noFill/>
          <a:ln/>
        </p:spPr>
        <p:txBody>
          <a:bodyPr wrap="square" lIns="0" tIns="0" rIns="0" bIns="0" rtlCol="0" anchor="ctr"/>
          <a:lstStyle/>
          <a:p>
            <a:pPr marL="0" indent="0">
              <a:buNone/>
            </a:pPr>
            <a:r>
              <a:rPr lang="en-US" sz="1150" b="1" dirty="0">
                <a:solidFill>
                  <a:srgbClr val="2563EB"/>
                </a:solidFill>
              </a:rPr>
              <a:t>•</a:t>
            </a:r>
            <a:endParaRPr lang="en-US" sz="1150" dirty="0"/>
          </a:p>
        </p:txBody>
      </p:sp>
      <p:sp>
        <p:nvSpPr>
          <p:cNvPr id="52" name="Text 50"/>
          <p:cNvSpPr/>
          <p:nvPr/>
        </p:nvSpPr>
        <p:spPr>
          <a:xfrm>
            <a:off x="8613648" y="4599432"/>
            <a:ext cx="2743200" cy="310896"/>
          </a:xfrm>
          <a:prstGeom prst="rect">
            <a:avLst/>
          </a:prstGeom>
          <a:noFill/>
          <a:ln/>
        </p:spPr>
        <p:txBody>
          <a:bodyPr wrap="square" lIns="0" tIns="0" rIns="0" bIns="0" rtlCol="0" anchor="ctr">
            <a:normAutofit/>
          </a:bodyPr>
          <a:lstStyle/>
          <a:p>
            <a:pPr marL="0" indent="0">
              <a:buNone/>
            </a:pPr>
            <a:r>
              <a:rPr lang="en-US" sz="1150" dirty="0">
                <a:solidFill>
                  <a:srgbClr val="111827"/>
                </a:solidFill>
              </a:rPr>
              <a:t>Full observability</a:t>
            </a:r>
            <a:endParaRPr lang="en-US" sz="1150" dirty="0"/>
          </a:p>
        </p:txBody>
      </p:sp>
      <p:sp>
        <p:nvSpPr>
          <p:cNvPr id="53" name="Text 51"/>
          <p:cNvSpPr/>
          <p:nvPr/>
        </p:nvSpPr>
        <p:spPr>
          <a:xfrm>
            <a:off x="868680" y="5669280"/>
            <a:ext cx="3108960" cy="201168"/>
          </a:xfrm>
          <a:prstGeom prst="rect">
            <a:avLst/>
          </a:prstGeom>
          <a:noFill/>
          <a:ln/>
        </p:spPr>
        <p:txBody>
          <a:bodyPr wrap="square" lIns="0" tIns="0" rIns="0" bIns="0" rtlCol="0" anchor="ctr"/>
          <a:lstStyle/>
          <a:p>
            <a:pPr marL="0" indent="0">
              <a:buNone/>
            </a:pPr>
            <a:r>
              <a:rPr lang="en-US" sz="1050" b="1" dirty="0">
                <a:solidFill>
                  <a:srgbClr val="2563EB"/>
                </a:solidFill>
              </a:rPr>
              <a:t>Immediate decision for leadership</a:t>
            </a:r>
            <a:endParaRPr lang="en-US" sz="1050" dirty="0"/>
          </a:p>
        </p:txBody>
      </p:sp>
      <p:sp>
        <p:nvSpPr>
          <p:cNvPr id="54" name="Text 52"/>
          <p:cNvSpPr/>
          <p:nvPr/>
        </p:nvSpPr>
        <p:spPr>
          <a:xfrm>
            <a:off x="868680" y="5943600"/>
            <a:ext cx="10424160" cy="228600"/>
          </a:xfrm>
          <a:prstGeom prst="rect">
            <a:avLst/>
          </a:prstGeom>
          <a:noFill/>
          <a:ln/>
        </p:spPr>
        <p:txBody>
          <a:bodyPr wrap="square" lIns="0" tIns="0" rIns="0" bIns="0" rtlCol="0" anchor="ctr">
            <a:normAutofit/>
          </a:bodyPr>
          <a:lstStyle/>
          <a:p>
            <a:pPr marL="0" indent="0">
              <a:buNone/>
            </a:pPr>
            <a:r>
              <a:rPr lang="en-US" sz="1150" b="1" dirty="0">
                <a:solidFill>
                  <a:srgbClr val="0B1F33"/>
                </a:solidFill>
              </a:rPr>
              <a:t>Approve MCP as the governed enterprise tool plane for EDGE agents and require new agentic workflows to onboard tools through this pattern.</a:t>
            </a:r>
            <a:endParaRPr lang="en-US" sz="1150" dirty="0"/>
          </a:p>
        </p:txBody>
      </p:sp>
      <p:sp>
        <p:nvSpPr>
          <p:cNvPr id="55" name="Text 53"/>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1</a:t>
            </a:r>
            <a:endParaRPr lang="en-US" sz="780" dirty="0"/>
          </a:p>
        </p:txBody>
      </p:sp>
      <p:sp>
        <p:nvSpPr>
          <p:cNvPr id="56" name="Text 54"/>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1797</Words>
  <Application>Microsoft Macintosh PowerPoint</Application>
  <PresentationFormat>Widescreen</PresentationFormat>
  <Paragraphs>261</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Citi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MCP Strategy for EDGE</dc:title>
  <dc:subject>Enterprise MCP Strategy for EDGE</dc:subject>
  <dc:creator>OpenAI</dc:creator>
  <cp:lastModifiedBy>OMSA Class</cp:lastModifiedBy>
  <cp:revision>2</cp:revision>
  <dcterms:created xsi:type="dcterms:W3CDTF">2026-09-04T10:42:44Z</dcterms:created>
  <dcterms:modified xsi:type="dcterms:W3CDTF">2026-09-04T10:45:18Z</dcterms:modified>
</cp:coreProperties>
</file>