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35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 in AgentWonder main branch
- architecture_layout.md in AgentWonder main branch
- CLAUDE.md in AgentWonder main branch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CLAUDE.md: platform principles and YAML-to-runtime rule
- README_v1.md: core design choices
- yaml_usage.md: core rule and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README_v1.md: v1 mental model and repository layout
- architecture_layout.md: end-to-end flow and v1 boundaries
- agentwonder/main.py: registries, workflow store, API routers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README_v1.md: repository layout and major modules
- architecture_layout.md: package-level layout
- CLAUDE.md: required repository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yaml_usage.md: how YAML maps to Pydantic
- README_v1.md: schemas module and YAML-to-runtime flow
- CLAUDE.md: Pydantic expectations and rule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agentwonder/main.py: _load_registries, _load_workflows, create_app
- agentwonder/registry/__init__.py: registry role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agentwonder/compiler/validators.py: single-model and cross-validation responsibilities
- agentwonder/compiler/builder.py: RuntimePlan and RuntimeStep
- architecture_layout.md: runtime sequence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agentwonder/compiler/builder.py: RuntimeStep and RuntimePlan fields
- agentwonder/runtime/executor.py: dispatched step types and v1 stub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agentwonder/runtime/executor.py: execute flow, session update, trace emission, dispatch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architecture_layout.md: approval path
- yaml_usage.md: policy YAML and authoring checklist
- agentwonder/runtime/executor.py: _execute_approval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README_v1.md: quick start and API endpoints
- agentwonder/main.py: app creation and startup stores
- agentwonder/api/routes_runs.py: run submission pipeline
- agentwonder/api/routes_tools.py and routes_templates.py: registry endpoints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config/workflows/break_resolution_v1.yaml
- config/templates/sequential_with_approval.yaml
- config/policies/checker_signoff.yaml
- agentwonder/compiler/builder.py: RuntimePlan construction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CLAUDE.md: observability and eval deliverable
- agentwonder/runtime/executor.py: emitted trace events and run status fields
- agentwonder/observability/tracing.py: TraceCollector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README_v1.md: included vs excluded scope and design rules
- CLAUDE.md: v1 deliverables and non-goals
- architecture_layout.md: v1 boundaries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6327648"/>
            <a:ext cx="1133856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364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AgentWonder • Phase 1 Architecture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AgentWonder Phase 1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technical walk-through of the codebase, contracts, runtime path, and control points.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148840" y="2578608"/>
            <a:ext cx="164592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26280" y="2578608"/>
            <a:ext cx="164592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03720" y="2578608"/>
            <a:ext cx="164592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281160" y="2578608"/>
            <a:ext cx="137160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" y="19842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55E"/>
                </a:solidFill>
              </a:rPr>
              <a:t>config/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3272" y="2313432"/>
            <a:ext cx="142646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Human-authored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YAML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18745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27832" y="19842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55E"/>
                </a:solidFill>
              </a:rPr>
              <a:t>schemas/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27832" y="2313432"/>
            <a:ext cx="142646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Pydantic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contracts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257800" y="18745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22392" y="19842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55E"/>
                </a:solidFill>
              </a:rPr>
              <a:t>compiler/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2392" y="2313432"/>
            <a:ext cx="142646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Resolution +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RuntimePlan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452360" y="18745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16952" y="19842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55E"/>
                </a:solidFill>
              </a:rPr>
              <a:t>runtime/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16952" y="2313432"/>
            <a:ext cx="142646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Execution +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approvals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9646920" y="18745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E8F7FA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11512" y="19842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55E"/>
                </a:solidFill>
              </a:rPr>
              <a:t>api + traces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11512" y="2313432"/>
            <a:ext cx="142646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Service surface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+ observability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868680" y="388620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3904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BFF"/>
                </a:solidFill>
              </a:rPr>
              <a:t>Typed boundary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71800" y="3886200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71800" y="3904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BFF"/>
                </a:solidFill>
              </a:rPr>
              <a:t>Resolved references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40680" y="3886200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40680" y="39044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57"/>
                </a:solidFill>
              </a:rPr>
              <a:t>Governed execution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18120" y="3886200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E8F7FA"/>
          </a:solidFill>
          <a:ln w="12700">
            <a:solidFill>
              <a:srgbClr val="E8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3904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490"/>
                </a:solidFill>
              </a:rPr>
              <a:t>Inspectable runs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44988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55E"/>
                </a:solidFill>
              </a:rPr>
              <a:t>Architecture focus for this deck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68680" y="4818888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96696" y="4736592"/>
            <a:ext cx="10021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E293B"/>
                </a:solidFill>
              </a:rPr>
              <a:t>Separate authoring, validation, compilation, and execution responsibilities</a:t>
            </a:r>
            <a:endParaRPr lang="en-US" sz="1260" dirty="0"/>
          </a:p>
        </p:txBody>
      </p:sp>
      <p:sp>
        <p:nvSpPr>
          <p:cNvPr id="34" name="Shape 32"/>
          <p:cNvSpPr/>
          <p:nvPr/>
        </p:nvSpPr>
        <p:spPr>
          <a:xfrm>
            <a:off x="868680" y="5212080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96696" y="5129784"/>
            <a:ext cx="10021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E293B"/>
                </a:solidFill>
              </a:rPr>
              <a:t>Show where phase 1 is production-oriented versus where it is intentionally stubbed</a:t>
            </a:r>
            <a:endParaRPr lang="en-US" sz="1260" dirty="0"/>
          </a:p>
        </p:txBody>
      </p:sp>
      <p:sp>
        <p:nvSpPr>
          <p:cNvPr id="36" name="Shape 34"/>
          <p:cNvSpPr/>
          <p:nvPr/>
        </p:nvSpPr>
        <p:spPr>
          <a:xfrm>
            <a:off x="868680" y="560527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96696" y="5522976"/>
            <a:ext cx="10021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E293B"/>
                </a:solidFill>
              </a:rPr>
              <a:t>Explain how the design can absorb UI, persistence, and richer ADK integration later</a:t>
            </a:r>
            <a:endParaRPr lang="en-US" sz="126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principles encoded in the repo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phase 1 design is opinionated: tight contracts, controlled extensibility, and clear runtime seams.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52704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YAML is the authoring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856232"/>
            <a:ext cx="494690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Workflows, tools, policies, prompts, and templates live in config/ so the platform can evolve without rebuilding code.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36792" y="152704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Pydantic is the contract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36792" y="1856232"/>
            <a:ext cx="494690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Every YAML file is parsed into a typed model before any reference resolution or execution path begins.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381304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Templates govern behavior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142232"/>
            <a:ext cx="494690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Templates restrict allowed step types, ordering rules, and workflow shape before teams can run anything.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6792" y="381304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Execution is observable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36792" y="4142232"/>
            <a:ext cx="494690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Each run produces status, step outputs, approval events, and trace records that can be fetched via API.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148840" y="56692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i="1" dirty="0">
                <a:solidFill>
                  <a:srgbClr val="5B6472"/>
                </a:solidFill>
              </a:rPr>
              <a:t>“Never execute raw YAML directly” is the key design rule for the codebase.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context: who authors, what runs, and where control sits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keeps authoring simple while centralizing validation, runtime decisions, and governance inside the service.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468880" y="2697480"/>
            <a:ext cx="118872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0" y="2697480"/>
            <a:ext cx="114300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15400" y="2697480"/>
            <a:ext cx="114300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09560" y="3474720"/>
            <a:ext cx="0" cy="1234440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09560" y="4709160"/>
            <a:ext cx="219456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212140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PM + Developer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450592"/>
            <a:ext cx="151790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Author YAML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Choose template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Request runs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657600" y="17830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2192" y="189280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Config repository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22192" y="2221992"/>
            <a:ext cx="170078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templates/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workflows/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tools/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policies/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prompts/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6812280" y="173736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76872" y="184708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FF"/>
                </a:solidFill>
              </a:rPr>
              <a:t>AgentWonder service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76872" y="2176272"/>
            <a:ext cx="1792224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Registry load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Validation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Resolution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Execution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10058400" y="201168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E8F7FA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222992" y="212140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</a:rPr>
              <a:t>Tools + APIs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22992" y="2450592"/>
            <a:ext cx="119786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REST or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OpenAPI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backends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812280" y="393192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E7F5EC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76872" y="404164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Control points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76872" y="4370832"/>
            <a:ext cx="1883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approvals • traces • run state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10104120" y="40690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268712" y="417880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A00"/>
                </a:solidFill>
              </a:rPr>
              <a:t>API surface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268712" y="4507992"/>
            <a:ext cx="110642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1E293B"/>
                </a:solidFill>
              </a:rPr>
              <a:t>/health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E293B"/>
                </a:solidFill>
              </a:rPr>
              <a:t>/templates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E293B"/>
                </a:solidFill>
              </a:rPr>
              <a:t>/tools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E293B"/>
                </a:solidFill>
              </a:rPr>
              <a:t>/runs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55E"/>
                </a:solidFill>
              </a:rPr>
              <a:t>Authoring stays outside the runtime. Governance stays inside the runtime.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Package topology and dependency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codebase is organized as a narrow stack: contracts first, orchestration in the middle, API at the edge.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43560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FF"/>
                </a:solidFill>
              </a:rPr>
              <a:t>schemas/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764792"/>
            <a:ext cx="1700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Common enums + config + run models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" y="26243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registry/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2953512"/>
            <a:ext cx="1700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Load template, tool, prompt, policy entries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703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38130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compiler/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" y="4142232"/>
            <a:ext cx="1700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Validate, resolve, build RuntimePlan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892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7F5EC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0392" y="50017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runtime/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" y="5330952"/>
            <a:ext cx="1700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Execute plan, manage state, approvals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691640" y="2240280"/>
            <a:ext cx="0" cy="265176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691640" y="3429000"/>
            <a:ext cx="0" cy="265176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91640" y="4617720"/>
            <a:ext cx="0" cy="265176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54680" y="1920240"/>
            <a:ext cx="28346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19272" y="202996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agentwonder/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19272" y="2359152"/>
            <a:ext cx="2523744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A clean package root ties together the contract layer, compiler, runtime, tools, observability, and API modules.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This keeps the repo close to matching_engine simplicity while still separating concerns.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13716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8F7FA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11112" y="1481328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</a:rPr>
              <a:t>tools/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11112" y="1810512"/>
            <a:ext cx="202082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REST/OpenAPI wrappers + auth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9098280" y="13716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8F7FA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62872" y="1481328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</a:rPr>
              <a:t>observability/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62872" y="1810512"/>
            <a:ext cx="202082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Trace, events, eval hooks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446520" y="27432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11112" y="2852928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A00"/>
                </a:solidFill>
              </a:rPr>
              <a:t>api/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11112" y="3182112"/>
            <a:ext cx="202082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FastAPI routes for health, tools, templates, runs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9098280" y="27432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62872" y="2852928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A00"/>
                </a:solidFill>
              </a:rPr>
              <a:t>main.py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262872" y="3182112"/>
            <a:ext cx="202082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Startup wiring, app state, router mounting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6446520" y="411480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11112" y="4224528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tests/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611112" y="4553712"/>
            <a:ext cx="46725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Schema, compiler, runtime, and template tests keep the YAML contract honest.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5989320" y="2377440"/>
            <a:ext cx="45720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89320" y="3017520"/>
            <a:ext cx="457200" cy="18288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89320" y="2743200"/>
            <a:ext cx="310896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989320" y="3383280"/>
            <a:ext cx="310896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063240" y="5440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5B6472"/>
                </a:solidFill>
              </a:rPr>
              <a:t>Dependency rule of thumb: configs feed schemas; schemas feed compiler; compiler feeds runtime; API only coordinates.</a:t>
            </a:r>
            <a:endParaRPr lang="en-US" sz="15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 layer to contract layer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converts five config classes into five typed registries before execution can begin.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61848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</a:rPr>
              <a:t>templates/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40180" y="2487168"/>
            <a:ext cx="0" cy="301752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816352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9260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55E"/>
                </a:solidFill>
              </a:rPr>
              <a:t>TemplateConfig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1440180" y="3886200"/>
            <a:ext cx="0" cy="301752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4088" y="4224528"/>
            <a:ext cx="147218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116128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93B"/>
                </a:solidFill>
              </a:rPr>
              <a:t>Template rules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3063240" y="15087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27832" y="161848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</a:rPr>
              <a:t>workflows/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71900" y="2487168"/>
            <a:ext cx="0" cy="301752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63240" y="2816352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27832" y="29260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55E"/>
                </a:solidFill>
              </a:rPr>
              <a:t>WorkflowConfig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771900" y="3886200"/>
            <a:ext cx="0" cy="301752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035808" y="4224528"/>
            <a:ext cx="1472184" cy="1005840"/>
          </a:xfrm>
          <a:prstGeom prst="roundRect">
            <a:avLst>
              <a:gd name="adj" fmla="val 7273"/>
            </a:avLst>
          </a:prstGeom>
          <a:solidFill>
            <a:srgbClr val="E7F5EC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4663440"/>
            <a:ext cx="116128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93B"/>
                </a:solidFill>
              </a:rPr>
              <a:t>Executable graph intent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394960" y="15087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59552" y="161848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</a:rPr>
              <a:t>tools/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03620" y="2487168"/>
            <a:ext cx="0" cy="301752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94960" y="2816352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59552" y="29260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55E"/>
                </a:solidFill>
              </a:rPr>
              <a:t>ToolConfig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103620" y="3886200"/>
            <a:ext cx="0" cy="301752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67528" y="4224528"/>
            <a:ext cx="147218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4663440"/>
            <a:ext cx="116128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93B"/>
                </a:solidFill>
              </a:rPr>
              <a:t>Operational metadata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7726680" y="15087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91272" y="161848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</a:rPr>
              <a:t>policies/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435340" y="2487168"/>
            <a:ext cx="0" cy="301752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26680" y="2816352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91272" y="29260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55E"/>
                </a:solidFill>
              </a:rPr>
              <a:t>PolicyConfig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8435340" y="3886200"/>
            <a:ext cx="0" cy="301752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99248" y="4224528"/>
            <a:ext cx="147218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63840" y="4663440"/>
            <a:ext cx="116128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93B"/>
                </a:solidFill>
              </a:rPr>
              <a:t>Approval behavior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10058400" y="15087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222992" y="161848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</a:rPr>
              <a:t>prompts/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767060" y="2487168"/>
            <a:ext cx="0" cy="301752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058400" y="2816352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222992" y="29260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55E"/>
                </a:solidFill>
              </a:rPr>
              <a:t>PromptConfig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10767060" y="3886200"/>
            <a:ext cx="0" cy="301752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030968" y="4224528"/>
            <a:ext cx="147218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195560" y="4663440"/>
            <a:ext cx="116128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93B"/>
                </a:solidFill>
              </a:rPr>
              <a:t>Versioned instructions</a:t>
            </a:r>
            <a:endParaRPr lang="en-US" sz="1180" dirty="0"/>
          </a:p>
        </p:txBody>
      </p:sp>
      <p:sp>
        <p:nvSpPr>
          <p:cNvPr id="44" name="Shape 42"/>
          <p:cNvSpPr/>
          <p:nvPr/>
        </p:nvSpPr>
        <p:spPr>
          <a:xfrm>
            <a:off x="4224528" y="5669280"/>
            <a:ext cx="3794760" cy="274320"/>
          </a:xfrm>
          <a:prstGeom prst="roundRect">
            <a:avLst>
              <a:gd name="adj" fmla="val 20000"/>
            </a:avLst>
          </a:prstGeom>
          <a:solidFill>
            <a:srgbClr val="14355E"/>
          </a:solidFill>
          <a:ln w="12700">
            <a:solidFill>
              <a:srgbClr val="143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224528" y="56875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 raw dictionaries beyond the config boundary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057400" y="5303520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2"/>
                </a:solidFill>
              </a:rPr>
              <a:t>The compiler and runtime work on validated objects, not loose YAML structures.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Registry architecture and startup behavior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process materializes approved definitions into in-memory registries and a workflow store on startup.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52704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A00"/>
                </a:solidFill>
              </a:rPr>
              <a:t>Startup loader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856232"/>
            <a:ext cx="19751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main.py loads templates, tools, prompts, and policies from config/ subdirectories.</a:t>
            </a:r>
            <a:endParaRPr lang="en-US" sz="134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303580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FF"/>
                </a:solidFill>
              </a:rPr>
              <a:t>Workflow store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3364992"/>
            <a:ext cx="19751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Workflow YAML is loaded raw into an in-memory store keyed by workflow id.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731520" y="44348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454456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Graceful startup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873752"/>
            <a:ext cx="19751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10" dirty="0">
                <a:solidFill>
                  <a:srgbClr val="1E293B"/>
                </a:solidFill>
              </a:rPr>
              <a:t>Missing config directories are skipped so the app can still start in development.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3749040" y="205740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13632" y="21671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FastAPI app state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13632" y="2496312"/>
            <a:ext cx="2295144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1E293B"/>
                </a:solidFill>
              </a:rPr>
              <a:t>template_registry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E293B"/>
                </a:solidFill>
              </a:rPr>
              <a:t>tool_registry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E293B"/>
                </a:solidFill>
              </a:rPr>
              <a:t>prompt_registry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E293B"/>
                </a:solidFill>
              </a:rPr>
              <a:t>policy_registry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E293B"/>
                </a:solidFill>
              </a:rPr>
              <a:t>workflow_store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E293B"/>
                </a:solidFill>
              </a:rPr>
              <a:t>run_store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E293B"/>
                </a:solidFill>
              </a:rPr>
              <a:t>trace_store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E293B"/>
                </a:solidFill>
              </a:rPr>
              <a:t>executor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995160" y="1234440"/>
            <a:ext cx="4343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59752" y="1344168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55E"/>
                </a:solidFill>
              </a:rPr>
              <a:t>TemplateRegistry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59752" y="1673352"/>
            <a:ext cx="40325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approved workflow shapes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995160" y="2377440"/>
            <a:ext cx="4343400" cy="822960"/>
          </a:xfrm>
          <a:prstGeom prst="roundRect">
            <a:avLst>
              <a:gd name="adj" fmla="val 8889"/>
            </a:avLst>
          </a:prstGeom>
          <a:solidFill>
            <a:srgbClr val="E8F7FA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59752" y="2487168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55E"/>
                </a:solidFill>
              </a:rPr>
              <a:t>ToolRegistry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59752" y="2816352"/>
            <a:ext cx="40325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callable service definitions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995160" y="3520440"/>
            <a:ext cx="4343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59752" y="3630168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55E"/>
                </a:solidFill>
              </a:rPr>
              <a:t>PromptRegistry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59752" y="3959352"/>
            <a:ext cx="40325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versioned prompt texts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995160" y="4663440"/>
            <a:ext cx="4343400" cy="822960"/>
          </a:xfrm>
          <a:prstGeom prst="roundRect">
            <a:avLst>
              <a:gd name="adj" fmla="val 8889"/>
            </a:avLst>
          </a:prstGeom>
          <a:solidFill>
            <a:srgbClr val="E8F7FA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59752" y="4773168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55E"/>
                </a:solidFill>
              </a:rPr>
              <a:t>PolicyRegistry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59752" y="5102352"/>
            <a:ext cx="40325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approval and execution policies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3017520" y="2011680"/>
            <a:ext cx="731520" cy="59436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017520" y="3520440"/>
            <a:ext cx="73152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017520" y="4956048"/>
            <a:ext cx="731520" cy="0"/>
          </a:xfrm>
          <a:prstGeom prst="line">
            <a:avLst/>
          </a:prstGeom>
          <a:noFill/>
          <a:ln w="12700">
            <a:solidFill>
              <a:srgbClr val="7A859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55080" y="3401568"/>
            <a:ext cx="64008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55080" y="3401568"/>
            <a:ext cx="6400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55080" y="3401568"/>
            <a:ext cx="640080" cy="530352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55080" y="3401568"/>
            <a:ext cx="640080" cy="1673352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0" y="5532120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5B6472"/>
                </a:solidFill>
              </a:rPr>
              <a:t>This makes configuration discovery explicit and inspectable, but it also means phase 1 state is process-local.</a:t>
            </a:r>
            <a:endParaRPr lang="en-US" sz="146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Compiler pipeline and RuntimePlan handoff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Compilation is the architectural bridge between declarative YAML and step-by-step execution.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8288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9385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1. load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267712"/>
            <a:ext cx="151790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10" dirty="0">
                <a:solidFill>
                  <a:srgbClr val="1E293B"/>
                </a:solidFill>
              </a:rPr>
              <a:t>Read YAML from config/</a:t>
            </a:r>
            <a:endParaRPr lang="en-US" sz="1310" dirty="0"/>
          </a:p>
        </p:txBody>
      </p:sp>
      <p:sp>
        <p:nvSpPr>
          <p:cNvPr id="7" name="Shape 5"/>
          <p:cNvSpPr/>
          <p:nvPr/>
        </p:nvSpPr>
        <p:spPr>
          <a:xfrm>
            <a:off x="2468880" y="2816352"/>
            <a:ext cx="36576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1828800" cy="196596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99232" y="19385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2. validate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99232" y="2267712"/>
            <a:ext cx="151790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10" dirty="0">
                <a:solidFill>
                  <a:srgbClr val="1E293B"/>
                </a:solidFill>
              </a:rPr>
              <a:t>Parse into Pydantic models</a:t>
            </a:r>
            <a:endParaRPr lang="en-US" sz="1310" dirty="0"/>
          </a:p>
        </p:txBody>
      </p:sp>
      <p:sp>
        <p:nvSpPr>
          <p:cNvPr id="11" name="Shape 9"/>
          <p:cNvSpPr/>
          <p:nvPr/>
        </p:nvSpPr>
        <p:spPr>
          <a:xfrm>
            <a:off x="4663440" y="2816352"/>
            <a:ext cx="36576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18288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3. cross-check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93792" y="2267712"/>
            <a:ext cx="151790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10" dirty="0">
                <a:solidFill>
                  <a:srgbClr val="1E293B"/>
                </a:solidFill>
              </a:rPr>
              <a:t>Check template, prompt, tool, policy, and dependency references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858000" y="2816352"/>
            <a:ext cx="36576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23760" y="1828800"/>
            <a:ext cx="18288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88352" y="19385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4. resolve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88352" y="2267712"/>
            <a:ext cx="151790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10" dirty="0">
                <a:solidFill>
                  <a:srgbClr val="1E293B"/>
                </a:solidFill>
              </a:rPr>
              <a:t>Inline referenced objects into a resolved workflow bundle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9052560" y="2816352"/>
            <a:ext cx="365760" cy="0"/>
          </a:xfrm>
          <a:prstGeom prst="line">
            <a:avLst/>
          </a:prstGeom>
          <a:noFill/>
          <a:ln w="12700">
            <a:solidFill>
              <a:srgbClr val="4F8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418320" y="1828800"/>
            <a:ext cx="1828800" cy="1965960"/>
          </a:xfrm>
          <a:prstGeom prst="roundRect">
            <a:avLst>
              <a:gd name="adj" fmla="val 4000"/>
            </a:avLst>
          </a:prstGeom>
          <a:solidFill>
            <a:srgbClr val="E7F5EC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82912" y="19385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5. build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82912" y="2267712"/>
            <a:ext cx="151790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10" dirty="0">
                <a:solidFill>
                  <a:srgbClr val="1E293B"/>
                </a:solidFill>
              </a:rPr>
              <a:t>Create RuntimePlan with execution_order, parallel_groups, approval_step_ids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685800" y="4343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Key compiler checks already present in the code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4700016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3816" y="4617720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Unknown template, tool, prompt, policy, or step dependency references</a:t>
            </a:r>
            <a:endParaRPr lang="en-US" sz="1360" dirty="0"/>
          </a:p>
        </p:txBody>
      </p:sp>
      <p:sp>
        <p:nvSpPr>
          <p:cNvPr id="26" name="Shape 24"/>
          <p:cNvSpPr/>
          <p:nvPr/>
        </p:nvSpPr>
        <p:spPr>
          <a:xfrm>
            <a:off x="685800" y="5093208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3816" y="5010912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Step types not allowed by the selected template</a:t>
            </a:r>
            <a:endParaRPr lang="en-US" sz="1360" dirty="0"/>
          </a:p>
        </p:txBody>
      </p:sp>
      <p:sp>
        <p:nvSpPr>
          <p:cNvPr id="28" name="Shape 26"/>
          <p:cNvSpPr/>
          <p:nvPr/>
        </p:nvSpPr>
        <p:spPr>
          <a:xfrm>
            <a:off x="685800" y="5486400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13816" y="5404104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Write or delete tools without approval coverage</a:t>
            </a:r>
            <a:endParaRPr lang="en-US" sz="1360" dirty="0"/>
          </a:p>
        </p:txBody>
      </p:sp>
      <p:sp>
        <p:nvSpPr>
          <p:cNvPr id="30" name="Shape 28"/>
          <p:cNvSpPr/>
          <p:nvPr/>
        </p:nvSpPr>
        <p:spPr>
          <a:xfrm>
            <a:off x="685800" y="587959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3816" y="5797296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Dependency cycles or invalid topological order</a:t>
            </a:r>
            <a:endParaRPr lang="en-US" sz="1360" dirty="0"/>
          </a:p>
        </p:txBody>
      </p:sp>
      <p:sp>
        <p:nvSpPr>
          <p:cNvPr id="32" name="Shape 30"/>
          <p:cNvSpPr/>
          <p:nvPr/>
        </p:nvSpPr>
        <p:spPr>
          <a:xfrm>
            <a:off x="7315200" y="443484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79792" y="4544568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Why RuntimePlan matters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79792" y="4873752"/>
            <a:ext cx="37581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The runtime no longer performs lookups. It receives an execution-ready object graph with resolved tools, prompts, models, and approval markers.</a:t>
            </a:r>
            <a:endParaRPr lang="en-US" sz="136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RuntimePlan semantics: what the executor receives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is intentionally richer than workflow YAML so execution can be deterministic.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435608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FF"/>
                </a:solidFill>
              </a:rPr>
              <a:t>RuntimePlan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764792"/>
            <a:ext cx="3438144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workflow_id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workflow_version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template_id + template_version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models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steps[]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execution_order[]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parallel_groups[]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approval_step_ids[]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0600" y="132588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65192" y="1435608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RuntimeStep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65192" y="1764792"/>
            <a:ext cx="27523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id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type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description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resolved tool or tools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resolved prompt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resolved approval policy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model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depends_on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inputs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183880" y="1325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E7F5EC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48472" y="14356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Execution semantics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48472" y="1764792"/>
            <a:ext cx="302666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Topological order is precomputed.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Parallel groups are identified.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Approval-requiring steps are pre-flagged.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4846320" y="3611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55E"/>
                </a:solidFill>
              </a:rPr>
              <a:t>Step types visible in phase 1 executor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9776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9959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BFF"/>
                </a:solidFill>
              </a:rPr>
              <a:t>tool_call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39776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39959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BFF"/>
                </a:solidFill>
              </a:rPr>
              <a:t>llm_agent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0" y="39776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0" y="39959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8A00"/>
                </a:solidFill>
              </a:rPr>
              <a:t>approval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49640" y="39776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8F7FA"/>
          </a:solidFill>
          <a:ln w="12700">
            <a:solidFill>
              <a:srgbClr val="E8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9640" y="39959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490"/>
                </a:solidFill>
              </a:rPr>
              <a:t>evaluator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443484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44531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472"/>
                </a:solidFill>
              </a:rPr>
              <a:t>router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43484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44531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472"/>
                </a:solidFill>
              </a:rPr>
              <a:t>parallel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0" y="443484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89520" y="44531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472"/>
                </a:solidFill>
              </a:rPr>
              <a:t>aggregator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4983480"/>
            <a:ext cx="6720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65192" y="5422392"/>
            <a:ext cx="64099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60" dirty="0">
                <a:solidFill>
                  <a:srgbClr val="1E293B"/>
                </a:solidFill>
              </a:rPr>
              <a:t>The current executor contains stub handlers for most step types, but the contract for each type is already explicit.</a:t>
            </a:r>
            <a:endParaRPr lang="en-US" sz="136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engine internals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executor coordinates session state, step dispatch, approvals, outputs, and trace emission in one place.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3441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55E"/>
                </a:solidFill>
              </a:rPr>
              <a:t>RunRequest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645920" y="1920240"/>
            <a:ext cx="0" cy="338328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0" y="123444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90672" y="13441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BFF"/>
                </a:solidFill>
              </a:rPr>
              <a:t>WorkflowExecutor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749040" y="1920240"/>
            <a:ext cx="0" cy="338328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20640" y="123444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85232" y="13441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55E"/>
                </a:solidFill>
              </a:rPr>
              <a:t>Session / state stores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0" y="1920240"/>
            <a:ext cx="0" cy="338328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123444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79792" y="13441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55E"/>
                </a:solidFill>
              </a:rPr>
              <a:t>Step dispatcher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0" cy="338328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555480" y="123444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20072" y="13441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55E"/>
                </a:solidFill>
              </a:rPr>
              <a:t>Trace events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378440" y="1920240"/>
            <a:ext cx="0" cy="338328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48840" y="2286000"/>
            <a:ext cx="77724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21992" y="20848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596"/>
                </a:solidFill>
              </a:rPr>
              <a:t>submit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49040" y="2697480"/>
            <a:ext cx="137160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22192" y="24963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596"/>
                </a:solidFill>
              </a:rPr>
              <a:t>create session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49040" y="3154680"/>
            <a:ext cx="35661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22192" y="2953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596"/>
                </a:solidFill>
              </a:rPr>
              <a:t>dispatch current step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3611880"/>
            <a:ext cx="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93792" y="34107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596"/>
                </a:solidFill>
              </a:rPr>
              <a:t>store step output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49040" y="4069080"/>
            <a:ext cx="580644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22192" y="3867912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596"/>
                </a:solidFill>
              </a:rPr>
              <a:t>emit run_start / step_start / step_end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49040" y="4526280"/>
            <a:ext cx="580644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22192" y="4325112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596"/>
                </a:solidFill>
              </a:rPr>
              <a:t>emit approval_requested / approval_granted / error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49040" y="4983480"/>
            <a:ext cx="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21992" y="47823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596"/>
                </a:solidFill>
              </a:rPr>
              <a:t>return RunStatus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" y="553212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5EC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7552" y="5971032"/>
            <a:ext cx="1038758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Architectural takeaway: state is accumulated per run, but orchestration decisions stay localized in the executor.</a:t>
            </a:r>
            <a:endParaRPr lang="en-US" sz="13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Approval path as a first-class control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 effects are not just tool metadata; they can interrupt the run and create a decision object.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54480" y="2743200"/>
            <a:ext cx="1371600" cy="0"/>
          </a:xfrm>
          <a:prstGeom prst="line">
            <a:avLst/>
          </a:prstGeom>
          <a:noFill/>
          <a:ln w="12700">
            <a:solidFill>
              <a:srgbClr val="C48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97680" y="2743200"/>
            <a:ext cx="1417320" cy="0"/>
          </a:xfrm>
          <a:prstGeom prst="line">
            <a:avLst/>
          </a:prstGeom>
          <a:noFill/>
          <a:ln w="12700">
            <a:solidFill>
              <a:srgbClr val="C48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86600" y="2743200"/>
            <a:ext cx="1417320" cy="0"/>
          </a:xfrm>
          <a:prstGeom prst="line">
            <a:avLst/>
          </a:prstGeom>
          <a:noFill/>
          <a:ln w="12700">
            <a:solidFill>
              <a:srgbClr val="C48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875520" y="2743200"/>
            <a:ext cx="1280160" cy="0"/>
          </a:xfrm>
          <a:prstGeom prst="line">
            <a:avLst/>
          </a:prstGeom>
          <a:noFill/>
          <a:ln w="12700">
            <a:solidFill>
              <a:srgbClr val="C48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2450592"/>
            <a:ext cx="133502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8A00"/>
                </a:solidFill>
              </a:rPr>
              <a:t>Side-effecting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8A00"/>
                </a:solidFill>
              </a:rPr>
              <a:t>step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036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44952" y="2450592"/>
            <a:ext cx="133502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Policy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lookup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2450592"/>
            <a:ext cx="133502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ApprovalRequest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created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7804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42632" y="2450592"/>
            <a:ext cx="133502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Run state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WAITING_APPROVAL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2688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E7F5EC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91472" y="2450592"/>
            <a:ext cx="133502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Decision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resume / fail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06908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78992" y="417880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Current phase 1 behavior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4507992"/>
            <a:ext cx="45811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The executor registers an ApprovalRequest, flips the run into WAITING_APPROVAL, and then auto-approves immediately so the end-to-end control path is testable.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2200" y="406908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E7F5EC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36792" y="417880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Why this matters architecturally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36792" y="4507992"/>
            <a:ext cx="45811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The runtime contract already includes approval objects and status transitions, so later human-in-the-loop UX can be layered on without redesigning workflows.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surface and application lifecycle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service starts by loading config and then exposes a narrow REST surface for inspection and execution.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48132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FF"/>
                </a:solidFill>
              </a:rPr>
              <a:t>Startup lifecycle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810512"/>
            <a:ext cx="279806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1. resolve config path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2. load registries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3. load workflow YAML store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4. create run + trace stores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5. mount routers under /api/v1</a:t>
            </a:r>
            <a:endParaRPr lang="en-US" sz="134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16552" y="148132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Routers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16552" y="1810512"/>
            <a:ext cx="243230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/health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/templates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/templates/{id}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/tools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/tools/{id}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/runs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/runs/{id}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/runs/{id}/trace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60920" y="1371600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E7F5EC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1481328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Run submission pipeline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25512" y="1810512"/>
            <a:ext cx="375818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submit run → fetch raw workflow → validate → cross-validate → resolve → build plan → execute → persist status + traces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3904488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Useful architectural property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4233672"/>
            <a:ext cx="476402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Validation is executed at request time for workflows. That means updated validation logic applies even if the raw workflow YAML was loaded earlier into memory.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91072" y="390448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A00"/>
                </a:solidFill>
              </a:rPr>
              <a:t>Phase 1 limitation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1072" y="4233672"/>
            <a:ext cx="499262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1E293B"/>
                </a:solidFill>
              </a:rPr>
              <a:t>Runs, traces, and workflow YAML are process-local. If the process restarts, the in-memory state disappears.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Break-resolution workflow as a compiled architecture example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sample workflow in config/ shows how declarative references become an execution-ready plan.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3898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FF"/>
                </a:solidFill>
              </a:rPr>
              <a:t>Template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719072"/>
            <a:ext cx="1700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sequential_with_approval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971800" y="1280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36392" y="13898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Models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36392" y="1719072"/>
            <a:ext cx="1700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default: gemini-2.5-flash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evaluator: gemini-2.5-pro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212080" y="12801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6672" y="138988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Prompt ref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76672" y="1719072"/>
            <a:ext cx="18836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propose_resolution_prompt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12801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99832" y="13898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A00"/>
                </a:solidFill>
              </a:rPr>
              <a:t>Policy ref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99832" y="1719072"/>
            <a:ext cx="14264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checker_signoff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0" y="12801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8F7FA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65792" y="138988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</a:rPr>
              <a:t>Tool refs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65792" y="1719072"/>
            <a:ext cx="15179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4 registered tool ids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65960" y="3703320"/>
            <a:ext cx="86868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34840" y="3703320"/>
            <a:ext cx="86868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03720" y="3703320"/>
            <a:ext cx="868680" cy="0"/>
          </a:xfrm>
          <a:prstGeom prst="line">
            <a:avLst/>
          </a:prstGeom>
          <a:noFill/>
          <a:ln w="12700">
            <a:solidFill>
              <a:srgbClr val="C48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72600" y="3703320"/>
            <a:ext cx="8686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292608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E8F7FA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6112" y="30358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E7490"/>
                </a:solidFill>
              </a:rPr>
              <a:t>enrich_break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96112" y="3364992"/>
            <a:ext cx="138074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tool_call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fetch_break_details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2880360" y="292608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E8F7FA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44952" y="30358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E7490"/>
                </a:solidFill>
              </a:rPr>
              <a:t>enrich_trade_context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3044952" y="3364992"/>
            <a:ext cx="138074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tool_call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fetch_trade_context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5029200" y="292608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93792" y="30358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F6BFF"/>
                </a:solidFill>
              </a:rPr>
              <a:t>propose_resolution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5193792" y="3364992"/>
            <a:ext cx="138074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llm_agent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prompt + suggest_resolution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7178040" y="292608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42632" y="30358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48A00"/>
                </a:solidFill>
              </a:rPr>
              <a:t>checker_approval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7342632" y="3364992"/>
            <a:ext cx="138074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approval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checker_signoff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9326880" y="292608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E7F5EC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491472" y="30358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E8B57"/>
                </a:solidFill>
              </a:rPr>
              <a:t>update_downstream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9491472" y="3364992"/>
            <a:ext cx="138074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tool_call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post_resolution_update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868680" y="4983480"/>
            <a:ext cx="10607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33272" y="5422392"/>
            <a:ext cx="102961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Architectural reading: YAML references remain simple, but the compiler expands them into a plan with models, resolved objects, order, and approval metadata.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model in phase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already defines what a run should emit even though storage is still lightweight.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52704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FF"/>
                </a:solidFill>
              </a:rPr>
              <a:t>RunStatus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856232"/>
            <a:ext cx="17465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workflow id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state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current step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outputs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error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timestamps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9443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TraceEvent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3273552"/>
            <a:ext cx="17465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run id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step id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event type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payload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timestamp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731520" y="42519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436168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A00"/>
                </a:solidFill>
              </a:rPr>
              <a:t>ApprovalRequest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690872"/>
            <a:ext cx="17465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approval id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run + step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policy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roles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outcome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6432" y="157276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55E"/>
                </a:solidFill>
              </a:rPr>
              <a:t>Trace stream examples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56432" y="1901952"/>
            <a:ext cx="3346704" cy="321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run_start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step_start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step_end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approval_requested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approval_granted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run_complete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error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95160" y="3337560"/>
            <a:ext cx="137160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66760" y="23317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E8F7FA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31352" y="2441448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</a:rPr>
              <a:t>TraceCollector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31352" y="2770632"/>
            <a:ext cx="293522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70" dirty="0">
                <a:solidFill>
                  <a:srgbClr val="1E293B"/>
                </a:solidFill>
              </a:rPr>
              <a:t>Thread-safe, in-memory storage keyed by run_id.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E293B"/>
                </a:solidFill>
              </a:rPr>
              <a:t>Supports emit(), get_events(), get_all(), clear().</a:t>
            </a:r>
            <a:endParaRPr lang="en-US" sz="1370" dirty="0"/>
          </a:p>
        </p:txBody>
      </p:sp>
      <p:sp>
        <p:nvSpPr>
          <p:cNvPr id="20" name="Text 18"/>
          <p:cNvSpPr/>
          <p:nvPr/>
        </p:nvSpPr>
        <p:spPr>
          <a:xfrm>
            <a:off x="3291840" y="5440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5B6472"/>
                </a:solidFill>
              </a:rPr>
              <a:t>This is enough for debugging and demos today, while preserving the event model needed for durable backends later.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boundaries and next hardening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already isolates the seams that can be upgraded without breaking the YAML contract.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66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527048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What can scale in place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1911096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88136" y="1828800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Swap in durable run, trace, session, and state stores behind existing runtime interfaces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960120" y="2304288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88136" y="222199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Replace stub step handlers with real ADK execution while keeping RuntimePlan intact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960120" y="2697480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88136" y="2615184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Add human approval UI on top of ApprovalRequest and run state transitions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960120" y="3090672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8136" y="3008376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Expose stable tool wrappers through MCP later without changing workflow authoring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960120" y="3483864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88136" y="3401568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Layer a visual designer over the same YAML + Pydantic contract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5166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C48A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28232" y="1527048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A00"/>
                </a:solidFill>
              </a:rPr>
              <a:t>What should change next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1911096"/>
            <a:ext cx="73152" cy="73152"/>
          </a:xfrm>
          <a:prstGeom prst="ellipse">
            <a:avLst/>
          </a:prstGeom>
          <a:solidFill>
            <a:srgbClr val="C48A00"/>
          </a:solidFill>
          <a:ln w="12700">
            <a:solidFill>
              <a:srgbClr val="C4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0256" y="1828800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Persist config snapshots or version references with each run for replay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492240" y="2304288"/>
            <a:ext cx="73152" cy="73152"/>
          </a:xfrm>
          <a:prstGeom prst="ellipse">
            <a:avLst/>
          </a:prstGeom>
          <a:solidFill>
            <a:srgbClr val="C48A00"/>
          </a:solidFill>
          <a:ln w="12700">
            <a:solidFill>
              <a:srgbClr val="C4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0256" y="222199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Move run and trace stores out of process memory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492240" y="2697480"/>
            <a:ext cx="73152" cy="73152"/>
          </a:xfrm>
          <a:prstGeom prst="ellipse">
            <a:avLst/>
          </a:prstGeom>
          <a:solidFill>
            <a:srgbClr val="C48A00"/>
          </a:solidFill>
          <a:ln w="12700">
            <a:solidFill>
              <a:srgbClr val="C4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20256" y="2615184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Tighten model routing and actual tool execution policies per environment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492240" y="3090672"/>
            <a:ext cx="73152" cy="73152"/>
          </a:xfrm>
          <a:prstGeom prst="ellipse">
            <a:avLst/>
          </a:prstGeom>
          <a:solidFill>
            <a:srgbClr val="C48A00"/>
          </a:solidFill>
          <a:ln w="12700">
            <a:solidFill>
              <a:srgbClr val="C4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0256" y="3008376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Add richer approval timeout and rejection handling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492240" y="3483864"/>
            <a:ext cx="73152" cy="73152"/>
          </a:xfrm>
          <a:prstGeom prst="ellipse">
            <a:avLst/>
          </a:prstGeom>
          <a:solidFill>
            <a:srgbClr val="C48A00"/>
          </a:solidFill>
          <a:ln w="12700">
            <a:solidFill>
              <a:srgbClr val="C4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0256" y="3401568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E293B"/>
                </a:solidFill>
              </a:rPr>
              <a:t>Expand evals from hooks to repeatable certification suites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868680" y="5486400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4355E"/>
                </a:solidFill>
              </a:rPr>
              <a:t>The architectural win of phase 1 is not completeness. It is the clean separation of contracts, compilation, execution, and control points.</a:t>
            </a:r>
            <a:endParaRPr lang="en-US" sz="148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2328</Words>
  <Application>Microsoft Macintosh PowerPoint</Application>
  <PresentationFormat>Widescreen</PresentationFormat>
  <Paragraphs>361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AgentWonder Phase 1 Architecture Deep Dive</dc:title>
  <dc:subject>AgentWonder Phase 1 Architecture</dc:subject>
  <dc:creator>OpenAI</dc:creator>
  <cp:lastModifiedBy>OMSA Class</cp:lastModifiedBy>
  <cp:revision>2</cp:revision>
  <dcterms:created xsi:type="dcterms:W3CDTF">2026-04-03T16:55:27Z</dcterms:created>
  <dcterms:modified xsi:type="dcterms:W3CDTF">2026-04-03T17:11:15Z</dcterms:modified>
</cp:coreProperties>
</file>