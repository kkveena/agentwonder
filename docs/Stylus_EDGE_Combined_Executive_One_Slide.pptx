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64c5e2bf4f417f" /><Relationship Type="http://schemas.openxmlformats.org/officeDocument/2006/relationships/extended-properties" Target="/docProps/app.xml" Id="Re832c07737f64d63" /><Relationship Type="http://schemas.openxmlformats.org/officeDocument/2006/relationships/officeDocument" Target="/ppt/presentation.xml" Id="Rbb08554668fd4d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7db79a991449b5"/>
  </p:sldMasterIdLst>
  <p:notesMasterIdLst>
    <p:notesMasterId xmlns:r="http://schemas.openxmlformats.org/officeDocument/2006/relationships" r:id="R8823c14cd01a4bde"/>
  </p:notesMasterIdLst>
  <p:sldIdLst>
    <p:sldId xmlns:r="http://schemas.openxmlformats.org/officeDocument/2006/relationships" id="256" r:id="Ra577af4057c848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714032702d47ab" /><Relationship Type="http://schemas.openxmlformats.org/officeDocument/2006/relationships/slideMaster" Target="/ppt/slideMasters/slideMaster1.xml" Id="R797db79a991449b5" /><Relationship Type="http://schemas.openxmlformats.org/officeDocument/2006/relationships/notesMaster" Target="/ppt/notesMasters/notesMaster1.xml" Id="R8823c14cd01a4bde" /><Relationship Type="http://schemas.openxmlformats.org/officeDocument/2006/relationships/presProps" Target="/ppt/presProps.xml" Id="R64600aad143a4420" /><Relationship Type="http://schemas.openxmlformats.org/officeDocument/2006/relationships/tableStyles" Target="/ppt/tableStyles.xml" Id="Rc61d605e7c114791" /><Relationship Type="http://schemas.openxmlformats.org/officeDocument/2006/relationships/slide" Target="/ppt/slides/slide1.xml" Id="Ra577af4057c848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7df4b3fa441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d2d1dc992f40ca" /><Relationship Type="http://schemas.openxmlformats.org/officeDocument/2006/relationships/notesMaster" Target="/ppt/notesMasters/notesMaster1.xml" Id="Rcba13645803b40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25d11ffb740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194aff200f4dcf" /><Relationship Type="http://schemas.openxmlformats.org/officeDocument/2006/relationships/slideLayout" Target="/ppt/slideLayouts/slideLayout1.xml" Id="R790239efef214d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0239efef214d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710422d6245de" /><Relationship Type="http://schemas.openxmlformats.org/officeDocument/2006/relationships/notesSlide" Target="/ppt/notesSlides/notesSlide1.xml" Id="Raa271bde798049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908FF2-B28B-48D7-9E6C-63EEB43F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6DAE"/>
                </a:solidFill>
              </a:defRPr>
            </a:pPr>
            <a:r>
              <a:rPr sz="788" b="1">
                <a:solidFill>
                  <a:srgbClr val="056DAE"/>
                </a:solidFill>
              </a:rPr>
              <a:t>EXECUTIVE DECISION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FE5A8-4A33-498D-B299-842F50BE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3B70"/>
                </a:solidFill>
              </a:defRPr>
            </a:pPr>
            <a:r>
              <a:rPr sz="2250" b="1">
                <a:solidFill>
                  <a:srgbClr val="003B70"/>
                </a:solidFill>
              </a:rPr>
              <a:t>Stylus, EDGE Augmented LLM &amp; EDGE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559C2-22C9-45C8-A07D-854DB995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786"/>
                </a:solidFill>
              </a:defRPr>
            </a:pPr>
            <a:r>
              <a:rPr sz="1125" b="0">
                <a:solidFill>
                  <a:srgbClr val="637786"/>
                </a:solidFill>
              </a:rPr>
              <a:t>Three complementary approaches — select by autonomy, state and workflow complexity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AC831-4385-4291-B197-5D2991CA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19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786"/>
                </a:solidFill>
              </a:defRPr>
            </a:pPr>
            <a:r>
              <a:rPr sz="675" b="1">
                <a:solidFill>
                  <a:srgbClr val="637786"/>
                </a:solidFill>
              </a:rPr>
              <a:t>LOW AUTONOMY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6E604-A1F5-4CAF-B1BD-687634AD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9540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B8C46-6C29-4444-AC77-09F91B9A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209675"/>
            <a:ext cx="333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C8ADA-FDC6-4D5E-A21F-D09E6CC8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00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37786"/>
                </a:solidFill>
              </a:defRPr>
            </a:pPr>
            <a:r>
              <a:rPr sz="675" b="1">
                <a:solidFill>
                  <a:srgbClr val="637786"/>
                </a:solidFill>
              </a:rPr>
              <a:t>HIGH AUTONOMY +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0B7B6-6794-4968-84EC-7F265A5D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448050" cy="381000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6D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1D41D-0C48-4F9B-A29D-FC48D27C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448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6DAE"/>
          </a:solidFill>
          <a:ln xmlns:a="http://schemas.openxmlformats.org/drawingml/2006/main" w="9525">
            <a:solidFill>
              <a:srgbClr val="056D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90794-7FBA-4F6D-A64A-1208D2BD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2A0ED-8ABF-4E85-8B08-AEDE4261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6DAE"/>
                </a:solidFill>
              </a:defRPr>
            </a:pPr>
            <a:r>
              <a:rPr sz="1350" b="1">
                <a:solidFill>
                  <a:srgbClr val="056DAE"/>
                </a:solidFill>
              </a:rPr>
              <a:t>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A5EF8-76E9-49CB-8DE5-F9C122A3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04975"/>
            <a:ext cx="2495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6DAE"/>
                </a:solidFill>
              </a:defRPr>
            </a:pPr>
            <a:r>
              <a:rPr sz="713" b="1">
                <a:solidFill>
                  <a:srgbClr val="056DAE"/>
                </a:solidFill>
              </a:rPr>
              <a:t>ORGANIZATION TOOL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A4B54-1D41-42E5-B277-DAEA1760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6690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Stylus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B1F01-4F20-416A-9A85-4BF08787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600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0AE94-BFC0-4FCA-897A-14832C78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56DAE"/>
                </a:solidFill>
              </a:defRPr>
            </a:pPr>
            <a:r>
              <a:rPr sz="750" b="1">
                <a:solidFill>
                  <a:srgbClr val="056DAE"/>
                </a:solidFill>
              </a:rPr>
              <a:t>GEMINI 3.0 PRO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D84ED-E1DE-4D40-B698-F6DF5BD2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Governed enterprise AI productivity services delivered through pre-built APIs.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59762-163C-4D3B-9AF7-B578DB76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6DAE"/>
          </a:solidFill>
          <a:ln xmlns:a="http://schemas.openxmlformats.org/drawingml/2006/main" w="9525">
            <a:solidFill>
              <a:srgbClr val="056D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02206-2602-4618-8E52-8C563274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6DAE"/>
                </a:solidFill>
              </a:defRPr>
            </a:pPr>
            <a:r>
              <a:rPr sz="675" b="1">
                <a:solidFill>
                  <a:srgbClr val="056DAE"/>
                </a:solidFill>
              </a:rPr>
              <a:t>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AD918-851D-460B-90FA-EC713896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337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Known prompt or API; discrete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4EDB3-8927-4B3A-877B-296E70B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D50E2-41A2-4AE0-B27D-CC9C737F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6DAE"/>
                </a:solidFill>
              </a:defRPr>
            </a:pPr>
            <a:r>
              <a:rPr sz="675" b="1">
                <a:solidFill>
                  <a:srgbClr val="056DAE"/>
                </a:solidFill>
              </a:rPr>
              <a:t>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9039D-C90E-41A3-9CC2-85CAE2A3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No end-to-end workflow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7DBF73-D29C-4233-93C5-E4D9C790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3F07C-3DDF-46AC-8DEE-7BD8EA45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6DAE"/>
                </a:solidFill>
              </a:defRPr>
            </a:pPr>
            <a:r>
              <a:rPr sz="675" b="1">
                <a:solidFill>
                  <a:srgbClr val="056DAE"/>
                </a:solidFill>
              </a:rPr>
              <a:t>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16808-53D9-4DCB-A35E-FEF40EE7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766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Curated, governed service APIs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2C6EAE-9B3B-4347-A2D1-73D3CAC4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2D116-F1C3-44A3-BE9F-36DA7214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6DAE"/>
                </a:solidFill>
              </a:defRPr>
            </a:pPr>
            <a:r>
              <a:rPr sz="675" b="1">
                <a:solidFill>
                  <a:srgbClr val="056DAE"/>
                </a:solidFill>
              </a:rPr>
              <a:t>BEST FIT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FEE90-E7B4-4604-A004-CF1BF074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Q&amp;A • compare • translate • summarize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1A146D-08D5-4C20-A285-FC5C6A8A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BFE2B9-EF4B-4966-9092-0D6521DB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6DAE"/>
                </a:solidFill>
              </a:defRPr>
            </a:pPr>
            <a:r>
              <a:rPr sz="675" b="1">
                <a:solidFill>
                  <a:srgbClr val="056DAE"/>
                </a:solidFill>
              </a:rPr>
              <a:t>CONTROLS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182A91-80F0-4EED-9A51-D3757BAA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Access, data and model governance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630BF7-0411-4D8A-BA9C-9E645711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181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573FF0-4082-4032-862A-A911437E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339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6DAE"/>
                </a:solidFill>
              </a:defRPr>
            </a:pPr>
            <a:r>
              <a:rPr sz="728" b="1">
                <a:solidFill>
                  <a:srgbClr val="056DAE"/>
                </a:solidFill>
              </a:rPr>
              <a:t>USE WHEN: speed, standardization and minimal custom build matter most.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8A82B2-C095-4EFA-96DA-05384276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504950"/>
            <a:ext cx="3448050" cy="381000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3B7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275516-001D-4E89-A14F-4730730A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504950"/>
            <a:ext cx="3448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B70"/>
          </a:solidFill>
          <a:ln xmlns:a="http://schemas.openxmlformats.org/drawingml/2006/main" w="9525">
            <a:solidFill>
              <a:srgbClr val="003B7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970DD0-965A-4B73-BD14-16AA5BFF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7240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2457C7-310F-4E3A-BB84-CF15A8E7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7240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3B70"/>
                </a:solidFill>
              </a:defRPr>
            </a:pPr>
            <a:r>
              <a:rPr sz="1350" b="1">
                <a:solidFill>
                  <a:srgbClr val="003B70"/>
                </a:solidFill>
              </a:rPr>
              <a:t>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2E6C63-CC3F-4C5E-A371-7D0B21A3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704975"/>
            <a:ext cx="2495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3B70"/>
                </a:solidFill>
              </a:defRPr>
            </a:pPr>
            <a:r>
              <a:rPr sz="713" b="1">
                <a:solidFill>
                  <a:srgbClr val="003B70"/>
                </a:solidFill>
              </a:rPr>
              <a:t>STATELESS INTELLIGENCE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BD9845-158F-45A3-B4D2-ADB0BCBF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86690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EDGE Augmented LLM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F647D5-2E50-40BF-9778-9AFDA72B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76475"/>
            <a:ext cx="1600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B90040-6306-4C27-A7AE-FACD06EF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7647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3B70"/>
                </a:solidFill>
              </a:defRPr>
            </a:pPr>
            <a:r>
              <a:rPr sz="750" b="1">
                <a:solidFill>
                  <a:srgbClr val="003B70"/>
                </a:solidFill>
              </a:rPr>
              <a:t>BOUNDED LLM SERVICE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EEEBDA-4011-43AA-A738-2D17A9B5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717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Single request–response execution for a well-defined intelligence task.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40CA41-236B-4517-BD1B-E051D1D2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7657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9525">
            <a:solidFill>
              <a:srgbClr val="003B7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A91130-28E9-4BC3-823E-A26A5081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3372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3B70"/>
                </a:solidFill>
              </a:defRPr>
            </a:pPr>
            <a:r>
              <a:rPr sz="675" b="1">
                <a:solidFill>
                  <a:srgbClr val="003B70"/>
                </a:solidFill>
              </a:rPr>
              <a:t>EXECUTION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33E2A8-DE86-4E4C-A28B-6B22EFF3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337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Single pass with defined inputs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D45C31-D927-4F75-A52E-61D49F05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766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7A94C9-4CC6-4191-B09D-9088CF7A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052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3B70"/>
                </a:solidFill>
              </a:defRPr>
            </a:pPr>
            <a:r>
              <a:rPr sz="675" b="1">
                <a:solidFill>
                  <a:srgbClr val="003B70"/>
                </a:solidFill>
              </a:rPr>
              <a:t>STATE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6BF071-E262-4F89-B847-40B1B7AC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5052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Stateless by design; no decision loop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DCF2B6-66C0-47EC-B30C-16CA74B5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4810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58AD96-3F0E-4051-8E55-B469FE5A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766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3B70"/>
                </a:solidFill>
              </a:defRPr>
            </a:pPr>
            <a:r>
              <a:rPr sz="675" b="1">
                <a:solidFill>
                  <a:srgbClr val="003B70"/>
                </a:solidFill>
              </a:rPr>
              <a:t>TOOLS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3CF391-6DBE-437B-A4A5-9A2AE197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8766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Optional retrieval or pre-wired tools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B4FDB6-11BA-44EC-A4DA-7478EE21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1957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47AECB-C34D-427A-BB18-BA945167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481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3B70"/>
                </a:solidFill>
              </a:defRPr>
            </a:pPr>
            <a:r>
              <a:rPr sz="675" b="1">
                <a:solidFill>
                  <a:srgbClr val="003B70"/>
                </a:solidFill>
              </a:rPr>
              <a:t>BEST FIT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036B8F-9A45-4505-875C-B566EC9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2481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Extract • classify • summarize • structure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7FFD1F-8EA8-4B17-9881-9B83107B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910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96A441-709A-49FB-A392-14A8063D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61962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3B70"/>
                </a:solidFill>
              </a:defRPr>
            </a:pPr>
            <a:r>
              <a:rPr sz="675" b="1">
                <a:solidFill>
                  <a:srgbClr val="003B70"/>
                </a:solidFill>
              </a:rPr>
              <a:t>CONTROLS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410820-B716-44E6-BCF9-15F58414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6196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Grounding, schema and quality checks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1DA968-A78D-4A7B-8685-17A3BA4D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05375"/>
            <a:ext cx="3181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91003B-1A17-47EC-AC9C-9776E807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339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03B70"/>
                </a:solidFill>
              </a:defRPr>
            </a:pPr>
            <a:r>
              <a:rPr sz="728" b="1">
                <a:solidFill>
                  <a:srgbClr val="003B70"/>
                </a:solidFill>
              </a:rPr>
              <a:t>USE WHEN: the task is bounded and all context fits one execution.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84B44E-9E7C-4CE1-8558-E91EEADE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3448050" cy="381000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FD82AC-BEE3-4CE8-BF66-21CB2D1C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3448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B08773-CE25-433F-9538-CABB3C3A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240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E9F7F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7141E78-ABFD-4C1A-92AE-1EECE2E4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240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6A5"/>
                </a:solidFill>
              </a:defRPr>
            </a:pPr>
            <a:r>
              <a:rPr sz="1350" b="1">
                <a:solidFill>
                  <a:srgbClr val="00A6A5"/>
                </a:solidFill>
              </a:rPr>
              <a:t>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184A8F-8EFD-4772-BD14-BC839523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04975"/>
            <a:ext cx="2495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A6A5"/>
                </a:solidFill>
              </a:defRPr>
            </a:pPr>
            <a:r>
              <a:rPr sz="713" b="1">
                <a:solidFill>
                  <a:srgbClr val="00A6A5"/>
                </a:solidFill>
              </a:rPr>
              <a:t>AUTONOMOUS ORCHESTRATION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2CF66C-4CCB-41D8-9DD6-724769B5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EDGE Agent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3E0A0E-7BAA-4406-BD79-0E28CDC2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76475"/>
            <a:ext cx="1600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E9F7F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8375CD-5EBA-4D01-83C2-4288E723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7647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A6A5"/>
                </a:solidFill>
              </a:defRPr>
            </a:pPr>
            <a:r>
              <a:rPr sz="750" b="1">
                <a:solidFill>
                  <a:srgbClr val="00A6A5"/>
                </a:solidFill>
              </a:rPr>
              <a:t>GOOGLE ADK FRAMEWORK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71974D-143A-43A5-993B-C5A77AF5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Goal-directed agentic framework for complex, multi-step business workflows.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375E220-807F-4F5A-B108-4B03BB71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7657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012A9C-E752-4E86-9154-8841BCB9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3372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A6A5"/>
                </a:solidFill>
              </a:defRPr>
            </a:pPr>
            <a:r>
              <a:rPr sz="675" b="1">
                <a:solidFill>
                  <a:srgbClr val="00A6A5"/>
                </a:solidFill>
              </a:rPr>
              <a:t>EXECUTION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BF070F-9B95-4198-ACC9-D97A8B88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337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Plan → call tools → observe → adapt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301A75-FAFD-4021-AB6F-B25BA5E0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766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1F257BA-4958-4655-A483-B8D8A31C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A6A5"/>
                </a:solidFill>
              </a:defRPr>
            </a:pPr>
            <a:r>
              <a:rPr sz="675" b="1">
                <a:solidFill>
                  <a:srgbClr val="00A6A5"/>
                </a:solidFill>
              </a:rPr>
              <a:t>STATE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2AA2CC9-2532-4739-AE8D-892BB888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052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Session/case state; memory as needed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6AAD794-83E2-4379-83D5-560AFB6D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22590F-E4BD-45C9-89B1-1B7E3076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766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A6A5"/>
                </a:solidFill>
              </a:defRPr>
            </a:pPr>
            <a:r>
              <a:rPr sz="675" b="1">
                <a:solidFill>
                  <a:srgbClr val="00A6A5"/>
                </a:solidFill>
              </a:rPr>
              <a:t>TOOLS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177BA17-B2C5-4CD6-BAA6-14A98564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766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Autonomous selection and repeated calls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27C0CC-2409-42A4-A7E6-E1203053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7A0DAE4-1A69-40AA-BBF6-08CC756B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481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A6A5"/>
                </a:solidFill>
              </a:defRPr>
            </a:pPr>
            <a:r>
              <a:rPr sz="675" b="1">
                <a:solidFill>
                  <a:srgbClr val="00A6A5"/>
                </a:solidFill>
              </a:rPr>
              <a:t>BEST FIT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DB96E88-A426-4E27-A3A7-B093B1EC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481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Investigate • reconcile • route • act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574BBC6-F2F1-4D1A-9918-2778B03D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910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BA390D8-94CD-4996-997F-F942AB93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1962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A6A5"/>
                </a:solidFill>
              </a:defRPr>
            </a:pPr>
            <a:r>
              <a:rPr sz="675" b="1">
                <a:solidFill>
                  <a:srgbClr val="00A6A5"/>
                </a:solidFill>
              </a:rPr>
              <a:t>CONTROLS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FF7D136-F8CC-4328-90A3-C63191D6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196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A5B"/>
                </a:solidFill>
              </a:defRPr>
            </a:pPr>
            <a:r>
              <a:rPr sz="863" b="0">
                <a:solidFill>
                  <a:srgbClr val="334A5B"/>
                </a:solidFill>
              </a:rPr>
              <a:t>HIL, policy, evals and observability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7A4DE01-DF11-477B-863A-290ACE04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05375"/>
            <a:ext cx="3181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E9F7F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8DC0827-AE8A-420A-8513-4F1C216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339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0A6A5"/>
                </a:solidFill>
              </a:defRPr>
            </a:pPr>
            <a:r>
              <a:rPr sz="728" b="1">
                <a:solidFill>
                  <a:srgbClr val="00A6A5"/>
                </a:solidFill>
              </a:rPr>
              <a:t>USE WHEN: decisions change as the workflow progresses toward a goal.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2C65B9-3D1D-4031-BC9B-43FF5662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10991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2F9220A-F729-426E-9483-D912ABF6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A6A5"/>
                </a:solidFill>
              </a:defRPr>
            </a:pPr>
            <a:r>
              <a:rPr sz="750" b="1">
                <a:solidFill>
                  <a:srgbClr val="00A6A5"/>
                </a:solidFill>
              </a:rPr>
              <a:t>HOW THEY WORK TOGETHER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BEB6B18-2D12-4305-B593-8FA7CCE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C9D59A1-66B8-4170-BDBE-30906CD7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8FE4FF1-65F8-4102-BACA-EADBBBAA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72452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B3A"/>
                </a:solidFill>
              </a:defRPr>
            </a:pPr>
            <a:r>
              <a:rPr sz="750" b="1">
                <a:solidFill>
                  <a:srgbClr val="172B3A"/>
                </a:solidFill>
              </a:rPr>
              <a:t>Selection rule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E152440-1886-48E2-9D46-9D81BCFB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895975"/>
            <a:ext cx="2943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34A5B"/>
                </a:solidFill>
              </a:defRPr>
            </a:pPr>
            <a:r>
              <a:rPr sz="765" b="0">
                <a:solidFill>
                  <a:srgbClr val="334A5B"/>
                </a:solidFill>
              </a:rPr>
              <a:t>Use the simplest approach that satisfies the business need.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A7F63F4-D7F9-4296-876C-A0A63B8E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197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85EFF62-411C-4ACA-8DB2-D62A3A3C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197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AC59D31-FA47-415E-833A-034267A6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72452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B3A"/>
                </a:solidFill>
              </a:defRPr>
            </a:pPr>
            <a:r>
              <a:rPr sz="750" b="1">
                <a:solidFill>
                  <a:srgbClr val="172B3A"/>
                </a:solidFill>
              </a:rPr>
              <a:t>Composition rule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1A973EA-691A-4AB9-B26A-0CBB50AB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895975"/>
            <a:ext cx="2943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34A5B"/>
                </a:solidFill>
              </a:defRPr>
            </a:pPr>
            <a:r>
              <a:rPr sz="765" b="0">
                <a:solidFill>
                  <a:srgbClr val="334A5B"/>
                </a:solidFill>
              </a:rPr>
              <a:t>EDGE Agent may invoke Stylus or Augmented LLM for governed sub-tasks.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F308B8D-34DA-4B06-8C0E-3471A064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197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6436A6-39E8-4A75-B53A-F9DF8EFC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197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F1C6E1A-17A2-44D3-92C4-AE145E8B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72452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B3A"/>
                </a:solidFill>
              </a:defRPr>
            </a:pPr>
            <a:r>
              <a:rPr sz="750" b="1">
                <a:solidFill>
                  <a:srgbClr val="172B3A"/>
                </a:solidFill>
              </a:rPr>
              <a:t>Governance rule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7D1FB4F-7E8D-4367-B1B7-497EA982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895975"/>
            <a:ext cx="2943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34A5B"/>
                </a:solidFill>
              </a:defRPr>
            </a:pPr>
            <a:r>
              <a:rPr sz="765" b="0">
                <a:solidFill>
                  <a:srgbClr val="334A5B"/>
                </a:solidFill>
              </a:rPr>
              <a:t>Higher autonomy requires stronger HIL, policy, evaluation and observability.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4507968-F07A-4CB3-8832-16F0C602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99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9CE577A-A6B2-4589-AEE3-3EA692B6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786"/>
                </a:solidFill>
              </a:defRPr>
            </a:pPr>
            <a:r>
              <a:rPr sz="713" b="1">
                <a:solidFill>
                  <a:srgbClr val="637786"/>
                </a:solidFill>
              </a:rPr>
              <a:t>CITI  |  INTERNAL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59F1D2-D0DC-4B08-A8EE-8A9B33F1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37786"/>
                </a:solidFill>
              </a:defRPr>
            </a:pPr>
            <a:r>
              <a:rPr sz="713" b="1">
                <a:solidFill>
                  <a:srgbClr val="63778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9173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2026-07-16T16:32:11.1760000Z</dcterms:created>
  <dcterms:modified xsi:type="dcterms:W3CDTF">2026-07-16T16:32:11.1770000Z</dcterms:modified>
</coreProperties>
</file>