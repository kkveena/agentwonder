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502920"/>
            <a:ext cx="685800" cy="685800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75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5FD1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D5FD1"/>
                </a:solidFill>
                <a:latin typeface="Aptos"/>
              </a:rPr>
              <a:t>Governed Autonomy &amp; Risk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43200"/>
            <a:ext cx="1097280" cy="146304"/>
          </a:xfrm>
          <a:prstGeom prst="rect">
            <a:avLst/>
          </a:prstGeom>
          <a:solidFill>
            <a:srgbClr val="1D5FD1"/>
          </a:solidFill>
          <a:ln>
            <a:solidFill>
              <a:srgbClr val="1D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D869B"/>
                </a:solidFill>
                <a:latin typeface="Aptos"/>
              </a:rPr>
              <a:t>Enforcing strict technology standards, dual guardrails, and mandatory human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39165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8" name="Arc 7"/>
          <p:cNvSpPr/>
          <p:nvPr/>
        </p:nvSpPr>
        <p:spPr>
          <a:xfrm>
            <a:off x="466344" y="6345936"/>
            <a:ext cx="384048" cy="164592"/>
          </a:xfrm>
          <a:prstGeom prst="arc">
            <a:avLst>
              <a:gd name="adj1" fmla="val 1000000"/>
              <a:gd name="adj2" fmla="val 17000000"/>
            </a:avLst>
          </a:prstGeom>
          <a:noFill/>
          <a:ln w="31750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D5FD1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D5FD1"/>
                </a:solidFill>
                <a:latin typeface="Aptos"/>
              </a:rPr>
              <a:t>How does EDGE lower operational risk in production?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3898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D869B"/>
                </a:solidFill>
                <a:latin typeface="Aptos"/>
              </a:rPr>
              <a:t>Layered guardrails, human approval, and strict platform standards make agentic workflows safer than the prior manual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810512"/>
            <a:ext cx="1143000" cy="128016"/>
          </a:xfrm>
          <a:prstGeom prst="rect">
            <a:avLst/>
          </a:prstGeom>
          <a:solidFill>
            <a:srgbClr val="1D5FD1"/>
          </a:solidFill>
          <a:ln>
            <a:solidFill>
              <a:srgbClr val="1D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2029968"/>
            <a:ext cx="27432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212848"/>
            <a:ext cx="594360" cy="594360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96058"/>
            <a:ext cx="594360" cy="326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5FD1"/>
                </a:solidFill>
                <a:latin typeface="Aptos"/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44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5FD1"/>
                </a:solidFill>
                <a:latin typeface="Aptos"/>
              </a:rPr>
              <a:t>1. Inbound (Lakera)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355848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3B59"/>
                </a:solidFill>
                <a:latin typeface="Aptos"/>
              </a:rPr>
              <a:t>Scans every incoming email and user
query for prompt injection, jailbreaking,
and malicious inputs before the model
runs. Records verdicts to the central
state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498847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5FD1"/>
                </a:solidFill>
                <a:latin typeface="Aptos"/>
              </a:rPr>
              <a:t>Result: </a:t>
            </a:r>
            <a:r>
              <a:rPr sz="1250">
                <a:solidFill>
                  <a:srgbClr val="2E3B59"/>
                </a:solidFill>
                <a:latin typeface="Aptos"/>
              </a:rPr>
              <a:t>100% of inputs pre-screened.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029968"/>
            <a:ext cx="27432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212848"/>
            <a:ext cx="594360" cy="594360"/>
          </a:xfrm>
          <a:prstGeom prst="ellipse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96058"/>
            <a:ext cx="594360" cy="326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C8B63"/>
                </a:solidFill>
                <a:latin typeface="Aptos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944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5FD1"/>
                </a:solidFill>
                <a:latin typeface="Aptos"/>
              </a:rPr>
              <a:t>2. Outbound (AgentFlow)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355848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3B59"/>
                </a:solidFill>
                <a:latin typeface="Aptos"/>
              </a:rPr>
              <a:t>Evaluates generated drafts for
regulatory compliance, brand tone,
and data leak prevention. Deterministic
parsing ensures math figures and
factual tables cannot be modified
by the LLM.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4498847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5FD1"/>
                </a:solidFill>
                <a:latin typeface="Aptos"/>
              </a:rPr>
              <a:t>Result: </a:t>
            </a:r>
            <a:r>
              <a:rPr sz="1250">
                <a:solidFill>
                  <a:srgbClr val="2E3B59"/>
                </a:solidFill>
                <a:latin typeface="Aptos"/>
              </a:rPr>
              <a:t>0 unauthorized or non-compliant drafts released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29968"/>
            <a:ext cx="27432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212848"/>
            <a:ext cx="594360" cy="594360"/>
          </a:xfrm>
          <a:prstGeom prst="ellipse">
            <a:avLst/>
          </a:prstGeom>
          <a:solidFill>
            <a:srgbClr val="F8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296058"/>
            <a:ext cx="594360" cy="326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04A3C"/>
                </a:solidFill>
                <a:latin typeface="Aptos"/>
              </a:rP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944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5FD1"/>
                </a:solidFill>
                <a:latin typeface="Aptos"/>
              </a:rPr>
              <a:t>3. Human Review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355848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3B59"/>
                </a:solidFill>
                <a:latin typeface="Aptos"/>
              </a:rPr>
              <a:t>A mandatory human-in-the-loop step.
No external actions or QMA emails
are dispatched without explicit
approval from a licensed operations
reviewer.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498847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5FD1"/>
                </a:solidFill>
                <a:latin typeface="Aptos"/>
              </a:rPr>
              <a:t>Result: </a:t>
            </a:r>
            <a:r>
              <a:rPr sz="1250">
                <a:solidFill>
                  <a:srgbClr val="2E3B59"/>
                </a:solidFill>
                <a:latin typeface="Aptos"/>
              </a:rPr>
              <a:t>Zero external actions without human approval.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62288" y="2029968"/>
            <a:ext cx="0" cy="3246120"/>
          </a:xfrm>
          <a:prstGeom prst="line">
            <a:avLst/>
          </a:prstGeom>
          <a:ln w="19050">
            <a:solidFill>
              <a:srgbClr val="C8D8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81160" y="2029968"/>
            <a:ext cx="2514600" cy="713232"/>
          </a:xfrm>
          <a:prstGeom prst="roundRect">
            <a:avLst/>
          </a:prstGeom>
          <a:solidFill>
            <a:srgbClr val="1D5FD1"/>
          </a:solidFill>
          <a:ln w="12700">
            <a:solidFill>
              <a:srgbClr val="1D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215798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206630"/>
            <a:ext cx="347472" cy="1911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20370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FFFFFF"/>
                </a:solidFill>
                <a:latin typeface="Aptos"/>
              </a:rPr>
              <a:t>SECURITY, COMPLIANCE &amp; 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2788920"/>
            <a:ext cx="2514600" cy="2487168"/>
          </a:xfrm>
          <a:prstGeom prst="round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64040" y="2990088"/>
            <a:ext cx="73152" cy="73152"/>
          </a:xfrm>
          <a:prstGeom prst="ellipse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0928" y="295351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3B59"/>
                </a:solidFill>
                <a:latin typeface="Aptos"/>
              </a:rPr>
              <a:t>AAITS &amp; AISS: </a:t>
            </a:r>
            <a:r>
              <a:rPr sz="1100">
                <a:solidFill>
                  <a:srgbClr val="7D869B"/>
                </a:solidFill>
                <a:latin typeface="Aptos"/>
              </a:rPr>
              <a:t>Technology
standards compliant</a:t>
            </a:r>
          </a:p>
        </p:txBody>
      </p:sp>
      <p:sp>
        <p:nvSpPr>
          <p:cNvPr id="33" name="Oval 32"/>
          <p:cNvSpPr/>
          <p:nvPr/>
        </p:nvSpPr>
        <p:spPr>
          <a:xfrm>
            <a:off x="9464040" y="3611880"/>
            <a:ext cx="73152" cy="73152"/>
          </a:xfrm>
          <a:prstGeom prst="ellipse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3575304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3B59"/>
                </a:solidFill>
                <a:latin typeface="Aptos"/>
              </a:rPr>
              <a:t>COIN &amp; MCP: </a:t>
            </a:r>
            <a:r>
              <a:rPr sz="1100">
                <a:solidFill>
                  <a:srgbClr val="7D869B"/>
                </a:solidFill>
                <a:latin typeface="Aptos"/>
              </a:rPr>
              <a:t>Least-privilege
token access</a:t>
            </a:r>
          </a:p>
        </p:txBody>
      </p:sp>
      <p:sp>
        <p:nvSpPr>
          <p:cNvPr id="35" name="Oval 34"/>
          <p:cNvSpPr/>
          <p:nvPr/>
        </p:nvSpPr>
        <p:spPr>
          <a:xfrm>
            <a:off x="9464040" y="4233672"/>
            <a:ext cx="73152" cy="73152"/>
          </a:xfrm>
          <a:prstGeom prst="ellipse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4197096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3B59"/>
                </a:solidFill>
                <a:latin typeface="Aptos"/>
              </a:rPr>
              <a:t>ARC promotion controls: </a:t>
            </a:r>
            <a:r>
              <a:rPr sz="1100">
                <a:solidFill>
                  <a:srgbClr val="7D869B"/>
                </a:solidFill>
                <a:latin typeface="Aptos"/>
              </a:rPr>
              <a:t>preserve environment integrity
and auditability</a:t>
            </a:r>
          </a:p>
        </p:txBody>
      </p:sp>
      <p:sp>
        <p:nvSpPr>
          <p:cNvPr id="37" name="Oval 36"/>
          <p:cNvSpPr/>
          <p:nvPr/>
        </p:nvSpPr>
        <p:spPr>
          <a:xfrm>
            <a:off x="9464040" y="4855464"/>
            <a:ext cx="73152" cy="73152"/>
          </a:xfrm>
          <a:prstGeom prst="ellipse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0928" y="481888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3B59"/>
                </a:solidFill>
                <a:latin typeface="Aptos"/>
              </a:rPr>
              <a:t>OpenTelemetry + Prometheus: </a:t>
            </a:r>
            <a:r>
              <a:rPr sz="1100">
                <a:solidFill>
                  <a:srgbClr val="7D869B"/>
                </a:solidFill>
                <a:latin typeface="Aptos"/>
              </a:rPr>
              <a:t>provide real-time observability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504688"/>
            <a:ext cx="11411712" cy="512064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C8D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63270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5FD1"/>
                </a:solidFill>
                <a:latin typeface="Aptos"/>
              </a:rPr>
              <a:t>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559612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5FD1"/>
                </a:solidFill>
                <a:latin typeface="Aptos"/>
              </a:rPr>
              <a:t>Audit: </a:t>
            </a:r>
            <a:r>
              <a:rPr sz="1300">
                <a:solidFill>
                  <a:srgbClr val="2E3B59"/>
                </a:solidFill>
                <a:latin typeface="Aptos"/>
              </a:rPr>
              <a:t>Every agent decision, tool call, guardrail verdict, and human override is fully logged.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63093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43" name="Arc 42"/>
          <p:cNvSpPr/>
          <p:nvPr/>
        </p:nvSpPr>
        <p:spPr>
          <a:xfrm>
            <a:off x="402336" y="6263640"/>
            <a:ext cx="384048" cy="164592"/>
          </a:xfrm>
          <a:prstGeom prst="arc">
            <a:avLst>
              <a:gd name="adj1" fmla="val 1000000"/>
              <a:gd name="adj2" fmla="val 17000000"/>
            </a:avLst>
          </a:prstGeom>
          <a:noFill/>
          <a:ln w="31750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