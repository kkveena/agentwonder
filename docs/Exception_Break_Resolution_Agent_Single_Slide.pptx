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D5FD1"/>
                </a:solidFill>
                <a:latin typeface="Aptos"/>
              </a:rPr>
              <a:t>Exception &amp; Break Resolution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3B59"/>
                </a:solidFill>
                <a:latin typeface="Aptos"/>
              </a:rPr>
              <a:t>AI that investigates, recommends, and closes breaks — where Ops 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111556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7D869B"/>
                </a:solidFill>
                <a:latin typeface="Aptos"/>
              </a:rPr>
              <a:t>Using the oversight-centric executive layout: center orchestration with four governed agent functions around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8016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E3B59"/>
                </a:solidFill>
                <a:latin typeface="Aptos"/>
              </a:rPr>
              <a:t>CONTINUOUS GOVERNED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664208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0">
                <a:solidFill>
                  <a:srgbClr val="2E3B59"/>
                </a:solidFill>
                <a:latin typeface="Aptos"/>
              </a:rPr>
              <a:t>The MOT-owned orchestrator coordinates investigation, analysis, human approval, and action while preserving full auditability.</a:t>
            </a:r>
          </a:p>
        </p:txBody>
      </p:sp>
      <p:sp>
        <p:nvSpPr>
          <p:cNvPr id="7" name="Oval 6"/>
          <p:cNvSpPr/>
          <p:nvPr/>
        </p:nvSpPr>
        <p:spPr>
          <a:xfrm>
            <a:off x="5623560" y="2331720"/>
            <a:ext cx="914400" cy="914400"/>
          </a:xfrm>
          <a:prstGeom prst="ellipse">
            <a:avLst/>
          </a:prstGeom>
          <a:solidFill>
            <a:srgbClr val="E9F1FB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2551176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D5FD1"/>
                </a:solidFill>
                <a:latin typeface="Aptos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32918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5FD1"/>
                </a:solidFill>
                <a:latin typeface="Aptos"/>
              </a:rPr>
              <a:t>MOT Agent 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611880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7D869B"/>
                </a:solidFill>
                <a:latin typeface="Aptos"/>
              </a:rPr>
              <a:t>Owned by Market Operations • Human in the Loop • Full 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41732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4632" y="1572768"/>
            <a:ext cx="310896" cy="310896"/>
          </a:xfrm>
          <a:prstGeom prst="ellipse">
            <a:avLst/>
          </a:prstGeom>
          <a:solidFill>
            <a:srgbClr val="EA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627632"/>
            <a:ext cx="31089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7A78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545336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B7A78"/>
                </a:solidFill>
                <a:latin typeface="Aptos"/>
              </a:rPr>
              <a:t>BREAK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1801368"/>
            <a:ext cx="2606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7D869B"/>
                </a:solidFill>
                <a:latin typeface="Aptos"/>
              </a:rPr>
              <a:t>Outside World / External 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103120"/>
            <a:ext cx="297180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Receives or provides the break through agent-to-agent handoff.</a:t>
            </a:r>
          </a:p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Owns external tools and resources required to interface outside MOT.</a:t>
            </a:r>
          </a:p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Passes structured break context into the internal resolution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7072" y="141732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41664" y="1572768"/>
            <a:ext cx="310896" cy="310896"/>
          </a:xfrm>
          <a:prstGeom prst="ellipse">
            <a:avLst/>
          </a:prstGeom>
          <a:solidFill>
            <a:srgbClr val="F2E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1664" y="1627632"/>
            <a:ext cx="31089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A4C9C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1545336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6A4C9C"/>
                </a:solidFill>
                <a:latin typeface="Aptos"/>
              </a:rPr>
              <a:t>EXCEPTION INVESTIGATION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1801368"/>
            <a:ext cx="2606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7D869B"/>
                </a:solidFill>
                <a:latin typeface="Aptos"/>
              </a:rPr>
              <a:t>MOT-Owned Investigation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2103120"/>
            <a:ext cx="297180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Routes the case and decomposes the problem into tractable sub-tasks.</a:t>
            </a:r>
          </a:p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Queries EDGE Workbench, DGE Server, or assist tools to find root cause.</a:t>
            </a:r>
          </a:p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Identifies specific trade, cash, or security discrepancies.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384048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632" y="3995928"/>
            <a:ext cx="310896" cy="310896"/>
          </a:xfrm>
          <a:prstGeom prst="ellipse">
            <a:avLst/>
          </a:prstGeom>
          <a:solidFill>
            <a:srgbClr val="EC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4050792"/>
            <a:ext cx="31089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A7A5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968496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A7A52"/>
                </a:solidFill>
                <a:latin typeface="Aptos"/>
              </a:rPr>
              <a:t>ANALYSIS &amp; COMMENTARY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224528"/>
            <a:ext cx="2606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7D869B"/>
                </a:solidFill>
                <a:latin typeface="Aptos"/>
              </a:rPr>
              <a:t>With Human in the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526280"/>
            <a:ext cx="297180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Builds evidence-backed analysis and drafts compliant commentary.</a:t>
            </a:r>
          </a:p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Applies guardrails plus deterministic math/tables before recommendation.</a:t>
            </a:r>
          </a:p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Licensed operations reviewer validates and approves before action.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384048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41664" y="3995928"/>
            <a:ext cx="310896" cy="310896"/>
          </a:xfrm>
          <a:prstGeom prst="ellipse">
            <a:avLst/>
          </a:prstGeom>
          <a:solidFill>
            <a:srgbClr val="FC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41664" y="4050792"/>
            <a:ext cx="31089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25C2A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3968496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B25C2A"/>
                </a:solidFill>
                <a:latin typeface="Aptos"/>
              </a:rPr>
              <a:t>FINAL ACTION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4224528"/>
            <a:ext cx="2606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7D869B"/>
                </a:solidFill>
                <a:latin typeface="Aptos"/>
              </a:rPr>
              <a:t>Close the Break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4526280"/>
            <a:ext cx="2971800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Executes approved actions and completes break closure under guardrails.</a:t>
            </a:r>
          </a:p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Updates systems, triggers downstream steps, and records the audit trail.</a:t>
            </a:r>
          </a:p>
          <a:p>
            <a:pPr algn="l">
              <a:spcAft>
                <a:spcPts val="200"/>
              </a:spcAft>
            </a:pPr>
            <a:r>
              <a:rPr sz="1030">
                <a:solidFill>
                  <a:srgbClr val="2E3B59"/>
                </a:solidFill>
                <a:latin typeface="Aptos"/>
              </a:rPr>
              <a:t>Supports a phased path from assisted action to trusted autonomous closure.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3657600" y="2240280"/>
            <a:ext cx="1691640" cy="457200"/>
          </a:xfrm>
          <a:prstGeom prst="line">
            <a:avLst/>
          </a:prstGeom>
          <a:ln w="15240">
            <a:solidFill>
              <a:srgbClr val="7D8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812280" y="2240280"/>
            <a:ext cx="1764792" cy="457200"/>
          </a:xfrm>
          <a:prstGeom prst="line">
            <a:avLst/>
          </a:prstGeom>
          <a:ln w="15240">
            <a:solidFill>
              <a:srgbClr val="7D8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3657600" y="2971800"/>
            <a:ext cx="1691640" cy="1828800"/>
          </a:xfrm>
          <a:prstGeom prst="line">
            <a:avLst/>
          </a:prstGeom>
          <a:ln w="15240">
            <a:solidFill>
              <a:srgbClr val="7D8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12280" y="2971800"/>
            <a:ext cx="1764792" cy="1828800"/>
          </a:xfrm>
          <a:prstGeom prst="line">
            <a:avLst/>
          </a:prstGeom>
          <a:ln w="15240">
            <a:solidFill>
              <a:srgbClr val="7D86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977639" y="196596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7D869B"/>
                </a:solidFill>
                <a:latin typeface="Aptos"/>
              </a:rPr>
              <a:t>Ingests break 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196596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7D869B"/>
                </a:solidFill>
                <a:latin typeface="Aptos"/>
              </a:rPr>
              <a:t>Routes investigation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3657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7D869B"/>
                </a:solidFill>
                <a:latin typeface="Aptos"/>
              </a:rPr>
              <a:t>Creates guarded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657600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7D869B"/>
                </a:solidFill>
                <a:latin typeface="Aptos"/>
              </a:rPr>
              <a:t>Executes approved action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26080" y="4160520"/>
            <a:ext cx="6355080" cy="502920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63240" y="4288536"/>
            <a:ext cx="6080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D5FD1"/>
                </a:solidFill>
                <a:latin typeface="Aptos"/>
              </a:rPr>
              <a:t>Output = Guardrails + Recommendation → Human Approval → Actions + Close the Break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0" y="5010912"/>
            <a:ext cx="1965960" cy="530352"/>
          </a:xfrm>
          <a:prstGeom prst="roundRect">
            <a:avLst/>
          </a:prstGeom>
          <a:solidFill>
            <a:srgbClr val="E9F1FB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13632" y="51389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D5FD1"/>
                </a:solidFill>
                <a:latin typeface="Aptos"/>
              </a:rPr>
              <a:t>PHASE 1 (NOW)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513832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E3B59"/>
                </a:solidFill>
                <a:latin typeface="Aptos"/>
              </a:rPr>
              <a:t>Investigate &amp; analyze; deliver evidence-backed recommendations so humans can take action.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5010912"/>
            <a:ext cx="1965960" cy="530352"/>
          </a:xfrm>
          <a:prstGeom prst="roundRect">
            <a:avLst/>
          </a:prstGeom>
          <a:solidFill>
            <a:srgbClr val="E9F1FB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9672" y="513892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1D5FD1"/>
                </a:solidFill>
                <a:latin typeface="Aptos"/>
              </a:rPr>
              <a:t>PHASE 2 (SUBSEQUENT)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07024" y="551383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2E3B59"/>
                </a:solidFill>
                <a:latin typeface="Aptos"/>
              </a:rPr>
              <a:t>Once trust is established, agents take actions and close breaks under guardrails.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" y="6172200"/>
            <a:ext cx="11475720" cy="384048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272784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E3B59"/>
                </a:solidFill>
                <a:latin typeface="Aptos"/>
              </a:rPr>
              <a:t>Takeaway: The agent sits where Ops sits — external break intake remains separated, while MOT owns the governed investigation-to-action lifecycle.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" y="6443776"/>
            <a:ext cx="740664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5FD1"/>
                </a:solidFill>
                <a:latin typeface="Aptos"/>
              </a:rPr>
              <a:t>citi</a:t>
            </a:r>
          </a:p>
        </p:txBody>
      </p:sp>
      <p:sp>
        <p:nvSpPr>
          <p:cNvPr id="54" name="Arc 53"/>
          <p:cNvSpPr/>
          <p:nvPr/>
        </p:nvSpPr>
        <p:spPr>
          <a:xfrm>
            <a:off x="416052" y="6410858"/>
            <a:ext cx="353872" cy="148132"/>
          </a:xfrm>
          <a:prstGeom prst="arc">
            <a:avLst>
              <a:gd name="adj1" fmla="val 1000000"/>
              <a:gd name="adj2" fmla="val 17000000"/>
            </a:avLst>
          </a:prstGeom>
          <a:noFill/>
          <a:ln w="29718">
            <a:solidFill>
              <a:srgbClr val="E5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