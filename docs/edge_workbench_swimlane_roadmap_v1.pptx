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3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153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editable roadmap. All elements are native PowerPoint text boxes and shapes; no images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219456"/>
            <a:ext cx="73152" cy="521208"/>
          </a:xfrm>
          <a:prstGeom prst="rect">
            <a:avLst/>
          </a:prstGeom>
          <a:solidFill>
            <a:srgbClr val="008CCF"/>
          </a:solidFill>
          <a:ln w="12700">
            <a:solidFill>
              <a:srgbClr val="008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8458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Workbench – Agent OPS Platform — Key Features &amp; Roadmap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for Phase 1 • Roadmap by plane • editable swimlanes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39128" y="786384"/>
            <a:ext cx="2423160" cy="0"/>
          </a:xfrm>
          <a:prstGeom prst="line">
            <a:avLst/>
          </a:prstGeom>
          <a:noFill/>
          <a:ln w="25400">
            <a:solidFill>
              <a:srgbClr val="D7DE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65976" y="694944"/>
            <a:ext cx="201168" cy="20116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0" y="694944"/>
            <a:ext cx="201168" cy="201168"/>
          </a:xfrm>
          <a:prstGeom prst="ellipse">
            <a:avLst/>
          </a:prstGeom>
          <a:solidFill>
            <a:srgbClr val="00A2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22008" y="640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22008" y="804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8485632" y="640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485632" y="804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 2026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9427464" y="548640"/>
            <a:ext cx="1435608" cy="365760"/>
          </a:xfrm>
          <a:prstGeom prst="rect">
            <a:avLst/>
          </a:prstGeom>
          <a:solidFill>
            <a:srgbClr val="00B050"/>
          </a:solidFill>
          <a:ln>
            <a:solidFill>
              <a:srgbClr val="00B050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scope = build / operationalize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10991088" y="548640"/>
            <a:ext cx="914400" cy="365760"/>
          </a:xfrm>
          <a:prstGeom prst="rect">
            <a:avLst/>
          </a:prstGeom>
          <a:solidFill>
            <a:srgbClr val="00A2E8"/>
          </a:solidFill>
          <a:ln>
            <a:solidFill>
              <a:srgbClr val="00A2E8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scope = optimize / scale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438912" y="1078992"/>
            <a:ext cx="1874520" cy="429768"/>
          </a:xfrm>
          <a:prstGeom prst="rect">
            <a:avLst/>
          </a:prstGeom>
          <a:solidFill>
            <a:srgbClr val="071B5F"/>
          </a:solidFill>
          <a:ln>
            <a:solidFill>
              <a:srgbClr val="071B5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SWIMLANE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77440" y="1078992"/>
            <a:ext cx="4828032" cy="42976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JULY 2026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7333488" y="1078992"/>
            <a:ext cx="4443984" cy="429768"/>
          </a:xfrm>
          <a:prstGeom prst="rect">
            <a:avLst/>
          </a:prstGeom>
          <a:solidFill>
            <a:srgbClr val="00A2E8"/>
          </a:solidFill>
          <a:ln>
            <a:solidFill>
              <a:srgbClr val="00A2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SEPTEMBER 2026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38912" y="1581912"/>
            <a:ext cx="1874520" cy="1243584"/>
          </a:xfrm>
          <a:prstGeom prst="rect">
            <a:avLst/>
          </a:prstGeom>
          <a:solidFill>
            <a:srgbClr val="071B5F"/>
          </a:solidFill>
          <a:ln>
            <a:solidFill>
              <a:srgbClr val="071B5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BUILDER</a:t>
            </a:r>
            <a:endParaRPr lang="en-US" sz="66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PLANE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2377440" y="1581912"/>
            <a:ext cx="4828032" cy="1243584"/>
          </a:xfrm>
          <a:prstGeom prst="rect">
            <a:avLst/>
          </a:prstGeom>
          <a:solidFill>
            <a:srgbClr val="ECF8F1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Visual canvas: agents, sub‑agents, tools discovery &amp; association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Properties: model, instruction, tools, policy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Knowledge &amp; retrieval (?)</a:t>
            </a:r>
          </a:p>
          <a:p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10" dirty="0">
                <a:solidFill>
                  <a:srgbClr val="1D2433"/>
                </a:solidFill>
                <a:latin typeface="Aptos" pitchFamily="34" charset="0"/>
              </a:rPr>
              <a:t>Single User Design Edit View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Prompt &amp; instruction engineering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Experimentation &amp; interactive testing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Promotion hand‑off (through </a:t>
            </a:r>
            <a:r>
              <a:rPr lang="en-US" sz="910" dirty="0" err="1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GitFlow</a:t>
            </a: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910" dirty="0"/>
          </a:p>
        </p:txBody>
      </p:sp>
      <p:sp>
        <p:nvSpPr>
          <p:cNvPr id="21" name="Text 18"/>
          <p:cNvSpPr/>
          <p:nvPr/>
        </p:nvSpPr>
        <p:spPr>
          <a:xfrm>
            <a:off x="7333488" y="1581912"/>
            <a:ext cx="4443984" cy="1243584"/>
          </a:xfrm>
          <a:prstGeom prst="rect">
            <a:avLst/>
          </a:prstGeom>
          <a:solidFill>
            <a:srgbClr val="EAF5FB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Persona library + prompt review</a:t>
            </a:r>
          </a:p>
          <a:p>
            <a:r>
              <a:rPr lang="en-US" sz="10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30" dirty="0">
                <a:solidFill>
                  <a:srgbClr val="1D2433"/>
                </a:solidFill>
                <a:latin typeface="Aptos" pitchFamily="34" charset="0"/>
              </a:rPr>
              <a:t>Global / local context</a:t>
            </a:r>
          </a:p>
          <a:p>
            <a:pPr marL="0" indent="0" algn="l">
              <a:buNone/>
            </a:pP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Trace viewer for debugging</a:t>
            </a:r>
          </a:p>
          <a:p>
            <a:r>
              <a:rPr lang="en-US" sz="10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Eval harness + quality gates</a:t>
            </a:r>
          </a:p>
          <a:p>
            <a:r>
              <a:rPr lang="en-US" sz="10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1000" dirty="0">
                <a:solidFill>
                  <a:srgbClr val="1D2433"/>
                </a:solidFill>
                <a:latin typeface="Aptos" pitchFamily="34" charset="0"/>
              </a:rPr>
              <a:t>Multi user Design Edit View</a:t>
            </a:r>
          </a:p>
          <a:p>
            <a:r>
              <a:rPr lang="en-US" sz="10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1000" dirty="0">
                <a:solidFill>
                  <a:srgbClr val="1D2433"/>
                </a:solidFill>
                <a:latin typeface="Aptos" pitchFamily="34" charset="0"/>
              </a:rPr>
              <a:t>Agent Evals</a:t>
            </a:r>
            <a:endParaRPr lang="en-US" sz="1000" dirty="0"/>
          </a:p>
          <a:p>
            <a:pPr marL="0" indent="0" algn="l">
              <a:buNone/>
            </a:pP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2002536" y="2660904"/>
            <a:ext cx="201168" cy="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" y="2898648"/>
            <a:ext cx="1874520" cy="1097280"/>
          </a:xfrm>
          <a:prstGeom prst="rect">
            <a:avLst/>
          </a:prstGeom>
          <a:solidFill>
            <a:srgbClr val="007EA7"/>
          </a:solidFill>
          <a:ln>
            <a:solidFill>
              <a:srgbClr val="007EA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USER</a:t>
            </a:r>
            <a:endParaRPr lang="en-US" sz="66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PLANE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2377440" y="2898648"/>
            <a:ext cx="4828032" cy="1097280"/>
          </a:xfrm>
          <a:prstGeom prst="rect">
            <a:avLst/>
          </a:prstGeom>
          <a:solidFill>
            <a:srgbClr val="ECF8F1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Reviewer queue with SLA</a:t>
            </a:r>
          </a:p>
          <a:p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10" dirty="0"/>
              <a:t>Event Streaming</a:t>
            </a:r>
          </a:p>
          <a:p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10" dirty="0"/>
              <a:t>Activity map</a:t>
            </a:r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Conversation surface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AI recommendation + confidence score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Human‑in‑the‑Loop and Human on the loop reviewer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Guardrails — runtime policy engine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Approve / reject / edit‑args / annotate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Feedback: thumbs up/down + report problem</a:t>
            </a:r>
            <a:endParaRPr lang="en-US" sz="910" dirty="0"/>
          </a:p>
        </p:txBody>
      </p:sp>
      <p:sp>
        <p:nvSpPr>
          <p:cNvPr id="25" name="Text 22"/>
          <p:cNvSpPr/>
          <p:nvPr/>
        </p:nvSpPr>
        <p:spPr>
          <a:xfrm>
            <a:off x="7333488" y="2898648"/>
            <a:ext cx="4443984" cy="1097280"/>
          </a:xfrm>
          <a:prstGeom prst="rect">
            <a:avLst/>
          </a:prstGeom>
          <a:solidFill>
            <a:srgbClr val="EAF5FB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Skills</a:t>
            </a:r>
          </a:p>
          <a:p>
            <a:r>
              <a:rPr lang="en-US" sz="10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Directed </a:t>
            </a:r>
            <a:r>
              <a:rPr lang="en-US" sz="930" dirty="0" err="1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acylic</a:t>
            </a: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graph</a:t>
            </a:r>
          </a:p>
          <a:p>
            <a:pPr marL="0" indent="0" algn="l">
              <a:buNone/>
            </a:pPr>
            <a:endParaRPr lang="en-US" sz="930" dirty="0">
              <a:solidFill>
                <a:srgbClr val="1D24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2002536" y="3831336"/>
            <a:ext cx="201168" cy="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38912" y="4069080"/>
            <a:ext cx="1874520" cy="1069848"/>
          </a:xfrm>
          <a:prstGeom prst="rect">
            <a:avLst/>
          </a:prstGeom>
          <a:solidFill>
            <a:srgbClr val="08104D"/>
          </a:solidFill>
          <a:ln>
            <a:solidFill>
              <a:srgbClr val="08104D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ADMIN / DEVOPS</a:t>
            </a:r>
            <a:endParaRPr lang="en-US" sz="66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PLANE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2377440" y="4069080"/>
            <a:ext cx="4828032" cy="1069848"/>
          </a:xfrm>
          <a:prstGeom prst="rect">
            <a:avLst/>
          </a:prstGeom>
          <a:solidFill>
            <a:srgbClr val="ECF8F1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Identity &amp; access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Governance &amp; release management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Observability &amp; instrumentation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MRM + model performance reporting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Privacy &amp; security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Promotion gate + approved‑models registry</a:t>
            </a:r>
          </a:p>
          <a:p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10" dirty="0">
                <a:solidFill>
                  <a:srgbClr val="1D2433"/>
                </a:solidFill>
                <a:latin typeface="Aptos" pitchFamily="34" charset="0"/>
              </a:rPr>
              <a:t>Observability</a:t>
            </a:r>
            <a:endParaRPr lang="en-US" sz="910" dirty="0"/>
          </a:p>
        </p:txBody>
      </p:sp>
      <p:sp>
        <p:nvSpPr>
          <p:cNvPr id="29" name="Text 26"/>
          <p:cNvSpPr/>
          <p:nvPr/>
        </p:nvSpPr>
        <p:spPr>
          <a:xfrm>
            <a:off x="7333488" y="4069080"/>
            <a:ext cx="4443984" cy="1069848"/>
          </a:xfrm>
          <a:prstGeom prst="rect">
            <a:avLst/>
          </a:prstGeom>
          <a:solidFill>
            <a:srgbClr val="EAF5FB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Cost / drift / refusal‑rate dashboards</a:t>
            </a:r>
          </a:p>
          <a:p>
            <a:r>
              <a:rPr lang="en-US" sz="10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</a:t>
            </a:r>
            <a:r>
              <a:rPr lang="en-US" sz="930" dirty="0">
                <a:solidFill>
                  <a:srgbClr val="1D2433"/>
                </a:solidFill>
                <a:latin typeface="Aptos" pitchFamily="34" charset="0"/>
              </a:rPr>
              <a:t>Memory Management (Semantics &amp; </a:t>
            </a:r>
            <a:r>
              <a:rPr lang="en-US" sz="930" dirty="0" err="1">
                <a:solidFill>
                  <a:srgbClr val="1D2433"/>
                </a:solidFill>
                <a:latin typeface="Aptos" pitchFamily="34" charset="0"/>
              </a:rPr>
              <a:t>Episodmic</a:t>
            </a:r>
            <a:r>
              <a:rPr lang="en-US" sz="930" dirty="0">
                <a:solidFill>
                  <a:srgbClr val="1D2433"/>
                </a:solidFill>
                <a:latin typeface="Aptos" pitchFamily="34" charset="0"/>
              </a:rPr>
              <a:t>)</a:t>
            </a:r>
          </a:p>
          <a:p>
            <a:endParaRPr lang="en-US" sz="930" dirty="0">
              <a:solidFill>
                <a:srgbClr val="1D2433"/>
              </a:solidFill>
              <a:latin typeface="Aptos" pitchFamily="34" charset="0"/>
            </a:endParaRPr>
          </a:p>
          <a:p>
            <a:pPr marL="0" indent="0" algn="l">
              <a:buNone/>
            </a:pP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2002536" y="4974336"/>
            <a:ext cx="201168" cy="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38912" y="5212080"/>
            <a:ext cx="1874520" cy="1133856"/>
          </a:xfrm>
          <a:prstGeom prst="rect">
            <a:avLst/>
          </a:prstGeom>
          <a:solidFill>
            <a:srgbClr val="103B70"/>
          </a:solidFill>
          <a:ln>
            <a:solidFill>
              <a:srgbClr val="103B7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TOOLING</a:t>
            </a:r>
            <a:endParaRPr lang="en-US" sz="66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&amp; TOOLS PLANE</a:t>
            </a:r>
            <a:endParaRPr lang="en-US" sz="660" dirty="0"/>
          </a:p>
        </p:txBody>
      </p:sp>
      <p:sp>
        <p:nvSpPr>
          <p:cNvPr id="32" name="Text 29"/>
          <p:cNvSpPr/>
          <p:nvPr/>
        </p:nvSpPr>
        <p:spPr>
          <a:xfrm>
            <a:off x="2377440" y="5212080"/>
            <a:ext cx="4828032" cy="1133856"/>
          </a:xfrm>
          <a:prstGeom prst="rect">
            <a:avLst/>
          </a:prstGeom>
          <a:solidFill>
            <a:srgbClr val="ECF8F1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MCP server standup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Provision for local tools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Tool discovery + association in Dev Plane</a:t>
            </a:r>
            <a:endParaRPr lang="en-US" sz="910" dirty="0"/>
          </a:p>
          <a:p>
            <a:pPr marL="0" indent="0" algn="l">
              <a:buNone/>
            </a:pPr>
            <a:r>
              <a:rPr lang="en-US" sz="91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Tool governance </a:t>
            </a:r>
            <a:endParaRPr lang="en-US" sz="910" dirty="0"/>
          </a:p>
        </p:txBody>
      </p:sp>
      <p:sp>
        <p:nvSpPr>
          <p:cNvPr id="33" name="Text 30"/>
          <p:cNvSpPr/>
          <p:nvPr/>
        </p:nvSpPr>
        <p:spPr>
          <a:xfrm>
            <a:off x="7333488" y="5212080"/>
            <a:ext cx="4443984" cy="1133856"/>
          </a:xfrm>
          <a:prstGeom prst="rect">
            <a:avLst/>
          </a:prstGeom>
          <a:solidFill>
            <a:srgbClr val="EAF5FB"/>
          </a:solidFill>
          <a:ln w="8890">
            <a:solidFill>
              <a:srgbClr val="D7DEE9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Eval on tools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2002536" y="6181344"/>
            <a:ext cx="201168" cy="0"/>
          </a:xfrm>
          <a:prstGeom prst="line">
            <a:avLst/>
          </a:prstGeom>
          <a:noFill/>
          <a:ln w="15240">
            <a:solidFill>
              <a:srgbClr val="FFFFFF">
                <a:alpha val="6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38912" y="6656832"/>
            <a:ext cx="11338560" cy="73152"/>
          </a:xfrm>
          <a:prstGeom prst="rect">
            <a:avLst/>
          </a:prstGeom>
          <a:solidFill>
            <a:srgbClr val="071B5F"/>
          </a:solidFill>
          <a:ln w="12700">
            <a:solidFill>
              <a:srgbClr val="071B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02920" y="642823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Workbench • Dev Plane • User Plane • Control Plane • MCP &amp; Tools Plane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8641080" y="64190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PPTX: built with native PowerPoint shapes/text only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346</Words>
  <Application>Microsoft Macintosh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Workbench Agent OPS Platform Key Features</dc:title>
  <dc:subject>EDGE Workbench Agent OPS Platform Roadmap</dc:subject>
  <dc:creator>OpenAI</dc:creator>
  <cp:lastModifiedBy>OMSA Class</cp:lastModifiedBy>
  <cp:revision>12</cp:revision>
  <dcterms:created xsi:type="dcterms:W3CDTF">2026-06-18T11:06:23Z</dcterms:created>
  <dcterms:modified xsi:type="dcterms:W3CDTF">2026-06-18T11:28:50Z</dcterms:modified>
</cp:coreProperties>
</file>