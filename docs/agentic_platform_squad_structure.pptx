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15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</a:rPr>
              <a:t>GenAI Squad Structure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179222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4748B"/>
                </a:solidFill>
              </a:rPr>
              <a:t>Agentic Platform Development Squad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" y="2423160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E3F7F8"/>
          </a:solidFill>
          <a:ln w="13970">
            <a:solidFill>
              <a:srgbClr val="12A6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4734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2A6B4"/>
                </a:solidFill>
              </a:rPr>
              <a:t>Agentic Ops Sponsor: Deepesh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346704" y="242316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AF4FB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24734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77B4"/>
                </a:solidFill>
              </a:rPr>
              <a:t>Working squad model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358384" y="242316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1ED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04104" y="24734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C3AED"/>
                </a:solidFill>
              </a:rPr>
              <a:t>RACI-driven delivery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726680" y="960120"/>
            <a:ext cx="3383280" cy="41605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8432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Purpose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28432" y="1755648"/>
            <a:ext cx="274320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Create clear ownership across Product, Engineering, DS, UI, squad leadership and governance so the Agentic platform can scale beyond MVP with strong design principles and controls.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28432" y="3246120"/>
            <a:ext cx="274320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Slides convert the attached squad spreadsheet into an operating model for execution and show-and-tell governance.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6263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working deck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503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squad model that balances speed, ownership, integration and governance.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| Agentic Platform Development Squad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83696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2A6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72768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A6B4"/>
                </a:solidFill>
              </a:rPr>
              <a:t>Clear delivery ownership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0392" y="1984248"/>
            <a:ext cx="4617720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Every initiative has Product, Engineering, DS, UI where required, a squad lead, and a governance owner.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108192" y="1417320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572768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77B4"/>
                </a:solidFill>
              </a:rPr>
              <a:t>MVP with future-ready design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36792" y="1984248"/>
            <a:ext cx="4617720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MVP should not mean poor design; solutions should be modular, open and expandable.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21792" y="2971800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27248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Governed agentic delivery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0392" y="3538728"/>
            <a:ext cx="4617720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Guardrails, policy, Citi standards, edge cases and controls are part of delivery from the start.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108192" y="2971800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D9A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127248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9A6C"/>
                </a:solidFill>
              </a:rPr>
              <a:t>End-to-end integration lens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36792" y="3538728"/>
            <a:ext cx="4617720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An AI Integration Engineer keeps the platform direction, dependencies and stakeholder interfaces aligned.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14400" y="4892040"/>
            <a:ext cx="1828800" cy="530352"/>
          </a:xfrm>
          <a:prstGeom prst="chevron">
            <a:avLst/>
          </a:prstGeom>
          <a:solidFill>
            <a:srgbClr val="E3F7F8"/>
          </a:solidFill>
          <a:ln w="12700">
            <a:solidFill>
              <a:srgbClr val="12A6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4892040"/>
            <a:ext cx="1828800" cy="530352"/>
          </a:xfrm>
          <a:prstGeom prst="chevron">
            <a:avLst/>
          </a:prstGeom>
          <a:solidFill>
            <a:srgbClr val="EAF4FB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892040"/>
            <a:ext cx="1828800" cy="530352"/>
          </a:xfrm>
          <a:prstGeom prst="chevron">
            <a:avLst/>
          </a:prstGeom>
          <a:solidFill>
            <a:srgbClr val="F1ED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4892040"/>
            <a:ext cx="1828800" cy="530352"/>
          </a:xfrm>
          <a:prstGeom prst="chevron">
            <a:avLst/>
          </a:prstGeom>
          <a:solidFill>
            <a:srgbClr val="E7F7EF"/>
          </a:solidFill>
          <a:ln w="12700">
            <a:solidFill>
              <a:srgbClr val="1D9A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4892040"/>
            <a:ext cx="1828800" cy="530352"/>
          </a:xfrm>
          <a:prstGeom prst="chevron">
            <a:avLst/>
          </a:prstGeom>
          <a:solidFill>
            <a:srgbClr val="FFF2E6"/>
          </a:solidFill>
          <a:ln w="12700">
            <a:solidFill>
              <a:srgbClr val="E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5074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24D"/>
                </a:solidFill>
              </a:rPr>
              <a:t>Define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852928" y="5074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24D"/>
                </a:solidFill>
              </a:rPr>
              <a:t>Build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727448" y="5074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24D"/>
                </a:solidFill>
              </a:rPr>
              <a:t>Integrate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601968" y="5074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24D"/>
                </a:solidFill>
              </a:rPr>
              <a:t>Govern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8476488" y="5074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324D"/>
                </a:solidFill>
              </a:rPr>
              <a:t>Show &amp; Tell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60120" y="56509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Operating rhythm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2971800" y="56327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Product + Governance anchor demos, decisions and adoption feedback; Squad Leads keep progress, risks and roadblocks visible.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503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RACI legend and operating expectations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Role markings define execution accountability and communications across each squad.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| Agentic Platform Development Squad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83696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658368" cy="658368"/>
          </a:xfrm>
          <a:prstGeom prst="ellipse">
            <a:avLst/>
          </a:prstGeom>
          <a:solidFill>
            <a:srgbClr val="1D9A6C"/>
          </a:solidFill>
          <a:ln w="12700">
            <a:solidFill>
              <a:srgbClr val="1D9A6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07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2344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7324D"/>
                </a:solidFill>
              </a:rPr>
              <a:t>Responsible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1417320" y="14904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Owns execution and delivery work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880360" y="1234440"/>
            <a:ext cx="658368" cy="65836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3807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600" y="12344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7324D"/>
                </a:solidFill>
              </a:rPr>
              <a:t>Accountable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3657600" y="14904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Single accountable owner for outcome / sign-off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120640" y="1234440"/>
            <a:ext cx="658368" cy="658368"/>
          </a:xfrm>
          <a:prstGeom prst="ellipse">
            <a:avLst/>
          </a:prstGeom>
          <a:solidFill>
            <a:srgbClr val="E59E0B"/>
          </a:solidFill>
          <a:ln w="12700">
            <a:solidFill>
              <a:srgbClr val="E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3807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897880" y="12344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7324D"/>
                </a:solidFill>
              </a:rPr>
              <a:t>Consulted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5897880" y="14904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Active input on design, risks, decisions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360920" y="123444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13807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38160" y="12344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7324D"/>
                </a:solidFill>
              </a:rPr>
              <a:t>Informed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8138160" y="14904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Kept aware of progress and decisions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9601200" y="1234440"/>
            <a:ext cx="658368" cy="658368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13807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378440" y="12344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7324D"/>
                </a:solidFill>
              </a:rPr>
              <a:t>Placeholder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10378440" y="14904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Capacity ask / role to be staffed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31520" y="2514600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2A6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67004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A6B4"/>
                </a:solidFill>
              </a:rPr>
              <a:t>Squad Lead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" y="3081528"/>
            <a:ext cx="2926080" cy="1874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Accountable for overall squad success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Up to speed on progress, outcomes and roadblocks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Drives execution discipline and coordination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4434840" y="2514600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6008" y="267004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Governance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63440" y="3081528"/>
            <a:ext cx="2926080" cy="1874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Ensures solid design principles and edge cases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Keeps architecture open for future expansion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Enforces guardrails, policy and Citi standards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8138160" y="2514600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267004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77B4"/>
                </a:solidFill>
              </a:rPr>
              <a:t>Product Management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66760" y="3081528"/>
            <a:ext cx="2926080" cy="1874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Keeps the team grounded in user outcomes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Partners with Governance for show-and-tell cadence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• Prioritizes scope, acceptance and stakeholder adoption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758952" y="553212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Note: P = Placeholder for a capacity ask. Blank UI means UI is not required for that initiative.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503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Squad landscape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Seven delivery squads plus cross-squad coordination.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| Agentic Platform Development Squad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83696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26334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170432"/>
            <a:ext cx="91440" cy="135331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893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User Plane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155448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User-facing definition plane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04672" y="182880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Product: Zohar - 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804672" y="20482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Lead: Paromita - A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804672" y="22677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Governance: Sashi - A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502152" y="1170432"/>
            <a:ext cx="26334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2152" y="1170432"/>
            <a:ext cx="91440" cy="135331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12893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Development Plane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85032" y="155448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Compile, validate and runtime enablement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85032" y="182880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Product: Sashi - R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685032" y="20482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Lead: Paromita - A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685032" y="22677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Governance: Zohar - A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382512" y="1170432"/>
            <a:ext cx="26334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1170432"/>
            <a:ext cx="91440" cy="1353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12893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Control Plane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65392" y="155448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Policy, control, standards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65392" y="182880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Product: Deepesh - R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565392" y="20482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Lead: Abhishek - A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565392" y="22677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Governance: Avishek - A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9262872" y="1170432"/>
            <a:ext cx="26334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62872" y="1170432"/>
            <a:ext cx="91440" cy="1353312"/>
          </a:xfrm>
          <a:prstGeom prst="rect">
            <a:avLst/>
          </a:prstGeom>
          <a:solidFill>
            <a:srgbClr val="1D9A6C"/>
          </a:solidFill>
          <a:ln w="12700">
            <a:solidFill>
              <a:srgbClr val="1D9A6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45752" y="12893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MCP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45752" y="155448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Tool registration and interface layer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445752" y="182880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Product: Krishna - R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9445752" y="20482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Lead: Tomi - A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9445752" y="22677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Governance: Ashwini - A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21792" y="2862072"/>
            <a:ext cx="26334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" y="2862072"/>
            <a:ext cx="91440" cy="1353312"/>
          </a:xfrm>
          <a:prstGeom prst="rect">
            <a:avLst/>
          </a:prstGeom>
          <a:solidFill>
            <a:srgbClr val="E59E0B"/>
          </a:solidFill>
          <a:ln w="12700">
            <a:solidFill>
              <a:srgbClr val="E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298094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Generic Chat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4672" y="32461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Reusable chat experience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04672" y="352044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Product: Jaydeep - R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804672" y="373989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Lead: Krishna - A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804672" y="39593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Governance: Deepesh - A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3502152" y="2862072"/>
            <a:ext cx="26334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2152" y="2862072"/>
            <a:ext cx="91440" cy="1353312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85032" y="298094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Use Case (EDGE Assist)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685032" y="32461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Production use case acceleration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685032" y="352044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Product: Jaydeep - R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3685032" y="373989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Lead: Harsh - A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3685032" y="39593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Governance: Deepesh - A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6382512" y="2862072"/>
            <a:ext cx="26334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82512" y="2862072"/>
            <a:ext cx="91440" cy="13533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298094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Use Case (Fails)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565392" y="32461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Failure handling use case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565392" y="352044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</a:rPr>
              <a:t>Product: Bishmaya - R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565392" y="373989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Lead: Krishna - A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565392" y="39593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</a:rPr>
              <a:t>Governance: Deepesh - A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21792" y="48006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495604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Across Squads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850392" y="5367528"/>
            <a:ext cx="49377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Deepesh, Evan, Tomi, Krishna and Paromita are marked as consulted / informed to maintain cross-squad alignment, dependency visibility and design continuity.</a:t>
            </a:r>
            <a:endParaRPr lang="en-US" sz="1010" dirty="0"/>
          </a:p>
        </p:txBody>
      </p:sp>
      <p:sp>
        <p:nvSpPr>
          <p:cNvPr id="59" name="Shape 57"/>
          <p:cNvSpPr/>
          <p:nvPr/>
        </p:nvSpPr>
        <p:spPr>
          <a:xfrm>
            <a:off x="6263640" y="48006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2A6B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64808" y="495604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A6B4"/>
                </a:solidFill>
              </a:rPr>
              <a:t>Execution principle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492240" y="5367528"/>
            <a:ext cx="48463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</a:rPr>
              <a:t>Each squad owns a defined platform plane or use case, but governance and integration ensure the platform evolves as one coherent product.</a:t>
            </a:r>
            <a:endParaRPr lang="en-US" sz="10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503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Squad structure: User Plane and Development Plane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These squads define the agentic workflow experience and the developer execution layer.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| Agentic Platform Development Squad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83696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12A6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5272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A6B4"/>
                </a:solidFill>
              </a:rPr>
              <a:t>User Plane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91640"/>
            <a:ext cx="73152" cy="7498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8013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Product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987552" y="2039112"/>
            <a:ext cx="1143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Zohar - 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95728" y="1691640"/>
            <a:ext cx="1600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1691640"/>
            <a:ext cx="73152" cy="749808"/>
          </a:xfrm>
          <a:prstGeom prst="rect">
            <a:avLst/>
          </a:prstGeom>
          <a:solidFill>
            <a:srgbClr val="1D9A6C"/>
          </a:solidFill>
          <a:ln w="12700">
            <a:solidFill>
              <a:srgbClr val="1D9A6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8013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Engineering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560320" y="2039112"/>
            <a:ext cx="13258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Evan - R,A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Ajai - 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51376" y="169164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51376" y="169164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013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DS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315968" y="2039112"/>
            <a:ext cx="114300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Abhishek -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Rishi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Manasi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Tomi - I,C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24612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246120"/>
            <a:ext cx="73152" cy="1234440"/>
          </a:xfrm>
          <a:prstGeom prst="rect">
            <a:avLst/>
          </a:prstGeom>
          <a:solidFill>
            <a:srgbClr val="E59E0B"/>
          </a:solidFill>
          <a:ln w="12700">
            <a:solidFill>
              <a:srgbClr val="E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3558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UI / UX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987552" y="3593592"/>
            <a:ext cx="178308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Paromita - R,A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Dipak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Tanvi (UX)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UI - 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54096" y="3246120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54096" y="3246120"/>
            <a:ext cx="73152" cy="749808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33558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Squad Lead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18688" y="3593592"/>
            <a:ext cx="960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Paromita - 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324612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3246120"/>
            <a:ext cx="73152" cy="74980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335584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Governance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599432" y="3593592"/>
            <a:ext cx="8412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Sashi - 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4892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Focus: define agentic workflow templates, tools, workflows, prompts and policy in a user-facing plane.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263640" y="109728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125272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77B4"/>
                </a:solidFill>
              </a:rPr>
              <a:t>Development Plane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37960" y="1691640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1691640"/>
            <a:ext cx="73152" cy="74980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02552" y="18013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Product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702552" y="2039112"/>
            <a:ext cx="1143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Sashi - 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19872" y="169164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19872" y="1691640"/>
            <a:ext cx="73152" cy="1051560"/>
          </a:xfrm>
          <a:prstGeom prst="rect">
            <a:avLst/>
          </a:prstGeom>
          <a:solidFill>
            <a:srgbClr val="1D9A6C"/>
          </a:solidFill>
          <a:ln w="12700">
            <a:solidFill>
              <a:srgbClr val="1D9A6C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84464" y="18013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Engineering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284464" y="2039112"/>
            <a:ext cx="128016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Evan - A,I,C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Mini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Lokesh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Engg - 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829800" y="169164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29800" y="169164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94392" y="18013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DS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9994392" y="2039112"/>
            <a:ext cx="1207008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Tomi - I,C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Harsh - R,A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Deena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DS - 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37960" y="32461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37960" y="3246120"/>
            <a:ext cx="73152" cy="1417320"/>
          </a:xfrm>
          <a:prstGeom prst="rect">
            <a:avLst/>
          </a:prstGeom>
          <a:solidFill>
            <a:srgbClr val="E59E0B"/>
          </a:solidFill>
          <a:ln w="12700">
            <a:solidFill>
              <a:srgbClr val="E59E0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02552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UI / UX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702552" y="3593592"/>
            <a:ext cx="1874520" cy="987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Ashley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Paromita - A,C,I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Avleen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Ravindra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Prajakt (UX) - 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869680" y="3246120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9680" y="3246120"/>
            <a:ext cx="73152" cy="749808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34272" y="33558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Squad Lead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9034272" y="3593592"/>
            <a:ext cx="960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Paromita - 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259568" y="3246120"/>
            <a:ext cx="10789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259568" y="3246120"/>
            <a:ext cx="73152" cy="74980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424160" y="335584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Governance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10424160" y="3593592"/>
            <a:ext cx="80467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Zohar - A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37960" y="4892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Focus: compile, validate and run workflow definitions with engineering quality and DS support.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503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Squad structure: Control Plane and MCP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Control and interface layers ensure the platform is governed and tool-enabled.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| Agentic Platform Development Squad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83696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5272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Control Plane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91640"/>
            <a:ext cx="73152" cy="71323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801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Product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987552" y="2039112"/>
            <a:ext cx="118872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Deepesh - 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87168" y="1691640"/>
            <a:ext cx="16459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1691640"/>
            <a:ext cx="73152" cy="804672"/>
          </a:xfrm>
          <a:prstGeom prst="rect">
            <a:avLst/>
          </a:prstGeom>
          <a:solidFill>
            <a:srgbClr val="1D9A6C"/>
          </a:solidFill>
          <a:ln w="12700">
            <a:solidFill>
              <a:srgbClr val="1D9A6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801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Engineering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651760" y="2039112"/>
            <a:ext cx="137160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Hitesh -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Anish - 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1691640"/>
            <a:ext cx="1280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1691640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1801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DS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507992" y="2039112"/>
            <a:ext cx="1005840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Rishi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Abhishek - 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297180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6F8FB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971800"/>
            <a:ext cx="73152" cy="566928"/>
          </a:xfrm>
          <a:prstGeom prst="rect">
            <a:avLst/>
          </a:prstGeom>
          <a:solidFill>
            <a:srgbClr val="E59E0B"/>
          </a:solidFill>
          <a:ln w="12700">
            <a:solidFill>
              <a:srgbClr val="E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0815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UI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987552" y="3319272"/>
            <a:ext cx="114300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UI not required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87168" y="2971800"/>
            <a:ext cx="13258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87168" y="2971800"/>
            <a:ext cx="73152" cy="6217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0815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Squad Lead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2651760" y="3319272"/>
            <a:ext cx="1051560" cy="192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Abhishek - 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05072" y="2971800"/>
            <a:ext cx="157276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5072" y="2971800"/>
            <a:ext cx="73152" cy="6217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9664" y="3081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Governance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169664" y="3319272"/>
            <a:ext cx="1298448" cy="192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Avishek - 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Focus: policy, control posture, standards, approvals and guardrails for agentic execution.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109728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1D9A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125272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9A6C"/>
                </a:solidFill>
              </a:rPr>
              <a:t>MCP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37960" y="1691640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1691640"/>
            <a:ext cx="73152" cy="71323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02552" y="1801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Product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702552" y="2039112"/>
            <a:ext cx="118872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Krishna - 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83880" y="1691640"/>
            <a:ext cx="16459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83880" y="1691640"/>
            <a:ext cx="73152" cy="1024128"/>
          </a:xfrm>
          <a:prstGeom prst="rect">
            <a:avLst/>
          </a:prstGeom>
          <a:solidFill>
            <a:srgbClr val="1D9A6C"/>
          </a:solidFill>
          <a:ln w="12700">
            <a:solidFill>
              <a:srgbClr val="1D9A6C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1801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Engineering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348472" y="2039112"/>
            <a:ext cx="137160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Hitesh - R,A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Evan - I,C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Engg - 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012680" y="1691640"/>
            <a:ext cx="128016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12680" y="1691640"/>
            <a:ext cx="73152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77272" y="1801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DS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10177272" y="2039112"/>
            <a:ext cx="10058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Tomi - A,I,C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Harsh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DS - 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37960" y="306324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6F8FB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37960" y="3063240"/>
            <a:ext cx="73152" cy="566928"/>
          </a:xfrm>
          <a:prstGeom prst="rect">
            <a:avLst/>
          </a:prstGeom>
          <a:solidFill>
            <a:srgbClr val="E59E0B"/>
          </a:solidFill>
          <a:ln w="12700">
            <a:solidFill>
              <a:srgbClr val="E59E0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02552" y="3172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UI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702552" y="3410712"/>
            <a:ext cx="114300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UI not required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183880" y="3063240"/>
            <a:ext cx="13258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83880" y="3063240"/>
            <a:ext cx="73152" cy="6217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48472" y="31729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Squad Lead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8348472" y="3410712"/>
            <a:ext cx="1051560" cy="192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Tomi - 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692640" y="3063240"/>
            <a:ext cx="157276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92640" y="3063240"/>
            <a:ext cx="73152" cy="6217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57232" y="31729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Governance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9857232" y="3410712"/>
            <a:ext cx="1298448" cy="192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Ashwini - A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3796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Focus: tool registration, tool calling, contracts and standardized integration interfaces.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503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Squad structure: use-case delivery squads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Use-case squads convert platform capabilities into business-facing delivery outcomes.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| Agentic Platform Development Squad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83696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3337560" cy="48463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298448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59E0B"/>
                </a:solidFill>
              </a:rPr>
              <a:t>Generic Chat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" y="1673352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1673352"/>
            <a:ext cx="73152" cy="53035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8308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Product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960120" y="2020824"/>
            <a:ext cx="1024128" cy="100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Jaydeep - 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76856" y="1673352"/>
            <a:ext cx="12344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76856" y="1673352"/>
            <a:ext cx="73152" cy="859536"/>
          </a:xfrm>
          <a:prstGeom prst="rect">
            <a:avLst/>
          </a:prstGeom>
          <a:solidFill>
            <a:srgbClr val="1D9A6C"/>
          </a:solidFill>
          <a:ln w="12700">
            <a:solidFill>
              <a:srgbClr val="1D9A6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1448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Engineering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441448" y="2020824"/>
            <a:ext cx="9601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Evan - I,C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Amit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Vivek - 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" y="2743200"/>
            <a:ext cx="1298448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2743200"/>
            <a:ext cx="73152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8529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DS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960120" y="3090672"/>
            <a:ext cx="1024128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Krishna -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DS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Tomi - 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76856" y="274320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76856" y="2743200"/>
            <a:ext cx="73152" cy="658368"/>
          </a:xfrm>
          <a:prstGeom prst="rect">
            <a:avLst/>
          </a:prstGeom>
          <a:solidFill>
            <a:srgbClr val="E59E0B"/>
          </a:solidFill>
          <a:ln w="12700">
            <a:solidFill>
              <a:srgbClr val="E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41448" y="28529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UI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441448" y="3090672"/>
            <a:ext cx="9601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Ravindra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Paromita - 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5528" y="4315968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" y="4315968"/>
            <a:ext cx="73152" cy="603504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42569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Squad Lead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0120" y="4663440"/>
            <a:ext cx="1024128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Krishna - 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76856" y="4315968"/>
            <a:ext cx="12344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76856" y="4315968"/>
            <a:ext cx="73152" cy="6035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41448" y="4425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Governance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2441448" y="4663440"/>
            <a:ext cx="96012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Deepesh - 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" y="52852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i="1" dirty="0">
                <a:solidFill>
                  <a:srgbClr val="64748B"/>
                </a:solidFill>
              </a:rPr>
              <a:t>Reusable chat experience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251960" y="1143000"/>
            <a:ext cx="3337560" cy="48463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12A6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53128" y="1298448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A6B4"/>
                </a:solidFill>
              </a:rPr>
              <a:t>Use Case (EDGE Assist)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80560" y="1673352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1673352"/>
            <a:ext cx="73152" cy="53035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178308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Product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645152" y="2020824"/>
            <a:ext cx="1024128" cy="100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Jaydeep - 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61888" y="1673352"/>
            <a:ext cx="12344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61888" y="1673352"/>
            <a:ext cx="73152" cy="859536"/>
          </a:xfrm>
          <a:prstGeom prst="rect">
            <a:avLst/>
          </a:prstGeom>
          <a:solidFill>
            <a:srgbClr val="1D9A6C"/>
          </a:solidFill>
          <a:ln w="12700">
            <a:solidFill>
              <a:srgbClr val="1D9A6C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Engineering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6126480" y="2020824"/>
            <a:ext cx="9601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Amit - R,A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Engg - 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0" y="2743200"/>
            <a:ext cx="1298448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2743200"/>
            <a:ext cx="73152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28529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DS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645152" y="3090672"/>
            <a:ext cx="1024128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Krishna - R,I,C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Prashant - I,C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DS -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DS - 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61888" y="274320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61888" y="2743200"/>
            <a:ext cx="73152" cy="658368"/>
          </a:xfrm>
          <a:prstGeom prst="rect">
            <a:avLst/>
          </a:prstGeom>
          <a:solidFill>
            <a:srgbClr val="E59E0B"/>
          </a:solidFill>
          <a:ln w="12700">
            <a:solidFill>
              <a:srgbClr val="E59E0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28529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UI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126480" y="3090672"/>
            <a:ext cx="9601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UI not required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80560" y="4315968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80560" y="4315968"/>
            <a:ext cx="73152" cy="603504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45152" y="442569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Squad Lead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4645152" y="4663440"/>
            <a:ext cx="1024128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Harsh - 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961888" y="4315968"/>
            <a:ext cx="12344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61888" y="4315968"/>
            <a:ext cx="73152" cy="6035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6480" y="4425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Governance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6126480" y="4663440"/>
            <a:ext cx="96012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Deepesh - A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480560" y="52852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i="1" dirty="0">
                <a:solidFill>
                  <a:srgbClr val="64748B"/>
                </a:solidFill>
              </a:rPr>
              <a:t>Production use case acceleration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7936992" y="1143000"/>
            <a:ext cx="3337560" cy="48463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38160" y="1298448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</a:rPr>
              <a:t>Use Case (Fails)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165592" y="1673352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65592" y="1673352"/>
            <a:ext cx="73152" cy="53035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30184" y="178308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Product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8330184" y="2020824"/>
            <a:ext cx="1024128" cy="100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Bishmaya - 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646920" y="1673352"/>
            <a:ext cx="12344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46920" y="1673352"/>
            <a:ext cx="73152" cy="859536"/>
          </a:xfrm>
          <a:prstGeom prst="rect">
            <a:avLst/>
          </a:prstGeom>
          <a:solidFill>
            <a:srgbClr val="1D9A6C"/>
          </a:solidFill>
          <a:ln w="12700">
            <a:solidFill>
              <a:srgbClr val="1D9A6C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11512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Engineering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9811512" y="2020824"/>
            <a:ext cx="9601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Avishek - I,C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Engg - P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165592" y="2743200"/>
            <a:ext cx="1298448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65592" y="2743200"/>
            <a:ext cx="73152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30184" y="28529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DS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8330184" y="3090672"/>
            <a:ext cx="1024128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Krishna -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DS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DS -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DS - R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646920" y="274320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46920" y="2743200"/>
            <a:ext cx="73152" cy="658368"/>
          </a:xfrm>
          <a:prstGeom prst="rect">
            <a:avLst/>
          </a:prstGeom>
          <a:solidFill>
            <a:srgbClr val="E59E0B"/>
          </a:solidFill>
          <a:ln w="12700">
            <a:solidFill>
              <a:srgbClr val="E59E0B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28529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UI</a:t>
            </a:r>
            <a:endParaRPr lang="en-US" sz="820" dirty="0"/>
          </a:p>
        </p:txBody>
      </p:sp>
      <p:sp>
        <p:nvSpPr>
          <p:cNvPr id="78" name="Text 76"/>
          <p:cNvSpPr/>
          <p:nvPr/>
        </p:nvSpPr>
        <p:spPr>
          <a:xfrm>
            <a:off x="9811512" y="3090672"/>
            <a:ext cx="9601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UI not required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165592" y="4315968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65592" y="4315968"/>
            <a:ext cx="73152" cy="603504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30184" y="442569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Squad Lead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8330184" y="4663440"/>
            <a:ext cx="1024128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Krishna - A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646920" y="4315968"/>
            <a:ext cx="12344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646920" y="4315968"/>
            <a:ext cx="73152" cy="6035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811512" y="4425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Governance</a:t>
            </a:r>
            <a:endParaRPr lang="en-US" sz="820" dirty="0"/>
          </a:p>
        </p:txBody>
      </p:sp>
      <p:sp>
        <p:nvSpPr>
          <p:cNvPr id="86" name="Text 84"/>
          <p:cNvSpPr/>
          <p:nvPr/>
        </p:nvSpPr>
        <p:spPr>
          <a:xfrm>
            <a:off x="9811512" y="4663440"/>
            <a:ext cx="96012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Deepesh - A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165592" y="52852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i="1" dirty="0">
                <a:solidFill>
                  <a:srgbClr val="64748B"/>
                </a:solidFill>
              </a:rPr>
              <a:t>Failure handling use case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503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Cross-squad coordination and placeholders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Capacity asks and cross-squad alignments must be managed explicitly.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| Agentic Platform Development Squad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83696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252728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Across Squads coordination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452628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• Product: Deepesh - I,C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• Engineering: Evan - I,C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• DS: Tomi, Krishna - I,C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• UI: Paromita - I,C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• Governance: Deepesh - I,C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080760" y="10972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252728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</a:rPr>
              <a:t>Placeholder interpretation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1664208"/>
            <a:ext cx="498348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• P marks a missing / to-be-staffed role, not a person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• Appears in Engineer, DS and UI capacity asks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• Blank UI indicates UI team is not required for that initiative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60120" y="3657600"/>
            <a:ext cx="10104120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57600"/>
            <a:ext cx="25260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86150" y="3744468"/>
            <a:ext cx="25260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Engineer P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012180" y="3744468"/>
            <a:ext cx="25260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DS P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8538210" y="3744468"/>
            <a:ext cx="25260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UI P / UI blank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960120" y="3968496"/>
            <a:ext cx="10104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078224"/>
            <a:ext cx="24254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1F2937"/>
                </a:solidFill>
              </a:rPr>
              <a:t>User Plane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3531870" y="4078224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—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57900" y="4078224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—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583930" y="4078224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UI - P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60120" y="4315968"/>
            <a:ext cx="10104120" cy="347472"/>
          </a:xfrm>
          <a:prstGeom prst="rect">
            <a:avLst/>
          </a:prstGeom>
          <a:solidFill>
            <a:srgbClr val="F1F8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425696"/>
            <a:ext cx="24254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1F2937"/>
                </a:solidFill>
              </a:rPr>
              <a:t>Development Plane</a:t>
            </a:r>
            <a:endParaRPr lang="en-US" sz="790" dirty="0"/>
          </a:p>
        </p:txBody>
      </p:sp>
      <p:sp>
        <p:nvSpPr>
          <p:cNvPr id="25" name="Text 23"/>
          <p:cNvSpPr/>
          <p:nvPr/>
        </p:nvSpPr>
        <p:spPr>
          <a:xfrm>
            <a:off x="3531870" y="4425696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Engg - 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57900" y="4425696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—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583930" y="4425696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—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60120" y="4663440"/>
            <a:ext cx="10104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4773168"/>
            <a:ext cx="24254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1F2937"/>
                </a:solidFill>
              </a:rPr>
              <a:t>MCP</a:t>
            </a:r>
            <a:endParaRPr lang="en-US" sz="790" dirty="0"/>
          </a:p>
        </p:txBody>
      </p:sp>
      <p:sp>
        <p:nvSpPr>
          <p:cNvPr id="30" name="Text 28"/>
          <p:cNvSpPr/>
          <p:nvPr/>
        </p:nvSpPr>
        <p:spPr>
          <a:xfrm>
            <a:off x="3531870" y="4773168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Engg - P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57900" y="4773168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DS - 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583930" y="4773168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UI not required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60120" y="5010912"/>
            <a:ext cx="10104120" cy="347472"/>
          </a:xfrm>
          <a:prstGeom prst="rect">
            <a:avLst/>
          </a:prstGeom>
          <a:solidFill>
            <a:srgbClr val="F1F8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5120640"/>
            <a:ext cx="24254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1F2937"/>
                </a:solidFill>
              </a:rPr>
              <a:t>EDGE Assist</a:t>
            </a:r>
            <a:endParaRPr lang="en-US" sz="790" dirty="0"/>
          </a:p>
        </p:txBody>
      </p:sp>
      <p:sp>
        <p:nvSpPr>
          <p:cNvPr id="35" name="Text 33"/>
          <p:cNvSpPr/>
          <p:nvPr/>
        </p:nvSpPr>
        <p:spPr>
          <a:xfrm>
            <a:off x="3531870" y="5120640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—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057900" y="5120640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DS - P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583930" y="5120640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UI not required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60120" y="5358384"/>
            <a:ext cx="10104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5468112"/>
            <a:ext cx="24254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1F2937"/>
                </a:solidFill>
              </a:rPr>
              <a:t>Fails</a:t>
            </a:r>
            <a:endParaRPr lang="en-US" sz="790" dirty="0"/>
          </a:p>
        </p:txBody>
      </p:sp>
      <p:sp>
        <p:nvSpPr>
          <p:cNvPr id="40" name="Text 38"/>
          <p:cNvSpPr/>
          <p:nvPr/>
        </p:nvSpPr>
        <p:spPr>
          <a:xfrm>
            <a:off x="3531870" y="5468112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Engg - P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057900" y="5468112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—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83930" y="5468112"/>
            <a:ext cx="24345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UI not required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60120" y="58064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F2937"/>
                </a:solidFill>
              </a:rPr>
              <a:t>Action: convert placeholders into explicit staffing decisions or scope constraints before each squad commits to delivery dates.</a:t>
            </a:r>
            <a:endParaRPr lang="en-US" sz="10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503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Dedicated role: AI Integration Engineer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cross-cutting role to keep stakeholder interfaces, data quality and platform integration coherent.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| Agentic Platform Development Squad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83696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143000"/>
            <a:ext cx="2926080" cy="4480560"/>
          </a:xfrm>
          <a:prstGeom prst="roundRect">
            <a:avLst>
              <a:gd name="adj" fmla="val 3750"/>
            </a:avLst>
          </a:prstGeom>
          <a:solidFill>
            <a:srgbClr val="E3F7F8"/>
          </a:solidFill>
          <a:ln w="13970">
            <a:solidFill>
              <a:srgbClr val="12A6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727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AI Integration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Engineer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“Single integration conscience” for the agentic platform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8221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Understands current state and future target state of the platform.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977640" y="114300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8808" y="1298448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77B4"/>
                </a:solidFill>
              </a:rPr>
              <a:t>Stakeholder interface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1709928"/>
            <a:ext cx="2880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Ensure squads connect with dependent teams, consumers and platform stakeholders.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680960" y="114300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1D9A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2128" y="1298448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9A6C"/>
                </a:solidFill>
              </a:rPr>
              <a:t>Data quality lens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09560" y="1709928"/>
            <a:ext cx="2880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Validate inputs, outputs, lineage and quality risks across tool and workflow integrations.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977640" y="324612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8808" y="3401568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End-to-end integration vision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0" y="3813048"/>
            <a:ext cx="2880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Maintain a platform-level view of how squads integrate as one unit.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680960" y="324612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3401568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59E0B"/>
                </a:solidFill>
              </a:rPr>
              <a:t>Future-sensing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09560" y="3813048"/>
            <a:ext cx="2880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Listen for future development needs and steer direction changes when success requires it.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3977640" y="56509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F2937"/>
                </a:solidFill>
              </a:rPr>
              <a:t>Operating expectation: participates in design reviews, dependency reviews and demos; flags integration drift early.</a:t>
            </a:r>
            <a:endParaRPr lang="en-US" sz="10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6B4"/>
          </a:solidFill>
          <a:ln w="12700">
            <a:solidFill>
              <a:srgbClr val="12A6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503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Governance, design discipline and show-and-tell cadence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goal is speed with control, not speed at the cost of architecture quality.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| Agentic Platform Development Squad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83696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29844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Governance checklist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30175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• Solid design principles followed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• Edge cases and failure modes considered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• Design kept open and expandable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• Guardrails, policy and Citi standards followed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07408" y="11430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29844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77B4"/>
                </a:solidFill>
              </a:rPr>
              <a:t>Product + Governance role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36008" y="1709928"/>
            <a:ext cx="30175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• Lead show-and-tell with clear outcomes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• Keep team grounded in business value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• Validate adoption, controls and feedback loops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74736" y="114300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12A6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2984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A6B4"/>
                </a:solidFill>
              </a:rPr>
              <a:t>Squad Lead role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03336" y="1709928"/>
            <a:ext cx="283464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• Track progress and outcomes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• Surface risks and roadblocks early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• Coordinate handoffs and dependencies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1097280" y="3977640"/>
            <a:ext cx="98755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3675888"/>
            <a:ext cx="640080" cy="640080"/>
          </a:xfrm>
          <a:prstGeom prst="ellipse">
            <a:avLst/>
          </a:prstGeom>
          <a:solidFill>
            <a:srgbClr val="12A6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8130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" y="4498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</a:rPr>
              <a:t>Plan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Scope, RACI and staffing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145536" y="3675888"/>
            <a:ext cx="640080" cy="640080"/>
          </a:xfrm>
          <a:prstGeom prst="ellipse">
            <a:avLst/>
          </a:prstGeom>
          <a:solidFill>
            <a:srgbClr val="1F77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45536" y="38130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16352" y="4498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</a:rPr>
              <a:t>Design review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2670048" y="4800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Open design + edge cases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358384" y="3675888"/>
            <a:ext cx="640080" cy="640080"/>
          </a:xfrm>
          <a:prstGeom prst="ellipse">
            <a:avLst/>
          </a:prstGeom>
          <a:solidFill>
            <a:srgbClr val="1D9A6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58384" y="38130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498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</a:rPr>
              <a:t>Build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4882896" y="4800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Deliver with tests and telemetry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571232" y="3675888"/>
            <a:ext cx="640080" cy="640080"/>
          </a:xfrm>
          <a:prstGeom prst="ellipse">
            <a:avLst/>
          </a:prstGeom>
          <a:solidFill>
            <a:srgbClr val="E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1232" y="38130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42048" y="4498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</a:rPr>
              <a:t>Show &amp; tell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095744" y="4800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Demo, feedback, decisions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9784080" y="3675888"/>
            <a:ext cx="640080" cy="64008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0" y="38130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54896" y="4498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</a:rPr>
              <a:t>Govern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9308592" y="4800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Policy, guardrails, standards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914400" y="580644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Next step: confirm names and placeholders from the xlsx, then lock squad charters and show-and-tell cadence.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Squad Structure for Agentic Platform Development</dc:title>
  <dc:subject>Internal working deck</dc:subject>
  <dc:creator>OpenAI</dc:creator>
  <cp:lastModifiedBy>OpenAI</cp:lastModifiedBy>
  <cp:revision>1</cp:revision>
  <dcterms:created xsi:type="dcterms:W3CDTF">2026-05-13T02:45:36Z</dcterms:created>
  <dcterms:modified xsi:type="dcterms:W3CDTF">2026-05-13T02:45:36Z</dcterms:modified>
</cp:coreProperties>
</file>