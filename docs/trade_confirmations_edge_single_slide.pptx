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59536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72688"/>
                </a:solidFill>
                <a:latin typeface="Arial"/>
              </a:rPr>
              <a:t>Trade Confirmations ➜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32688"/>
            <a:ext cx="7132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525C6E"/>
                </a:solidFill>
                <a:latin typeface="Arial"/>
              </a:rPr>
              <a:t>Migration from legacy Trade Confirm platform to 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73184" y="429768"/>
            <a:ext cx="2148840" cy="393192"/>
          </a:xfrm>
          <a:prstGeom prst="roundRect">
            <a:avLst/>
          </a:prstGeom>
          <a:solidFill>
            <a:srgbClr val="E8EFFC"/>
          </a:solidFill>
          <a:ln w="10160">
            <a:solidFill>
              <a:srgbClr val="CAD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521207"/>
            <a:ext cx="1865376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072688"/>
                </a:solidFill>
                <a:latin typeface="Arial"/>
              </a:rPr>
              <a:t>Go-live: Jun 26,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280160"/>
            <a:ext cx="338328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67028"/>
            <a:ext cx="2962656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60" b="1">
                <a:solidFill>
                  <a:srgbClr val="525C6E"/>
                </a:solidFill>
                <a:latin typeface="Arial"/>
              </a:rPr>
              <a:t>Legacy Trade Confirm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86784" y="1435607"/>
            <a:ext cx="3950208" cy="0"/>
          </a:xfrm>
          <a:prstGeom prst="line">
            <a:avLst/>
          </a:prstGeom>
          <a:ln w="17780">
            <a:solidFill>
              <a:srgbClr val="8C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ight Triangle 9"/>
          <p:cNvSpPr/>
          <p:nvPr/>
        </p:nvSpPr>
        <p:spPr>
          <a:xfrm>
            <a:off x="7882127" y="1362456"/>
            <a:ext cx="146304" cy="146304"/>
          </a:xfrm>
          <a:prstGeom prst="rtTriangle">
            <a:avLst/>
          </a:prstGeom>
          <a:solidFill>
            <a:srgbClr val="8CA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10727" y="1280160"/>
            <a:ext cx="3566160" cy="310896"/>
          </a:xfrm>
          <a:prstGeom prst="roundRect">
            <a:avLst/>
          </a:prstGeom>
          <a:solidFill>
            <a:srgbClr val="E8EFFC"/>
          </a:solidFill>
          <a:ln w="10160">
            <a:solidFill>
              <a:srgbClr val="AFC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367028"/>
            <a:ext cx="320040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60" b="1">
                <a:solidFill>
                  <a:srgbClr val="072688"/>
                </a:solidFill>
                <a:latin typeface="Arial"/>
              </a:rPr>
              <a:t>EDGE Platform + Enriched Dictionaries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" y="1824228"/>
            <a:ext cx="3511296" cy="3383280"/>
          </a:xfrm>
          <a:prstGeom prst="round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" y="1783080"/>
            <a:ext cx="3511296" cy="338328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4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56231" y="2002536"/>
            <a:ext cx="658368" cy="658368"/>
          </a:xfrm>
          <a:prstGeom prst="ellipse">
            <a:avLst/>
          </a:prstGeom>
          <a:solidFill>
            <a:srgbClr val="E8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2185415" y="2186879"/>
            <a:ext cx="0" cy="144841"/>
          </a:xfrm>
          <a:prstGeom prst="line">
            <a:avLst/>
          </a:prstGeom>
          <a:ln w="15240">
            <a:solidFill>
              <a:srgbClr val="004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185415" y="2279050"/>
            <a:ext cx="144841" cy="52670"/>
          </a:xfrm>
          <a:prstGeom prst="line">
            <a:avLst/>
          </a:prstGeom>
          <a:ln w="15240">
            <a:solidFill>
              <a:srgbClr val="004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85415" y="2331720"/>
            <a:ext cx="118507" cy="111922"/>
          </a:xfrm>
          <a:prstGeom prst="line">
            <a:avLst/>
          </a:prstGeom>
          <a:ln w="15240">
            <a:solidFill>
              <a:srgbClr val="004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85415" y="2331720"/>
            <a:ext cx="0" cy="164592"/>
          </a:xfrm>
          <a:prstGeom prst="line">
            <a:avLst/>
          </a:prstGeom>
          <a:ln w="15240">
            <a:solidFill>
              <a:srgbClr val="004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053742" y="2331720"/>
            <a:ext cx="131673" cy="79004"/>
          </a:xfrm>
          <a:prstGeom prst="line">
            <a:avLst/>
          </a:prstGeom>
          <a:ln w="15240">
            <a:solidFill>
              <a:srgbClr val="004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033991" y="2265883"/>
            <a:ext cx="151424" cy="65837"/>
          </a:xfrm>
          <a:prstGeom prst="line">
            <a:avLst/>
          </a:prstGeom>
          <a:ln w="15240">
            <a:solidFill>
              <a:srgbClr val="004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2126162" y="2272466"/>
            <a:ext cx="118506" cy="118506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4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162373" y="2163836"/>
            <a:ext cx="46085" cy="46085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4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07214" y="2256007"/>
            <a:ext cx="46085" cy="46085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4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80879" y="2420599"/>
            <a:ext cx="46085" cy="46085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4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62373" y="2473269"/>
            <a:ext cx="46085" cy="46085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4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30699" y="2387681"/>
            <a:ext cx="46085" cy="46085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4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10948" y="2242840"/>
            <a:ext cx="46085" cy="46085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4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2816352"/>
            <a:ext cx="31089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72688"/>
                </a:solidFill>
                <a:latin typeface="Arial"/>
              </a:rPr>
              <a:t>Expanded Product Scope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3433572"/>
            <a:ext cx="50292" cy="50292"/>
          </a:xfrm>
          <a:prstGeom prst="ellipse">
            <a:avLst/>
          </a:prstGeom>
          <a:solidFill>
            <a:srgbClr val="00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19" y="3383280"/>
            <a:ext cx="2724912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10" b="0">
                <a:solidFill>
                  <a:srgbClr val="232630"/>
                </a:solidFill>
                <a:latin typeface="Arial"/>
              </a:rPr>
              <a:t>Supports new products with amortization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4046220"/>
            <a:ext cx="50292" cy="50292"/>
          </a:xfrm>
          <a:prstGeom prst="ellipse">
            <a:avLst/>
          </a:prstGeom>
          <a:solidFill>
            <a:srgbClr val="00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19" y="3995928"/>
            <a:ext cx="2724912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10" b="0">
                <a:solidFill>
                  <a:srgbClr val="232630"/>
                </a:solidFill>
                <a:latin typeface="Arial"/>
              </a:rPr>
              <a:t>Handles multi-leg swaps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4658868"/>
            <a:ext cx="50292" cy="50292"/>
          </a:xfrm>
          <a:prstGeom prst="ellipse">
            <a:avLst/>
          </a:prstGeom>
          <a:solidFill>
            <a:srgbClr val="00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19" y="4608576"/>
            <a:ext cx="2724912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10" b="0">
                <a:solidFill>
                  <a:srgbClr val="232630"/>
                </a:solidFill>
                <a:latin typeface="Arial"/>
              </a:rPr>
              <a:t>Extended traceability of trading events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75404" y="1824228"/>
            <a:ext cx="3511296" cy="3383280"/>
          </a:xfrm>
          <a:prstGeom prst="round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43400" y="1783080"/>
            <a:ext cx="3511296" cy="338328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4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69864" y="2002536"/>
            <a:ext cx="658368" cy="658368"/>
          </a:xfrm>
          <a:prstGeom prst="ellipse">
            <a:avLst/>
          </a:prstGeom>
          <a:solidFill>
            <a:srgbClr val="E8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5934456" y="2489728"/>
            <a:ext cx="342351" cy="0"/>
          </a:xfrm>
          <a:prstGeom prst="line">
            <a:avLst/>
          </a:prstGeom>
          <a:ln w="20320">
            <a:solidFill>
              <a:srgbClr val="004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934456" y="2167127"/>
            <a:ext cx="0" cy="322601"/>
          </a:xfrm>
          <a:prstGeom prst="line">
            <a:avLst/>
          </a:prstGeom>
          <a:ln w="20320">
            <a:solidFill>
              <a:srgbClr val="004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013460" y="2311968"/>
            <a:ext cx="79004" cy="92172"/>
          </a:xfrm>
          <a:prstGeom prst="line">
            <a:avLst/>
          </a:prstGeom>
          <a:ln w="22860">
            <a:solidFill>
              <a:srgbClr val="004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092464" y="2311968"/>
            <a:ext cx="85588" cy="46086"/>
          </a:xfrm>
          <a:prstGeom prst="line">
            <a:avLst/>
          </a:prstGeom>
          <a:ln w="22860">
            <a:solidFill>
              <a:srgbClr val="004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178052" y="2213213"/>
            <a:ext cx="72420" cy="144841"/>
          </a:xfrm>
          <a:prstGeom prst="line">
            <a:avLst/>
          </a:prstGeom>
          <a:ln w="22860">
            <a:solidFill>
              <a:srgbClr val="004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5992392" y="2383072"/>
            <a:ext cx="42135" cy="4213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4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71396" y="2290901"/>
            <a:ext cx="42135" cy="4213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4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56984" y="2336986"/>
            <a:ext cx="42135" cy="4213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4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29404" y="2192145"/>
            <a:ext cx="42135" cy="4213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4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44568" y="2816352"/>
            <a:ext cx="31089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72688"/>
                </a:solidFill>
                <a:latin typeface="Arial"/>
              </a:rPr>
              <a:t>Improved Data &amp; Onboarding</a:t>
            </a:r>
          </a:p>
        </p:txBody>
      </p:sp>
      <p:sp>
        <p:nvSpPr>
          <p:cNvPr id="49" name="Oval 48"/>
          <p:cNvSpPr/>
          <p:nvPr/>
        </p:nvSpPr>
        <p:spPr>
          <a:xfrm>
            <a:off x="4645152" y="3433572"/>
            <a:ext cx="50292" cy="50292"/>
          </a:xfrm>
          <a:prstGeom prst="ellipse">
            <a:avLst/>
          </a:prstGeom>
          <a:solidFill>
            <a:srgbClr val="00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73752" y="3383280"/>
            <a:ext cx="2724912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10" b="0">
                <a:solidFill>
                  <a:srgbClr val="232630"/>
                </a:solidFill>
                <a:latin typeface="Arial"/>
              </a:rPr>
              <a:t>Enriched dictionaries improve product and event coverage</a:t>
            </a:r>
          </a:p>
        </p:txBody>
      </p:sp>
      <p:sp>
        <p:nvSpPr>
          <p:cNvPr id="51" name="Oval 50"/>
          <p:cNvSpPr/>
          <p:nvPr/>
        </p:nvSpPr>
        <p:spPr>
          <a:xfrm>
            <a:off x="4645152" y="4046220"/>
            <a:ext cx="50292" cy="50292"/>
          </a:xfrm>
          <a:prstGeom prst="ellipse">
            <a:avLst/>
          </a:prstGeom>
          <a:solidFill>
            <a:srgbClr val="00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73752" y="3995928"/>
            <a:ext cx="2724912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10" b="0">
                <a:solidFill>
                  <a:srgbClr val="232630"/>
                </a:solidFill>
                <a:latin typeface="Arial"/>
              </a:rPr>
              <a:t>Reduced onboarding time for new trade states and products</a:t>
            </a:r>
          </a:p>
        </p:txBody>
      </p:sp>
      <p:sp>
        <p:nvSpPr>
          <p:cNvPr id="53" name="Oval 52"/>
          <p:cNvSpPr/>
          <p:nvPr/>
        </p:nvSpPr>
        <p:spPr>
          <a:xfrm>
            <a:off x="4645152" y="4658868"/>
            <a:ext cx="50292" cy="50292"/>
          </a:xfrm>
          <a:prstGeom prst="ellipse">
            <a:avLst/>
          </a:prstGeom>
          <a:solidFill>
            <a:srgbClr val="00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73752" y="4608576"/>
            <a:ext cx="2724912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10" b="0">
                <a:solidFill>
                  <a:srgbClr val="232630"/>
                </a:solidFill>
                <a:latin typeface="Arial"/>
              </a:rPr>
              <a:t>Faster field-level enhancements through EDGE controls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89036" y="1824228"/>
            <a:ext cx="3511296" cy="3383280"/>
          </a:xfrm>
          <a:prstGeom prst="round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57031" y="1783080"/>
            <a:ext cx="3511296" cy="338328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4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683496" y="2002536"/>
            <a:ext cx="658368" cy="658368"/>
          </a:xfrm>
          <a:prstGeom prst="ellipse">
            <a:avLst/>
          </a:prstGeom>
          <a:solidFill>
            <a:srgbClr val="E8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9782251" y="2246132"/>
            <a:ext cx="92171" cy="0"/>
          </a:xfrm>
          <a:prstGeom prst="line">
            <a:avLst/>
          </a:prstGeom>
          <a:ln w="15240">
            <a:solidFill>
              <a:srgbClr val="004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782251" y="2331720"/>
            <a:ext cx="92171" cy="0"/>
          </a:xfrm>
          <a:prstGeom prst="line">
            <a:avLst/>
          </a:prstGeom>
          <a:ln w="15240">
            <a:solidFill>
              <a:srgbClr val="004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782251" y="2417307"/>
            <a:ext cx="92171" cy="0"/>
          </a:xfrm>
          <a:prstGeom prst="line">
            <a:avLst/>
          </a:prstGeom>
          <a:ln w="15240">
            <a:solidFill>
              <a:srgbClr val="004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9881006" y="2200046"/>
            <a:ext cx="263347" cy="263347"/>
          </a:xfrm>
          <a:prstGeom prst="ellipse">
            <a:avLst/>
          </a:prstGeom>
          <a:noFill/>
          <a:ln w="19050">
            <a:solidFill>
              <a:srgbClr val="004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976469" y="2144085"/>
            <a:ext cx="72420" cy="36210"/>
          </a:xfrm>
          <a:prstGeom prst="roundRect">
            <a:avLst/>
          </a:prstGeom>
          <a:noFill/>
          <a:ln w="13970">
            <a:solidFill>
              <a:srgbClr val="004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10012680" y="2252715"/>
            <a:ext cx="0" cy="79005"/>
          </a:xfrm>
          <a:prstGeom prst="line">
            <a:avLst/>
          </a:prstGeom>
          <a:ln w="17780">
            <a:solidFill>
              <a:srgbClr val="004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012680" y="2331720"/>
            <a:ext cx="65836" cy="39502"/>
          </a:xfrm>
          <a:prstGeom prst="line">
            <a:avLst/>
          </a:prstGeom>
          <a:ln w="17780">
            <a:solidFill>
              <a:srgbClr val="004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0004779" y="2323819"/>
            <a:ext cx="15800" cy="15800"/>
          </a:xfrm>
          <a:prstGeom prst="ellipse">
            <a:avLst/>
          </a:prstGeom>
          <a:solidFill>
            <a:srgbClr val="0041B4"/>
          </a:solidFill>
          <a:ln w="12700">
            <a:solidFill>
              <a:srgbClr val="004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58200" y="2816352"/>
            <a:ext cx="31089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72688"/>
                </a:solidFill>
                <a:latin typeface="Arial"/>
              </a:rPr>
              <a:t>Business Impact</a:t>
            </a:r>
          </a:p>
        </p:txBody>
      </p:sp>
      <p:sp>
        <p:nvSpPr>
          <p:cNvPr id="67" name="Oval 66"/>
          <p:cNvSpPr/>
          <p:nvPr/>
        </p:nvSpPr>
        <p:spPr>
          <a:xfrm>
            <a:off x="8558784" y="3433572"/>
            <a:ext cx="50292" cy="50292"/>
          </a:xfrm>
          <a:prstGeom prst="ellipse">
            <a:avLst/>
          </a:prstGeom>
          <a:solidFill>
            <a:srgbClr val="00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87384" y="3383280"/>
            <a:ext cx="2724912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10" b="0">
                <a:solidFill>
                  <a:srgbClr val="232630"/>
                </a:solidFill>
                <a:latin typeface="Arial"/>
              </a:rPr>
              <a:t>Full run-rate: 3,900 confirmations processed through EDGE</a:t>
            </a:r>
          </a:p>
        </p:txBody>
      </p:sp>
      <p:sp>
        <p:nvSpPr>
          <p:cNvPr id="69" name="Oval 68"/>
          <p:cNvSpPr/>
          <p:nvPr/>
        </p:nvSpPr>
        <p:spPr>
          <a:xfrm>
            <a:off x="8558784" y="4046220"/>
            <a:ext cx="50292" cy="50292"/>
          </a:xfrm>
          <a:prstGeom prst="ellipse">
            <a:avLst/>
          </a:prstGeom>
          <a:solidFill>
            <a:srgbClr val="00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87384" y="3995928"/>
            <a:ext cx="2724912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10" b="0">
                <a:solidFill>
                  <a:srgbClr val="232630"/>
                </a:solidFill>
                <a:latin typeface="Arial"/>
              </a:rPr>
              <a:t>Efficiency gain equivalent to 2 additional headcounts</a:t>
            </a:r>
          </a:p>
        </p:txBody>
      </p:sp>
      <p:sp>
        <p:nvSpPr>
          <p:cNvPr id="71" name="Oval 70"/>
          <p:cNvSpPr/>
          <p:nvPr/>
        </p:nvSpPr>
        <p:spPr>
          <a:xfrm>
            <a:off x="8558784" y="4658868"/>
            <a:ext cx="50292" cy="50292"/>
          </a:xfrm>
          <a:prstGeom prst="ellipse">
            <a:avLst/>
          </a:prstGeom>
          <a:solidFill>
            <a:srgbClr val="00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87384" y="4608576"/>
            <a:ext cx="2724912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10" b="0">
                <a:solidFill>
                  <a:srgbClr val="232630"/>
                </a:solidFill>
                <a:latin typeface="Arial"/>
              </a:rPr>
              <a:t>Much faster operational turnaround time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9768" y="5513832"/>
            <a:ext cx="11301984" cy="841248"/>
          </a:xfrm>
          <a:prstGeom prst="roundRect">
            <a:avLst/>
          </a:prstGeom>
          <a:solidFill>
            <a:srgbClr val="E8EFFC"/>
          </a:solidFill>
          <a:ln w="10160">
            <a:solidFill>
              <a:srgbClr val="D0D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3232" y="5696712"/>
            <a:ext cx="475488" cy="475488"/>
          </a:xfrm>
          <a:prstGeom prst="ellipse">
            <a:avLst/>
          </a:prstGeom>
          <a:solidFill>
            <a:srgbClr val="00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4672" y="5737860"/>
            <a:ext cx="29260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89888" y="5687568"/>
            <a:ext cx="589788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20" b="1">
                <a:solidFill>
                  <a:srgbClr val="072688"/>
                </a:solidFill>
                <a:latin typeface="Arial"/>
              </a:rPr>
              <a:t>Outcome: Broader coverage, faster onboarding,
improved traceability and operational efficiency.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543800" y="5696712"/>
            <a:ext cx="1188720" cy="457200"/>
          </a:xfrm>
          <a:prstGeom prst="roundRect">
            <a:avLst/>
          </a:prstGeom>
          <a:solidFill>
            <a:srgbClr val="F2F6FD"/>
          </a:solidFill>
          <a:ln w="10160">
            <a:solidFill>
              <a:srgbClr val="CAD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653527" y="5760720"/>
            <a:ext cx="969264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72688"/>
                </a:solidFill>
                <a:latin typeface="Arial"/>
              </a:rPr>
              <a:t>3.9K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53527" y="5952744"/>
            <a:ext cx="969264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70" b="0">
                <a:solidFill>
                  <a:srgbClr val="525C6E"/>
                </a:solidFill>
                <a:latin typeface="Arial"/>
              </a:rPr>
              <a:t>CONFIRMS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15400" y="5696712"/>
            <a:ext cx="1188720" cy="457200"/>
          </a:xfrm>
          <a:prstGeom prst="roundRect">
            <a:avLst/>
          </a:prstGeom>
          <a:solidFill>
            <a:srgbClr val="F2F6FD"/>
          </a:solidFill>
          <a:ln w="10160">
            <a:solidFill>
              <a:srgbClr val="CAD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25128" y="5760720"/>
            <a:ext cx="969264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72688"/>
                </a:solidFill>
                <a:latin typeface="Arial"/>
              </a:rPr>
              <a:t>+2 FTE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25128" y="5952744"/>
            <a:ext cx="969264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70" b="0">
                <a:solidFill>
                  <a:srgbClr val="525C6E"/>
                </a:solidFill>
                <a:latin typeface="Arial"/>
              </a:rPr>
              <a:t>EFFICIENCY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287000" y="5696712"/>
            <a:ext cx="1188720" cy="457200"/>
          </a:xfrm>
          <a:prstGeom prst="roundRect">
            <a:avLst/>
          </a:prstGeom>
          <a:solidFill>
            <a:srgbClr val="F2F6FD"/>
          </a:solidFill>
          <a:ln w="10160">
            <a:solidFill>
              <a:srgbClr val="CAD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396728" y="5760720"/>
            <a:ext cx="969264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72688"/>
                </a:solidFill>
                <a:latin typeface="Arial"/>
              </a:rPr>
              <a:t>Faster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96728" y="5952744"/>
            <a:ext cx="969264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70" b="0">
                <a:solidFill>
                  <a:srgbClr val="525C6E"/>
                </a:solidFill>
                <a:latin typeface="Arial"/>
              </a:rPr>
              <a:t>TAT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6547104"/>
            <a:ext cx="36576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199A6"/>
                </a:solidFill>
                <a:latin typeface="Arial"/>
              </a:rPr>
              <a:t>Trade Confirm migration | Senior management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 Confirmations to EDGE</dc:title>
  <dc:subject>Single-slide executive summary of Trade Confirm migration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