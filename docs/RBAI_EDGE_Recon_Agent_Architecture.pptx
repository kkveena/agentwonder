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as a controlled agentic flow, not a free-form chatbot. The pitch: automate the investigation steps, keep financial decisions and execution under deterministic policy and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is agentic: multiple tools, stateful investigation, judgement, loops, and human review. But clarify that autonomy is bounded. The production path should remain predictable and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architecture review. It explains why the design is safe: config-driven decision trees, deterministic validations, source evidence, HITL, and auditability.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agent does not require a new platform. It builds on EDGE Workbench, ADK runtime, MCP server, session state, human review widgets,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sample break. The key is that each stage has a clear owner and state contract. This is how the design scales without turning into one giant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architecture to ADK implementation. It also explains why each agent exists. The most important message is: deterministic work belongs in CustomAgents, not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governance point: the model cannot create new paths. It maps the break to a configured path. The confidence is computed from evidence, not simply asserted by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justifies autonomous agent behavior. It is not for all breaks. It is for unknown/complex cases where iterative investigation is required. Execution remains outside the autonomous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operational control model. The agent presents evidence, not just an answer. Analysts can approve, edit and revalidate, or reject/handoff. This is key to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practical delivery plan. The MVP is one scenario end-to-end. Once this is stable, new patterns should be mostly configuration, deterministic logic and test fixtures.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 BREAK AI &amp; INVESTIGATION AGENT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Agentic Architecture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Settlement Break Resolution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66928" y="2834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the recon analyst role from manual investigator to evidence-based approver — while keeping policy, execution, audit, and auto-match deterministic.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800600"/>
            <a:ext cx="0" cy="475488"/>
          </a:xfrm>
          <a:prstGeom prst="line">
            <a:avLst/>
          </a:prstGeom>
          <a:noFill/>
          <a:ln w="381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4727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stages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8952" y="51389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lifecycle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4800600"/>
            <a:ext cx="0" cy="475488"/>
          </a:xfrm>
          <a:prstGeom prst="line">
            <a:avLst/>
          </a:prstGeom>
          <a:noFill/>
          <a:ln w="381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4727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15+ sources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47872" y="51389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queried in parallel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4800600"/>
            <a:ext cx="0" cy="475488"/>
          </a:xfrm>
          <a:prstGeom prst="line">
            <a:avLst/>
          </a:prstGeom>
          <a:noFill/>
          <a:ln w="3810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4727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 narration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36792" y="51389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TLM record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0" y="4800600"/>
            <a:ext cx="0" cy="475488"/>
          </a:xfrm>
          <a:prstGeom prst="line">
            <a:avLst/>
          </a:prstGeom>
          <a:noFill/>
          <a:ln w="38100">
            <a:solidFill>
              <a:srgbClr val="0A8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47274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HITL gate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25712" y="513892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where needed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62636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architecture narrative • September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INTENT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needs an agentic workflow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 breaks require evidence gathering, source comparison, judgement and governed execution — not just a single prompt response.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46120" cy="2240280"/>
          </a:xfrm>
          <a:prstGeom prst="rect">
            <a:avLst/>
          </a:prstGeom>
          <a:solidFill>
            <a:srgbClr val="FFF7ED"/>
          </a:solidFill>
          <a:ln w="13970">
            <a:solidFill>
              <a:srgbClr val="FED7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investigation today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navigates TLM + right-side systems, compares evidence, writes narration, routes closure.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965960"/>
            <a:ext cx="3246120" cy="2240280"/>
          </a:xfrm>
          <a:prstGeom prst="rect">
            <a:avLst/>
          </a:prstGeom>
          <a:solidFill>
            <a:srgbClr val="EEF2FF"/>
          </a:solidFill>
          <a:ln w="13970">
            <a:solidFill>
              <a:srgbClr val="C7D2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reasoning where helpful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complex or ambiguous cases: hypothesize, select approved tools, gather evidence, revise, propose.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75320" y="1965960"/>
            <a:ext cx="3246120" cy="2240280"/>
          </a:xfrm>
          <a:prstGeom prst="rect">
            <a:avLst/>
          </a:prstGeom>
          <a:solidFill>
            <a:srgbClr val="ECFDF5"/>
          </a:solidFill>
          <a:ln w="1397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controls always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tree, root-cause rules, confidence score, approvals, system writes and audit stay code/config driven.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3063240"/>
            <a:ext cx="393192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0" y="3063240"/>
            <a:ext cx="393192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4315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4617720"/>
            <a:ext cx="9006840" cy="640080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autonomy to investigate and reason; use deterministic controls to approve, execute, narrate and close.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5596128"/>
            <a:ext cx="9509760" cy="502920"/>
          </a:xfrm>
          <a:prstGeom prst="rect">
            <a:avLst/>
          </a:prstGeom>
          <a:solidFill>
            <a:srgbClr val="F7F9FC"/>
          </a:solidFill>
          <a:ln w="1016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boundary
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can propose. It cannot independently create policy, bypass review, or execute unapproved actions.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principles that make the architecture defensible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deliberately separates reasoning from authority.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4168" y="19385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over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44168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 paths, required sources, target systems and auto-eligibility are controlled by configuration.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434840" y="1920240"/>
            <a:ext cx="457200" cy="45720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93208" y="19385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3208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math, matching rules, confidence calculation and validations are repeatable code paths.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183880" y="1920240"/>
            <a:ext cx="457200" cy="45720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42248" y="19385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evidence gathering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42248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Right-side source families run concurrently to compress investigation time.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44168" y="35844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where risk exists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44168" y="3895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review is mandatory for complex, low-confidence, contradictory, or non-auto paths.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434840" y="3566160"/>
            <a:ext cx="457200" cy="45720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93208" y="35844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audit trail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93208" y="38953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tool call, source result, proposal, review action, execution ref and narration is preserved.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1097280" y="5577840"/>
            <a:ext cx="9966960" cy="502920"/>
          </a:xfrm>
          <a:prstGeom prst="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helps classify, narrate and propose — but policy decides eligibility and deterministic tools perform execution.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recon agent lives in EDGE Workbench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entry modes share the same investigation engine: event-driven production and analyst-initiated interactive review.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03120" cy="1051560"/>
          </a:xfrm>
          <a:prstGeom prst="rect">
            <a:avLst/>
          </a:prstGeom>
          <a:solidFill>
            <a:srgbClr val="FFF7ED"/>
          </a:solidFill>
          <a:ln w="13970">
            <a:solidFill>
              <a:srgbClr val="FED7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TLM rack run / Kafka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EOD or intraday breaks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103120" cy="1051560"/>
          </a:xfrm>
          <a:prstGeom prst="rect">
            <a:avLst/>
          </a:prstGeom>
          <a:solidFill>
            <a:srgbClr val="EEF2FF"/>
          </a:solidFill>
          <a:ln w="13970">
            <a:solidFill>
              <a:srgbClr val="C7D2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Agent Inbox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starts or resumes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2880360" y="2487168"/>
            <a:ext cx="850392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4315968"/>
            <a:ext cx="850392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22192" y="2395728"/>
            <a:ext cx="3108960" cy="2057400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ADK Runtime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+ Parallel + Loop agents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session state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3401568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818120" y="1920240"/>
            <a:ext cx="1965960" cy="2651760"/>
          </a:xfrm>
          <a:prstGeom prst="rect">
            <a:avLst/>
          </a:prstGeom>
          <a:solidFill>
            <a:srgbClr val="ECFEFF"/>
          </a:solidFill>
          <a:ln w="13970">
            <a:solidFill>
              <a:srgbClr val="A5F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edge-mcp-server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TLM Cairo read/write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right-side source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target-system writes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12680" y="1920240"/>
            <a:ext cx="1600200" cy="2651760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UI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task widgets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/ edit / reject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log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29800" y="3401568"/>
            <a:ext cx="118872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88720" y="5212080"/>
            <a:ext cx="9875520" cy="548640"/>
          </a:xfrm>
          <a:prstGeom prst="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Observability: ADK events • tool traces • source timings • confidence components • execution references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Six-stage break investigation lifecycle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path from exception ingestion to auditable closure.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783080" cy="658368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624328"/>
            <a:ext cx="178308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TLM exception, narrations, identifiers and break facts.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304288" y="2203704"/>
            <a:ext cx="914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14016" y="1874520"/>
            <a:ext cx="1783080" cy="658368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path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14016" y="2624328"/>
            <a:ext cx="178308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break to configured decision-tree path using schema output.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215384" y="2203704"/>
            <a:ext cx="914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25112" y="1874520"/>
            <a:ext cx="1783080" cy="658368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Populate evidence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25112" y="2624328"/>
            <a:ext cx="1783080" cy="822960"/>
          </a:xfrm>
          <a:prstGeom prst="rect">
            <a:avLst/>
          </a:prstGeom>
          <a:solidFill>
            <a:srgbClr val="ECFEFF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right-side source-family queries concurrently.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26480" y="2203704"/>
            <a:ext cx="914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236208" y="1874520"/>
            <a:ext cx="1783080" cy="658368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&amp; validate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36208" y="2624328"/>
            <a:ext cx="178308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deterministic root-cause rules; produce confidence and narrative.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037576" y="2203704"/>
            <a:ext cx="914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147304" y="1874520"/>
            <a:ext cx="1783080" cy="658368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gate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47304" y="2624328"/>
            <a:ext cx="1783080" cy="822960"/>
          </a:xfrm>
          <a:prstGeom prst="rect">
            <a:avLst/>
          </a:prstGeom>
          <a:solidFill>
            <a:srgbClr val="F5F3FF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proposal, validate, route to HITL or auto-eligible gate.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948672" y="2203704"/>
            <a:ext cx="91440" cy="0"/>
          </a:xfrm>
          <a:prstGeom prst="line">
            <a:avLst/>
          </a:prstGeom>
          <a:noFill/>
          <a:ln w="1016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58400" y="1874520"/>
            <a:ext cx="1783080" cy="658368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&amp; narrate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0" y="2624328"/>
            <a:ext cx="1783080" cy="822960"/>
          </a:xfrm>
          <a:prstGeom prst="rect">
            <a:avLst/>
          </a:prstGeom>
          <a:solidFill>
            <a:srgbClr val="F8FAFC"/>
          </a:solidFill>
          <a:ln w="13970">
            <a:solidFill>
              <a:srgbClr val="D8E2F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approved resolution, TLM narration, auto-match and audit tags.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4389120" cy="457200"/>
          </a:xfrm>
          <a:prstGeom prst="rect">
            <a:avLst/>
          </a:prstGeom>
          <a:solidFill>
            <a:srgbClr val="ECFDF5"/>
          </a:solidFill>
          <a:ln w="1397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path: deterministic production workflow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06440" y="4251960"/>
            <a:ext cx="5303520" cy="457200"/>
          </a:xfrm>
          <a:prstGeom prst="rect">
            <a:avLst/>
          </a:prstGeom>
          <a:solidFill>
            <a:srgbClr val="FEF3C7"/>
          </a:solidFill>
          <a:ln w="1397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/ contradictory path: bounded autonomous complex-break investigation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285232"/>
            <a:ext cx="108356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lifecycle is stable; new break scenarios are added as decision-tree configuration, source adapters, deterministic rules and test fixtures.</a:t>
            </a:r>
            <a:endParaRPr lang="en-US" sz="1520" dirty="0"/>
          </a:p>
        </p:txBody>
      </p:sp>
      <p:sp>
        <p:nvSpPr>
          <p:cNvPr id="27" name="Text 24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ADK MAPPING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tree: use the right ADK primitive for each responsibility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uses ADK composition, not a single unconstrained LLM loop.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514600" cy="658368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edge_recon_workflow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/ root workflow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2011680" cy="1005840"/>
          </a:xfrm>
          <a:prstGeom prst="rect">
            <a:avLst/>
          </a:prstGeom>
          <a:solidFill>
            <a:srgbClr val="F8FAFC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exception_ingestion_agent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TLM read + normalize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011680" y="2578608"/>
            <a:ext cx="-457200" cy="3931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34640" y="3035808"/>
            <a:ext cx="2011680" cy="1005840"/>
          </a:xfrm>
          <a:prstGeom prst="rect">
            <a:avLst/>
          </a:prstGeom>
          <a:solidFill>
            <a:srgbClr val="EEF2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path_identification_agent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LlmAgent + output_schema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configured path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011680" y="2578608"/>
            <a:ext cx="1828800" cy="3931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120640" y="3035808"/>
            <a:ext cx="2011680" cy="1005840"/>
          </a:xfrm>
          <a:prstGeom prst="rect">
            <a:avLst/>
          </a:prstGeom>
          <a:solidFill>
            <a:srgbClr val="ECFE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rightside_population_agent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source-family fanout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011680" y="2578608"/>
            <a:ext cx="4114800" cy="3931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06640" y="3035808"/>
            <a:ext cx="2011680" cy="1005840"/>
          </a:xfrm>
          <a:prstGeom prst="rect">
            <a:avLst/>
          </a:prstGeom>
          <a:solidFill>
            <a:srgbClr val="ECFDF5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root_cause_analysis_agent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rules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011680" y="2578608"/>
            <a:ext cx="6400800" cy="3931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92640" y="3035808"/>
            <a:ext cx="2011680" cy="1005840"/>
          </a:xfrm>
          <a:prstGeom prst="rect">
            <a:avLst/>
          </a:prstGeom>
          <a:solidFill>
            <a:srgbClr val="F5F3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resolution_review_agent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LoopAgent + HITL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proposal/edit/revalidate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011680" y="2578608"/>
            <a:ext cx="8686800" cy="393192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09160" y="4617720"/>
            <a:ext cx="2743200" cy="822960"/>
          </a:xfrm>
          <a:prstGeom prst="rect">
            <a:avLst/>
          </a:prstGeom>
          <a:solidFill>
            <a:srgbClr val="FFF7ED"/>
          </a:solidFill>
          <a:ln w="13970">
            <a:solidFill>
              <a:srgbClr val="FED7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resolution_execution_agent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→ narrate → auto-match → tag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98480" y="4069080"/>
            <a:ext cx="-4617720" cy="50292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955280" y="4754880"/>
            <a:ext cx="3291840" cy="640080"/>
          </a:xfrm>
          <a:prstGeom prst="rect">
            <a:avLst/>
          </a:prstGeom>
          <a:solidFill>
            <a:srgbClr val="FEF3C7"/>
          </a:solidFill>
          <a:ln w="1397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complex_break_handoff_agent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autonomous investigation only for unmatched or weak-evidence cases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of thumb: CustomAgent for facts and math; LlmAgent for interpretation and narration; ParallelAgent for independent evidence; LoopAgent for review cycles; SequentialAgent for ordered writes.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scenarios should run through policy/configuration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known break patterns, the LLM selects among approved paths; deterministic rules validate and score the result.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886200" cy="2560320"/>
          </a:xfrm>
          <a:prstGeom prst="rect">
            <a:avLst/>
          </a:prstGeom>
          <a:solidFill>
            <a:srgbClr val="0B1220"/>
          </a:solidFill>
          <a:ln w="13970">
            <a:solidFill>
              <a:srgbClr val="0B122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tree YAML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path_id: APAC_LATE_SETTLEMENT_POST_CUTOFF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required_sources: [settlement_system]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resolution: APPLY_TIMING_CODE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target_system: SETTLEMENT_SYSTEM</a:t>
            </a:r>
            <a:endParaRPr lang="en-US" sz="1170" dirty="0"/>
          </a:p>
          <a:p>
            <a:pPr algn="l" indent="0" marL="0">
              <a:buNone/>
            </a:pPr>
            <a:r>
              <a:rPr lang="en-US" sz="1170" dirty="0">
                <a:solidFill>
                  <a:srgbClr val="DD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fully_automatable: true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4736592" y="3108960"/>
            <a:ext cx="65836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486400" y="2103120"/>
            <a:ext cx="2148840" cy="1417320"/>
          </a:xfrm>
          <a:prstGeom prst="rect">
            <a:avLst/>
          </a:prstGeom>
          <a:solidFill>
            <a:srgbClr val="EEF2FF"/>
          </a:solidFill>
          <a:ln w="13970">
            <a:solidFill>
              <a:srgbClr val="C7D2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selection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schema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matched: true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initial_confidence: 0.86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44968" y="3108960"/>
            <a:ext cx="57607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458200" y="1938528"/>
            <a:ext cx="2423160" cy="1828800"/>
          </a:xfrm>
          <a:prstGeom prst="rect">
            <a:avLst/>
          </a:prstGeom>
          <a:solidFill>
            <a:srgbClr val="ECFDF5"/>
          </a:solidFill>
          <a:ln w="1397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completeness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 match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satisfaction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contradiction 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57800" y="4297680"/>
            <a:ext cx="5989320" cy="658368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 confidence = path match + evidence completeness + matching strength + deterministic rule score − contradictions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5257800"/>
            <a:ext cx="9418320" cy="685800"/>
          </a:xfrm>
          <a:prstGeom prst="rect">
            <a:avLst/>
          </a:prstGeom>
          <a:solidFill>
            <a:srgbClr val="FFF7ED"/>
          </a:solidFill>
          <a:ln w="13970">
            <a:solidFill>
              <a:srgbClr val="FED7A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gate for auto-execute: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fully_automatable AND validation_passed AND composite ≥ threshold AND no conflicting evidence AND action whitelisted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BOUNDARY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Bounded autonomous agent for complex breaks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Autonomy is justified where the path is unknown, evidence is contradictory, or analyst investigation requires iterative tool use.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892040" y="1993392"/>
            <a:ext cx="1645920" cy="749808"/>
          </a:xfrm>
          <a:prstGeom prst="rect">
            <a:avLst/>
          </a:prstGeom>
          <a:solidFill>
            <a:srgbClr val="EEF2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52360" y="2468880"/>
            <a:ext cx="1645920" cy="749808"/>
          </a:xfrm>
          <a:prstGeom prst="rect">
            <a:avLst/>
          </a:prstGeom>
          <a:solidFill>
            <a:srgbClr val="F5F3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52360" y="3977640"/>
            <a:ext cx="1645920" cy="749808"/>
          </a:xfrm>
          <a:prstGeom prst="rect">
            <a:avLst/>
          </a:prstGeom>
          <a:solidFill>
            <a:srgbClr val="ECFEFF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approved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4572000"/>
            <a:ext cx="1645920" cy="749808"/>
          </a:xfrm>
          <a:prstGeom prst="rect">
            <a:avLst/>
          </a:prstGeom>
          <a:solidFill>
            <a:srgbClr val="ECFDF5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23160" y="3977640"/>
            <a:ext cx="1645920" cy="749808"/>
          </a:xfrm>
          <a:prstGeom prst="rect">
            <a:avLst/>
          </a:prstGeom>
          <a:solidFill>
            <a:srgbClr val="FEF3C7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/ revise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468880"/>
            <a:ext cx="1645920" cy="749808"/>
          </a:xfrm>
          <a:prstGeom prst="rect">
            <a:avLst/>
          </a:prstGeom>
          <a:solidFill>
            <a:srgbClr val="FFF7ED"/>
          </a:solidFill>
          <a:ln w="13970">
            <a:solidFill>
              <a:srgbClr val="D6E0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/ escalate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5000" y="2779776"/>
            <a:ext cx="1581912" cy="2743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3880" y="3273552"/>
            <a:ext cx="0" cy="60350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88352" y="4526280"/>
            <a:ext cx="-758952" cy="22860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00600" y="4837176"/>
            <a:ext cx="-640080" cy="-30175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46120" y="3877056"/>
            <a:ext cx="0" cy="-60350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96512" y="2807208"/>
            <a:ext cx="640080" cy="-2651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46320" y="3154680"/>
            <a:ext cx="2011680" cy="777240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Autonomy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read/search/compare/propose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960" y="5074920"/>
            <a:ext cx="2606040" cy="685800"/>
          </a:xfrm>
          <a:prstGeom prst="rect">
            <a:avLst/>
          </a:prstGeom>
          <a:solidFill>
            <a:srgbClr val="FEE2E2"/>
          </a:solidFill>
          <a:ln w="1397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stop: no direct execution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to Stage 5 review + policy gate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6016752"/>
            <a:ext cx="9418320" cy="256032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for unmatched, low-confidence or contradictory breaks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&amp; CONTROL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review queue is the single pane of glass for analyst approval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Analysts see evidence, proposed action, narration and audit trail before any non-auto resolution is executed.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965960" cy="530352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AgentReviewTask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46120" cy="1234440"/>
          </a:xfrm>
          <a:prstGeom prst="rect">
            <a:avLst/>
          </a:prstGeom>
          <a:solidFill>
            <a:srgbClr val="F7F9FC"/>
          </a:solidFill>
          <a:ln w="1016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summary
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TLM ref, account, ISIN, quantity, amount, counterparty, exception reason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434840" y="2743200"/>
            <a:ext cx="3246120" cy="1234440"/>
          </a:xfrm>
          <a:prstGeom prst="rect">
            <a:avLst/>
          </a:prstGeom>
          <a:solidFill>
            <a:srgbClr val="F7F9FC"/>
          </a:solidFill>
          <a:ln w="1016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8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chain
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queried, source status, evidence matches, missing or stale data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138160" y="2743200"/>
            <a:ext cx="3246120" cy="1234440"/>
          </a:xfrm>
          <a:prstGeom prst="rect">
            <a:avLst/>
          </a:prstGeom>
          <a:solidFill>
            <a:srgbClr val="F7F9FC"/>
          </a:solidFill>
          <a:ln w="1016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+ narration
</a:t>
            </a:r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action, target system, confidence, draft TLM narration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834640" y="4617720"/>
            <a:ext cx="1280160" cy="502920"/>
          </a:xfrm>
          <a:prstGeom prst="rect">
            <a:avLst/>
          </a:prstGeom>
          <a:solidFill>
            <a:srgbClr val="ECFDF5"/>
          </a:solidFill>
          <a:ln w="13970">
            <a:solidFill>
              <a:srgbClr val="86EFA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4617720"/>
            <a:ext cx="1828800" cy="502920"/>
          </a:xfrm>
          <a:prstGeom prst="rect">
            <a:avLst/>
          </a:prstGeom>
          <a:solidFill>
            <a:srgbClr val="FEF3C7"/>
          </a:solidFill>
          <a:ln w="13970">
            <a:solidFill>
              <a:srgbClr val="FCD34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+ revalidate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4617720"/>
            <a:ext cx="1737360" cy="502920"/>
          </a:xfrm>
          <a:prstGeom prst="rect">
            <a:avLst/>
          </a:prstGeom>
          <a:solidFill>
            <a:srgbClr val="FEE2E2"/>
          </a:solidFill>
          <a:ln w="13970">
            <a:solidFill>
              <a:srgbClr val="FC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/ handoff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4864608"/>
            <a:ext cx="4572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19088" y="4864608"/>
            <a:ext cx="45720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51560" y="5650992"/>
            <a:ext cx="10012680" cy="502920"/>
          </a:xfrm>
          <a:prstGeom prst="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decision becomes part of the immutable audit trail: proposal, edits, approver, timestamp, execution reference and final TLM narration.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MVP around one production-quality scenario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07592"/>
            <a:ext cx="50292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start by implementing all 15+ sources and all break patterns. Prove one end-to-end path, then scale by configuration.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207008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session state and Pydantic schemas.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87368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4087368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TLM + minimum right-side MCP tools.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67728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path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967728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one decision-tree scenario.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281160" y="192024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48088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9848088" y="2221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source-family fanout with fixtures.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1207008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root-cause + confidence.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520440" y="333756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87368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087368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proposal, edit, revalidate.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400800" y="333756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7728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run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6967728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execution + TLM narration.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281160" y="3337560"/>
            <a:ext cx="420624" cy="420624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48088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9848088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paths as config + rules + tests.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2560320" cy="411480"/>
          </a:xfrm>
          <a:prstGeom prst="rect">
            <a:avLst/>
          </a:prstGeom>
          <a:solidFill>
            <a:srgbClr val="06142F"/>
          </a:solidFill>
          <a:ln w="13970">
            <a:solidFill>
              <a:srgbClr val="06142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 milestone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93008" y="4892040"/>
            <a:ext cx="7863840" cy="621792"/>
          </a:xfrm>
          <a:prstGeom prst="rect">
            <a:avLst/>
          </a:prstGeom>
          <a:solidFill>
            <a:srgbClr val="F8FAFC"/>
          </a:solidFill>
          <a:ln w="1397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TLM break → one configured path → parallel evidence retrieval → deterministic root cause → validated proposal → human approval → mocked execution → TLM narration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1005840" y="5852160"/>
            <a:ext cx="10058400" cy="384048"/>
          </a:xfrm>
          <a:prstGeom prst="rect">
            <a:avLst/>
          </a:prstGeom>
          <a:solidFill>
            <a:srgbClr val="ECFDF5"/>
          </a:solidFill>
          <a:ln w="1397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8F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repeatable results, explainable evidence, controlled execution, no policy bypass, and measurable latency against 5s source / 30s full-cycle budgets.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50292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RBAI/EDGE Recon Agent • Architecture &amp; thought process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Citi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RBAI/EDGE Recon Agent Architecture</dc:title>
  <dc:subject>RBAI/EDGE Reconciliation Break AI Investigation Agent Architecture</dc:subject>
  <dc:creator>OpenAI</dc:creator>
  <cp:lastModifiedBy>OpenAI</cp:lastModifiedBy>
  <cp:revision>1</cp:revision>
  <dcterms:created xsi:type="dcterms:W3CDTF">2026-09-14T20:29:34Z</dcterms:created>
  <dcterms:modified xsi:type="dcterms:W3CDTF">2026-09-14T20:29:34Z</dcterms:modified>
</cp:coreProperties>
</file>