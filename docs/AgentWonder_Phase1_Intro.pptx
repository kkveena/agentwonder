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1265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AgentWonder repository main page: https://github.com/kkveena/AgentWonder
- AgentWonder README_v1.md: https://raw.githubusercontent.com/kkveena/AgentWonder/main/README_v1.md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README_v1.md, sections “Why this exists” and “V1 scope”: https://raw.githubusercontent.com/kkveena/AgentWonder/main/README_v1.md
- CLAUDE.md, product framing and non-goals: https://raw.githubusercontent.com/kkveena/AgentWonder/main/CLAUDE.md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README_v1.md, section “V1 scope”: https://raw.githubusercontent.com/kkveena/AgentWonder/main/README_v1.md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README_v1.md, sections “Core design choices” and “YAML-to-runtime flow”: https://raw.githubusercontent.com/kkveena/AgentWonder/main/README_v1.md
- CLAUDE.md, platform principles: https://raw.githubusercontent.com/kkveena/AgentWonder/main/CLAUDE.md
- ADK Workflow Agents docs, deterministic orchestration and supported workflow types: https://adk.dev/agents/workflow-agents/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architecture_layout.md, end-to-end flow and package layout: https://raw.githubusercontent.com/kkveena/AgentWonder/main/architecture_layout.md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yaml_usage.md, core rule, file layout, ownership, and validation pipeline: https://raw.githubusercontent.com/kkveena/AgentWonder/main/yaml_usage.md
- CLAUDE.md, “Rule: Never pass raw YAML dicts deep into the runtime”: https://raw.githubusercontent.com/kkveena/AgentWonder/main/CLAUDE.md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README_v1.md, repository layout and major modules: https://raw.githubusercontent.com/kkveena/AgentWonder/main/README_v1.md
- AgentWonder repository tree: https://github.com/kkveena/AgentWonder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yaml_usage.md, workflow YAML example for break_resolution_v1: https://raw.githubusercontent.com/kkveena/AgentWonder/main/yaml_usage.md
- Notebook output showing resolved workflow, execution order, and approval gates: https://raw.githubusercontent.com/kkveena/AgentWonder/main/notebooks/test_agentwonder_flow.ipynb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Notebook outputs for registry counts, execution plan, run completion, outputs, and trace events: https://raw.githubusercontent.com/kkveena/AgentWonder/main/notebooks/test_agentwonder_flow.ipynb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README_v1.md, quick start and API endpoints: https://raw.githubusercontent.com/kkveena/AgentWonder/main/README_v1.md
- pyproject.toml, package requirements and Python version: https://raw.githubusercontent.com/kkveena/AgentWonder/main/pyproject.toml
- agentwonder/main.py, FastAPI app and in-memory stores: https://raw.githubusercontent.com/kkveena/AgentWonder/main/agentwonder/main.py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yaml_usage.md, recommended ownership by config directory: https://raw.githubusercontent.com/kkveena/AgentWonder/main/yaml_usage.md
- README_v1.md, YAML as the authoring layer and templates over free-form graphs: https://raw.githubusercontent.com/kkveena/AgentWonder/main/README_v1.md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README_v1.md, excluded items and design rules: https://raw.githubusercontent.com/kkveena/AgentWonder/main/README_v1.md
- agentwonder/main.py, in-memory workflow/run/trace stores: https://raw.githubusercontent.com/kkveena/AgentWonder/main/agentwonder/main.py
- Notebook outputs showing stub tool/LLM responses and one loaded template: https://raw.githubusercontent.com/kkveena/AgentWonder/main/notebooks/test_agentwonder_flow.ipynb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recommendation synthesized from the current repo, documentation, and notebook proof path.
- Repo review sources: README_v1.md, architecture_layout.md, yaml_usage.md, CLAUDE.md, main.py, and test notebook under AgentWonder main branch.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11064240" cy="0"/>
          </a:xfrm>
          <a:prstGeom prst="line">
            <a:avLst/>
          </a:prstGeom>
          <a:noFill/>
          <a:ln w="12700">
            <a:solidFill>
              <a:srgbClr val="D7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D7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21792" y="1024128"/>
            <a:ext cx="164592" cy="4526280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1005840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24D"/>
                </a:solidFill>
              </a:rPr>
              <a:t>AgentWonder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60120" y="171907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8B8D"/>
                </a:solidFill>
              </a:rPr>
              <a:t>Phase 1 implementation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2340864"/>
            <a:ext cx="6720840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203040"/>
                </a:solidFill>
              </a:rPr>
              <a:t>A governed, YAML-first platform for designing and running agentic workflows with Pydantic contracts and Google ADK runtime orchestration.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960120" y="374904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60120" y="377647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YAML-first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23160" y="374904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D6CDF"/>
          </a:solidFill>
          <a:ln w="12700">
            <a:solidFill>
              <a:srgbClr val="2D6CD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423160" y="377647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Pydantic v2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977640" y="3749040"/>
            <a:ext cx="1143000" cy="310896"/>
          </a:xfrm>
          <a:prstGeom prst="roundRect">
            <a:avLst>
              <a:gd name="adj" fmla="val 23529"/>
            </a:avLst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977640" y="3776472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ADK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257800" y="374904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E67E22"/>
          </a:solidFill>
          <a:ln w="12700">
            <a:solidFill>
              <a:srgbClr val="E67E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57800" y="377647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API-first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138160" y="1051560"/>
            <a:ext cx="3383280" cy="443484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94192" y="1325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Phase 1 delivers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39328" y="1755648"/>
            <a:ext cx="2788920" cy="2926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</a:rPr>
              <a:t>YAML config under config/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</a:rPr>
              <a:t>Typed validation for workflows, tools, prompts, policies, templates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</a:rPr>
              <a:t>Compiler + runtime scaffold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</a:rPr>
              <a:t>FastAPI entry points and notebook test</a:t>
            </a:r>
            <a:endParaRPr lang="en-US" sz="1300" dirty="0"/>
          </a:p>
          <a:p>
            <a:pPr marL="177800" indent="-1778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</a:rPr>
              <a:t>Approval and tracing hooks from day 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566928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7285"/>
                </a:solidFill>
              </a:rPr>
              <a:t>Audience: manager + dev team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6656" y="64739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285"/>
                </a:solidFill>
              </a:rPr>
              <a:t>AgentWonder • Phase 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109960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F7285"/>
                </a:solidFill>
              </a:rPr>
              <a:t>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11064240" cy="0"/>
          </a:xfrm>
          <a:prstGeom prst="line">
            <a:avLst/>
          </a:prstGeom>
          <a:noFill/>
          <a:ln w="12700">
            <a:solidFill>
              <a:srgbClr val="D7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D7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164592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exists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76656" y="58521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5F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 focuses on practical internal adoption, not a full visual builder.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10515600" y="210312"/>
            <a:ext cx="1051560" cy="100584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941832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03040"/>
                </a:solidFill>
              </a:rPr>
              <a:t>Teams want agentic workflows, but the first release has to balance speed, governance, and reuse.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13232" y="141732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DFEFF"/>
          </a:solidFill>
          <a:ln w="12700">
            <a:solidFill>
              <a:srgbClr val="D7DF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77824" y="1527048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Fast internal development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77824" y="1856232"/>
            <a:ext cx="3145536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03040"/>
                </a:solidFill>
              </a:rPr>
              <a:t>Give PMs and developers a simple authoring model: YAML configs, approved templates, and standard APIs.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70832" y="141732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DFEFF"/>
          </a:solidFill>
          <a:ln w="12700">
            <a:solidFill>
              <a:srgbClr val="D7DF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35424" y="1527048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Predictable governance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35424" y="1856232"/>
            <a:ext cx="3145536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03040"/>
                </a:solidFill>
              </a:rPr>
              <a:t>Register every tool, validate every workflow, gate side effects, and keep runs traceable.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028432" y="1417320"/>
            <a:ext cx="3474720" cy="1828800"/>
          </a:xfrm>
          <a:prstGeom prst="roundRect">
            <a:avLst>
              <a:gd name="adj" fmla="val 4000"/>
            </a:avLst>
          </a:prstGeom>
          <a:solidFill>
            <a:srgbClr val="FDFEFF"/>
          </a:solidFill>
          <a:ln w="12700">
            <a:solidFill>
              <a:srgbClr val="D7DF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193024" y="1527048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Reusable workflow patterns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93024" y="1856232"/>
            <a:ext cx="3145536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03040"/>
                </a:solidFill>
              </a:rPr>
              <a:t>Start with a small approved template library instead of exposing free-form graphs to everyone on day 1.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14400" y="3840480"/>
            <a:ext cx="10332720" cy="0"/>
          </a:xfrm>
          <a:prstGeom prst="line">
            <a:avLst/>
          </a:prstGeom>
          <a:noFill/>
          <a:ln w="12700">
            <a:solidFill>
              <a:srgbClr val="D7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13232" y="40690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What Phase 1 is intentionally not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9808" y="4407408"/>
            <a:ext cx="475488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</a:rPr>
              <a:t>No drag-and-drop UI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</a:rPr>
              <a:t>No all-17-pattern runtime surface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</a:rPr>
              <a:t>No dual ADK + LangGraph core</a:t>
            </a:r>
            <a:endParaRPr lang="en-US" sz="1320" dirty="0"/>
          </a:p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</a:rPr>
              <a:t>No open plugin marketplace</a:t>
            </a:r>
            <a:endParaRPr lang="en-US" sz="1320" dirty="0"/>
          </a:p>
        </p:txBody>
      </p:sp>
      <p:sp>
        <p:nvSpPr>
          <p:cNvPr id="21" name="Shape 19"/>
          <p:cNvSpPr/>
          <p:nvPr/>
        </p:nvSpPr>
        <p:spPr>
          <a:xfrm>
            <a:off x="6446520" y="4160520"/>
            <a:ext cx="4754880" cy="1280160"/>
          </a:xfrm>
          <a:prstGeom prst="roundRect">
            <a:avLst>
              <a:gd name="adj" fmla="val 5714"/>
            </a:avLst>
          </a:prstGeom>
          <a:solidFill>
            <a:srgbClr val="F2FBFB"/>
          </a:solidFill>
          <a:ln w="12700">
            <a:solidFill>
              <a:srgbClr val="4FB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720840" y="43891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8B8D"/>
                </a:solidFill>
              </a:rPr>
              <a:t>Phase 1 thesis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720840" y="470916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03040"/>
                </a:solidFill>
              </a:rPr>
              <a:t>Build the governed runtime first. Add richer UX only after config, validation, execution, and approvals are stable.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6656" y="64739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285"/>
                </a:solidFill>
              </a:rPr>
              <a:t>AgentWonder • Phase 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09960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F7285"/>
                </a:solidFill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11064240" cy="0"/>
          </a:xfrm>
          <a:prstGeom prst="line">
            <a:avLst/>
          </a:prstGeom>
          <a:noFill/>
          <a:ln w="12700">
            <a:solidFill>
              <a:srgbClr val="D7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D7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164592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1 scope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76656" y="58521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5F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in the first working release vs what is deferred.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10515600" y="210312"/>
            <a:ext cx="1051560" cy="100584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914400"/>
            <a:ext cx="7040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50" dirty="0">
                <a:solidFill>
                  <a:srgbClr val="203040"/>
                </a:solidFill>
              </a:rPr>
              <a:t>Foundation release: configuration, validation, execution, approvals, and traceability.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13232" y="1325880"/>
            <a:ext cx="534924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77824" y="1435608"/>
            <a:ext cx="5020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Included now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77824" y="1764792"/>
            <a:ext cx="5020056" cy="3721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1783080"/>
            <a:ext cx="4754880" cy="32918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77800" indent="-177800">
              <a:buSzPct val="100000"/>
              <a:buChar char="•"/>
            </a:pPr>
            <a:r>
              <a:rPr lang="en-US" sz="1360" dirty="0">
                <a:solidFill>
                  <a:srgbClr val="203040"/>
                </a:solidFill>
              </a:rPr>
              <a:t>ADK-based runtime service</a:t>
            </a:r>
            <a:endParaRPr lang="en-US" sz="1360" dirty="0"/>
          </a:p>
          <a:p>
            <a:pPr marL="177800" indent="-177800">
              <a:buSzPct val="100000"/>
              <a:buChar char="•"/>
            </a:pPr>
            <a:r>
              <a:rPr lang="en-US" sz="1360" dirty="0">
                <a:solidFill>
                  <a:srgbClr val="203040"/>
                </a:solidFill>
              </a:rPr>
              <a:t>YAML-first workflow configuration under config/</a:t>
            </a:r>
            <a:endParaRPr lang="en-US" sz="1360" dirty="0"/>
          </a:p>
          <a:p>
            <a:pPr marL="177800" indent="-177800">
              <a:buSzPct val="100000"/>
              <a:buChar char="•"/>
            </a:pPr>
            <a:r>
              <a:rPr lang="en-US" sz="1360" dirty="0">
                <a:solidFill>
                  <a:srgbClr val="203040"/>
                </a:solidFill>
              </a:rPr>
              <a:t>Pydantic schema validation for all YAML</a:t>
            </a:r>
            <a:endParaRPr lang="en-US" sz="1360" dirty="0"/>
          </a:p>
          <a:p>
            <a:pPr marL="177800" indent="-177800">
              <a:buSzPct val="100000"/>
              <a:buChar char="•"/>
            </a:pPr>
            <a:r>
              <a:rPr lang="en-US" sz="1360" dirty="0">
                <a:solidFill>
                  <a:srgbClr val="203040"/>
                </a:solidFill>
              </a:rPr>
              <a:t>Approved workflow templates</a:t>
            </a:r>
            <a:endParaRPr lang="en-US" sz="1360" dirty="0"/>
          </a:p>
          <a:p>
            <a:pPr marL="177800" indent="-177800">
              <a:buSzPct val="100000"/>
              <a:buChar char="•"/>
            </a:pPr>
            <a:r>
              <a:rPr lang="en-US" sz="1360" dirty="0">
                <a:solidFill>
                  <a:srgbClr val="203040"/>
                </a:solidFill>
              </a:rPr>
              <a:t>REST/OpenAPI-backed tool wrappers</a:t>
            </a:r>
            <a:endParaRPr lang="en-US" sz="1360" dirty="0"/>
          </a:p>
          <a:p>
            <a:pPr marL="177800" indent="-177800">
              <a:buSzPct val="100000"/>
              <a:buChar char="•"/>
            </a:pPr>
            <a:r>
              <a:rPr lang="en-US" sz="1360" dirty="0">
                <a:solidFill>
                  <a:srgbClr val="203040"/>
                </a:solidFill>
              </a:rPr>
              <a:t>Approval gates for side effects</a:t>
            </a:r>
            <a:endParaRPr lang="en-US" sz="1360" dirty="0"/>
          </a:p>
          <a:p>
            <a:pPr marL="177800" indent="-177800">
              <a:buSzPct val="100000"/>
              <a:buChar char="•"/>
            </a:pPr>
            <a:r>
              <a:rPr lang="en-US" sz="1360" dirty="0">
                <a:solidFill>
                  <a:srgbClr val="203040"/>
                </a:solidFill>
              </a:rPr>
              <a:t>Tracing, run history, and evaluation hooks</a:t>
            </a:r>
            <a:endParaRPr lang="en-US" sz="1360" dirty="0"/>
          </a:p>
          <a:p>
            <a:pPr marL="177800" indent="-177800">
              <a:buSzPct val="100000"/>
              <a:buChar char="•"/>
            </a:pPr>
            <a:r>
              <a:rPr lang="en-US" sz="1360" dirty="0">
                <a:solidFill>
                  <a:srgbClr val="203040"/>
                </a:solidFill>
              </a:rPr>
              <a:t>Versioned workflows and registries</a:t>
            </a:r>
            <a:endParaRPr lang="en-US" sz="1360" dirty="0"/>
          </a:p>
        </p:txBody>
      </p:sp>
      <p:sp>
        <p:nvSpPr>
          <p:cNvPr id="13" name="Shape 11"/>
          <p:cNvSpPr/>
          <p:nvPr/>
        </p:nvSpPr>
        <p:spPr>
          <a:xfrm>
            <a:off x="6355080" y="1325880"/>
            <a:ext cx="5074920" cy="42519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12700">
            <a:solidFill>
              <a:srgbClr val="E6D1BA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19672" y="1435608"/>
            <a:ext cx="4745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Deferred after Phase 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19672" y="1764792"/>
            <a:ext cx="4745736" cy="3721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37960" y="1783080"/>
            <a:ext cx="4480560" cy="2834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77800" indent="-177800">
              <a:buSzPct val="100000"/>
              <a:buChar char="•"/>
            </a:pPr>
            <a:r>
              <a:rPr lang="en-US" sz="1360" dirty="0">
                <a:solidFill>
                  <a:srgbClr val="203040"/>
                </a:solidFill>
              </a:rPr>
              <a:t>Full visual builder UI</a:t>
            </a:r>
            <a:endParaRPr lang="en-US" sz="1360" dirty="0"/>
          </a:p>
          <a:p>
            <a:pPr marL="177800" indent="-177800">
              <a:buSzPct val="100000"/>
              <a:buChar char="•"/>
            </a:pPr>
            <a:r>
              <a:rPr lang="en-US" sz="1360" dirty="0">
                <a:solidFill>
                  <a:srgbClr val="203040"/>
                </a:solidFill>
              </a:rPr>
              <a:t>Arbitrary graph authoring by end users</a:t>
            </a:r>
            <a:endParaRPr lang="en-US" sz="1360" dirty="0"/>
          </a:p>
          <a:p>
            <a:pPr marL="177800" indent="-177800">
              <a:buSzPct val="100000"/>
              <a:buChar char="•"/>
            </a:pPr>
            <a:r>
              <a:rPr lang="en-US" sz="1360" dirty="0">
                <a:solidFill>
                  <a:srgbClr val="203040"/>
                </a:solidFill>
              </a:rPr>
              <a:t>All 17 patterns as native runtime objects</a:t>
            </a:r>
            <a:endParaRPr lang="en-US" sz="1360" dirty="0"/>
          </a:p>
          <a:p>
            <a:pPr marL="177800" indent="-177800">
              <a:buSzPct val="100000"/>
              <a:buChar char="•"/>
            </a:pPr>
            <a:r>
              <a:rPr lang="en-US" sz="1360" dirty="0">
                <a:solidFill>
                  <a:srgbClr val="203040"/>
                </a:solidFill>
              </a:rPr>
              <a:t>Dual-runtime orchestration core</a:t>
            </a:r>
            <a:endParaRPr lang="en-US" sz="1360" dirty="0"/>
          </a:p>
          <a:p>
            <a:pPr marL="177800" indent="-177800">
              <a:buSzPct val="100000"/>
              <a:buChar char="•"/>
            </a:pPr>
            <a:r>
              <a:rPr lang="en-US" sz="1360" dirty="0">
                <a:solidFill>
                  <a:srgbClr val="203040"/>
                </a:solidFill>
              </a:rPr>
              <a:t>Open external plugin marketplace</a:t>
            </a:r>
            <a:endParaRPr lang="en-US" sz="1360" dirty="0"/>
          </a:p>
        </p:txBody>
      </p:sp>
      <p:sp>
        <p:nvSpPr>
          <p:cNvPr id="17" name="Shape 15"/>
          <p:cNvSpPr/>
          <p:nvPr/>
        </p:nvSpPr>
        <p:spPr>
          <a:xfrm>
            <a:off x="6537960" y="4736592"/>
            <a:ext cx="4343400" cy="548640"/>
          </a:xfrm>
          <a:prstGeom prst="roundRect">
            <a:avLst>
              <a:gd name="adj" fmla="val 13333"/>
            </a:avLst>
          </a:prstGeom>
          <a:solidFill>
            <a:srgbClr val="FFF7EF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711696" y="4892040"/>
            <a:ext cx="4023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203040"/>
                </a:solidFill>
              </a:rPr>
              <a:t>Manager takeaway: this is a controlled platform foundation, not the final UX.</a:t>
            </a:r>
            <a:endParaRPr lang="en-US" sz="1280" dirty="0"/>
          </a:p>
        </p:txBody>
      </p:sp>
      <p:sp>
        <p:nvSpPr>
          <p:cNvPr id="19" name="Text 17"/>
          <p:cNvSpPr/>
          <p:nvPr/>
        </p:nvSpPr>
        <p:spPr>
          <a:xfrm>
            <a:off x="676656" y="64739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285"/>
                </a:solidFill>
              </a:rPr>
              <a:t>AgentWonder • Phase 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09960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F7285"/>
                </a:solidFill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11064240" cy="0"/>
          </a:xfrm>
          <a:prstGeom prst="line">
            <a:avLst/>
          </a:prstGeom>
          <a:noFill/>
          <a:ln w="12700">
            <a:solidFill>
              <a:srgbClr val="D7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D7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164592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stack for v1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76656" y="58521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5F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ADK handles orchestration; YAML and Pydantic keep configuration governed and testable.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10515600" y="210312"/>
            <a:ext cx="1051560" cy="100584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13232" y="1234440"/>
            <a:ext cx="3401568" cy="3611880"/>
          </a:xfrm>
          <a:prstGeom prst="roundRect">
            <a:avLst>
              <a:gd name="adj" fmla="val 2151"/>
            </a:avLst>
          </a:prstGeom>
          <a:solidFill>
            <a:srgbClr val="FBFCFF"/>
          </a:solidFill>
          <a:ln w="12700">
            <a:solidFill>
              <a:srgbClr val="D7DF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77824" y="1344168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YAML authoring layer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77824" y="1673352"/>
            <a:ext cx="3072384" cy="3081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03040"/>
                </a:solidFill>
              </a:rPr>
              <a:t>External configuration lives in config/ so teams can define workflows, tools, prompts, policies, and templates without building a UI first.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407408" y="1234440"/>
            <a:ext cx="3401568" cy="3611880"/>
          </a:xfrm>
          <a:prstGeom prst="roundRect">
            <a:avLst>
              <a:gd name="adj" fmla="val 2151"/>
            </a:avLst>
          </a:prstGeom>
          <a:solidFill>
            <a:srgbClr val="FBFCFF"/>
          </a:solidFill>
          <a:ln w="12700">
            <a:solidFill>
              <a:srgbClr val="D7DF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0" y="1344168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Pydantic contract layer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1673352"/>
            <a:ext cx="3072384" cy="3081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03040"/>
                </a:solidFill>
              </a:rPr>
              <a:t>Every YAML file maps to a typed model. Validation, defaults, normalization, and cross-reference checks happen before runtime execution.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01584" y="1234440"/>
            <a:ext cx="3401568" cy="3611880"/>
          </a:xfrm>
          <a:prstGeom prst="roundRect">
            <a:avLst>
              <a:gd name="adj" fmla="val 2151"/>
            </a:avLst>
          </a:prstGeom>
          <a:solidFill>
            <a:srgbClr val="FBFCFF"/>
          </a:solidFill>
          <a:ln w="12700">
            <a:solidFill>
              <a:srgbClr val="D7DF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66176" y="1344168"/>
            <a:ext cx="3072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Google ADK runtime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66176" y="1673352"/>
            <a:ext cx="3072384" cy="3081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03040"/>
                </a:solidFill>
              </a:rPr>
              <a:t>ADK workflow agents provide predictable orchestration for sequential, loop, and parallel patterns, while allowing LLM-powered steps where needed.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142232" y="2971800"/>
            <a:ext cx="201168" cy="0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836408" y="2971800"/>
            <a:ext cx="201168" cy="0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68096" y="51206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F7285"/>
                </a:solidFill>
              </a:rPr>
              <a:t>Core rule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13232" y="5349240"/>
            <a:ext cx="10789920" cy="640080"/>
          </a:xfrm>
          <a:prstGeom prst="roundRect">
            <a:avLst>
              <a:gd name="adj" fmla="val 8571"/>
            </a:avLst>
          </a:prstGeom>
          <a:solidFill>
            <a:srgbClr val="F3F7FC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4400" y="5532120"/>
            <a:ext cx="10149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</a:rPr>
              <a:t>Never execute raw YAML directly. Convert YAML → Pydantic models → canonical config → ADK runtime objects.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76656" y="64739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285"/>
                </a:solidFill>
              </a:rPr>
              <a:t>AgentWonder • Phase 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09960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F7285"/>
                </a:solidFill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11064240" cy="0"/>
          </a:xfrm>
          <a:prstGeom prst="line">
            <a:avLst/>
          </a:prstGeom>
          <a:noFill/>
          <a:ln w="12700">
            <a:solidFill>
              <a:srgbClr val="D7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D7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164592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Architecture overview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76656" y="58521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5F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Simple, layered, and explainable.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10515600" y="210312"/>
            <a:ext cx="1051560" cy="100584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423160" y="1874520"/>
            <a:ext cx="914400" cy="0"/>
          </a:xfrm>
          <a:prstGeom prst="line">
            <a:avLst/>
          </a:prstGeom>
          <a:noFill/>
          <a:ln w="19050">
            <a:solidFill>
              <a:srgbClr val="2D6CD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29200" y="1874520"/>
            <a:ext cx="914400" cy="0"/>
          </a:xfrm>
          <a:prstGeom prst="line">
            <a:avLst/>
          </a:prstGeom>
          <a:noFill/>
          <a:ln w="19050">
            <a:solidFill>
              <a:srgbClr val="2D6CD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7635240" y="1874520"/>
            <a:ext cx="914400" cy="0"/>
          </a:xfrm>
          <a:prstGeom prst="line">
            <a:avLst/>
          </a:prstGeom>
          <a:noFill/>
          <a:ln w="19050">
            <a:solidFill>
              <a:srgbClr val="2D6CD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132320" y="3611880"/>
            <a:ext cx="0" cy="960120"/>
          </a:xfrm>
          <a:prstGeom prst="line">
            <a:avLst/>
          </a:prstGeom>
          <a:noFill/>
          <a:ln w="19050">
            <a:solidFill>
              <a:srgbClr val="E67E2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092440" y="3611880"/>
            <a:ext cx="0" cy="960120"/>
          </a:xfrm>
          <a:prstGeom prst="line">
            <a:avLst/>
          </a:prstGeom>
          <a:noFill/>
          <a:ln w="19050">
            <a:solidFill>
              <a:srgbClr val="2E8B5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966960" y="2788920"/>
            <a:ext cx="0" cy="1783080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13232" y="1234440"/>
            <a:ext cx="1600200" cy="1261872"/>
          </a:xfrm>
          <a:prstGeom prst="roundRect">
            <a:avLst>
              <a:gd name="adj" fmla="val 5797"/>
            </a:avLst>
          </a:prstGeom>
          <a:solidFill>
            <a:srgbClr val="FBFCFF"/>
          </a:solidFill>
          <a:ln w="12700">
            <a:solidFill>
              <a:srgbClr val="D7DF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77824" y="1344168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</a:rPr>
              <a:t>config/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77824" y="1673352"/>
            <a:ext cx="127101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203040"/>
                </a:solidFill>
              </a:rPr>
              <a:t>Templates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203040"/>
                </a:solidFill>
              </a:rPr>
              <a:t>Workflows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203040"/>
                </a:solidFill>
              </a:rPr>
              <a:t>Tools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203040"/>
                </a:solidFill>
              </a:rPr>
              <a:t>Policies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203040"/>
                </a:solidFill>
              </a:rPr>
              <a:t>Prompts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2834640" y="1234440"/>
            <a:ext cx="1783080" cy="1261872"/>
          </a:xfrm>
          <a:prstGeom prst="roundRect">
            <a:avLst>
              <a:gd name="adj" fmla="val 5797"/>
            </a:avLst>
          </a:prstGeom>
          <a:solidFill>
            <a:srgbClr val="FBFCFF"/>
          </a:solidFill>
          <a:ln w="12700">
            <a:solidFill>
              <a:srgbClr val="D7DF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999232" y="1344168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</a:rPr>
              <a:t>compiler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999232" y="1673352"/>
            <a:ext cx="1453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203040"/>
                </a:solidFill>
              </a:rPr>
              <a:t>Load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203040"/>
                </a:solidFill>
              </a:rPr>
              <a:t>Validate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203040"/>
                </a:solidFill>
              </a:rPr>
              <a:t>Resolve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203040"/>
                </a:solidFill>
              </a:rPr>
              <a:t>Build plan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5394960" y="1234440"/>
            <a:ext cx="1783080" cy="1261872"/>
          </a:xfrm>
          <a:prstGeom prst="roundRect">
            <a:avLst>
              <a:gd name="adj" fmla="val 5797"/>
            </a:avLst>
          </a:prstGeom>
          <a:solidFill>
            <a:srgbClr val="FBFCFF"/>
          </a:solidFill>
          <a:ln w="12700">
            <a:solidFill>
              <a:srgbClr val="D7DF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559552" y="1344168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</a:rPr>
              <a:t>runtime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59552" y="1673352"/>
            <a:ext cx="1453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203040"/>
                </a:solidFill>
              </a:rPr>
              <a:t>Execute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203040"/>
                </a:solidFill>
              </a:rPr>
              <a:t>Session/state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203040"/>
                </a:solidFill>
              </a:rPr>
              <a:t>Model route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7955280" y="1234440"/>
            <a:ext cx="1783080" cy="1261872"/>
          </a:xfrm>
          <a:prstGeom prst="roundRect">
            <a:avLst>
              <a:gd name="adj" fmla="val 5797"/>
            </a:avLst>
          </a:prstGeom>
          <a:solidFill>
            <a:srgbClr val="FBFCFF"/>
          </a:solidFill>
          <a:ln w="12700">
            <a:solidFill>
              <a:srgbClr val="D7DF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119872" y="1344168"/>
            <a:ext cx="1453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</a:rPr>
              <a:t>interfaces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119872" y="1673352"/>
            <a:ext cx="1453896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203040"/>
                </a:solidFill>
              </a:rPr>
              <a:t>API routes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203040"/>
                </a:solidFill>
              </a:rPr>
              <a:t>CLI hooks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203040"/>
                </a:solidFill>
              </a:rPr>
              <a:t>Run endpoints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6400800" y="4617720"/>
            <a:ext cx="1508760" cy="1051560"/>
          </a:xfrm>
          <a:prstGeom prst="roundRect">
            <a:avLst>
              <a:gd name="adj" fmla="val 6957"/>
            </a:avLst>
          </a:prstGeom>
          <a:solidFill>
            <a:srgbClr val="FFF7EF"/>
          </a:solidFill>
          <a:ln w="12700">
            <a:solidFill>
              <a:srgbClr val="E8C28E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65392" y="4727448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approvals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65392" y="5056632"/>
            <a:ext cx="117957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03040"/>
                </a:solidFill>
              </a:rPr>
              <a:t>Pause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03040"/>
                </a:solidFill>
              </a:rPr>
              <a:t>Resume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03040"/>
                </a:solidFill>
              </a:rPr>
              <a:t>Decision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955280" y="4617720"/>
            <a:ext cx="1508760" cy="1051560"/>
          </a:xfrm>
          <a:prstGeom prst="roundRect">
            <a:avLst>
              <a:gd name="adj" fmla="val 6957"/>
            </a:avLst>
          </a:prstGeom>
          <a:solidFill>
            <a:srgbClr val="F3FBF6"/>
          </a:solidFill>
          <a:ln w="12700">
            <a:solidFill>
              <a:srgbClr val="B9D7C2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119872" y="4727448"/>
            <a:ext cx="117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tools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119872" y="5056632"/>
            <a:ext cx="1179576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03040"/>
                </a:solidFill>
              </a:rPr>
              <a:t>REST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03040"/>
                </a:solidFill>
              </a:rPr>
              <a:t>OpenAPI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555480" y="4617720"/>
            <a:ext cx="1801368" cy="1051560"/>
          </a:xfrm>
          <a:prstGeom prst="roundRect">
            <a:avLst>
              <a:gd name="adj" fmla="val 6957"/>
            </a:avLst>
          </a:prstGeom>
          <a:solidFill>
            <a:srgbClr val="F2FBFB"/>
          </a:solidFill>
          <a:ln w="12700">
            <a:solidFill>
              <a:srgbClr val="BFE3E4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720072" y="4727448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observability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720072" y="5056632"/>
            <a:ext cx="1472184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03040"/>
                </a:solidFill>
              </a:rPr>
              <a:t>Traces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03040"/>
                </a:solidFill>
              </a:rPr>
              <a:t>Events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03040"/>
                </a:solidFill>
              </a:rPr>
              <a:t>Evals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31520" y="288036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F7285"/>
                </a:solidFill>
              </a:rPr>
              <a:t>Execution backbone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13232" y="3108960"/>
            <a:ext cx="10853928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32688" y="3410712"/>
            <a:ext cx="10241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17324D"/>
                </a:solidFill>
              </a:rPr>
              <a:t>YAML source → typed validation → runtime plan → execution → external action + governance + traceability</a:t>
            </a:r>
            <a:endParaRPr lang="en-US" sz="1520" dirty="0"/>
          </a:p>
        </p:txBody>
      </p:sp>
      <p:sp>
        <p:nvSpPr>
          <p:cNvPr id="38" name="Text 36"/>
          <p:cNvSpPr/>
          <p:nvPr/>
        </p:nvSpPr>
        <p:spPr>
          <a:xfrm>
            <a:off x="676656" y="64739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285"/>
                </a:solidFill>
              </a:rPr>
              <a:t>AgentWonder • Phase 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109960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F7285"/>
                </a:solidFill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11064240" cy="0"/>
          </a:xfrm>
          <a:prstGeom prst="line">
            <a:avLst/>
          </a:prstGeom>
          <a:noFill/>
          <a:ln w="12700">
            <a:solidFill>
              <a:srgbClr val="D7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D7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164592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Config → runtime lifecycle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76656" y="58521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5F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key design choice is a typed boundary at the edge of the system.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10515600" y="210312"/>
            <a:ext cx="1051560" cy="100584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14600" y="2057400"/>
            <a:ext cx="777240" cy="0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2057400"/>
            <a:ext cx="777240" cy="0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903720" y="2057400"/>
            <a:ext cx="777240" cy="0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9098280" y="2057400"/>
            <a:ext cx="777240" cy="0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13232" y="146304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77824" y="1572768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</a:rPr>
              <a:t>1. Load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77824" y="1901952"/>
            <a:ext cx="127101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30" dirty="0">
                <a:solidFill>
                  <a:srgbClr val="203040"/>
                </a:solidFill>
              </a:rPr>
              <a:t>Read YAML from config/</a:t>
            </a:r>
            <a:endParaRPr lang="en-US" sz="1230" dirty="0"/>
          </a:p>
        </p:txBody>
      </p:sp>
      <p:sp>
        <p:nvSpPr>
          <p:cNvPr id="15" name="Shape 13"/>
          <p:cNvSpPr/>
          <p:nvPr/>
        </p:nvSpPr>
        <p:spPr>
          <a:xfrm>
            <a:off x="2926080" y="146304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090672" y="1572768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</a:rPr>
              <a:t>2. Parse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090672" y="1901952"/>
            <a:ext cx="127101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30" dirty="0">
                <a:solidFill>
                  <a:srgbClr val="203040"/>
                </a:solidFill>
              </a:rPr>
              <a:t>Convert to Pydantic models</a:t>
            </a:r>
            <a:endParaRPr lang="en-US" sz="1230" dirty="0"/>
          </a:p>
        </p:txBody>
      </p:sp>
      <p:sp>
        <p:nvSpPr>
          <p:cNvPr id="18" name="Shape 16"/>
          <p:cNvSpPr/>
          <p:nvPr/>
        </p:nvSpPr>
        <p:spPr>
          <a:xfrm>
            <a:off x="5120640" y="146304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285232" y="1572768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</a:rPr>
              <a:t>3. Validate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285232" y="1901952"/>
            <a:ext cx="127101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30" dirty="0">
                <a:solidFill>
                  <a:srgbClr val="203040"/>
                </a:solidFill>
              </a:rPr>
              <a:t>Cross-check refs and template rules</a:t>
            </a:r>
            <a:endParaRPr lang="en-US" sz="1230" dirty="0"/>
          </a:p>
        </p:txBody>
      </p:sp>
      <p:sp>
        <p:nvSpPr>
          <p:cNvPr id="21" name="Shape 19"/>
          <p:cNvSpPr/>
          <p:nvPr/>
        </p:nvSpPr>
        <p:spPr>
          <a:xfrm>
            <a:off x="7315200" y="146304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479792" y="1572768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</a:rPr>
              <a:t>4. Build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479792" y="1901952"/>
            <a:ext cx="127101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30" dirty="0">
                <a:solidFill>
                  <a:srgbClr val="203040"/>
                </a:solidFill>
              </a:rPr>
              <a:t>Create canonical RuntimePlan</a:t>
            </a:r>
            <a:endParaRPr lang="en-US" sz="1230" dirty="0"/>
          </a:p>
        </p:txBody>
      </p:sp>
      <p:sp>
        <p:nvSpPr>
          <p:cNvPr id="24" name="Shape 22"/>
          <p:cNvSpPr/>
          <p:nvPr/>
        </p:nvSpPr>
        <p:spPr>
          <a:xfrm>
            <a:off x="9509760" y="1463040"/>
            <a:ext cx="16002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674352" y="1572768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324D"/>
                </a:solidFill>
              </a:rPr>
              <a:t>5. Execute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674352" y="1901952"/>
            <a:ext cx="127101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30" dirty="0">
                <a:solidFill>
                  <a:srgbClr val="203040"/>
                </a:solidFill>
              </a:rPr>
              <a:t>Run with approvals and traces</a:t>
            </a:r>
            <a:endParaRPr lang="en-US" sz="1230" dirty="0"/>
          </a:p>
        </p:txBody>
      </p:sp>
      <p:sp>
        <p:nvSpPr>
          <p:cNvPr id="27" name="Text 25"/>
          <p:cNvSpPr/>
          <p:nvPr/>
        </p:nvSpPr>
        <p:spPr>
          <a:xfrm>
            <a:off x="749808" y="365760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Ownership model in config/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49808" y="3950208"/>
            <a:ext cx="10607040" cy="0"/>
          </a:xfrm>
          <a:prstGeom prst="line">
            <a:avLst/>
          </a:prstGeom>
          <a:noFill/>
          <a:ln w="12700">
            <a:solidFill>
              <a:srgbClr val="D7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49808" y="4206240"/>
            <a:ext cx="2011680" cy="1170432"/>
          </a:xfrm>
          <a:prstGeom prst="roundRect">
            <a:avLst>
              <a:gd name="adj" fmla="val 6250"/>
            </a:avLst>
          </a:prstGeom>
          <a:solidFill>
            <a:srgbClr val="FBFCFF"/>
          </a:solidFill>
          <a:ln w="12700">
            <a:solidFill>
              <a:srgbClr val="D7DF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14400" y="4315968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</a:rPr>
              <a:t>templates/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14400" y="4645152"/>
            <a:ext cx="168249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203040"/>
                </a:solidFill>
              </a:rPr>
              <a:t>Platform-owned approved constraints</a:t>
            </a:r>
            <a:endParaRPr lang="en-US" sz="1180" dirty="0"/>
          </a:p>
        </p:txBody>
      </p:sp>
      <p:sp>
        <p:nvSpPr>
          <p:cNvPr id="32" name="Shape 30"/>
          <p:cNvSpPr/>
          <p:nvPr/>
        </p:nvSpPr>
        <p:spPr>
          <a:xfrm>
            <a:off x="2944368" y="4206240"/>
            <a:ext cx="2011680" cy="1170432"/>
          </a:xfrm>
          <a:prstGeom prst="roundRect">
            <a:avLst>
              <a:gd name="adj" fmla="val 6250"/>
            </a:avLst>
          </a:prstGeom>
          <a:solidFill>
            <a:srgbClr val="FBFCFF"/>
          </a:solidFill>
          <a:ln w="12700">
            <a:solidFill>
              <a:srgbClr val="D7DF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108960" y="4315968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</a:rPr>
              <a:t>tools/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108960" y="4645152"/>
            <a:ext cx="168249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203040"/>
                </a:solidFill>
              </a:rPr>
              <a:t>Platform + service team registry entries</a:t>
            </a:r>
            <a:endParaRPr lang="en-US" sz="1180" dirty="0"/>
          </a:p>
        </p:txBody>
      </p:sp>
      <p:sp>
        <p:nvSpPr>
          <p:cNvPr id="35" name="Shape 33"/>
          <p:cNvSpPr/>
          <p:nvPr/>
        </p:nvSpPr>
        <p:spPr>
          <a:xfrm>
            <a:off x="5138928" y="4206240"/>
            <a:ext cx="2011680" cy="1170432"/>
          </a:xfrm>
          <a:prstGeom prst="roundRect">
            <a:avLst>
              <a:gd name="adj" fmla="val 6250"/>
            </a:avLst>
          </a:prstGeom>
          <a:solidFill>
            <a:srgbClr val="FBFCFF"/>
          </a:solidFill>
          <a:ln w="12700">
            <a:solidFill>
              <a:srgbClr val="D7DF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303520" y="4315968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</a:rPr>
              <a:t>workflows/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303520" y="4645152"/>
            <a:ext cx="168249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203040"/>
                </a:solidFill>
              </a:rPr>
              <a:t>Application team YAML definitions</a:t>
            </a:r>
            <a:endParaRPr lang="en-US" sz="1180" dirty="0"/>
          </a:p>
        </p:txBody>
      </p:sp>
      <p:sp>
        <p:nvSpPr>
          <p:cNvPr id="38" name="Shape 36"/>
          <p:cNvSpPr/>
          <p:nvPr/>
        </p:nvSpPr>
        <p:spPr>
          <a:xfrm>
            <a:off x="7333488" y="4206240"/>
            <a:ext cx="2011680" cy="1170432"/>
          </a:xfrm>
          <a:prstGeom prst="roundRect">
            <a:avLst>
              <a:gd name="adj" fmla="val 6250"/>
            </a:avLst>
          </a:prstGeom>
          <a:solidFill>
            <a:srgbClr val="FBFCFF"/>
          </a:solidFill>
          <a:ln w="12700">
            <a:solidFill>
              <a:srgbClr val="D7DF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498080" y="4315968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</a:rPr>
              <a:t>policies/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498080" y="4645152"/>
            <a:ext cx="168249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203040"/>
                </a:solidFill>
              </a:rPr>
              <a:t>Governance and approval rules</a:t>
            </a:r>
            <a:endParaRPr lang="en-US" sz="1180" dirty="0"/>
          </a:p>
        </p:txBody>
      </p:sp>
      <p:sp>
        <p:nvSpPr>
          <p:cNvPr id="41" name="Shape 39"/>
          <p:cNvSpPr/>
          <p:nvPr/>
        </p:nvSpPr>
        <p:spPr>
          <a:xfrm>
            <a:off x="9528048" y="4206240"/>
            <a:ext cx="2011680" cy="1170432"/>
          </a:xfrm>
          <a:prstGeom prst="roundRect">
            <a:avLst>
              <a:gd name="adj" fmla="val 6250"/>
            </a:avLst>
          </a:prstGeom>
          <a:solidFill>
            <a:srgbClr val="FBFCFF"/>
          </a:solidFill>
          <a:ln w="12700">
            <a:solidFill>
              <a:srgbClr val="D7DF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9692640" y="4315968"/>
            <a:ext cx="1682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24D"/>
                </a:solidFill>
              </a:rPr>
              <a:t>prompts/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9692640" y="4645152"/>
            <a:ext cx="1682496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180" dirty="0">
                <a:solidFill>
                  <a:srgbClr val="203040"/>
                </a:solidFill>
              </a:rPr>
              <a:t>Versioned instructions for traceability</a:t>
            </a:r>
            <a:endParaRPr lang="en-US" sz="1180" dirty="0"/>
          </a:p>
        </p:txBody>
      </p:sp>
      <p:sp>
        <p:nvSpPr>
          <p:cNvPr id="44" name="Shape 42"/>
          <p:cNvSpPr/>
          <p:nvPr/>
        </p:nvSpPr>
        <p:spPr>
          <a:xfrm>
            <a:off x="749808" y="5650992"/>
            <a:ext cx="10789920" cy="502920"/>
          </a:xfrm>
          <a:prstGeom prst="roundRect">
            <a:avLst>
              <a:gd name="adj" fmla="val 9091"/>
            </a:avLst>
          </a:prstGeom>
          <a:solidFill>
            <a:srgbClr val="FFF5F5"/>
          </a:solidFill>
          <a:ln w="12700">
            <a:solidFill>
              <a:srgbClr val="D645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1005840" y="5806440"/>
            <a:ext cx="10149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D64545"/>
                </a:solidFill>
              </a:rPr>
              <a:t>Guardrail: the compiler should never work on raw dictionaries after the Pydantic stage.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676656" y="64739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285"/>
                </a:solidFill>
              </a:rPr>
              <a:t>AgentWonder • Phase 1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109960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F7285"/>
                </a:solidFill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11064240" cy="0"/>
          </a:xfrm>
          <a:prstGeom prst="line">
            <a:avLst/>
          </a:prstGeom>
          <a:noFill/>
          <a:ln w="12700">
            <a:solidFill>
              <a:srgbClr val="D7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D7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164592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Repository structure </a:t>
            </a:r>
            <a:r>
              <a:rPr lang="en-US" sz="2600" b="1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(tentative) </a:t>
            </a: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 Phase 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76656" y="58521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5F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layout, clear module boundaries, and a matching_engine-style top-level organization.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10515600" y="210312"/>
            <a:ext cx="1051560" cy="100584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49808" y="1143000"/>
            <a:ext cx="4983480" cy="5303520"/>
          </a:xfrm>
          <a:prstGeom prst="roundRect">
            <a:avLst>
              <a:gd name="adj" fmla="val 1284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60120" y="135331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Top-level layout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50976" y="1700784"/>
            <a:ext cx="429768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203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AgentWonder/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203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config/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203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templates/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203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workflows/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203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tools/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203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policies/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203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prompts/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203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agentwonder/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203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schemas/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203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compiler/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203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runtime/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203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registry/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203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tools/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203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observability/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203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api/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203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main.py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203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notebooks/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203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tests/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203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README_v1.md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203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pyproject.toml</a:t>
            </a:r>
            <a:endParaRPr lang="en-US" sz="1320" dirty="0"/>
          </a:p>
        </p:txBody>
      </p:sp>
      <p:sp>
        <p:nvSpPr>
          <p:cNvPr id="11" name="Shape 9"/>
          <p:cNvSpPr/>
          <p:nvPr/>
        </p:nvSpPr>
        <p:spPr>
          <a:xfrm>
            <a:off x="6053328" y="1143000"/>
            <a:ext cx="5349240" cy="5303520"/>
          </a:xfrm>
          <a:prstGeom prst="roundRect">
            <a:avLst>
              <a:gd name="adj" fmla="val 1207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72784" y="135331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What each module does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272784" y="1783080"/>
            <a:ext cx="4526280" cy="39776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77800" indent="-177800">
              <a:buSzPct val="100000"/>
              <a:buChar char="•"/>
            </a:pPr>
            <a:r>
              <a:rPr lang="en-US" sz="1340" dirty="0">
                <a:solidFill>
                  <a:srgbClr val="203040"/>
                </a:solidFill>
              </a:rPr>
              <a:t>schemas/ — typed contracts</a:t>
            </a:r>
            <a:endParaRPr lang="en-US" sz="1340" dirty="0"/>
          </a:p>
          <a:p>
            <a:pPr marL="177800" indent="-177800">
              <a:buSzPct val="100000"/>
              <a:buChar char="•"/>
            </a:pPr>
            <a:r>
              <a:rPr lang="en-US" sz="1340" dirty="0">
                <a:solidFill>
                  <a:srgbClr val="203040"/>
                </a:solidFill>
              </a:rPr>
              <a:t>compiler/ — load, validate, resolve, build plan</a:t>
            </a:r>
            <a:endParaRPr lang="en-US" sz="1340" dirty="0"/>
          </a:p>
          <a:p>
            <a:pPr marL="177800" indent="-177800">
              <a:buSzPct val="100000"/>
              <a:buChar char="•"/>
            </a:pPr>
            <a:r>
              <a:rPr lang="en-US" sz="1340" dirty="0">
                <a:solidFill>
                  <a:srgbClr val="203040"/>
                </a:solidFill>
              </a:rPr>
              <a:t>runtime/ — execute runs, handle approvals, manage state</a:t>
            </a:r>
            <a:endParaRPr lang="en-US" sz="1340" dirty="0"/>
          </a:p>
          <a:p>
            <a:pPr marL="177800" indent="-177800">
              <a:buSzPct val="100000"/>
              <a:buChar char="•"/>
            </a:pPr>
            <a:r>
              <a:rPr lang="en-US" sz="1340" dirty="0">
                <a:solidFill>
                  <a:srgbClr val="203040"/>
                </a:solidFill>
              </a:rPr>
              <a:t>registry/ — load approved templates, tools, prompts, policies</a:t>
            </a:r>
            <a:endParaRPr lang="en-US" sz="1340" dirty="0"/>
          </a:p>
          <a:p>
            <a:pPr marL="177800" indent="-177800">
              <a:buSzPct val="100000"/>
              <a:buChar char="•"/>
            </a:pPr>
            <a:r>
              <a:rPr lang="en-US" sz="1340" dirty="0">
                <a:solidFill>
                  <a:srgbClr val="203040"/>
                </a:solidFill>
              </a:rPr>
              <a:t>tools/ — REST / OpenAPI adapters</a:t>
            </a:r>
            <a:endParaRPr lang="en-US" sz="1340" dirty="0"/>
          </a:p>
          <a:p>
            <a:pPr marL="177800" indent="-177800">
              <a:buSzPct val="100000"/>
              <a:buChar char="•"/>
            </a:pPr>
            <a:r>
              <a:rPr lang="en-US" sz="1340" dirty="0">
                <a:solidFill>
                  <a:srgbClr val="203040"/>
                </a:solidFill>
              </a:rPr>
              <a:t>observability/ — traces, events, eval hooks</a:t>
            </a:r>
            <a:endParaRPr lang="en-US" sz="1340" dirty="0"/>
          </a:p>
          <a:p>
            <a:pPr marL="177800" indent="-177800">
              <a:buSzPct val="100000"/>
              <a:buChar char="•"/>
            </a:pPr>
            <a:r>
              <a:rPr lang="en-US" sz="1340" dirty="0">
                <a:solidFill>
                  <a:srgbClr val="203040"/>
                </a:solidFill>
              </a:rPr>
              <a:t>api/ — FastAPI routes for health, tools, templates, runs</a:t>
            </a:r>
            <a:endParaRPr lang="en-US" sz="1340" dirty="0"/>
          </a:p>
          <a:p>
            <a:pPr marL="177800" indent="-177800">
              <a:buSzPct val="100000"/>
              <a:buChar char="•"/>
            </a:pPr>
            <a:r>
              <a:rPr lang="en-US" sz="1340" dirty="0">
                <a:solidFill>
                  <a:srgbClr val="203040"/>
                </a:solidFill>
              </a:rPr>
              <a:t>notebooks/ — end-to-end execution test</a:t>
            </a:r>
            <a:endParaRPr lang="en-US" sz="1340" dirty="0"/>
          </a:p>
        </p:txBody>
      </p:sp>
      <p:sp>
        <p:nvSpPr>
          <p:cNvPr id="14" name="Text 12"/>
          <p:cNvSpPr/>
          <p:nvPr/>
        </p:nvSpPr>
        <p:spPr>
          <a:xfrm>
            <a:off x="676656" y="64739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285"/>
                </a:solidFill>
              </a:rPr>
              <a:t>AgentWonder • Phase 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109960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F7285"/>
                </a:solidFill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11064240" cy="0"/>
          </a:xfrm>
          <a:prstGeom prst="line">
            <a:avLst/>
          </a:prstGeom>
          <a:noFill/>
          <a:ln w="12700">
            <a:solidFill>
              <a:srgbClr val="D7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D7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164592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Concrete workflow example in the repo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76656" y="58521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5F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current sample workflow is break_resolution_v1 using sequential_with_approval.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10515600" y="210312"/>
            <a:ext cx="1051560" cy="100584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578608" y="2286000"/>
            <a:ext cx="914400" cy="0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45152" y="2286000"/>
            <a:ext cx="914400" cy="0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711696" y="2286000"/>
            <a:ext cx="914400" cy="0"/>
          </a:xfrm>
          <a:prstGeom prst="line">
            <a:avLst/>
          </a:prstGeom>
          <a:noFill/>
          <a:ln w="19050">
            <a:solidFill>
              <a:srgbClr val="E67E2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778240" y="2286000"/>
            <a:ext cx="914400" cy="0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49808" y="1664208"/>
            <a:ext cx="1645920" cy="1417320"/>
          </a:xfrm>
          <a:prstGeom prst="roundRect">
            <a:avLst>
              <a:gd name="adj" fmla="val 5161"/>
            </a:avLst>
          </a:prstGeom>
          <a:solidFill>
            <a:srgbClr val="FBFCFF"/>
          </a:solidFill>
          <a:ln w="12700">
            <a:solidFill>
              <a:srgbClr val="D7DF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1773936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enrich_break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2103120"/>
            <a:ext cx="131673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203040"/>
                </a:solidFill>
              </a:rPr>
              <a:t>Tool call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203040"/>
                </a:solidFill>
              </a:rPr>
              <a:t>fetch_break_details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2816352" y="1664208"/>
            <a:ext cx="1645920" cy="1417320"/>
          </a:xfrm>
          <a:prstGeom prst="roundRect">
            <a:avLst>
              <a:gd name="adj" fmla="val 5161"/>
            </a:avLst>
          </a:prstGeom>
          <a:solidFill>
            <a:srgbClr val="FBFCFF"/>
          </a:solidFill>
          <a:ln w="12700">
            <a:solidFill>
              <a:srgbClr val="D7DF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980944" y="1773936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</a:rPr>
              <a:t>enrich_trade_context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980944" y="2103120"/>
            <a:ext cx="131673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203040"/>
                </a:solidFill>
              </a:rPr>
              <a:t>Tool call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203040"/>
                </a:solidFill>
              </a:rPr>
              <a:t>fetch_trade_context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4882896" y="1664208"/>
            <a:ext cx="1645920" cy="1417320"/>
          </a:xfrm>
          <a:prstGeom prst="roundRect">
            <a:avLst>
              <a:gd name="adj" fmla="val 5161"/>
            </a:avLst>
          </a:prstGeom>
          <a:solidFill>
            <a:srgbClr val="F2FBFB"/>
          </a:solidFill>
          <a:ln w="12700">
            <a:solidFill>
              <a:srgbClr val="BFE3E4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47488" y="1773936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</a:rPr>
              <a:t>propose_resolution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047488" y="2103120"/>
            <a:ext cx="131673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203040"/>
                </a:solidFill>
              </a:rPr>
              <a:t>LLM agent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203040"/>
                </a:solidFill>
              </a:rPr>
              <a:t>prompt_ref + tool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6949440" y="1664208"/>
            <a:ext cx="1645920" cy="1417320"/>
          </a:xfrm>
          <a:prstGeom prst="roundRect">
            <a:avLst>
              <a:gd name="adj" fmla="val 5161"/>
            </a:avLst>
          </a:prstGeom>
          <a:solidFill>
            <a:srgbClr val="FFF7EF"/>
          </a:solidFill>
          <a:ln w="12700">
            <a:solidFill>
              <a:srgbClr val="E8C28E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14032" y="1773936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</a:rPr>
              <a:t>checker_approval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14032" y="2103120"/>
            <a:ext cx="131673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203040"/>
                </a:solidFill>
              </a:rPr>
              <a:t>Approval step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203040"/>
                </a:solidFill>
              </a:rPr>
              <a:t>checker_signoff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9015984" y="1664208"/>
            <a:ext cx="1645920" cy="1417320"/>
          </a:xfrm>
          <a:prstGeom prst="roundRect">
            <a:avLst>
              <a:gd name="adj" fmla="val 5161"/>
            </a:avLst>
          </a:prstGeom>
          <a:solidFill>
            <a:srgbClr val="FBFCFF"/>
          </a:solidFill>
          <a:ln w="12700">
            <a:solidFill>
              <a:srgbClr val="D7DF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180576" y="1773936"/>
            <a:ext cx="1316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</a:rPr>
              <a:t>update_downstream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80576" y="2103120"/>
            <a:ext cx="131673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20" dirty="0">
                <a:solidFill>
                  <a:srgbClr val="203040"/>
                </a:solidFill>
              </a:rPr>
              <a:t>Tool call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203040"/>
                </a:solidFill>
              </a:rPr>
              <a:t>post_resolution_update</a:t>
            </a:r>
            <a:endParaRPr lang="en-US" sz="1220" dirty="0"/>
          </a:p>
        </p:txBody>
      </p:sp>
      <p:sp>
        <p:nvSpPr>
          <p:cNvPr id="27" name="Text 25"/>
          <p:cNvSpPr/>
          <p:nvPr/>
        </p:nvSpPr>
        <p:spPr>
          <a:xfrm>
            <a:off x="749808" y="39136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Workflow metadata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68096" y="4224528"/>
            <a:ext cx="4572000" cy="11887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77800" indent="-177800">
              <a:buSzPct val="100000"/>
              <a:buChar char="•"/>
            </a:pPr>
            <a:r>
              <a:rPr lang="en-US" sz="1360" dirty="0">
                <a:solidFill>
                  <a:srgbClr val="203040"/>
                </a:solidFill>
              </a:rPr>
              <a:t>Template: sequential_with_approval</a:t>
            </a:r>
            <a:endParaRPr lang="en-US" sz="1360" dirty="0"/>
          </a:p>
          <a:p>
            <a:pPr marL="177800" indent="-177800">
              <a:buSzPct val="100000"/>
              <a:buChar char="•"/>
            </a:pPr>
            <a:r>
              <a:rPr lang="en-US" sz="1360" dirty="0">
                <a:solidFill>
                  <a:srgbClr val="203040"/>
                </a:solidFill>
              </a:rPr>
              <a:t>Models: gemini-2.5-flash + gemini-2.5-pro (evaluator)</a:t>
            </a:r>
            <a:endParaRPr lang="en-US" sz="1360" dirty="0"/>
          </a:p>
          <a:p>
            <a:pPr marL="177800" indent="-177800">
              <a:buSzPct val="100000"/>
              <a:buChar char="•"/>
            </a:pPr>
            <a:r>
              <a:rPr lang="en-US" sz="1360" dirty="0">
                <a:solidFill>
                  <a:srgbClr val="203040"/>
                </a:solidFill>
              </a:rPr>
              <a:t>Tool refs: 4</a:t>
            </a:r>
            <a:endParaRPr lang="en-US" sz="1360" dirty="0"/>
          </a:p>
          <a:p>
            <a:pPr marL="177800" indent="-177800">
              <a:buSzPct val="100000"/>
              <a:buChar char="•"/>
            </a:pPr>
            <a:r>
              <a:rPr lang="en-US" sz="1360" dirty="0">
                <a:solidFill>
                  <a:srgbClr val="203040"/>
                </a:solidFill>
              </a:rPr>
              <a:t>Explicit approval before downstream update</a:t>
            </a:r>
            <a:endParaRPr lang="en-US" sz="1360" dirty="0"/>
          </a:p>
        </p:txBody>
      </p:sp>
      <p:sp>
        <p:nvSpPr>
          <p:cNvPr id="29" name="Shape 27"/>
          <p:cNvSpPr/>
          <p:nvPr/>
        </p:nvSpPr>
        <p:spPr>
          <a:xfrm>
            <a:off x="6309360" y="4069080"/>
            <a:ext cx="45720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583680" y="43159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324D"/>
                </a:solidFill>
              </a:rPr>
              <a:t>Why this matters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583680" y="459943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03040"/>
                </a:solidFill>
              </a:rPr>
              <a:t>The sample proves the full path: registry load, typed validation, plan build, approval gating, execution, and trace capture.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676656" y="64739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285"/>
                </a:solidFill>
              </a:rPr>
              <a:t>AgentWonder • Phase 1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09960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F7285"/>
                </a:solidFill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11064240" cy="0"/>
          </a:xfrm>
          <a:prstGeom prst="line">
            <a:avLst/>
          </a:prstGeom>
          <a:noFill/>
          <a:ln w="12700">
            <a:solidFill>
              <a:srgbClr val="D7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D7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164592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implementation proof points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76656" y="58521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5F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notebook already exercises the end-to-end path.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10515600" y="210312"/>
            <a:ext cx="1051560" cy="100584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" y="10972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324D"/>
                </a:solidFill>
              </a:rPr>
              <a:t>Sample implementation footprint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68096" y="160934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03040"/>
                </a:solidFill>
              </a:rPr>
              <a:t>Templates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40280" y="1572768"/>
            <a:ext cx="248194" cy="201168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833872" y="156362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7324D"/>
                </a:solidFill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68096" y="2121408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03040"/>
                </a:solidFill>
              </a:rPr>
              <a:t>Tools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40280" y="2084832"/>
            <a:ext cx="992777" cy="201168"/>
          </a:xfrm>
          <a:prstGeom prst="rect">
            <a:avLst/>
          </a:prstGeom>
          <a:solidFill>
            <a:srgbClr val="2D6CDF"/>
          </a:solidFill>
          <a:ln w="12700">
            <a:solidFill>
              <a:srgbClr val="2D6CD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833872" y="2075688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6CDF"/>
                </a:solidFill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8096" y="263347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03040"/>
                </a:solidFill>
              </a:rPr>
              <a:t>Prompts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40280" y="2596896"/>
            <a:ext cx="248194" cy="201168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833872" y="258775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8B8D"/>
                </a:solidFill>
              </a:rPr>
              <a:t>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68096" y="3145536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03040"/>
                </a:solidFill>
              </a:rPr>
              <a:t>Policies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40280" y="3108960"/>
            <a:ext cx="248194" cy="2011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833872" y="3099816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67E22"/>
                </a:solidFill>
              </a:rPr>
              <a:t>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8096" y="365760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03040"/>
                </a:solidFill>
              </a:rPr>
              <a:t>Workflow steps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240280" y="3621024"/>
            <a:ext cx="1240971" cy="201168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833872" y="361188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B57"/>
                </a:solidFill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68096" y="416966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203040"/>
                </a:solidFill>
              </a:rPr>
              <a:t>Trace events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240280" y="4133088"/>
            <a:ext cx="3474720" cy="201168"/>
          </a:xfrm>
          <a:prstGeom prst="rect">
            <a:avLst/>
          </a:prstGeom>
          <a:solidFill>
            <a:srgbClr val="D64545"/>
          </a:solidFill>
          <a:ln w="12700">
            <a:solidFill>
              <a:srgbClr val="D6454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833872" y="412394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4545"/>
                </a:solidFill>
              </a:rPr>
              <a:t>14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49808" y="4800600"/>
            <a:ext cx="5486400" cy="0"/>
          </a:xfrm>
          <a:prstGeom prst="line">
            <a:avLst/>
          </a:prstGeom>
          <a:noFill/>
          <a:ln w="12700">
            <a:solidFill>
              <a:srgbClr val="D7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49808" y="49834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324D"/>
                </a:solidFill>
              </a:rPr>
              <a:t>Observed execution result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768096" y="5321808"/>
            <a:ext cx="54864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40" dirty="0">
                <a:solidFill>
                  <a:srgbClr val="203040"/>
                </a:solidFill>
              </a:rPr>
              <a:t>Run completed successfully in the notebook test, with step outputs captured for tool calls, LLM step, approval, and downstream update.</a:t>
            </a:r>
            <a:endParaRPr lang="en-US" sz="1340" dirty="0"/>
          </a:p>
        </p:txBody>
      </p:sp>
      <p:sp>
        <p:nvSpPr>
          <p:cNvPr id="30" name="Shape 28"/>
          <p:cNvSpPr/>
          <p:nvPr/>
        </p:nvSpPr>
        <p:spPr>
          <a:xfrm>
            <a:off x="6766560" y="1170432"/>
            <a:ext cx="45720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931152" y="1280160"/>
            <a:ext cx="4242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Notebook path already proven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931152" y="1609344"/>
            <a:ext cx="4242816" cy="3995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022592" y="1645920"/>
            <a:ext cx="388620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203040"/>
                </a:solidFill>
              </a:rPr>
              <a:t>Load registries from config/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203040"/>
                </a:solidFill>
              </a:rPr>
              <a:t>Validate workflow YAML into Pydantic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203040"/>
                </a:solidFill>
              </a:rPr>
              <a:t>Cross-validate references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203040"/>
                </a:solidFill>
              </a:rPr>
              <a:t>Resolve refs and build RuntimePlan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203040"/>
                </a:solidFill>
              </a:rPr>
              <a:t>Execute workflow via async executor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203040"/>
                </a:solidFill>
              </a:rPr>
              <a:t>Inspect step outputs and trace events</a:t>
            </a:r>
            <a:endParaRPr lang="en-US" sz="1370" dirty="0"/>
          </a:p>
        </p:txBody>
      </p:sp>
      <p:sp>
        <p:nvSpPr>
          <p:cNvPr id="34" name="Shape 32"/>
          <p:cNvSpPr/>
          <p:nvPr/>
        </p:nvSpPr>
        <p:spPr>
          <a:xfrm>
            <a:off x="7022592" y="4023360"/>
            <a:ext cx="3657600" cy="868680"/>
          </a:xfrm>
          <a:prstGeom prst="roundRect">
            <a:avLst>
              <a:gd name="adj" fmla="val 5263"/>
            </a:avLst>
          </a:prstGeom>
          <a:solidFill>
            <a:srgbClr val="F2FBFB"/>
          </a:solidFill>
          <a:ln w="1270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269480" y="423367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0F8B8D"/>
                </a:solidFill>
              </a:rPr>
              <a:t>Bottom line</a:t>
            </a:r>
            <a:endParaRPr lang="en-US" sz="1380" dirty="0"/>
          </a:p>
        </p:txBody>
      </p:sp>
      <p:sp>
        <p:nvSpPr>
          <p:cNvPr id="36" name="Text 34"/>
          <p:cNvSpPr/>
          <p:nvPr/>
        </p:nvSpPr>
        <p:spPr>
          <a:xfrm>
            <a:off x="7269480" y="4498848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80" dirty="0">
                <a:solidFill>
                  <a:srgbClr val="203040"/>
                </a:solidFill>
              </a:rPr>
              <a:t>Phase 1 is not just documents; there is already executable code and a demonstrable test path.</a:t>
            </a:r>
            <a:endParaRPr lang="en-US" sz="1280" dirty="0"/>
          </a:p>
        </p:txBody>
      </p:sp>
      <p:sp>
        <p:nvSpPr>
          <p:cNvPr id="37" name="Text 35"/>
          <p:cNvSpPr/>
          <p:nvPr/>
        </p:nvSpPr>
        <p:spPr>
          <a:xfrm>
            <a:off x="676656" y="64739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285"/>
                </a:solidFill>
              </a:rPr>
              <a:t>AgentWonder • Phase 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109960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F7285"/>
                </a:solidFill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11064240" cy="0"/>
          </a:xfrm>
          <a:prstGeom prst="line">
            <a:avLst/>
          </a:prstGeom>
          <a:noFill/>
          <a:ln w="12700">
            <a:solidFill>
              <a:srgbClr val="D7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D7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164592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Developer run path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76656" y="58521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5F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setup, API startup, and notebook/API usage are already documented in the repo.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10515600" y="210312"/>
            <a:ext cx="1051560" cy="100584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" y="93268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03040"/>
                </a:solidFill>
              </a:rPr>
              <a:t>From repo clone to a local running service in a few commands: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49808" y="1325880"/>
            <a:ext cx="521208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87552" y="1755648"/>
            <a:ext cx="4617720" cy="1965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03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python3.11 -m venv .venv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03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 .venv/bin/activate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03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-e ".[dev]"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03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tests/ -v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03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uvicorn agentwonder.main:app --reload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969264" y="4160520"/>
            <a:ext cx="4526280" cy="914400"/>
          </a:xfrm>
          <a:prstGeom prst="roundRect">
            <a:avLst>
              <a:gd name="adj" fmla="val 5000"/>
            </a:avLst>
          </a:prstGeom>
          <a:solidFill>
            <a:srgbClr val="F5F8FF"/>
          </a:solidFill>
          <a:ln w="1270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170432" y="440740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2D6CDF"/>
                </a:solidFill>
              </a:rPr>
              <a:t>API entry point</a:t>
            </a:r>
            <a:endParaRPr lang="en-US" sz="1380" dirty="0"/>
          </a:p>
        </p:txBody>
      </p:sp>
      <p:sp>
        <p:nvSpPr>
          <p:cNvPr id="13" name="Text 11"/>
          <p:cNvSpPr/>
          <p:nvPr/>
        </p:nvSpPr>
        <p:spPr>
          <a:xfrm>
            <a:off x="1170432" y="4654296"/>
            <a:ext cx="3520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03040"/>
                </a:solidFill>
              </a:rPr>
              <a:t>uvicorn agentwonder.main:app --reload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09360" y="1325880"/>
            <a:ext cx="507492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47104" y="16002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Available Phase 1 interfaces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547104" y="2011680"/>
            <a:ext cx="4251960" cy="1600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203040"/>
                </a:solidFill>
              </a:rPr>
              <a:t>Notebook: notebooks/test_agentwonder_flow.ipynb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203040"/>
                </a:solidFill>
              </a:rPr>
              <a:t>GET /api/v1/health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203040"/>
                </a:solidFill>
              </a:rPr>
              <a:t>GET /api/v1/templates and /tools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203040"/>
                </a:solidFill>
              </a:rPr>
              <a:t>POST /api/v1/runs</a:t>
            </a:r>
            <a:endParaRPr lang="en-US" sz="1350" dirty="0"/>
          </a:p>
          <a:p>
            <a:pPr marL="177800" indent="-177800">
              <a:buSzPct val="100000"/>
              <a:buChar char="•"/>
            </a:pPr>
            <a:r>
              <a:rPr lang="en-US" sz="1350" dirty="0">
                <a:solidFill>
                  <a:srgbClr val="203040"/>
                </a:solidFill>
              </a:rPr>
              <a:t>GET /api/v1/runs/{id} and /trace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528816" y="3749040"/>
            <a:ext cx="4434840" cy="0"/>
          </a:xfrm>
          <a:prstGeom prst="line">
            <a:avLst/>
          </a:prstGeom>
          <a:noFill/>
          <a:ln w="12700">
            <a:solidFill>
              <a:srgbClr val="D7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47104" y="397764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324D"/>
                </a:solidFill>
              </a:rPr>
              <a:t>Runtime note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47104" y="4270248"/>
            <a:ext cx="429768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203040"/>
                </a:solidFill>
              </a:rPr>
              <a:t>The FastAPI app loads registries on startup and keeps workflow, run, and trace data in memory in the current implementation.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676656" y="64739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285"/>
                </a:solidFill>
              </a:rPr>
              <a:t>AgentWonder • Phase 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09960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F7285"/>
                </a:solidFill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11064240" cy="0"/>
          </a:xfrm>
          <a:prstGeom prst="line">
            <a:avLst/>
          </a:prstGeom>
          <a:noFill/>
          <a:ln w="12700">
            <a:solidFill>
              <a:srgbClr val="D7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D7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164592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Operating model for PMs, developers, and platform team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76656" y="58521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5F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 separates business configuration from platform governance.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10515600" y="210312"/>
            <a:ext cx="1051560" cy="100584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" y="93268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03040"/>
                </a:solidFill>
              </a:rPr>
              <a:t>The config layout already implies a clean division of ownership.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41248" y="1828800"/>
            <a:ext cx="10424160" cy="0"/>
          </a:xfrm>
          <a:prstGeom prst="line">
            <a:avLst/>
          </a:prstGeom>
          <a:noFill/>
          <a:ln w="12700">
            <a:solidFill>
              <a:srgbClr val="D7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41248" y="3063240"/>
            <a:ext cx="10424160" cy="0"/>
          </a:xfrm>
          <a:prstGeom prst="line">
            <a:avLst/>
          </a:prstGeom>
          <a:noFill/>
          <a:ln w="12700">
            <a:solidFill>
              <a:srgbClr val="D7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41248" y="4297680"/>
            <a:ext cx="10424160" cy="0"/>
          </a:xfrm>
          <a:prstGeom prst="line">
            <a:avLst/>
          </a:prstGeom>
          <a:noFill/>
          <a:ln w="12700">
            <a:solidFill>
              <a:srgbClr val="D7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514600" y="1325880"/>
            <a:ext cx="0" cy="3977640"/>
          </a:xfrm>
          <a:prstGeom prst="line">
            <a:avLst/>
          </a:prstGeom>
          <a:noFill/>
          <a:ln w="12700">
            <a:solidFill>
              <a:srgbClr val="D7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0120" y="14630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24D"/>
                </a:solidFill>
              </a:rPr>
              <a:t>Role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743200" y="146304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24D"/>
                </a:solidFill>
              </a:rPr>
              <a:t>Main responsibility in v1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909560" y="14630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7324D"/>
                </a:solidFill>
              </a:rPr>
              <a:t>Key artifacts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60120" y="222199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203040"/>
                </a:solidFill>
              </a:rPr>
              <a:t>PM / app team</a:t>
            </a:r>
            <a:endParaRPr lang="en-US" sz="1380" dirty="0"/>
          </a:p>
        </p:txBody>
      </p:sp>
      <p:sp>
        <p:nvSpPr>
          <p:cNvPr id="17" name="Text 15"/>
          <p:cNvSpPr/>
          <p:nvPr/>
        </p:nvSpPr>
        <p:spPr>
          <a:xfrm>
            <a:off x="2743200" y="2048256"/>
            <a:ext cx="475488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203040"/>
                </a:solidFill>
              </a:rPr>
              <a:t>Define workflow intent, choose an approved template, and manage prompt/workflow YAML for a business use case.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7909560" y="2121408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F8B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workflows/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0F8B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prompts/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60120" y="345643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203040"/>
                </a:solidFill>
              </a:rPr>
              <a:t>Platform team</a:t>
            </a:r>
            <a:endParaRPr lang="en-US" sz="1380" dirty="0"/>
          </a:p>
        </p:txBody>
      </p:sp>
      <p:sp>
        <p:nvSpPr>
          <p:cNvPr id="20" name="Text 18"/>
          <p:cNvSpPr/>
          <p:nvPr/>
        </p:nvSpPr>
        <p:spPr>
          <a:xfrm>
            <a:off x="2743200" y="3291840"/>
            <a:ext cx="47548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203040"/>
                </a:solidFill>
              </a:rPr>
              <a:t>Own template constraints, validation rules, approval framework, APIs, and runtime behavior.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7909560" y="3200400"/>
            <a:ext cx="1828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6C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templates/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D6C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policies/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D6C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compiler/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2D6C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runtime/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960120" y="469087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203040"/>
                </a:solidFill>
              </a:rPr>
              <a:t>Service-owning devs</a:t>
            </a:r>
            <a:endParaRPr lang="en-US" sz="1380" dirty="0"/>
          </a:p>
        </p:txBody>
      </p:sp>
      <p:sp>
        <p:nvSpPr>
          <p:cNvPr id="23" name="Text 21"/>
          <p:cNvSpPr/>
          <p:nvPr/>
        </p:nvSpPr>
        <p:spPr>
          <a:xfrm>
            <a:off x="2743200" y="4507992"/>
            <a:ext cx="47548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203040"/>
                </a:solidFill>
              </a:rPr>
              <a:t>Register operational tools with schemas, auth, side-effect metadata, timeouts, and environment rules.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7909560" y="4407408"/>
            <a:ext cx="2103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tools/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request/response schema</a:t>
            </a:r>
            <a:endParaRPr lang="en-US" sz="1220" dirty="0"/>
          </a:p>
          <a:p>
            <a:pPr marL="0" indent="0">
              <a:buNone/>
            </a:pPr>
            <a:r>
              <a:rPr lang="en-US" sz="1220" dirty="0">
                <a:solidFill>
                  <a:srgbClr val="E67E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 + retry metadata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868680" y="5669280"/>
            <a:ext cx="10378440" cy="502920"/>
          </a:xfrm>
          <a:prstGeom prst="roundRect">
            <a:avLst>
              <a:gd name="adj" fmla="val 9091"/>
            </a:avLst>
          </a:prstGeom>
          <a:solidFill>
            <a:srgbClr val="F3F7FC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97280" y="5824728"/>
            <a:ext cx="9875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324D"/>
                </a:solidFill>
              </a:rPr>
              <a:t>Shared outcome: PM-friendly configuration on top, platform guardrails underneath, and developer-owned tools at the edge.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76656" y="64739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285"/>
                </a:solidFill>
              </a:rPr>
              <a:t>AgentWonder • Phase 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109960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F7285"/>
                </a:solidFill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11064240" cy="0"/>
          </a:xfrm>
          <a:prstGeom prst="line">
            <a:avLst/>
          </a:prstGeom>
          <a:noFill/>
          <a:ln w="12700">
            <a:solidFill>
              <a:srgbClr val="D7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D7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164592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Known Phase 1 limits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76656" y="58521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5F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constraints are healthy — they show where to harden next.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10515600" y="210312"/>
            <a:ext cx="1051560" cy="100584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49808" y="1325880"/>
            <a:ext cx="521208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1435608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Current limits visible in the implementation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1764792"/>
            <a:ext cx="4882896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87552" y="1810512"/>
            <a:ext cx="448056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203040"/>
                </a:solidFill>
              </a:rPr>
              <a:t>No visual UI; configuration is still YAML-first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203040"/>
                </a:solidFill>
              </a:rPr>
              <a:t>Current app stores workflows, runs, and traces in memory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203040"/>
                </a:solidFill>
              </a:rPr>
              <a:t>The sample notebook uses stub tool and LLM outputs for the happy path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203040"/>
                </a:solidFill>
              </a:rPr>
              <a:t>The notebook currently demonstrates one concrete template/workflow path</a:t>
            </a:r>
            <a:endParaRPr lang="en-US" sz="1370" dirty="0"/>
          </a:p>
        </p:txBody>
      </p:sp>
      <p:sp>
        <p:nvSpPr>
          <p:cNvPr id="12" name="Shape 10"/>
          <p:cNvSpPr/>
          <p:nvPr/>
        </p:nvSpPr>
        <p:spPr>
          <a:xfrm>
            <a:off x="987552" y="4224528"/>
            <a:ext cx="4526280" cy="1051560"/>
          </a:xfrm>
          <a:prstGeom prst="roundRect">
            <a:avLst>
              <a:gd name="adj" fmla="val 4348"/>
            </a:avLst>
          </a:prstGeom>
          <a:solidFill>
            <a:srgbClr val="FFF7EF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207008" y="447141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E67E22"/>
                </a:solidFill>
              </a:rPr>
              <a:t>Interpretation</a:t>
            </a:r>
            <a:endParaRPr lang="en-US" sz="1380" dirty="0"/>
          </a:p>
        </p:txBody>
      </p:sp>
      <p:sp>
        <p:nvSpPr>
          <p:cNvPr id="14" name="Text 12"/>
          <p:cNvSpPr/>
          <p:nvPr/>
        </p:nvSpPr>
        <p:spPr>
          <a:xfrm>
            <a:off x="1207008" y="473659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90" dirty="0">
                <a:solidFill>
                  <a:srgbClr val="203040"/>
                </a:solidFill>
              </a:rPr>
              <a:t>This is the right level for Phase 1: enough to prove the platform pattern without overbuilding.</a:t>
            </a:r>
            <a:endParaRPr lang="en-US" sz="1290" dirty="0"/>
          </a:p>
        </p:txBody>
      </p:sp>
      <p:sp>
        <p:nvSpPr>
          <p:cNvPr id="15" name="Shape 13"/>
          <p:cNvSpPr/>
          <p:nvPr/>
        </p:nvSpPr>
        <p:spPr>
          <a:xfrm>
            <a:off x="6263640" y="1325880"/>
            <a:ext cx="50749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428232" y="1435608"/>
            <a:ext cx="47457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What to harden after this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28232" y="1764792"/>
            <a:ext cx="4745736" cy="3950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92240" y="1810512"/>
            <a:ext cx="4297680" cy="2011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203040"/>
                </a:solidFill>
              </a:rPr>
              <a:t>Persist run/session/trace state beyond process memory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203040"/>
                </a:solidFill>
              </a:rPr>
              <a:t>Replace stubbed paths with real tool and LLM integrations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203040"/>
                </a:solidFill>
              </a:rPr>
              <a:t>Expand template coverage beyond the first proven path</a:t>
            </a:r>
            <a:endParaRPr lang="en-US" sz="1370" dirty="0"/>
          </a:p>
          <a:p>
            <a:pPr marL="177800" indent="-177800">
              <a:buSzPct val="100000"/>
              <a:buChar char="•"/>
            </a:pPr>
            <a:r>
              <a:rPr lang="en-US" sz="1370" dirty="0">
                <a:solidFill>
                  <a:srgbClr val="203040"/>
                </a:solidFill>
              </a:rPr>
              <a:t>Add auth, secrets, and environment promotion rigor</a:t>
            </a:r>
            <a:endParaRPr lang="en-US" sz="1370" dirty="0"/>
          </a:p>
        </p:txBody>
      </p:sp>
      <p:sp>
        <p:nvSpPr>
          <p:cNvPr id="19" name="Shape 17"/>
          <p:cNvSpPr/>
          <p:nvPr/>
        </p:nvSpPr>
        <p:spPr>
          <a:xfrm>
            <a:off x="6492240" y="4224528"/>
            <a:ext cx="4343400" cy="1051560"/>
          </a:xfrm>
          <a:prstGeom prst="roundRect">
            <a:avLst>
              <a:gd name="adj" fmla="val 4348"/>
            </a:avLst>
          </a:prstGeom>
          <a:solidFill>
            <a:srgbClr val="F3FBF6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720840" y="447141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80" b="1" dirty="0">
                <a:solidFill>
                  <a:srgbClr val="2E8B57"/>
                </a:solidFill>
              </a:rPr>
              <a:t>Message to the team</a:t>
            </a:r>
            <a:endParaRPr lang="en-US" sz="1380" dirty="0"/>
          </a:p>
        </p:txBody>
      </p:sp>
      <p:sp>
        <p:nvSpPr>
          <p:cNvPr id="21" name="Text 19"/>
          <p:cNvSpPr/>
          <p:nvPr/>
        </p:nvSpPr>
        <p:spPr>
          <a:xfrm>
            <a:off x="6720840" y="47365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90" dirty="0">
                <a:solidFill>
                  <a:srgbClr val="203040"/>
                </a:solidFill>
              </a:rPr>
              <a:t>The platform backbone is in place; the next step is industrialization, not reinvention.</a:t>
            </a:r>
            <a:endParaRPr lang="en-US" sz="1290" dirty="0"/>
          </a:p>
        </p:txBody>
      </p:sp>
      <p:sp>
        <p:nvSpPr>
          <p:cNvPr id="22" name="Text 20"/>
          <p:cNvSpPr/>
          <p:nvPr/>
        </p:nvSpPr>
        <p:spPr>
          <a:xfrm>
            <a:off x="676656" y="64739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285"/>
                </a:solidFill>
              </a:rPr>
              <a:t>AgentWonder • Phase 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09960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F7285"/>
                </a:solidFill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48640" y="502920"/>
            <a:ext cx="11064240" cy="0"/>
          </a:xfrm>
          <a:prstGeom prst="line">
            <a:avLst/>
          </a:prstGeom>
          <a:noFill/>
          <a:ln w="12700">
            <a:solidFill>
              <a:srgbClr val="D7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6400800"/>
            <a:ext cx="11064240" cy="0"/>
          </a:xfrm>
          <a:prstGeom prst="line">
            <a:avLst/>
          </a:prstGeom>
          <a:noFill/>
          <a:ln w="12700">
            <a:solidFill>
              <a:srgbClr val="D7DF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58368" y="164592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next milestone after Phase 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76656" y="585216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dirty="0">
                <a:solidFill>
                  <a:srgbClr val="5F72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current foundation to move from proof-of-platform to first production use cases.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10515600" y="210312"/>
            <a:ext cx="1051560" cy="100584"/>
          </a:xfrm>
          <a:prstGeom prst="rect">
            <a:avLst/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423160" y="2880360"/>
            <a:ext cx="1097280" cy="0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17720" y="2880360"/>
            <a:ext cx="1097280" cy="0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812280" y="2880360"/>
            <a:ext cx="1097280" cy="0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49808" y="2011680"/>
            <a:ext cx="146304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212140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</a:rPr>
              <a:t>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14400" y="2450592"/>
            <a:ext cx="1133856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203040"/>
                </a:solidFill>
              </a:rPr>
              <a:t>Pilot 1–2 real internal workflows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2971800" y="2011680"/>
            <a:ext cx="146304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136392" y="212140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136392" y="2450592"/>
            <a:ext cx="1133856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203040"/>
                </a:solidFill>
              </a:rPr>
              <a:t>Persist state and traces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5193792" y="2011680"/>
            <a:ext cx="146304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58384" y="212140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358384" y="2450592"/>
            <a:ext cx="1133856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203040"/>
                </a:solidFill>
              </a:rPr>
              <a:t>Wire real tools and secrets</a:t>
            </a:r>
            <a:endParaRPr lang="en-US" sz="1320" dirty="0"/>
          </a:p>
        </p:txBody>
      </p:sp>
      <p:sp>
        <p:nvSpPr>
          <p:cNvPr id="20" name="Shape 18"/>
          <p:cNvSpPr/>
          <p:nvPr/>
        </p:nvSpPr>
        <p:spPr>
          <a:xfrm>
            <a:off x="7415784" y="2011680"/>
            <a:ext cx="146304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580376" y="212140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580376" y="2450592"/>
            <a:ext cx="1133856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203040"/>
                </a:solidFill>
              </a:rPr>
              <a:t>Expand templates and policy depth</a:t>
            </a:r>
            <a:endParaRPr lang="en-US" sz="1320" dirty="0"/>
          </a:p>
        </p:txBody>
      </p:sp>
      <p:sp>
        <p:nvSpPr>
          <p:cNvPr id="23" name="Shape 21"/>
          <p:cNvSpPr/>
          <p:nvPr/>
        </p:nvSpPr>
        <p:spPr>
          <a:xfrm>
            <a:off x="9637776" y="2011680"/>
            <a:ext cx="146304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DF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802368" y="2121408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7324D"/>
                </a:solidFill>
              </a:rPr>
              <a:t>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802368" y="2450592"/>
            <a:ext cx="1133856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320" dirty="0">
                <a:solidFill>
                  <a:srgbClr val="203040"/>
                </a:solidFill>
              </a:rPr>
              <a:t>Decide when UI and MCP/A2A are worth adding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768096" y="43891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324D"/>
                </a:solidFill>
              </a:rPr>
              <a:t>Immediate ask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49808" y="4709160"/>
            <a:ext cx="10698480" cy="914400"/>
          </a:xfrm>
          <a:prstGeom prst="roundRect">
            <a:avLst>
              <a:gd name="adj" fmla="val 6000"/>
            </a:avLst>
          </a:prstGeom>
          <a:solidFill>
            <a:srgbClr val="F3F7FC"/>
          </a:solidFill>
          <a:ln w="12700">
            <a:solidFill>
              <a:srgbClr val="1732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60120" y="5010912"/>
            <a:ext cx="10195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324D"/>
                </a:solidFill>
              </a:rPr>
              <a:t>Treat AgentWonder as the Phase 1 backbone: onboard a small number of real workflows, harden the operating model, and let future UI/features follow proven usage.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76656" y="6473952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F7285"/>
                </a:solidFill>
              </a:rPr>
              <a:t>AgentWonder • Phase 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09960" y="6446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F7285"/>
                </a:solidFill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2516</Words>
  <Application>Microsoft Macintosh PowerPoint</Application>
  <PresentationFormat>Widescreen</PresentationFormat>
  <Paragraphs>321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AgentWonder — Phase 1 implementation</dc:title>
  <dc:subject>AgentWonder Phase 1 implementation</dc:subject>
  <dc:creator>OpenAI</dc:creator>
  <cp:lastModifiedBy>OMSA Class</cp:lastModifiedBy>
  <cp:revision>2</cp:revision>
  <dcterms:created xsi:type="dcterms:W3CDTF">2026-04-03T16:09:57Z</dcterms:created>
  <dcterms:modified xsi:type="dcterms:W3CDTF">2026-04-03T16:18:28Z</dcterms:modified>
</cp:coreProperties>
</file>