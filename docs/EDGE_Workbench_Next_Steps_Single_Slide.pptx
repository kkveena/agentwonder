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D5FD1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E3B59"/>
                </a:solidFill>
                <a:latin typeface="Aptos"/>
              </a:rPr>
              <a:t>Scaling EDGE Workbench from pilot success to enterprise-grade efficiency, resilience, and intelligence.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097280" cy="128016"/>
          </a:xfrm>
          <a:prstGeom prst="rect">
            <a:avLst/>
          </a:prstGeom>
          <a:solidFill>
            <a:srgbClr val="1D5FD1"/>
          </a:solidFill>
          <a:ln>
            <a:solidFill>
              <a:srgbClr val="1D5F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67512" y="1490472"/>
            <a:ext cx="384048" cy="384048"/>
          </a:xfrm>
          <a:prstGeom prst="ellipse">
            <a:avLst/>
          </a:prstGeom>
          <a:solidFill>
            <a:srgbClr val="E9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581912"/>
            <a:ext cx="384048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5FD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1472184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5FD1"/>
                </a:solidFill>
                <a:latin typeface="Aptos"/>
              </a:rPr>
              <a:t>Token Economics &amp; Cost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5266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Reduce token cost through open-weight models and lower-cost AI-as-judge patterns where appropriate.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Use deterministic validation checks for math, fact tables, and policy controls instead of unnecessary LLM calls.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Ground prompts with context and tool responses so the model works with tighter, more efficient inputs.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Leverage flexible Vertex AI consumption models, caching, and right-sizing to optimize runtime spend.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325880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01384" y="1490472"/>
            <a:ext cx="384048" cy="384048"/>
          </a:xfrm>
          <a:prstGeom prst="ellipse">
            <a:avLst/>
          </a:prstGeom>
          <a:solidFill>
            <a:srgbClr val="EC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1581912"/>
            <a:ext cx="384048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3B59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584" y="1472184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5FD1"/>
                </a:solidFill>
                <a:latin typeface="Aptos"/>
              </a:rPr>
              <a:t>Infrastructure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984248"/>
            <a:ext cx="5266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Increase pod capacity and improve load balancing to handle enterprise-scale demand more smoothly.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Introduce server-side caching and connection reuse to reduce latency and repeated compute.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Tune batch execution, throughput controls, and queueing to lower timeout and rate-limit pressure.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Strengthen observability so scaling decisions are driven by real telemetry and bottleneck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12463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7512" y="3877055"/>
            <a:ext cx="384048" cy="384048"/>
          </a:xfrm>
          <a:prstGeom prst="ellipse">
            <a:avLst/>
          </a:prstGeom>
          <a:solidFill>
            <a:srgbClr val="FAE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3968495"/>
            <a:ext cx="384048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E3B59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" y="3858767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5FD1"/>
                </a:solidFill>
                <a:latin typeface="Aptos"/>
              </a:rPr>
              <a:t>Self-Recoverable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70831"/>
            <a:ext cx="5266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Create agents that triage issues, diagnose likely root causes, and propose the most optimal resolution path.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Enable recovery logic so the system can retry, reroute, or escalate when tools or workflows fail.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Keep human-in-the-loop for approvals and material external actions while automating remediation preparation.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Move toward resilient agent flows that fail safely rather than stop abruptly.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712463"/>
            <a:ext cx="5577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01384" y="3877055"/>
            <a:ext cx="384048" cy="384048"/>
          </a:xfrm>
          <a:prstGeom prst="ellipse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3968495"/>
            <a:ext cx="384048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D5FD1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858767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D5FD1"/>
                </a:solidFill>
                <a:latin typeface="Aptos"/>
              </a:rPr>
              <a:t>Smarter Agents &amp; Intelligent 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370831"/>
            <a:ext cx="526694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Use intelligent routing to select the right model for the right task, improving both quality and cost.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Build reusable skills so agents learn from prior successful patterns, fixes, and recovery actions.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Teach the system when to call tools, when to validate deterministically, and when to escalate to humans.</a:t>
            </a:r>
          </a:p>
          <a:p>
            <a:pPr algn="l">
              <a:spcAft>
                <a:spcPts val="300"/>
              </a:spcAft>
            </a:pPr>
            <a:r>
              <a:rPr sz="1120">
                <a:solidFill>
                  <a:srgbClr val="2E3B59"/>
                </a:solidFill>
                <a:latin typeface="Aptos"/>
              </a:rPr>
              <a:t>Improve decision-making over time so agents become more adaptive, reliable, and efficient.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6016752"/>
            <a:ext cx="11155680" cy="384048"/>
          </a:xfrm>
          <a:prstGeom prst="roundRect">
            <a:avLst/>
          </a:prstGeom>
          <a:solidFill>
            <a:srgbClr val="F4F7FD"/>
          </a:solidFill>
          <a:ln w="12700">
            <a:solidFill>
              <a:srgbClr val="CDD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6108192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1D5FD1"/>
                </a:solidFill>
                <a:latin typeface="Aptos"/>
              </a:rPr>
              <a:t>Takeaway: </a:t>
            </a:r>
            <a:r>
              <a:rPr sz="1150">
                <a:solidFill>
                  <a:srgbClr val="2E3B59"/>
                </a:solidFill>
                <a:latin typeface="Aptos"/>
              </a:rPr>
              <a:t>The next phase is about making EDGE cheaper to run, easier to scale, more resilient in production, and smarter in how it reasons and routes work.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6443776"/>
            <a:ext cx="699516" cy="23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D5FD1"/>
                </a:solidFill>
                <a:latin typeface="Aptos"/>
              </a:rPr>
              <a:t>citi</a:t>
            </a:r>
          </a:p>
        </p:txBody>
      </p:sp>
      <p:sp>
        <p:nvSpPr>
          <p:cNvPr id="28" name="Arc 27"/>
          <p:cNvSpPr/>
          <p:nvPr/>
        </p:nvSpPr>
        <p:spPr>
          <a:xfrm>
            <a:off x="507492" y="6410858"/>
            <a:ext cx="353872" cy="148132"/>
          </a:xfrm>
          <a:prstGeom prst="arc">
            <a:avLst>
              <a:gd name="adj1" fmla="val 1000000"/>
              <a:gd name="adj2" fmla="val 17000000"/>
            </a:avLst>
          </a:prstGeom>
          <a:noFill/>
          <a:ln w="29718">
            <a:solidFill>
              <a:srgbClr val="E52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