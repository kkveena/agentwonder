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5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73736"/>
            <a:ext cx="107899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 Intake Automation: From Manual Email Handling to LLM-Powered EDGE Processing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338328" y="521208"/>
            <a:ext cx="10789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8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summary: 95%+ classification accuracy, controlled fallback, and ~1,042 hours/month potential capacity release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969264"/>
            <a:ext cx="3273552" cy="5358384"/>
          </a:xfrm>
          <a:prstGeom prst="roundRect">
            <a:avLst>
              <a:gd name="adj" fmla="val 4190"/>
            </a:avLst>
          </a:prstGeom>
          <a:solidFill>
            <a:srgbClr val="FFF7ED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106424"/>
            <a:ext cx="294436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Legacy challenges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767328" y="969264"/>
            <a:ext cx="4919472" cy="5358384"/>
          </a:xfrm>
          <a:prstGeom prst="roundRect">
            <a:avLst>
              <a:gd name="adj" fmla="val 2788"/>
            </a:avLst>
          </a:prstGeom>
          <a:solidFill>
            <a:srgbClr val="EAF2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1106424"/>
            <a:ext cx="459028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Current automated architecture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869680" y="969264"/>
            <a:ext cx="2999232" cy="5358384"/>
          </a:xfrm>
          <a:prstGeom prst="roundRect">
            <a:avLst>
              <a:gd name="adj" fmla="val 4573"/>
            </a:avLst>
          </a:prstGeom>
          <a:solidFill>
            <a:srgbClr val="EAF7E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34272" y="1106424"/>
            <a:ext cx="267004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Time-saving impact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2064" y="1444752"/>
            <a:ext cx="1188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Earlier process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14016" y="1417320"/>
            <a:ext cx="859536" cy="237744"/>
          </a:xfrm>
          <a:prstGeom prst="roundRect">
            <a:avLst>
              <a:gd name="adj" fmla="val 38462"/>
            </a:avLst>
          </a:prstGeom>
          <a:solidFill>
            <a:srgbClr val="FFF1E6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449324"/>
            <a:ext cx="74980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Human-driven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66928" y="1892808"/>
            <a:ext cx="228600" cy="228600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1929384"/>
            <a:ext cx="2286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77824" y="1847088"/>
            <a:ext cx="2450592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1901952"/>
            <a:ext cx="22677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received by human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66928" y="2322576"/>
            <a:ext cx="228600" cy="228600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359152"/>
            <a:ext cx="2286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77824" y="2276856"/>
            <a:ext cx="2450592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2331720"/>
            <a:ext cx="22677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attachment and save locally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66928" y="2752344"/>
            <a:ext cx="228600" cy="228600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788920"/>
            <a:ext cx="2286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877824" y="2706624"/>
            <a:ext cx="2450592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" y="2761488"/>
            <a:ext cx="22677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trade invoice with trade summary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66928" y="3182112"/>
            <a:ext cx="228600" cy="228600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218688"/>
            <a:ext cx="2286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77824" y="3136392"/>
            <a:ext cx="2450592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" y="3191256"/>
            <a:ext cx="22677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case ID in Appian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566928" y="3611880"/>
            <a:ext cx="228600" cy="228600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648456"/>
            <a:ext cx="2286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77824" y="3566160"/>
            <a:ext cx="2450592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9264" y="3621024"/>
            <a:ext cx="22677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Appian sends case to EDGE Core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530352" y="4160520"/>
            <a:ext cx="141732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pain points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4443984"/>
            <a:ext cx="27889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Desktop/local file handling
</a:t>
            </a:r>
            <a:pPr algn="l" indent="0" marL="0">
              <a:buNone/>
            </a:pPr>
            <a:r>
              <a:rPr lang="en-US" sz="9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Manual invoice-to-summary pairing
</a:t>
            </a:r>
            <a:pPr algn="l" indent="0" marL="0">
              <a:buNone/>
            </a:pPr>
            <a:r>
              <a:rPr lang="en-US" sz="9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Multiple file formats and consolidated PDFs
</a:t>
            </a:r>
            <a:pPr algn="l" indent="0" marL="0">
              <a:buNone/>
            </a:pPr>
            <a:r>
              <a:rPr lang="en-US" sz="9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Case creation delays before EDGE Core
</a:t>
            </a:r>
            <a:pPr algn="l" indent="0" marL="0">
              <a:buNone/>
            </a:pPr>
            <a:r>
              <a:rPr lang="en-US" sz="9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Need auditable exception fallback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566928" y="5504688"/>
            <a:ext cx="269748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5641848"/>
            <a:ext cx="2423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cycle time: ~30 min / invoice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4718304" y="3191256"/>
            <a:ext cx="155448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623560" y="3191256"/>
            <a:ext cx="155448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196328" y="3191256"/>
            <a:ext cx="45720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119872" y="3191256"/>
            <a:ext cx="192024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473952" y="3511296"/>
            <a:ext cx="0" cy="649224"/>
          </a:xfrm>
          <a:prstGeom prst="line">
            <a:avLst/>
          </a:prstGeom>
          <a:noFill/>
          <a:ln w="2159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473952" y="4297680"/>
            <a:ext cx="768096" cy="0"/>
          </a:xfrm>
          <a:prstGeom prst="line">
            <a:avLst/>
          </a:prstGeom>
          <a:noFill/>
          <a:ln w="2159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005072" y="2944368"/>
            <a:ext cx="71323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59936" y="3026664"/>
            <a:ext cx="603504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73752" y="2944368"/>
            <a:ext cx="749808" cy="493776"/>
          </a:xfrm>
          <a:prstGeom prst="roundRect">
            <a:avLst>
              <a:gd name="adj" fmla="val 18519"/>
            </a:avLst>
          </a:prstGeom>
          <a:solidFill>
            <a:srgbClr val="E8F8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28616" y="3026664"/>
            <a:ext cx="6400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Kafka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779008" y="2788920"/>
            <a:ext cx="1417320" cy="493776"/>
          </a:xfrm>
          <a:prstGeom prst="roundRect">
            <a:avLst>
              <a:gd name="adj" fmla="val 18519"/>
            </a:avLst>
          </a:prstGeom>
          <a:solidFill>
            <a:srgbClr val="E9ED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33872" y="2871216"/>
            <a:ext cx="1307592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Classification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 + LLMs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242048" y="2944368"/>
            <a:ext cx="877824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96912" y="3026664"/>
            <a:ext cx="7680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ID +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Paired Package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242048" y="4096512"/>
            <a:ext cx="1298448" cy="402336"/>
          </a:xfrm>
          <a:prstGeom prst="roundRect">
            <a:avLst>
              <a:gd name="adj" fmla="val 22727"/>
            </a:avLst>
          </a:prstGeom>
          <a:solidFill>
            <a:srgbClr val="FFF7ED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0" y="4160520"/>
            <a:ext cx="1152144" cy="2651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Panel fallback</a:t>
            </a:r>
            <a:endParaRPr lang="en-US" sz="790" dirty="0"/>
          </a:p>
          <a:p>
            <a:pPr algn="ctr" indent="0" marL="0">
              <a:buNone/>
            </a:pPr>
            <a:r>
              <a:rPr lang="en-US" sz="79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exception processing</a:t>
            </a:r>
            <a:endParaRPr lang="en-US" sz="790" dirty="0"/>
          </a:p>
        </p:txBody>
      </p:sp>
      <p:sp>
        <p:nvSpPr>
          <p:cNvPr id="54" name="Shape 52"/>
          <p:cNvSpPr/>
          <p:nvPr/>
        </p:nvSpPr>
        <p:spPr>
          <a:xfrm>
            <a:off x="8311896" y="2688336"/>
            <a:ext cx="365760" cy="1005840"/>
          </a:xfrm>
          <a:prstGeom prst="roundRect">
            <a:avLst>
              <a:gd name="adj" fmla="val 20000"/>
            </a:avLst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48472" y="2926080"/>
            <a:ext cx="292608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078224" y="1554480"/>
            <a:ext cx="42976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LLM-powered classification isolates invoice files, extracts attachments, pairs trade line + trade summary, and creates the case package for EDGE Core.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096512" y="2139696"/>
            <a:ext cx="1572768" cy="237744"/>
          </a:xfrm>
          <a:prstGeom prst="roundRect">
            <a:avLst>
              <a:gd name="adj" fmla="val 38462"/>
            </a:avLst>
          </a:prstGeom>
          <a:solidFill>
            <a:srgbClr val="EFF9F0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51376" y="2171700"/>
            <a:ext cx="14630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95%+ classification accuracy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815584" y="2139696"/>
            <a:ext cx="1508760" cy="237744"/>
          </a:xfrm>
          <a:prstGeom prst="roundRect">
            <a:avLst>
              <a:gd name="adj" fmla="val 38462"/>
            </a:avLst>
          </a:prstGeom>
          <a:solidFill>
            <a:srgbClr val="FFF7ED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70448" y="2171700"/>
            <a:ext cx="139903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manual fallback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461504" y="2139696"/>
            <a:ext cx="960120" cy="237744"/>
          </a:xfrm>
          <a:prstGeom prst="roundRect">
            <a:avLst>
              <a:gd name="adj" fmla="val 38462"/>
            </a:avLst>
          </a:prstGeom>
          <a:solidFill>
            <a:srgbClr val="E9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16368" y="2171700"/>
            <a:ext cx="85039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desktop save step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096512" y="4864608"/>
            <a:ext cx="4315968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61104" y="5020056"/>
            <a:ext cx="15544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input formats</a:t>
            </a:r>
            <a:endParaRPr lang="en-US" sz="1060" dirty="0"/>
          </a:p>
        </p:txBody>
      </p:sp>
      <p:sp>
        <p:nvSpPr>
          <p:cNvPr id="65" name="Text 63"/>
          <p:cNvSpPr/>
          <p:nvPr/>
        </p:nvSpPr>
        <p:spPr>
          <a:xfrm>
            <a:off x="4261104" y="5285232"/>
            <a:ext cx="38862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3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.xlsx   .xls   .csv   .pdf   consolidated PDF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53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(trade line + trade summary in one document)</a:t>
            </a:r>
            <a:endParaRPr lang="en-US" sz="940" dirty="0"/>
          </a:p>
        </p:txBody>
      </p:sp>
      <p:sp>
        <p:nvSpPr>
          <p:cNvPr id="66" name="Shape 64"/>
          <p:cNvSpPr/>
          <p:nvPr/>
        </p:nvSpPr>
        <p:spPr>
          <a:xfrm>
            <a:off x="9125712" y="1600200"/>
            <a:ext cx="1216152" cy="841248"/>
          </a:xfrm>
          <a:prstGeom prst="roundRect">
            <a:avLst>
              <a:gd name="adj" fmla="val 1413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262872" y="1691640"/>
            <a:ext cx="94183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2,500</a:t>
            </a:r>
            <a:endParaRPr lang="en-US" sz="1900" dirty="0"/>
          </a:p>
        </p:txBody>
      </p:sp>
      <p:sp>
        <p:nvSpPr>
          <p:cNvPr id="68" name="Text 66"/>
          <p:cNvSpPr/>
          <p:nvPr/>
        </p:nvSpPr>
        <p:spPr>
          <a:xfrm>
            <a:off x="9262872" y="2057400"/>
            <a:ext cx="94183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3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invoices / month routed through SP process (~50% of volume)</a:t>
            </a:r>
            <a:endParaRPr lang="en-US" sz="940" dirty="0"/>
          </a:p>
        </p:txBody>
      </p:sp>
      <p:sp>
        <p:nvSpPr>
          <p:cNvPr id="69" name="Shape 67"/>
          <p:cNvSpPr/>
          <p:nvPr/>
        </p:nvSpPr>
        <p:spPr>
          <a:xfrm>
            <a:off x="10442448" y="1600200"/>
            <a:ext cx="1143000" cy="841248"/>
          </a:xfrm>
          <a:prstGeom prst="roundRect">
            <a:avLst>
              <a:gd name="adj" fmla="val 1413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579608" y="1691640"/>
            <a:ext cx="868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→ &lt;5</a:t>
            </a:r>
            <a:endParaRPr lang="en-US" sz="1900" dirty="0"/>
          </a:p>
        </p:txBody>
      </p:sp>
      <p:sp>
        <p:nvSpPr>
          <p:cNvPr id="71" name="Text 69"/>
          <p:cNvSpPr/>
          <p:nvPr/>
        </p:nvSpPr>
        <p:spPr>
          <a:xfrm>
            <a:off x="10579608" y="2057400"/>
            <a:ext cx="8686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3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minutes per invoice after automation</a:t>
            </a:r>
            <a:endParaRPr lang="en-US" sz="940" dirty="0"/>
          </a:p>
        </p:txBody>
      </p:sp>
      <p:sp>
        <p:nvSpPr>
          <p:cNvPr id="72" name="Shape 70"/>
          <p:cNvSpPr/>
          <p:nvPr/>
        </p:nvSpPr>
        <p:spPr>
          <a:xfrm>
            <a:off x="9125712" y="2651760"/>
            <a:ext cx="1216152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262872" y="2743200"/>
            <a:ext cx="94183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62,500</a:t>
            </a:r>
            <a:endParaRPr lang="en-US" sz="1900" dirty="0"/>
          </a:p>
        </p:txBody>
      </p:sp>
      <p:sp>
        <p:nvSpPr>
          <p:cNvPr id="74" name="Text 72"/>
          <p:cNvSpPr/>
          <p:nvPr/>
        </p:nvSpPr>
        <p:spPr>
          <a:xfrm>
            <a:off x="9262872" y="3108960"/>
            <a:ext cx="94183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3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minutes saved / month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53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2,500 × 25 min</a:t>
            </a:r>
            <a:endParaRPr lang="en-US" sz="940" dirty="0"/>
          </a:p>
        </p:txBody>
      </p:sp>
      <p:sp>
        <p:nvSpPr>
          <p:cNvPr id="75" name="Shape 73"/>
          <p:cNvSpPr/>
          <p:nvPr/>
        </p:nvSpPr>
        <p:spPr>
          <a:xfrm>
            <a:off x="10442448" y="2651760"/>
            <a:ext cx="11430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579608" y="2743200"/>
            <a:ext cx="868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≈1,042</a:t>
            </a:r>
            <a:endParaRPr lang="en-US" sz="1900" dirty="0"/>
          </a:p>
        </p:txBody>
      </p:sp>
      <p:sp>
        <p:nvSpPr>
          <p:cNvPr id="77" name="Text 75"/>
          <p:cNvSpPr/>
          <p:nvPr/>
        </p:nvSpPr>
        <p:spPr>
          <a:xfrm>
            <a:off x="10579608" y="3108960"/>
            <a:ext cx="8686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3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hours saved / month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53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≈130 workdays</a:t>
            </a:r>
            <a:endParaRPr lang="en-US" sz="940" dirty="0"/>
          </a:p>
        </p:txBody>
      </p:sp>
      <p:sp>
        <p:nvSpPr>
          <p:cNvPr id="78" name="Text 76"/>
          <p:cNvSpPr/>
          <p:nvPr/>
        </p:nvSpPr>
        <p:spPr>
          <a:xfrm>
            <a:off x="9144000" y="3822192"/>
            <a:ext cx="1600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Cycle-time reduction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9144000" y="4178808"/>
            <a:ext cx="49377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3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Earlier</a:t>
            </a:r>
            <a:endParaRPr lang="en-US" sz="820" dirty="0"/>
          </a:p>
        </p:txBody>
      </p:sp>
      <p:sp>
        <p:nvSpPr>
          <p:cNvPr id="80" name="Shape 78"/>
          <p:cNvSpPr/>
          <p:nvPr/>
        </p:nvSpPr>
        <p:spPr>
          <a:xfrm>
            <a:off x="9710928" y="4123944"/>
            <a:ext cx="1417320" cy="219456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710928" y="4123944"/>
            <a:ext cx="1298448" cy="219456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1183112" y="4169664"/>
            <a:ext cx="3657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~30 min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9144000" y="4562856"/>
            <a:ext cx="493776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3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820" dirty="0"/>
          </a:p>
        </p:txBody>
      </p:sp>
      <p:sp>
        <p:nvSpPr>
          <p:cNvPr id="84" name="Shape 82"/>
          <p:cNvSpPr/>
          <p:nvPr/>
        </p:nvSpPr>
        <p:spPr>
          <a:xfrm>
            <a:off x="9710928" y="4507992"/>
            <a:ext cx="1417320" cy="219456"/>
          </a:xfrm>
          <a:prstGeom prst="roundRect">
            <a:avLst>
              <a:gd name="adj" fmla="val 16667"/>
            </a:avLst>
          </a:prstGeom>
          <a:solidFill>
            <a:srgbClr val="E7F6EC"/>
          </a:solidFill>
          <a:ln w="12700">
            <a:solidFill>
              <a:srgbClr val="E7F6E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710928" y="4507992"/>
            <a:ext cx="201168" cy="219456"/>
          </a:xfrm>
          <a:prstGeom prst="roundRect">
            <a:avLst>
              <a:gd name="adj" fmla="val 18182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1183112" y="4553712"/>
            <a:ext cx="3657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&lt;5 min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9144000" y="5001768"/>
            <a:ext cx="2395728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290304" y="5129784"/>
            <a:ext cx="21031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released: faster SLA, fewer manual touchpoints, and scalable handling of multi-format invoices.</a:t>
            </a:r>
            <a:endParaRPr lang="en-US" sz="910" dirty="0"/>
          </a:p>
        </p:txBody>
      </p:sp>
      <p:sp>
        <p:nvSpPr>
          <p:cNvPr id="89" name="Text 87"/>
          <p:cNvSpPr/>
          <p:nvPr/>
        </p:nvSpPr>
        <p:spPr>
          <a:xfrm>
            <a:off x="384048" y="6446520"/>
            <a:ext cx="114300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536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Savings estimate assumes 2,500 invoices/month, earlier processing ≈30 min/invoice, current processing &lt;5 min/invoice, therefore &gt;25 min/invoice capacity release.</a:t>
            </a:r>
            <a:endParaRPr lang="en-US" sz="8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Invoice Intake Automation</dc:title>
  <dc:subject>Invoice intake automation executive slide</dc:subject>
  <dc:creator>OpenAI</dc:creator>
  <cp:lastModifiedBy>OpenAI</cp:lastModifiedBy>
  <cp:revision>1</cp:revision>
  <dcterms:created xsi:type="dcterms:W3CDTF">2026-07-02T08:21:14Z</dcterms:created>
  <dcterms:modified xsi:type="dcterms:W3CDTF">2026-07-02T08:21:14Z</dcterms:modified>
</cp:coreProperties>
</file>