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7320" y="1143000"/>
            <a:ext cx="685800" cy="685800"/>
          </a:xfrm>
          <a:prstGeom prst="ellipse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32588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D5FD1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240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D5FD1"/>
                </a:solidFill>
                <a:latin typeface="Aptos"/>
              </a:rPr>
              <a:t>The Client Experience Frontier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3657600"/>
            <a:ext cx="1051560" cy="146304"/>
          </a:xfrm>
          <a:prstGeom prst="rect">
            <a:avLst/>
          </a:prstGeom>
          <a:solidFill>
            <a:srgbClr val="1D5FD1"/>
          </a:solidFill>
          <a:ln>
            <a:solidFill>
              <a:srgbClr val="1D5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388620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D869B"/>
                </a:solidFill>
                <a:latin typeface="Aptos"/>
              </a:rPr>
              <a:t>Transforming operations from simple text suggestions to autonomous multi-agent networks.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910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5FD1"/>
                </a:solidFill>
                <a:latin typeface="Aptos"/>
              </a:rPr>
              <a:t>citi</a:t>
            </a:r>
          </a:p>
        </p:txBody>
      </p:sp>
      <p:sp>
        <p:nvSpPr>
          <p:cNvPr id="8" name="Arc 7"/>
          <p:cNvSpPr/>
          <p:nvPr/>
        </p:nvSpPr>
        <p:spPr>
          <a:xfrm>
            <a:off x="594360" y="6254496"/>
            <a:ext cx="393192" cy="164592"/>
          </a:xfrm>
          <a:prstGeom prst="arc">
            <a:avLst>
              <a:gd name="adj1" fmla="val 1000000"/>
              <a:gd name="adj2" fmla="val 17000000"/>
            </a:avLst>
          </a:prstGeom>
          <a:noFill/>
          <a:ln w="33020">
            <a:solidFill>
              <a:srgbClr val="E5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5FD1"/>
                </a:solidFill>
                <a:latin typeface="Aptos"/>
              </a:rPr>
              <a:t>Why Leadership Can Be Confident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2E3B59"/>
                </a:solidFill>
                <a:latin typeface="Aptos"/>
              </a:rPr>
              <a:t>EDGE Workbench delivers a governed, observable, and cost-effective foundation for scaling multi-agent client workflows safely.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27432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21792" y="1280160"/>
            <a:ext cx="320040" cy="320040"/>
          </a:xfrm>
          <a:prstGeom prst="ellipse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53312"/>
            <a:ext cx="320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D5FD1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8928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5FD1"/>
                </a:solidFill>
                <a:latin typeface="Aptos"/>
              </a:rPr>
              <a:t>INDUSTRIALIZED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240280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E3B59"/>
                </a:solidFill>
                <a:latin typeface="Aptos"/>
              </a:rPr>
              <a:t>Reclaims ~13,750 hours/year in the initial pilot. Reusable workbench scales from low-code Agent Studio to robust, developer-first ADK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143000"/>
            <a:ext cx="27432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9584" y="1280160"/>
            <a:ext cx="320040" cy="320040"/>
          </a:xfrm>
          <a:prstGeom prst="ellipse">
            <a:avLst/>
          </a:prstGeom>
          <a:solidFill>
            <a:srgbClr val="EC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1353312"/>
            <a:ext cx="320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3B59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18928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5FD1"/>
                </a:solidFill>
                <a:latin typeface="Aptos"/>
              </a:rPr>
              <a:t>COST-OPTIMIZED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240280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E3B59"/>
                </a:solidFill>
                <a:latin typeface="Aptos"/>
              </a:rPr>
              <a:t>Google Vertex AI hybrid consumption model. Active caching and model right-sizing secure up to 35% run-rate cost savings.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143000"/>
            <a:ext cx="27432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280160"/>
            <a:ext cx="320040" cy="320040"/>
          </a:xfrm>
          <a:prstGeom prst="ellipse">
            <a:avLst/>
          </a:prstGeom>
          <a:solidFill>
            <a:srgbClr val="FA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353312"/>
            <a:ext cx="320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3B59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18928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5FD1"/>
                </a:solidFill>
                <a:latin typeface="Aptos"/>
              </a:rPr>
              <a:t>FULLY GOVERNED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240280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E3B59"/>
                </a:solidFill>
                <a:latin typeface="Aptos"/>
              </a:rPr>
              <a:t>Triple-lock controls: Lakera inbound scan, AgentFlow moderation, and deterministic math. Fully aligned with AAITS and AISS technology standards.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0576" y="1143000"/>
            <a:ext cx="27432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45168" y="1280160"/>
            <a:ext cx="320040" cy="320040"/>
          </a:xfrm>
          <a:prstGeom prst="ellipse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353312"/>
            <a:ext cx="3200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3B59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18928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5FD1"/>
                </a:solidFill>
                <a:latin typeface="Aptos"/>
              </a:rPr>
              <a:t>HIGH 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2240280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E3B59"/>
                </a:solidFill>
                <a:latin typeface="Aptos"/>
              </a:rPr>
              <a:t>Full rollout targets ~$9MM annual savings. EDGE platform investment is amortized across 14+ identified backlog use cases.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57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5FD1"/>
                </a:solidFill>
                <a:latin typeface="Aptos"/>
              </a:rPr>
              <a:t>How do we handle complex, non-linear operational workflows?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050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2E3B59"/>
                </a:solidFill>
                <a:latin typeface="Aptos"/>
              </a:rPr>
              <a:t>We decompose complex tasks across a collaborative network of specialized worker agents.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297680"/>
            <a:ext cx="36118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4434840"/>
            <a:ext cx="384048" cy="384048"/>
          </a:xfrm>
          <a:prstGeom prst="ellipse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517136"/>
            <a:ext cx="38404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D5FD1"/>
                </a:solidFill>
                <a:latin typeface="Aptos"/>
              </a:rPr>
              <a:t>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95604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D5FD1"/>
                </a:solidFill>
                <a:latin typeface="Aptos"/>
              </a:rPr>
              <a:t>The Orchestrator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5376672"/>
            <a:ext cx="33558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2E3B59"/>
                </a:solidFill>
                <a:latin typeface="Aptos"/>
              </a:rPr>
              <a:t>Reviews incoming QMA emails, maps the execution plan, and coordinates worker agents. Dynamically manages workflow execution, routes tasks, and handles exceptions.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5650992"/>
            <a:ext cx="3355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1D5FD1"/>
                </a:solidFill>
                <a:latin typeface="Aptos"/>
              </a:rPr>
              <a:t>Key: </a:t>
            </a:r>
            <a:r>
              <a:rPr sz="1030" b="0">
                <a:solidFill>
                  <a:srgbClr val="2E3B59"/>
                </a:solidFill>
                <a:latin typeface="Aptos"/>
              </a:rPr>
              <a:t>Dynamic workflow routing.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79392" y="4297680"/>
            <a:ext cx="36118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16552" y="4434840"/>
            <a:ext cx="384048" cy="384048"/>
          </a:xfrm>
          <a:prstGeom prst="ellipse">
            <a:avLst/>
          </a:prstGeom>
          <a:solidFill>
            <a:srgbClr val="EC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6552" y="4517136"/>
            <a:ext cx="38404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D5FD1"/>
                </a:solidFill>
                <a:latin typeface="Aptos"/>
              </a:rPr>
              <a:t>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495604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D5FD1"/>
                </a:solidFill>
                <a:latin typeface="Aptos"/>
              </a:rPr>
              <a:t>Investigation Sub-Agent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25696" y="5376672"/>
            <a:ext cx="33558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2E3B59"/>
                </a:solidFill>
                <a:latin typeface="Aptos"/>
              </a:rPr>
              <a:t>Queries core databases (GSR/GDV) to perform root-cause research on settle fails. Identifies specific trade details and matches cash or security discrepancies.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25696" y="5650992"/>
            <a:ext cx="3355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1D5FD1"/>
                </a:solidFill>
                <a:latin typeface="Aptos"/>
              </a:rPr>
              <a:t>Key: </a:t>
            </a:r>
            <a:r>
              <a:rPr sz="1030" b="0">
                <a:solidFill>
                  <a:srgbClr val="2E3B59"/>
                </a:solidFill>
                <a:latin typeface="Aptos"/>
              </a:rPr>
              <a:t>Secure GSR/GDV database queries.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01583" y="4297680"/>
            <a:ext cx="36118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38743" y="4434840"/>
            <a:ext cx="384048" cy="384048"/>
          </a:xfrm>
          <a:prstGeom prst="ellipse">
            <a:avLst/>
          </a:prstGeom>
          <a:solidFill>
            <a:srgbClr val="FA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38743" y="4517136"/>
            <a:ext cx="38404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D5FD1"/>
                </a:solidFill>
                <a:latin typeface="Aptos"/>
              </a:rPr>
              <a:t>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3" y="495604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D5FD1"/>
                </a:solidFill>
                <a:latin typeface="Aptos"/>
              </a:rPr>
              <a:t>Drafting &amp; Email Sub-Agents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7" y="5376672"/>
            <a:ext cx="33558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2E3B59"/>
                </a:solidFill>
                <a:latin typeface="Aptos"/>
              </a:rPr>
              <a:t>Formulate structured, compliant commentaries based on investigation findings. Splice math tables deterministically and prepare ready-to-verify QMA drafts.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7" y="5650992"/>
            <a:ext cx="3355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1D5FD1"/>
                </a:solidFill>
                <a:latin typeface="Aptos"/>
              </a:rPr>
              <a:t>Key: </a:t>
            </a:r>
            <a:r>
              <a:rPr sz="1030" b="0">
                <a:solidFill>
                  <a:srgbClr val="2E3B59"/>
                </a:solidFill>
                <a:latin typeface="Aptos"/>
              </a:rPr>
              <a:t>Compliant commentary generation.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069080" y="5166360"/>
            <a:ext cx="155448" cy="0"/>
          </a:xfrm>
          <a:prstGeom prst="line">
            <a:avLst/>
          </a:prstGeom>
          <a:ln w="25400">
            <a:solidFill>
              <a:srgbClr val="1D5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891272" y="5166360"/>
            <a:ext cx="155448" cy="0"/>
          </a:xfrm>
          <a:prstGeom prst="line">
            <a:avLst/>
          </a:prstGeom>
          <a:ln w="25400">
            <a:solidFill>
              <a:srgbClr val="1D5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57200" y="6172200"/>
            <a:ext cx="11274552" cy="384048"/>
          </a:xfrm>
          <a:prstGeom prst="roundRect">
            <a:avLst/>
          </a:prstGeom>
          <a:solidFill>
            <a:srgbClr val="F4F7FD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6254496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D5FD1"/>
                </a:solidFill>
                <a:latin typeface="Aptos"/>
              </a:rPr>
              <a:t>Takeaway: </a:t>
            </a:r>
            <a:r>
              <a:rPr sz="1150" b="0">
                <a:solidFill>
                  <a:srgbClr val="2E3B59"/>
                </a:solidFill>
                <a:latin typeface="Aptos"/>
              </a:rPr>
              <a:t>Governed, observable, human-in-the-loop — scaling safely from pilot to enterprise portfolio.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" y="6471208"/>
            <a:ext cx="7406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5FD1"/>
                </a:solidFill>
                <a:latin typeface="Aptos"/>
              </a:rPr>
              <a:t>citi</a:t>
            </a:r>
          </a:p>
        </p:txBody>
      </p:sp>
      <p:sp>
        <p:nvSpPr>
          <p:cNvPr id="49" name="Arc 48"/>
          <p:cNvSpPr/>
          <p:nvPr/>
        </p:nvSpPr>
        <p:spPr>
          <a:xfrm>
            <a:off x="470916" y="6438290"/>
            <a:ext cx="353872" cy="148132"/>
          </a:xfrm>
          <a:prstGeom prst="arc">
            <a:avLst>
              <a:gd name="adj1" fmla="val 1000000"/>
              <a:gd name="adj2" fmla="val 17000000"/>
            </a:avLst>
          </a:prstGeom>
          <a:noFill/>
          <a:ln w="29718">
            <a:solidFill>
              <a:srgbClr val="E5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