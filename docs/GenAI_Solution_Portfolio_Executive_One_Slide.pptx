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7b8cdd0adf84d95" /><Relationship Type="http://schemas.openxmlformats.org/officeDocument/2006/relationships/extended-properties" Target="/docProps/app.xml" Id="R8046f8ace26942d1" /><Relationship Type="http://schemas.openxmlformats.org/officeDocument/2006/relationships/officeDocument" Target="/ppt/presentation.xml" Id="Ra36ceb2db0794f8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d1ae929571946cc"/>
  </p:sldMasterIdLst>
  <p:notesMasterIdLst>
    <p:notesMasterId xmlns:r="http://schemas.openxmlformats.org/officeDocument/2006/relationships" r:id="R97771e74c2d345a1"/>
  </p:notesMasterIdLst>
  <p:sldIdLst>
    <p:sldId xmlns:r="http://schemas.openxmlformats.org/officeDocument/2006/relationships" id="256" r:id="R93895cda8b58407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2e8a7fce2d84c95" /><Relationship Type="http://schemas.openxmlformats.org/officeDocument/2006/relationships/slideMaster" Target="/ppt/slideMasters/slideMaster1.xml" Id="R2d1ae929571946cc" /><Relationship Type="http://schemas.openxmlformats.org/officeDocument/2006/relationships/notesMaster" Target="/ppt/notesMasters/notesMaster1.xml" Id="R97771e74c2d345a1" /><Relationship Type="http://schemas.openxmlformats.org/officeDocument/2006/relationships/presProps" Target="/ppt/presProps.xml" Id="R8f14c06c2cf94e92" /><Relationship Type="http://schemas.openxmlformats.org/officeDocument/2006/relationships/tableStyles" Target="/ppt/tableStyles.xml" Id="R1ff0dd87d02949bc" /><Relationship Type="http://schemas.openxmlformats.org/officeDocument/2006/relationships/slide" Target="/ppt/slides/slide1.xml" Id="R93895cda8b58407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25376c9007c472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2e119ee160a4216" /><Relationship Type="http://schemas.openxmlformats.org/officeDocument/2006/relationships/notesMaster" Target="/ppt/notesMasters/notesMaster1.xml" Id="R6958e45593644e4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6d24d9fd91402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2cb4d95c29c44dd" /><Relationship Type="http://schemas.openxmlformats.org/officeDocument/2006/relationships/slideLayout" Target="/ppt/slideLayouts/slideLayout1.xml" Id="R71b38f110c084ef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1b38f110c084ef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dffc032bc040d5" /><Relationship Type="http://schemas.openxmlformats.org/officeDocument/2006/relationships/notesSlide" Target="/ppt/notesSlides/notesSlide1.xml" Id="Ra7870fe754c5469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B27D32-E943-4B6C-8D11-0DC697A31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56DAE"/>
                </a:solidFill>
              </a:defRPr>
            </a:pPr>
            <a:r>
              <a:rPr sz="788" b="1">
                <a:solidFill>
                  <a:srgbClr val="056DAE"/>
                </a:solidFill>
              </a:rPr>
              <a:t>EXECUTIVE DECISION GUIDE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FCE637-77DB-43C8-B4AA-33BEA5A4F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3B70"/>
                </a:solidFill>
              </a:defRPr>
            </a:pPr>
            <a:r>
              <a:rPr sz="2175" b="1">
                <a:solidFill>
                  <a:srgbClr val="003B70"/>
                </a:solidFill>
              </a:rPr>
              <a:t>Three AI solution categories — one governed capability spectrum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0BB730-A902-4D33-8F44-1BAD48D27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47725"/>
            <a:ext cx="1066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637786"/>
                </a:solidFill>
              </a:defRPr>
            </a:pPr>
            <a:r>
              <a:rPr sz="1088" b="0">
                <a:solidFill>
                  <a:srgbClr val="637786"/>
                </a:solidFill>
              </a:rPr>
              <a:t>Select the simplest approach that meets the business need; autonomy and governance increase together.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FC1CB4-8E3B-47EF-A411-60F51F70E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8110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37786"/>
                </a:solidFill>
              </a:defRPr>
            </a:pPr>
            <a:r>
              <a:rPr sz="675" b="1">
                <a:solidFill>
                  <a:srgbClr val="637786"/>
                </a:solidFill>
              </a:rPr>
              <a:t>LOW AUTONOMY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9F2996-8D2B-4DD0-8DB3-2C4702167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257300"/>
            <a:ext cx="8953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8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A07E30-BF66-4009-9BDD-AE3AC80F8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1171575"/>
            <a:ext cx="33337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A6A5"/>
          </a:solidFill>
          <a:ln xmlns:a="http://schemas.openxmlformats.org/drawingml/2006/main" w="9525">
            <a:solidFill>
              <a:srgbClr val="00A6A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058E42-DC59-4E0B-9F4A-B08BDBA6C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1620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637786"/>
                </a:solidFill>
              </a:defRPr>
            </a:pPr>
            <a:r>
              <a:rPr sz="675" b="1">
                <a:solidFill>
                  <a:srgbClr val="637786"/>
                </a:solidFill>
              </a:rPr>
              <a:t>HIGH AUTONOMY + GOVERNANCE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11C401-F9E2-48DE-9AA3-83E4A0306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38275"/>
            <a:ext cx="3448050" cy="4095750"/>
          </a:xfrm>
          <a:prstGeom xmlns:a="http://schemas.openxmlformats.org/drawingml/2006/main" prst="roundRect">
            <a:avLst>
              <a:gd name="adj" fmla="val 33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56DA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6D02A0-F6BF-471C-9590-880906824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38275"/>
            <a:ext cx="34480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56DAE"/>
          </a:solidFill>
          <a:ln xmlns:a="http://schemas.openxmlformats.org/drawingml/2006/main" w="9525">
            <a:solidFill>
              <a:srgbClr val="056DA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CCEA31-81AA-4A5A-9A4B-AA734DCD4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859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9525">
            <a:solidFill>
              <a:srgbClr val="EAF3F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A93824-7F9D-484E-B7E5-EB5BEFE7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859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56DAE"/>
                </a:solidFill>
              </a:defRPr>
            </a:pPr>
            <a:r>
              <a:rPr sz="1275" b="1">
                <a:solidFill>
                  <a:srgbClr val="056DAE"/>
                </a:solidFill>
              </a:rPr>
              <a:t>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8EF872-B646-4532-A07A-6CD144B1B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657350"/>
            <a:ext cx="25336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056DAE"/>
                </a:solidFill>
              </a:defRPr>
            </a:pPr>
            <a:r>
              <a:rPr sz="675" b="1">
                <a:solidFill>
                  <a:srgbClr val="056DAE"/>
                </a:solidFill>
              </a:rPr>
              <a:t>USER AUGMENTATION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4FF0A0-159F-4998-A169-10D4E1EB6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819275"/>
            <a:ext cx="25527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B3A"/>
                </a:solidFill>
              </a:defRPr>
            </a:pPr>
            <a:r>
              <a:rPr sz="1575" b="1">
                <a:solidFill>
                  <a:srgbClr val="172B3A"/>
                </a:solidFill>
              </a:rPr>
              <a:t>GenAI Augmented</a:t>
            </a:r>
          </a:p>
          <a:p xmlns:a="http://schemas.openxmlformats.org/drawingml/2006/main">
            <a:pPr algn="l">
              <a:defRPr sz="1575" b="1">
                <a:solidFill>
                  <a:srgbClr val="172B3A"/>
                </a:solidFill>
              </a:defRPr>
            </a:pPr>
            <a:r>
              <a:rPr sz="1575" b="1">
                <a:solidFill>
                  <a:srgbClr val="172B3A"/>
                </a:solidFill>
              </a:rPr>
              <a:t>Products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178E7D-7243-489B-8D61-EF5FC0079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43150"/>
            <a:ext cx="1028700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3F9"/>
          </a:solidFill>
          <a:ln xmlns:a="http://schemas.openxmlformats.org/drawingml/2006/main" w="9525">
            <a:solidFill>
              <a:srgbClr val="EAF3F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9E467A-A5DD-4890-B9B1-760B26025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43150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56DAE"/>
                </a:solidFill>
              </a:defRPr>
            </a:pPr>
            <a:r>
              <a:rPr sz="713" b="1">
                <a:solidFill>
                  <a:srgbClr val="056DAE"/>
                </a:solidFill>
              </a:rPr>
              <a:t>HUMAN-LED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EC9529-A87C-405C-92CC-2F00F2AC5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19375"/>
            <a:ext cx="31051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334A5B"/>
                </a:solidFill>
              </a:defRPr>
            </a:pPr>
            <a:r>
              <a:rPr sz="870" b="0">
                <a:solidFill>
                  <a:srgbClr val="334A5B"/>
                </a:solidFill>
              </a:rPr>
              <a:t>Governed enterprise AI services, including Gemini 3.0 Pro-powered experiences.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DD9B22-B4B6-452B-89BC-1589EF1CD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05150"/>
            <a:ext cx="3105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6DAE"/>
          </a:solidFill>
          <a:ln xmlns:a="http://schemas.openxmlformats.org/drawingml/2006/main" w="9525">
            <a:solidFill>
              <a:srgbClr val="056DA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72FFA1-73F7-47E0-8BA5-A176E002C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200400"/>
            <a:ext cx="31623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AF3F9"/>
          </a:solidFill>
          <a:ln xmlns:a="http://schemas.openxmlformats.org/drawingml/2006/main" w="9525">
            <a:solidFill>
              <a:srgbClr val="EAF3F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8AFA1E-C194-4585-A0EB-899349398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257550"/>
            <a:ext cx="2933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056DAE"/>
                </a:solidFill>
              </a:defRPr>
            </a:pPr>
            <a:r>
              <a:rPr sz="675" b="1">
                <a:solidFill>
                  <a:srgbClr val="056DAE"/>
                </a:solidFill>
              </a:rPr>
              <a:t>PRODUCTS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640687-EC64-40FA-80D9-ADE4BEB71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409950"/>
            <a:ext cx="2933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48" b="0">
                <a:solidFill>
                  <a:srgbClr val="334A5B"/>
                </a:solidFill>
              </a:defRPr>
            </a:pPr>
            <a:r>
              <a:rPr sz="848" b="0">
                <a:solidFill>
                  <a:srgbClr val="334A5B"/>
                </a:solidFill>
              </a:rPr>
              <a:t>Stylus</a:t>
            </a:r>
          </a:p>
          <a:p xmlns:a="http://schemas.openxmlformats.org/drawingml/2006/main">
            <a:pPr algn="l">
              <a:defRPr sz="848" b="0">
                <a:solidFill>
                  <a:srgbClr val="334A5B"/>
                </a:solidFill>
              </a:defRPr>
            </a:pPr>
            <a:r>
              <a:rPr sz="848" b="0">
                <a:solidFill>
                  <a:srgbClr val="334A5B"/>
                </a:solidFill>
              </a:rPr>
              <a:t>Citi Assist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5F7E72-5DE1-44E8-9949-A5D05FAE3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790950"/>
            <a:ext cx="31623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AF3F9"/>
          </a:solidFill>
          <a:ln xmlns:a="http://schemas.openxmlformats.org/drawingml/2006/main" w="9525">
            <a:solidFill>
              <a:srgbClr val="EAF3F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5E0D3C-EA5F-48DE-994E-62E728EE8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48100"/>
            <a:ext cx="2933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056DAE"/>
                </a:solidFill>
              </a:defRPr>
            </a:pPr>
            <a:r>
              <a:rPr sz="675" b="1">
                <a:solidFill>
                  <a:srgbClr val="056DAE"/>
                </a:solidFill>
              </a:rPr>
              <a:t>ENTERPRISE TOOL INTEGRATIONS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A20FF8-DFD8-41A7-84DA-8D2A47EFA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000500"/>
            <a:ext cx="29337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48" b="0">
                <a:solidFill>
                  <a:srgbClr val="334A5B"/>
                </a:solidFill>
              </a:defRPr>
            </a:pPr>
            <a:r>
              <a:rPr sz="848" b="0">
                <a:solidFill>
                  <a:srgbClr val="334A5B"/>
                </a:solidFill>
              </a:rPr>
              <a:t>JIRA • PTS • Global Directory</a:t>
            </a:r>
          </a:p>
          <a:p xmlns:a="http://schemas.openxmlformats.org/drawingml/2006/main">
            <a:pPr algn="l">
              <a:defRPr sz="848" b="0">
                <a:solidFill>
                  <a:srgbClr val="334A5B"/>
                </a:solidFill>
              </a:defRPr>
            </a:pPr>
            <a:r>
              <a:rPr sz="848" b="0">
                <a:solidFill>
                  <a:srgbClr val="334A5B"/>
                </a:solidFill>
              </a:rPr>
              <a:t>Other approved enterprise tools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7F7E23-22C8-4B8A-A6BD-911596535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476750"/>
            <a:ext cx="31623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3F9"/>
          </a:solidFill>
          <a:ln xmlns:a="http://schemas.openxmlformats.org/drawingml/2006/main" w="9525">
            <a:solidFill>
              <a:srgbClr val="EAF3F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59E2B1-B3CF-4E07-8A4C-3090AA7B4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33900"/>
            <a:ext cx="2933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056DAE"/>
                </a:solidFill>
              </a:defRPr>
            </a:pPr>
            <a:r>
              <a:rPr sz="675" b="1">
                <a:solidFill>
                  <a:srgbClr val="056DAE"/>
                </a:solidFill>
              </a:rPr>
              <a:t>TYPICAL OUTCOMES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55B571-8263-4E13-9BC9-72FBCF2AF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686300"/>
            <a:ext cx="29337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48" b="0">
                <a:solidFill>
                  <a:srgbClr val="334A5B"/>
                </a:solidFill>
              </a:defRPr>
            </a:pPr>
            <a:r>
              <a:rPr sz="848" b="0">
                <a:solidFill>
                  <a:srgbClr val="334A5B"/>
                </a:solidFill>
              </a:rPr>
              <a:t>Summarize • compare • translate • Q&amp;A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AF23C84-302B-46AA-B174-9B96C13EB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24450"/>
            <a:ext cx="31813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3F9"/>
          </a:solidFill>
          <a:ln xmlns:a="http://schemas.openxmlformats.org/drawingml/2006/main" w="9525">
            <a:solidFill>
              <a:srgbClr val="EAF3F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8D270C-4163-447D-B33C-DACD127A2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4350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28" b="1">
                <a:solidFill>
                  <a:srgbClr val="056DAE"/>
                </a:solidFill>
              </a:defRPr>
            </a:pPr>
            <a:r>
              <a:rPr sz="728" b="1">
                <a:solidFill>
                  <a:srgbClr val="056DAE"/>
                </a:solidFill>
              </a:rPr>
              <a:t>User initiates and directs each task; the product augments human work.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FF4AB8C-0F3B-458B-996A-C6F1DF0C8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1438275"/>
            <a:ext cx="3448050" cy="4095750"/>
          </a:xfrm>
          <a:prstGeom xmlns:a="http://schemas.openxmlformats.org/drawingml/2006/main" prst="roundRect">
            <a:avLst>
              <a:gd name="adj" fmla="val 33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3B7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8B079EA-57BC-438B-8E06-A7EC98968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1438275"/>
            <a:ext cx="34480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3B70"/>
          </a:solidFill>
          <a:ln xmlns:a="http://schemas.openxmlformats.org/drawingml/2006/main" w="9525">
            <a:solidFill>
              <a:srgbClr val="003B7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D063E0D-7CDB-4BD6-A4A9-2D57DFD8D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16859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F4F7F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0940CD5-89C0-4E99-96A4-554A79139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16859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3B70"/>
                </a:solidFill>
              </a:defRPr>
            </a:pPr>
            <a:r>
              <a:rPr sz="1275" b="1">
                <a:solidFill>
                  <a:srgbClr val="003B70"/>
                </a:solidFill>
              </a:rPr>
              <a:t>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31713BA-D9CF-4A65-9E07-7EBFB04D2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1657350"/>
            <a:ext cx="25336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003B70"/>
                </a:solidFill>
              </a:defRPr>
            </a:pPr>
            <a:r>
              <a:rPr sz="675" b="1">
                <a:solidFill>
                  <a:srgbClr val="003B70"/>
                </a:solidFill>
              </a:rPr>
              <a:t>PREDEFINED ORCHESTRATION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27606AE-C79F-4584-8FCA-791FCB859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1819275"/>
            <a:ext cx="25527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88" b="1">
                <a:solidFill>
                  <a:srgbClr val="172B3A"/>
                </a:solidFill>
              </a:defRPr>
            </a:pPr>
            <a:r>
              <a:rPr sz="1388" b="1">
                <a:solidFill>
                  <a:srgbClr val="172B3A"/>
                </a:solidFill>
              </a:rPr>
              <a:t>GenAI Deterministic</a:t>
            </a:r>
          </a:p>
          <a:p xmlns:a="http://schemas.openxmlformats.org/drawingml/2006/main">
            <a:pPr algn="l">
              <a:defRPr sz="1388" b="1">
                <a:solidFill>
                  <a:srgbClr val="172B3A"/>
                </a:solidFill>
              </a:defRPr>
            </a:pPr>
            <a:r>
              <a:rPr sz="1388" b="1">
                <a:solidFill>
                  <a:srgbClr val="172B3A"/>
                </a:solidFill>
              </a:rPr>
              <a:t>Workflow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E7D5462-F894-4A20-8817-9ADFFCECE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343150"/>
            <a:ext cx="1028700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F4F7F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FE2DD13-81B3-4481-9533-64F179A83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343150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03B70"/>
                </a:solidFill>
              </a:defRPr>
            </a:pPr>
            <a:r>
              <a:rPr sz="713" b="1">
                <a:solidFill>
                  <a:srgbClr val="003B70"/>
                </a:solidFill>
              </a:rPr>
              <a:t>SYSTEM-LED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F258AF3-1F68-47D1-AB16-B494C363C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619375"/>
            <a:ext cx="31051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334A5B"/>
                </a:solidFill>
              </a:defRPr>
            </a:pPr>
            <a:r>
              <a:rPr sz="870" b="0">
                <a:solidFill>
                  <a:srgbClr val="334A5B"/>
                </a:solidFill>
              </a:rPr>
              <a:t>Predefined pipelines and non-agentic experiences execute a bounded sequence of steps.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68913C2-99B7-42FE-9AEA-36A97F33A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105150"/>
            <a:ext cx="3105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B70"/>
          </a:solidFill>
          <a:ln xmlns:a="http://schemas.openxmlformats.org/drawingml/2006/main" w="9525">
            <a:solidFill>
              <a:srgbClr val="003B7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EEF6E6B-DBEE-4C04-928A-45DD9FC9F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200400"/>
            <a:ext cx="31623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F4F7F9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3F65457-EFEC-489E-9A15-C6CBA1091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257550"/>
            <a:ext cx="2933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003B70"/>
                </a:solidFill>
              </a:defRPr>
            </a:pPr>
            <a:r>
              <a:rPr sz="675" b="1">
                <a:solidFill>
                  <a:srgbClr val="003B70"/>
                </a:solidFill>
              </a:rPr>
              <a:t>EDGE PIPELINES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3BDB9B6-33EC-4E0D-B07F-2C3ED14F4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409950"/>
            <a:ext cx="2933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48" b="0">
                <a:solidFill>
                  <a:srgbClr val="334A5B"/>
                </a:solidFill>
              </a:defRPr>
            </a:pPr>
            <a:r>
              <a:rPr sz="848" b="0">
                <a:solidFill>
                  <a:srgbClr val="334A5B"/>
                </a:solidFill>
              </a:rPr>
              <a:t>Trade Confirm • Broker Invoice • FX Confirm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41CE8AF-FD5B-463C-A7EC-00D5CF636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676650"/>
            <a:ext cx="31623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F4F7F9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18EE060-0055-487B-8547-0D4D1A3DE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733800"/>
            <a:ext cx="2933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003B70"/>
                </a:solidFill>
              </a:defRPr>
            </a:pPr>
            <a:r>
              <a:rPr sz="675" b="1">
                <a:solidFill>
                  <a:srgbClr val="003B70"/>
                </a:solidFill>
              </a:rPr>
              <a:t>NON-AGENTIC CONVERSATIONAL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EEA687E-9544-4A06-B4C4-0ED26AC71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886200"/>
            <a:ext cx="2933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48" b="0">
                <a:solidFill>
                  <a:srgbClr val="334A5B"/>
                </a:solidFill>
              </a:defRPr>
            </a:pPr>
            <a:r>
              <a:rPr sz="848" b="0">
                <a:solidFill>
                  <a:srgbClr val="334A5B"/>
                </a:solidFill>
              </a:rPr>
              <a:t>EDGE Assist — analysis and investigation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D66F7F7-1D35-4603-8769-136B1221A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152900"/>
            <a:ext cx="31623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F4F7F9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B5700EC-9815-488B-B3AE-F28C6D8B5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210050"/>
            <a:ext cx="2933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003B70"/>
                </a:solidFill>
              </a:defRPr>
            </a:pPr>
            <a:r>
              <a:rPr sz="675" b="1">
                <a:solidFill>
                  <a:srgbClr val="003B70"/>
                </a:solidFill>
              </a:rPr>
              <a:t>SPECIALIZED TOOLS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F65F2A5-AE52-49B7-ACA9-C5D43E63B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362450"/>
            <a:ext cx="2933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48" b="0">
                <a:solidFill>
                  <a:srgbClr val="334A5B"/>
                </a:solidFill>
              </a:defRPr>
            </a:pPr>
            <a:r>
              <a:rPr sz="848" b="0">
                <a:solidFill>
                  <a:srgbClr val="334A5B"/>
                </a:solidFill>
              </a:rPr>
              <a:t>Validation rules • date checks</a:t>
            </a:r>
          </a:p>
          <a:p xmlns:a="http://schemas.openxmlformats.org/drawingml/2006/main">
            <a:pPr algn="l">
              <a:defRPr sz="848" b="0">
                <a:solidFill>
                  <a:srgbClr val="334A5B"/>
                </a:solidFill>
              </a:defRPr>
            </a:pPr>
            <a:r>
              <a:rPr sz="848" b="0">
                <a:solidFill>
                  <a:srgbClr val="334A5B"/>
                </a:solidFill>
              </a:rPr>
              <a:t>Invoice amount verification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B25540B-C76F-41B2-B5C5-65E150F08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686300"/>
            <a:ext cx="31623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F4F7F9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5FEC5E0-C8E6-42F5-8DF6-5E4A2F991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743450"/>
            <a:ext cx="2933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003B70"/>
                </a:solidFill>
              </a:defRPr>
            </a:pPr>
            <a:r>
              <a:rPr sz="675" b="1">
                <a:solidFill>
                  <a:srgbClr val="003B70"/>
                </a:solidFill>
              </a:rPr>
              <a:t>EXTERNAL VERIFICATION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6E088A3-9975-4C7F-BD99-9F656EB66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895850"/>
            <a:ext cx="29337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48" b="0">
                <a:solidFill>
                  <a:srgbClr val="334A5B"/>
                </a:solidFill>
              </a:defRPr>
            </a:pPr>
            <a:r>
              <a:rPr sz="848" b="0">
                <a:solidFill>
                  <a:srgbClr val="334A5B"/>
                </a:solidFill>
              </a:rPr>
              <a:t>DRIOD • ATM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D69EC69-BEB7-439D-B168-05E384109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5124450"/>
            <a:ext cx="31813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F4F7F9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513F221-5B9A-4502-939B-02620CF11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514350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28" b="1">
                <a:solidFill>
                  <a:srgbClr val="003B70"/>
                </a:solidFill>
              </a:defRPr>
            </a:pPr>
            <a:r>
              <a:rPr sz="728" b="1">
                <a:solidFill>
                  <a:srgbClr val="003B70"/>
                </a:solidFill>
              </a:rPr>
              <a:t>The path is designed in advance; tools execute without autonomous planning.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7883ABB-DB93-4F0D-824D-90BE63408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438275"/>
            <a:ext cx="3448050" cy="4095750"/>
          </a:xfrm>
          <a:prstGeom xmlns:a="http://schemas.openxmlformats.org/drawingml/2006/main" prst="roundRect">
            <a:avLst>
              <a:gd name="adj" fmla="val 33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6A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633A97B-DE4A-4719-9403-98D8EB099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438275"/>
            <a:ext cx="34480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6A5"/>
          </a:solidFill>
          <a:ln xmlns:a="http://schemas.openxmlformats.org/drawingml/2006/main" w="9525">
            <a:solidFill>
              <a:srgbClr val="00A6A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E502F46-116B-419F-A59D-4B2B167A5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6859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7F6"/>
          </a:solidFill>
          <a:ln xmlns:a="http://schemas.openxmlformats.org/drawingml/2006/main" w="9525">
            <a:solidFill>
              <a:srgbClr val="E9F7F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21F544F-8F4C-4A1B-B618-6EA43843A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6859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A6A5"/>
                </a:solidFill>
              </a:defRPr>
            </a:pPr>
            <a:r>
              <a:rPr sz="1275" b="1">
                <a:solidFill>
                  <a:srgbClr val="00A6A5"/>
                </a:solidFill>
              </a:rPr>
              <a:t>G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AE63666-2717-4FDE-B215-E6EBC633E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57350"/>
            <a:ext cx="25336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00A6A5"/>
                </a:solidFill>
              </a:defRPr>
            </a:pPr>
            <a:r>
              <a:rPr sz="675" b="1">
                <a:solidFill>
                  <a:srgbClr val="00A6A5"/>
                </a:solidFill>
              </a:rPr>
              <a:t>AUTONOMOUS ORCHESTRATION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27A02B4-9804-4270-8804-1389C036D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819275"/>
            <a:ext cx="25527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B3A"/>
                </a:solidFill>
              </a:defRPr>
            </a:pPr>
            <a:r>
              <a:rPr sz="1575" b="1">
                <a:solidFill>
                  <a:srgbClr val="172B3A"/>
                </a:solidFill>
              </a:rPr>
              <a:t>Agentic Workflow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85A5FF3-8BE1-4306-9EA4-84D1821B3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43150"/>
            <a:ext cx="1028700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7F6"/>
          </a:solidFill>
          <a:ln xmlns:a="http://schemas.openxmlformats.org/drawingml/2006/main" w="9525">
            <a:solidFill>
              <a:srgbClr val="E9F7F6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59CAEF2-9C51-4E11-ACF6-AE0FD9997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43150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0A6A5"/>
                </a:solidFill>
              </a:defRPr>
            </a:pPr>
            <a:r>
              <a:rPr sz="713" b="1">
                <a:solidFill>
                  <a:srgbClr val="00A6A5"/>
                </a:solidFill>
              </a:rPr>
              <a:t>GOAL-LED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CC5D637-35E4-4231-A95A-1D48FE50B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619375"/>
            <a:ext cx="31051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334A5B"/>
                </a:solidFill>
              </a:defRPr>
            </a:pPr>
            <a:r>
              <a:rPr sz="870" b="0">
                <a:solidFill>
                  <a:srgbClr val="334A5B"/>
                </a:solidFill>
              </a:rPr>
              <a:t>A Google ADK-based agentic framework that plans, uses tools and adapts toward a goal.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5308381-DEC2-4EE5-AA3E-27071A9CE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105150"/>
            <a:ext cx="3105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5"/>
          </a:solidFill>
          <a:ln xmlns:a="http://schemas.openxmlformats.org/drawingml/2006/main" w="9525">
            <a:solidFill>
              <a:srgbClr val="00A6A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CF4235A-5240-45C2-92E7-DB354B16C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200400"/>
            <a:ext cx="31623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9F7F6"/>
          </a:solidFill>
          <a:ln xmlns:a="http://schemas.openxmlformats.org/drawingml/2006/main" w="9525">
            <a:solidFill>
              <a:srgbClr val="E9F7F6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8E26AF5-C507-4556-986F-A6865DF52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257550"/>
            <a:ext cx="2933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00A6A5"/>
                </a:solidFill>
              </a:defRPr>
            </a:pPr>
            <a:r>
              <a:rPr sz="675" b="1">
                <a:solidFill>
                  <a:srgbClr val="00A6A5"/>
                </a:solidFill>
              </a:rPr>
              <a:t>EDGE PLATFORM PRODUCTS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431E020-8270-4DFA-AD76-216B8C12E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409950"/>
            <a:ext cx="29337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48" b="0">
                <a:solidFill>
                  <a:srgbClr val="334A5B"/>
                </a:solidFill>
              </a:defRPr>
            </a:pPr>
            <a:r>
              <a:rPr sz="848" b="0">
                <a:solidFill>
                  <a:srgbClr val="334A5B"/>
                </a:solidFill>
              </a:rPr>
              <a:t>Dev Plane — define and configure agents</a:t>
            </a:r>
          </a:p>
          <a:p xmlns:a="http://schemas.openxmlformats.org/drawingml/2006/main">
            <a:pPr algn="l">
              <a:defRPr sz="848" b="0">
                <a:solidFill>
                  <a:srgbClr val="334A5B"/>
                </a:solidFill>
              </a:defRPr>
            </a:pPr>
            <a:r>
              <a:rPr sz="848" b="0">
                <a:solidFill>
                  <a:srgbClr val="334A5B"/>
                </a:solidFill>
              </a:rPr>
              <a:t>User Plane — agent events and actions</a:t>
            </a:r>
          </a:p>
          <a:p xmlns:a="http://schemas.openxmlformats.org/drawingml/2006/main">
            <a:pPr algn="l">
              <a:defRPr sz="848" b="0">
                <a:solidFill>
                  <a:srgbClr val="334A5B"/>
                </a:solidFill>
              </a:defRPr>
            </a:pPr>
            <a:r>
              <a:rPr sz="848" b="0">
                <a:solidFill>
                  <a:srgbClr val="334A5B"/>
                </a:solidFill>
              </a:rPr>
              <a:t>Control Panel — agent runtime oversight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588A459-F30C-465B-9CFC-A4BFB55C3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00500"/>
            <a:ext cx="3162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9F7F6"/>
          </a:solidFill>
          <a:ln xmlns:a="http://schemas.openxmlformats.org/drawingml/2006/main" w="9525">
            <a:solidFill>
              <a:srgbClr val="E9F7F6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4FE7408-92A2-4805-B1B1-F671DF3A6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4057650"/>
            <a:ext cx="2933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00A6A5"/>
                </a:solidFill>
              </a:defRPr>
            </a:pPr>
            <a:r>
              <a:rPr sz="675" b="1">
                <a:solidFill>
                  <a:srgbClr val="00A6A5"/>
                </a:solidFill>
              </a:rPr>
              <a:t>COMPLEX USE CASE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C56C174-76BA-41BA-91E8-2A21662A0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4210050"/>
            <a:ext cx="29337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48" b="0">
                <a:solidFill>
                  <a:srgbClr val="334A5B"/>
                </a:solidFill>
              </a:defRPr>
            </a:pPr>
            <a:r>
              <a:rPr sz="848" b="0">
                <a:solidFill>
                  <a:srgbClr val="334A5B"/>
                </a:solidFill>
              </a:rPr>
              <a:t>Fails — investigation and analysis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08574B7-4A2C-4876-BA32-AAFB68EA8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457700"/>
            <a:ext cx="31623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9F7F6"/>
          </a:solidFill>
          <a:ln xmlns:a="http://schemas.openxmlformats.org/drawingml/2006/main" w="9525">
            <a:solidFill>
              <a:srgbClr val="E9F7F6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290BA92-AEB4-45F3-8419-5584509F6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4514850"/>
            <a:ext cx="2933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00A6A5"/>
                </a:solidFill>
              </a:defRPr>
            </a:pPr>
            <a:r>
              <a:rPr sz="675" b="1">
                <a:solidFill>
                  <a:srgbClr val="00A6A5"/>
                </a:solidFill>
              </a:rPr>
              <a:t>AGENTIC CAPABILITIES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EB52F4A-CA59-4D2D-B08D-22DEAAE2C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4667250"/>
            <a:ext cx="2933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48" b="0">
                <a:solidFill>
                  <a:srgbClr val="334A5B"/>
                </a:solidFill>
              </a:defRPr>
            </a:pPr>
            <a:r>
              <a:rPr sz="848" b="0">
                <a:solidFill>
                  <a:srgbClr val="334A5B"/>
                </a:solidFill>
              </a:rPr>
              <a:t>Dynamic tool calling • state and memory</a:t>
            </a:r>
          </a:p>
          <a:p xmlns:a="http://schemas.openxmlformats.org/drawingml/2006/main">
            <a:pPr algn="l">
              <a:defRPr sz="848" b="0">
                <a:solidFill>
                  <a:srgbClr val="334A5B"/>
                </a:solidFill>
              </a:defRPr>
            </a:pPr>
            <a:r>
              <a:rPr sz="848" b="0">
                <a:solidFill>
                  <a:srgbClr val="334A5B"/>
                </a:solidFill>
              </a:rPr>
              <a:t>Human gates • evaluation • observability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F13A501-AA33-424E-B78D-C897F65A9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124450"/>
            <a:ext cx="31813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9F7F6"/>
          </a:solidFill>
          <a:ln xmlns:a="http://schemas.openxmlformats.org/drawingml/2006/main" w="9525">
            <a:solidFill>
              <a:srgbClr val="E9F7F6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87A04DD-0919-41EE-9085-A4F8069BC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14350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28" b="1">
                <a:solidFill>
                  <a:srgbClr val="00A6A5"/>
                </a:solidFill>
              </a:defRPr>
            </a:pPr>
            <a:r>
              <a:rPr sz="728" b="1">
                <a:solidFill>
                  <a:srgbClr val="00A6A5"/>
                </a:solidFill>
              </a:rPr>
              <a:t>The agent determines the next action as context changes across the workflow.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24718501-3B10-49AE-A075-59741E060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76900"/>
            <a:ext cx="109918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9F7F6"/>
          </a:solidFill>
          <a:ln xmlns:a="http://schemas.openxmlformats.org/drawingml/2006/main" w="9525">
            <a:solidFill>
              <a:srgbClr val="00A6A5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0713A93-2508-4DFD-8980-81B3E5BC6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62625"/>
            <a:ext cx="1905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00A6A5"/>
                </a:solidFill>
              </a:defRPr>
            </a:pPr>
            <a:r>
              <a:rPr sz="713" b="1">
                <a:solidFill>
                  <a:srgbClr val="00A6A5"/>
                </a:solidFill>
              </a:rPr>
              <a:t>PORTFOLIO OPERATING MODEL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98EBF54-0BAE-4C75-8FF2-03C3362D3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721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6A5"/>
          </a:solidFill>
          <a:ln xmlns:a="http://schemas.openxmlformats.org/drawingml/2006/main" w="9525">
            <a:solidFill>
              <a:srgbClr val="00A6A5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D2CDB8EA-A9A0-4296-9ECB-D5B193A51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7217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E8834BC8-BCFB-4E88-B768-0ABCCE403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905500"/>
            <a:ext cx="3000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334A5B"/>
                </a:solidFill>
              </a:defRPr>
            </a:pPr>
            <a:r>
              <a:rPr sz="735" b="1">
                <a:solidFill>
                  <a:srgbClr val="334A5B"/>
                </a:solidFill>
              </a:rPr>
              <a:t>Choose the simplest sufficient category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BAB91F63-C946-40C3-913A-DCD03CCF2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9721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6A5"/>
          </a:solidFill>
          <a:ln xmlns:a="http://schemas.openxmlformats.org/drawingml/2006/main" w="9525">
            <a:solidFill>
              <a:srgbClr val="00A6A5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B501CF10-3754-4FE5-AF04-58659BA19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97217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AD907F99-B999-4C54-9EF3-DBA156251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905500"/>
            <a:ext cx="3000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334A5B"/>
                </a:solidFill>
              </a:defRPr>
            </a:pPr>
            <a:r>
              <a:rPr sz="735" b="0">
                <a:solidFill>
                  <a:srgbClr val="334A5B"/>
                </a:solidFill>
              </a:rPr>
              <a:t>Agentic workflows may orchestrate deterministic pipelines and specialized tools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6569E216-CF27-400E-AA69-BCE124FF1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9721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6A5"/>
          </a:solidFill>
          <a:ln xmlns:a="http://schemas.openxmlformats.org/drawingml/2006/main" w="9525">
            <a:solidFill>
              <a:srgbClr val="00A6A5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4D3DBE44-D191-432B-A9A0-78739220C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97217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CD8B016D-0F47-4819-B880-983CBD158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905500"/>
            <a:ext cx="3000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334A5B"/>
                </a:solidFill>
              </a:defRPr>
            </a:pPr>
            <a:r>
              <a:rPr sz="735" b="0">
                <a:solidFill>
                  <a:srgbClr val="334A5B"/>
                </a:solidFill>
              </a:rPr>
              <a:t>All categories follow governance; agentic adds stronger HIL, policy, evals and observability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F5BB4D0E-696A-4105-A548-AC2241171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0991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8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D2913269-7CC3-4AF5-9379-F666D9CAE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1905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37786"/>
                </a:solidFill>
              </a:defRPr>
            </a:pPr>
            <a:r>
              <a:rPr sz="713" b="1">
                <a:solidFill>
                  <a:srgbClr val="637786"/>
                </a:solidFill>
              </a:rPr>
              <a:t>CITI  |  INTERNAL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F91135C4-ABE2-4675-9BFC-35130C9C1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637786"/>
                </a:solidFill>
              </a:defRPr>
            </a:pPr>
            <a:r>
              <a:rPr sz="713" b="1">
                <a:solidFill>
                  <a:srgbClr val="637786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876406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2026-07-16T18:17:35.1640000Z</dcterms:created>
  <dcterms:modified xsi:type="dcterms:W3CDTF">2026-07-16T18:17:35.1640000Z</dcterms:modified>
</coreProperties>
</file>